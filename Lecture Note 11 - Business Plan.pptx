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sldIdLst>
    <p:sldId id="256" r:id="rId2"/>
    <p:sldId id="376" r:id="rId3"/>
    <p:sldId id="260" r:id="rId4"/>
    <p:sldId id="262" r:id="rId5"/>
    <p:sldId id="263" r:id="rId6"/>
    <p:sldId id="264" r:id="rId7"/>
    <p:sldId id="257" r:id="rId8"/>
    <p:sldId id="293" r:id="rId9"/>
    <p:sldId id="294" r:id="rId10"/>
    <p:sldId id="467" r:id="rId11"/>
    <p:sldId id="361" r:id="rId12"/>
    <p:sldId id="367" r:id="rId13"/>
    <p:sldId id="368" r:id="rId14"/>
    <p:sldId id="451" r:id="rId15"/>
    <p:sldId id="450" r:id="rId16"/>
    <p:sldId id="449" r:id="rId17"/>
    <p:sldId id="452" r:id="rId18"/>
    <p:sldId id="379" r:id="rId19"/>
    <p:sldId id="380" r:id="rId20"/>
    <p:sldId id="381" r:id="rId21"/>
    <p:sldId id="382" r:id="rId22"/>
    <p:sldId id="383" r:id="rId23"/>
    <p:sldId id="384" r:id="rId24"/>
    <p:sldId id="447" r:id="rId25"/>
    <p:sldId id="385" r:id="rId26"/>
    <p:sldId id="386" r:id="rId27"/>
    <p:sldId id="387" r:id="rId28"/>
    <p:sldId id="388" r:id="rId29"/>
    <p:sldId id="389" r:id="rId30"/>
    <p:sldId id="390" r:id="rId31"/>
    <p:sldId id="391" r:id="rId32"/>
    <p:sldId id="392" r:id="rId33"/>
    <p:sldId id="393" r:id="rId34"/>
    <p:sldId id="394" r:id="rId35"/>
    <p:sldId id="395" r:id="rId36"/>
    <p:sldId id="415" r:id="rId37"/>
    <p:sldId id="448" r:id="rId38"/>
    <p:sldId id="416" r:id="rId39"/>
    <p:sldId id="396" r:id="rId40"/>
    <p:sldId id="397" r:id="rId41"/>
    <p:sldId id="398" r:id="rId42"/>
    <p:sldId id="399" r:id="rId43"/>
    <p:sldId id="400" r:id="rId44"/>
    <p:sldId id="401" r:id="rId45"/>
    <p:sldId id="402" r:id="rId46"/>
    <p:sldId id="403" r:id="rId47"/>
    <p:sldId id="404" r:id="rId48"/>
    <p:sldId id="405" r:id="rId49"/>
    <p:sldId id="406" r:id="rId50"/>
    <p:sldId id="407" r:id="rId51"/>
    <p:sldId id="408" r:id="rId52"/>
    <p:sldId id="409" r:id="rId53"/>
    <p:sldId id="410" r:id="rId54"/>
    <p:sldId id="417" r:id="rId55"/>
    <p:sldId id="418" r:id="rId56"/>
    <p:sldId id="419" r:id="rId57"/>
    <p:sldId id="420" r:id="rId58"/>
    <p:sldId id="421" r:id="rId59"/>
    <p:sldId id="422" r:id="rId60"/>
    <p:sldId id="423" r:id="rId61"/>
    <p:sldId id="424" r:id="rId62"/>
    <p:sldId id="425" r:id="rId63"/>
    <p:sldId id="426" r:id="rId64"/>
    <p:sldId id="427" r:id="rId65"/>
    <p:sldId id="428" r:id="rId66"/>
    <p:sldId id="429" r:id="rId67"/>
    <p:sldId id="430" r:id="rId68"/>
    <p:sldId id="431" r:id="rId69"/>
    <p:sldId id="432" r:id="rId70"/>
    <p:sldId id="433" r:id="rId71"/>
    <p:sldId id="434" r:id="rId72"/>
    <p:sldId id="435" r:id="rId73"/>
    <p:sldId id="436" r:id="rId74"/>
    <p:sldId id="453" r:id="rId75"/>
    <p:sldId id="437" r:id="rId76"/>
    <p:sldId id="438" r:id="rId77"/>
    <p:sldId id="439" r:id="rId78"/>
    <p:sldId id="440" r:id="rId79"/>
    <p:sldId id="441" r:id="rId80"/>
    <p:sldId id="442" r:id="rId81"/>
    <p:sldId id="443" r:id="rId82"/>
    <p:sldId id="455" r:id="rId83"/>
    <p:sldId id="456" r:id="rId84"/>
    <p:sldId id="457" r:id="rId85"/>
    <p:sldId id="458" r:id="rId86"/>
    <p:sldId id="459" r:id="rId87"/>
    <p:sldId id="460" r:id="rId88"/>
    <p:sldId id="461" r:id="rId89"/>
    <p:sldId id="462" r:id="rId90"/>
    <p:sldId id="464" r:id="rId91"/>
    <p:sldId id="465" r:id="rId92"/>
    <p:sldId id="466" r:id="rId93"/>
    <p:sldId id="444" r:id="rId94"/>
    <p:sldId id="445" r:id="rId95"/>
    <p:sldId id="303" r:id="rId96"/>
    <p:sldId id="377" r:id="rId97"/>
    <p:sldId id="378"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8DA"/>
    <a:srgbClr val="0070C0"/>
    <a:srgbClr val="FFE978"/>
    <a:srgbClr val="C6F74B"/>
    <a:srgbClr val="A1CC1C"/>
    <a:srgbClr val="E2AC00"/>
    <a:srgbClr val="A88000"/>
    <a:srgbClr val="494545"/>
    <a:srgbClr val="45546B"/>
    <a:srgbClr val="B5D0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598" autoAdjust="0"/>
  </p:normalViewPr>
  <p:slideViewPr>
    <p:cSldViewPr snapToGrid="0">
      <p:cViewPr varScale="1">
        <p:scale>
          <a:sx n="82" d="100"/>
          <a:sy n="82" d="100"/>
        </p:scale>
        <p:origin x="720"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r>
              <a:rPr lang="en-US" sz="1800" b="1" i="0" baseline="0" dirty="0">
                <a:effectLst/>
              </a:rPr>
              <a:t>Demographic Distribution of the Village</a:t>
            </a:r>
            <a:endParaRPr lang="en-IN" sz="1800" dirty="0">
              <a:effectLst/>
            </a:endParaRPr>
          </a:p>
        </c:rich>
      </c:tx>
      <c:layout>
        <c:manualLayout>
          <c:xMode val="edge"/>
          <c:yMode val="edge"/>
          <c:x val="0.1239904185309855"/>
          <c:y val="3.1415743627742555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view3D>
      <c:rotX val="50"/>
      <c:rotY val="0"/>
      <c:depthPercent val="100"/>
      <c:rAngAx val="0"/>
      <c:perspective val="6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2.9116135018811013E-2"/>
          <c:y val="0.1212461053585544"/>
          <c:w val="0.9516280978536642"/>
          <c:h val="0.61569190532999463"/>
        </c:manualLayout>
      </c:layout>
      <c:pie3DChart>
        <c:varyColors val="1"/>
        <c:ser>
          <c:idx val="0"/>
          <c:order val="0"/>
          <c:explosion val="15"/>
          <c:dPt>
            <c:idx val="0"/>
            <c:bubble3D val="0"/>
            <c:spPr>
              <a:solidFill>
                <a:schemeClr val="accent1"/>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1-EB8B-4DE9-9A4F-273FC491B447}"/>
              </c:ext>
            </c:extLst>
          </c:dPt>
          <c:dPt>
            <c:idx val="1"/>
            <c:bubble3D val="0"/>
            <c:explosion val="31"/>
            <c:spPr>
              <a:solidFill>
                <a:schemeClr val="accent2"/>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3-EB8B-4DE9-9A4F-273FC491B447}"/>
              </c:ext>
            </c:extLst>
          </c:dPt>
          <c:dPt>
            <c:idx val="2"/>
            <c:bubble3D val="0"/>
            <c:spPr>
              <a:solidFill>
                <a:schemeClr val="accent3"/>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5-EB8B-4DE9-9A4F-273FC491B447}"/>
              </c:ext>
            </c:extLst>
          </c:dPt>
          <c:dPt>
            <c:idx val="3"/>
            <c:bubble3D val="0"/>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7-EB8B-4DE9-9A4F-273FC491B447}"/>
              </c:ext>
            </c:extLst>
          </c:dPt>
          <c:dPt>
            <c:idx val="4"/>
            <c:bubble3D val="0"/>
            <c:spPr>
              <a:solidFill>
                <a:schemeClr val="accent5"/>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9-EB8B-4DE9-9A4F-273FC491B447}"/>
              </c:ext>
            </c:extLst>
          </c:dPt>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15:layout/>
              </c:ext>
            </c:extLst>
          </c:dLbls>
          <c:cat>
            <c:strRef>
              <c:f>Sheet1!$A$2:$A$6</c:f>
              <c:strCache>
                <c:ptCount val="5"/>
                <c:pt idx="0">
                  <c:v>Lower-income families – 300</c:v>
                </c:pt>
                <c:pt idx="1">
                  <c:v>Middle-income families – 80</c:v>
                </c:pt>
                <c:pt idx="2">
                  <c:v>Higher-income families – 40</c:v>
                </c:pt>
                <c:pt idx="3">
                  <c:v>Male-only families – 50</c:v>
                </c:pt>
                <c:pt idx="4">
                  <c:v>Male and widow families - 30 </c:v>
                </c:pt>
              </c:strCache>
            </c:strRef>
          </c:cat>
          <c:val>
            <c:numRef>
              <c:f>Sheet1!$B$2:$B$6</c:f>
              <c:numCache>
                <c:formatCode>General</c:formatCode>
                <c:ptCount val="5"/>
                <c:pt idx="0">
                  <c:v>300</c:v>
                </c:pt>
                <c:pt idx="1">
                  <c:v>80</c:v>
                </c:pt>
                <c:pt idx="2">
                  <c:v>40</c:v>
                </c:pt>
                <c:pt idx="3">
                  <c:v>50</c:v>
                </c:pt>
                <c:pt idx="4">
                  <c:v>30</c:v>
                </c:pt>
              </c:numCache>
            </c:numRef>
          </c:val>
          <c:extLst>
            <c:ext xmlns:c16="http://schemas.microsoft.com/office/drawing/2014/chart" uri="{C3380CC4-5D6E-409C-BE32-E72D297353CC}">
              <c16:uniqueId val="{0000000A-EB8B-4DE9-9A4F-273FC491B447}"/>
            </c:ext>
          </c:extLst>
        </c:ser>
        <c:dLbls>
          <c:dLblPos val="inEnd"/>
          <c:showLegendKey val="0"/>
          <c:showVal val="0"/>
          <c:showCatName val="0"/>
          <c:showSerName val="0"/>
          <c:showPercent val="1"/>
          <c:showBubbleSize val="0"/>
          <c:showLeaderLines val="1"/>
        </c:dLbls>
      </c:pie3DChart>
      <c:spPr>
        <a:noFill/>
        <a:ln>
          <a:noFill/>
        </a:ln>
        <a:effectLst/>
      </c:spPr>
    </c:plotArea>
    <c:legend>
      <c:legendPos val="b"/>
      <c:layout>
        <c:manualLayout>
          <c:xMode val="edge"/>
          <c:yMode val="edge"/>
          <c:x val="4.1991808436872497E-3"/>
          <c:y val="0.65021324251177537"/>
          <c:w val="0.99364824847366584"/>
          <c:h val="0.34978675748822474"/>
        </c:manualLayout>
      </c:layout>
      <c:overlay val="0"/>
      <c:spPr>
        <a:solidFill>
          <a:schemeClr val="lt1">
            <a:alpha val="78000"/>
          </a:schemeClr>
        </a:solidFill>
        <a:ln>
          <a:noFill/>
        </a:ln>
        <a:effectLst/>
      </c:spPr>
      <c:txPr>
        <a:bodyPr rot="0" spcFirstLastPara="1" vertOverflow="ellipsis" vert="horz" wrap="square" anchor="ctr" anchorCtr="1"/>
        <a:lstStyle/>
        <a:p>
          <a:pPr>
            <a:defRPr sz="1600" b="1"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diagrams/_rels/data4.xml.rels><?xml version="1.0" encoding="UTF-8" standalone="yes"?>
<Relationships xmlns="http://schemas.openxmlformats.org/package/2006/relationships"><Relationship Id="rId1" Type="http://schemas.openxmlformats.org/officeDocument/2006/relationships/image" Target="../media/image48.png"/></Relationships>
</file>

<file path=ppt/diagrams/_rels/drawing4.xml.rels><?xml version="1.0" encoding="UTF-8" standalone="yes"?>
<Relationships xmlns="http://schemas.openxmlformats.org/package/2006/relationships"><Relationship Id="rId1" Type="http://schemas.openxmlformats.org/officeDocument/2006/relationships/image" Target="../media/image4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AD08E9-1E0C-45CF-B2E7-EFC7FAA2E2C2}" type="doc">
      <dgm:prSet loTypeId="urn:microsoft.com/office/officeart/2005/8/layout/hProcess9" loCatId="process" qsTypeId="urn:microsoft.com/office/officeart/2005/8/quickstyle/simple1" qsCatId="simple" csTypeId="urn:microsoft.com/office/officeart/2005/8/colors/accent1_2" csCatId="accent1" phldr="1"/>
      <dgm:spPr/>
    </dgm:pt>
    <dgm:pt modelId="{B5208846-14C6-47B7-821F-4CA509CDB6D1}">
      <dgm:prSet phldrT="[Text]" custT="1"/>
      <dgm:spPr>
        <a:solidFill>
          <a:srgbClr val="00194C">
            <a:alpha val="94118"/>
          </a:srgbClr>
        </a:solidFill>
      </dgm:spPr>
      <dgm:t>
        <a:bodyPr/>
        <a:lstStyle/>
        <a:p>
          <a:r>
            <a:rPr lang="en-US" sz="2000" b="0" i="0" dirty="0"/>
            <a:t>Identify an unmet need or problem within a group, empathize, define the pain as completely as possible, and explore a compelling solution.</a:t>
          </a:r>
          <a:endParaRPr lang="en-US" sz="2000" dirty="0"/>
        </a:p>
      </dgm:t>
    </dgm:pt>
    <dgm:pt modelId="{FF0F8557-2E37-4A80-9633-EC4733B02932}" type="parTrans" cxnId="{CCEEDABB-EFF0-4EDA-8467-8B8388D013BD}">
      <dgm:prSet/>
      <dgm:spPr/>
      <dgm:t>
        <a:bodyPr/>
        <a:lstStyle/>
        <a:p>
          <a:endParaRPr lang="en-US"/>
        </a:p>
      </dgm:t>
    </dgm:pt>
    <dgm:pt modelId="{D9092D32-80B2-49B9-B46A-EE9EE1E78102}" type="sibTrans" cxnId="{CCEEDABB-EFF0-4EDA-8467-8B8388D013BD}">
      <dgm:prSet/>
      <dgm:spPr/>
      <dgm:t>
        <a:bodyPr/>
        <a:lstStyle/>
        <a:p>
          <a:endParaRPr lang="en-US"/>
        </a:p>
      </dgm:t>
    </dgm:pt>
    <dgm:pt modelId="{084646CD-A9D6-4904-BB27-E99954C3A143}">
      <dgm:prSet phldrT="[Text]" custT="1"/>
      <dgm:spPr>
        <a:solidFill>
          <a:srgbClr val="00194C">
            <a:alpha val="94118"/>
          </a:srgbClr>
        </a:solidFill>
      </dgm:spPr>
      <dgm:t>
        <a:bodyPr/>
        <a:lstStyle/>
        <a:p>
          <a:r>
            <a:rPr lang="en-US" sz="2000" b="0" i="0" dirty="0"/>
            <a:t>Assemble a well-rounded team of co-founders with complementary skills and shared vision. Conduct thorough market research before proceeding to establish the company.</a:t>
          </a:r>
          <a:endParaRPr lang="en-US" sz="2000" dirty="0"/>
        </a:p>
      </dgm:t>
    </dgm:pt>
    <dgm:pt modelId="{8EE46D71-0193-46B9-8F9D-210A2C7CC7BA}" type="parTrans" cxnId="{12A8D0F4-1C56-4727-BAA0-3B90568A80EF}">
      <dgm:prSet/>
      <dgm:spPr/>
      <dgm:t>
        <a:bodyPr/>
        <a:lstStyle/>
        <a:p>
          <a:endParaRPr lang="en-US"/>
        </a:p>
      </dgm:t>
    </dgm:pt>
    <dgm:pt modelId="{A7A42103-87B3-44AB-9AAB-3CF698D38A00}" type="sibTrans" cxnId="{12A8D0F4-1C56-4727-BAA0-3B90568A80EF}">
      <dgm:prSet/>
      <dgm:spPr/>
      <dgm:t>
        <a:bodyPr/>
        <a:lstStyle/>
        <a:p>
          <a:endParaRPr lang="en-US"/>
        </a:p>
      </dgm:t>
    </dgm:pt>
    <dgm:pt modelId="{D47CFBA6-2B88-4E7E-9242-ECC27F194F3F}">
      <dgm:prSet phldrT="[Text]" custT="1"/>
      <dgm:spPr>
        <a:solidFill>
          <a:srgbClr val="00194C">
            <a:alpha val="94118"/>
          </a:srgbClr>
        </a:solidFill>
      </dgm:spPr>
      <dgm:t>
        <a:bodyPr/>
        <a:lstStyle/>
        <a:p>
          <a:r>
            <a:rPr lang="en-US" sz="2000" b="0" i="0" dirty="0"/>
            <a:t>Understand the target group, define the problem, ideate solutions for product-market fit, explore incubation and seed funding, and recruit tech experts to address skill gaps.</a:t>
          </a:r>
          <a:endParaRPr lang="en-US" sz="2000" dirty="0"/>
        </a:p>
      </dgm:t>
    </dgm:pt>
    <dgm:pt modelId="{A6622D50-99F1-4498-ADDC-C93987005477}" type="parTrans" cxnId="{FACB728A-F178-48BF-9CBD-49946BCAB7A7}">
      <dgm:prSet/>
      <dgm:spPr/>
      <dgm:t>
        <a:bodyPr/>
        <a:lstStyle/>
        <a:p>
          <a:endParaRPr lang="en-US"/>
        </a:p>
      </dgm:t>
    </dgm:pt>
    <dgm:pt modelId="{1A3BF933-99FE-4BA0-B4D6-51E1934DBDE2}" type="sibTrans" cxnId="{FACB728A-F178-48BF-9CBD-49946BCAB7A7}">
      <dgm:prSet/>
      <dgm:spPr/>
      <dgm:t>
        <a:bodyPr/>
        <a:lstStyle/>
        <a:p>
          <a:endParaRPr lang="en-US"/>
        </a:p>
      </dgm:t>
    </dgm:pt>
    <dgm:pt modelId="{9540801F-6F18-4A90-B934-850A915B5453}">
      <dgm:prSet custT="1"/>
      <dgm:spPr>
        <a:solidFill>
          <a:srgbClr val="00194C">
            <a:alpha val="94118"/>
          </a:srgbClr>
        </a:solidFill>
      </dgm:spPr>
      <dgm:t>
        <a:bodyPr/>
        <a:lstStyle/>
        <a:p>
          <a:r>
            <a:rPr lang="en-US" sz="2000" b="0" i="0" dirty="0"/>
            <a:t>Embrace the lean startup approach: build, measure, learn, and create a go-to-market plan grounded in market understanding and marketing strategies. Join acceleration programs and connect with angel investors.</a:t>
          </a:r>
          <a:endParaRPr lang="en-US" sz="2000" dirty="0"/>
        </a:p>
      </dgm:t>
    </dgm:pt>
    <dgm:pt modelId="{3C42991F-16A1-4A6F-A4B8-5C43EEE5C5EA}" type="parTrans" cxnId="{2B7EDB34-0FFD-4C8F-89B2-D8ED64E0BD05}">
      <dgm:prSet/>
      <dgm:spPr/>
      <dgm:t>
        <a:bodyPr/>
        <a:lstStyle/>
        <a:p>
          <a:endParaRPr lang="en-US"/>
        </a:p>
      </dgm:t>
    </dgm:pt>
    <dgm:pt modelId="{6457FA94-E1C8-43F2-90DF-EB10A90F9A94}" type="sibTrans" cxnId="{2B7EDB34-0FFD-4C8F-89B2-D8ED64E0BD05}">
      <dgm:prSet/>
      <dgm:spPr/>
      <dgm:t>
        <a:bodyPr/>
        <a:lstStyle/>
        <a:p>
          <a:endParaRPr lang="en-US"/>
        </a:p>
      </dgm:t>
    </dgm:pt>
    <dgm:pt modelId="{BDDE103F-2625-484A-A274-AFB9841F132F}" type="pres">
      <dgm:prSet presAssocID="{99AD08E9-1E0C-45CF-B2E7-EFC7FAA2E2C2}" presName="CompostProcess" presStyleCnt="0">
        <dgm:presLayoutVars>
          <dgm:dir/>
          <dgm:resizeHandles val="exact"/>
        </dgm:presLayoutVars>
      </dgm:prSet>
      <dgm:spPr/>
    </dgm:pt>
    <dgm:pt modelId="{88A4B99D-BE0A-4650-AED4-C552F13591BB}" type="pres">
      <dgm:prSet presAssocID="{99AD08E9-1E0C-45CF-B2E7-EFC7FAA2E2C2}" presName="arrow" presStyleLbl="bgShp" presStyleIdx="0" presStyleCnt="1" custScaleX="117647"/>
      <dgm:spPr/>
    </dgm:pt>
    <dgm:pt modelId="{EFBAE94F-CE84-4965-B58B-FD91AA697006}" type="pres">
      <dgm:prSet presAssocID="{99AD08E9-1E0C-45CF-B2E7-EFC7FAA2E2C2}" presName="linearProcess" presStyleCnt="0"/>
      <dgm:spPr/>
    </dgm:pt>
    <dgm:pt modelId="{B655FCBA-2659-4896-9330-C984013DA664}" type="pres">
      <dgm:prSet presAssocID="{B5208846-14C6-47B7-821F-4CA509CDB6D1}" presName="textNode" presStyleLbl="node1" presStyleIdx="0" presStyleCnt="4" custScaleY="130266">
        <dgm:presLayoutVars>
          <dgm:bulletEnabled val="1"/>
        </dgm:presLayoutVars>
      </dgm:prSet>
      <dgm:spPr/>
      <dgm:t>
        <a:bodyPr/>
        <a:lstStyle/>
        <a:p>
          <a:endParaRPr lang="en-US"/>
        </a:p>
      </dgm:t>
    </dgm:pt>
    <dgm:pt modelId="{CEAEF731-B3EC-4B98-ABD7-18598581D953}" type="pres">
      <dgm:prSet presAssocID="{D9092D32-80B2-49B9-B46A-EE9EE1E78102}" presName="sibTrans" presStyleCnt="0"/>
      <dgm:spPr/>
    </dgm:pt>
    <dgm:pt modelId="{385976C6-C29B-4326-A78B-7C1F624FD980}" type="pres">
      <dgm:prSet presAssocID="{084646CD-A9D6-4904-BB27-E99954C3A143}" presName="textNode" presStyleLbl="node1" presStyleIdx="1" presStyleCnt="4" custScaleY="130171">
        <dgm:presLayoutVars>
          <dgm:bulletEnabled val="1"/>
        </dgm:presLayoutVars>
      </dgm:prSet>
      <dgm:spPr/>
      <dgm:t>
        <a:bodyPr/>
        <a:lstStyle/>
        <a:p>
          <a:endParaRPr lang="en-US"/>
        </a:p>
      </dgm:t>
    </dgm:pt>
    <dgm:pt modelId="{796F0AF0-6311-4006-9DE2-BA765ABD8438}" type="pres">
      <dgm:prSet presAssocID="{A7A42103-87B3-44AB-9AAB-3CF698D38A00}" presName="sibTrans" presStyleCnt="0"/>
      <dgm:spPr/>
    </dgm:pt>
    <dgm:pt modelId="{4B57E6A5-4DE7-4B31-9347-53FF20D5DB57}" type="pres">
      <dgm:prSet presAssocID="{D47CFBA6-2B88-4E7E-9242-ECC27F194F3F}" presName="textNode" presStyleLbl="node1" presStyleIdx="2" presStyleCnt="4" custScaleX="113140" custScaleY="139135">
        <dgm:presLayoutVars>
          <dgm:bulletEnabled val="1"/>
        </dgm:presLayoutVars>
      </dgm:prSet>
      <dgm:spPr/>
      <dgm:t>
        <a:bodyPr/>
        <a:lstStyle/>
        <a:p>
          <a:endParaRPr lang="en-US"/>
        </a:p>
      </dgm:t>
    </dgm:pt>
    <dgm:pt modelId="{4333D9E9-7660-45EF-90FB-C565C8474A7C}" type="pres">
      <dgm:prSet presAssocID="{1A3BF933-99FE-4BA0-B4D6-51E1934DBDE2}" presName="sibTrans" presStyleCnt="0"/>
      <dgm:spPr/>
    </dgm:pt>
    <dgm:pt modelId="{15FFBD0A-A87E-4EF3-985C-510BBCD27186}" type="pres">
      <dgm:prSet presAssocID="{9540801F-6F18-4A90-B934-850A915B5453}" presName="textNode" presStyleLbl="node1" presStyleIdx="3" presStyleCnt="4" custScaleX="131274" custScaleY="150961">
        <dgm:presLayoutVars>
          <dgm:bulletEnabled val="1"/>
        </dgm:presLayoutVars>
      </dgm:prSet>
      <dgm:spPr/>
      <dgm:t>
        <a:bodyPr/>
        <a:lstStyle/>
        <a:p>
          <a:endParaRPr lang="en-US"/>
        </a:p>
      </dgm:t>
    </dgm:pt>
  </dgm:ptLst>
  <dgm:cxnLst>
    <dgm:cxn modelId="{986D6D5B-E551-4C24-8D58-5F7E3DDA17B2}" type="presOf" srcId="{084646CD-A9D6-4904-BB27-E99954C3A143}" destId="{385976C6-C29B-4326-A78B-7C1F624FD980}" srcOrd="0" destOrd="0" presId="urn:microsoft.com/office/officeart/2005/8/layout/hProcess9"/>
    <dgm:cxn modelId="{60BAC9BA-27CC-41BA-876A-97B5029C82C4}" type="presOf" srcId="{99AD08E9-1E0C-45CF-B2E7-EFC7FAA2E2C2}" destId="{BDDE103F-2625-484A-A274-AFB9841F132F}" srcOrd="0" destOrd="0" presId="urn:microsoft.com/office/officeart/2005/8/layout/hProcess9"/>
    <dgm:cxn modelId="{2B7EDB34-0FFD-4C8F-89B2-D8ED64E0BD05}" srcId="{99AD08E9-1E0C-45CF-B2E7-EFC7FAA2E2C2}" destId="{9540801F-6F18-4A90-B934-850A915B5453}" srcOrd="3" destOrd="0" parTransId="{3C42991F-16A1-4A6F-A4B8-5C43EEE5C5EA}" sibTransId="{6457FA94-E1C8-43F2-90DF-EB10A90F9A94}"/>
    <dgm:cxn modelId="{FACB728A-F178-48BF-9CBD-49946BCAB7A7}" srcId="{99AD08E9-1E0C-45CF-B2E7-EFC7FAA2E2C2}" destId="{D47CFBA6-2B88-4E7E-9242-ECC27F194F3F}" srcOrd="2" destOrd="0" parTransId="{A6622D50-99F1-4498-ADDC-C93987005477}" sibTransId="{1A3BF933-99FE-4BA0-B4D6-51E1934DBDE2}"/>
    <dgm:cxn modelId="{CCEEDABB-EFF0-4EDA-8467-8B8388D013BD}" srcId="{99AD08E9-1E0C-45CF-B2E7-EFC7FAA2E2C2}" destId="{B5208846-14C6-47B7-821F-4CA509CDB6D1}" srcOrd="0" destOrd="0" parTransId="{FF0F8557-2E37-4A80-9633-EC4733B02932}" sibTransId="{D9092D32-80B2-49B9-B46A-EE9EE1E78102}"/>
    <dgm:cxn modelId="{28A405C0-407A-40D9-95AF-1B567F69B16B}" type="presOf" srcId="{D47CFBA6-2B88-4E7E-9242-ECC27F194F3F}" destId="{4B57E6A5-4DE7-4B31-9347-53FF20D5DB57}" srcOrd="0" destOrd="0" presId="urn:microsoft.com/office/officeart/2005/8/layout/hProcess9"/>
    <dgm:cxn modelId="{EDBFF414-CCAC-45AD-B37D-7AD9647C7A9E}" type="presOf" srcId="{B5208846-14C6-47B7-821F-4CA509CDB6D1}" destId="{B655FCBA-2659-4896-9330-C984013DA664}" srcOrd="0" destOrd="0" presId="urn:microsoft.com/office/officeart/2005/8/layout/hProcess9"/>
    <dgm:cxn modelId="{F76586F5-9753-4E09-8052-F16459C11DF6}" type="presOf" srcId="{9540801F-6F18-4A90-B934-850A915B5453}" destId="{15FFBD0A-A87E-4EF3-985C-510BBCD27186}" srcOrd="0" destOrd="0" presId="urn:microsoft.com/office/officeart/2005/8/layout/hProcess9"/>
    <dgm:cxn modelId="{12A8D0F4-1C56-4727-BAA0-3B90568A80EF}" srcId="{99AD08E9-1E0C-45CF-B2E7-EFC7FAA2E2C2}" destId="{084646CD-A9D6-4904-BB27-E99954C3A143}" srcOrd="1" destOrd="0" parTransId="{8EE46D71-0193-46B9-8F9D-210A2C7CC7BA}" sibTransId="{A7A42103-87B3-44AB-9AAB-3CF698D38A00}"/>
    <dgm:cxn modelId="{3B117B70-CDB4-4F2A-A488-375864E77447}" type="presParOf" srcId="{BDDE103F-2625-484A-A274-AFB9841F132F}" destId="{88A4B99D-BE0A-4650-AED4-C552F13591BB}" srcOrd="0" destOrd="0" presId="urn:microsoft.com/office/officeart/2005/8/layout/hProcess9"/>
    <dgm:cxn modelId="{E16DFD1E-1487-4D3F-9077-75D6D05E1C2A}" type="presParOf" srcId="{BDDE103F-2625-484A-A274-AFB9841F132F}" destId="{EFBAE94F-CE84-4965-B58B-FD91AA697006}" srcOrd="1" destOrd="0" presId="urn:microsoft.com/office/officeart/2005/8/layout/hProcess9"/>
    <dgm:cxn modelId="{210B4CD3-172E-4DAB-B0BE-81D316E6E54F}" type="presParOf" srcId="{EFBAE94F-CE84-4965-B58B-FD91AA697006}" destId="{B655FCBA-2659-4896-9330-C984013DA664}" srcOrd="0" destOrd="0" presId="urn:microsoft.com/office/officeart/2005/8/layout/hProcess9"/>
    <dgm:cxn modelId="{3F5645A6-5751-4EF5-AF02-90A41E37D580}" type="presParOf" srcId="{EFBAE94F-CE84-4965-B58B-FD91AA697006}" destId="{CEAEF731-B3EC-4B98-ABD7-18598581D953}" srcOrd="1" destOrd="0" presId="urn:microsoft.com/office/officeart/2005/8/layout/hProcess9"/>
    <dgm:cxn modelId="{C43CAC76-1C39-410B-8974-1D7B62E4649D}" type="presParOf" srcId="{EFBAE94F-CE84-4965-B58B-FD91AA697006}" destId="{385976C6-C29B-4326-A78B-7C1F624FD980}" srcOrd="2" destOrd="0" presId="urn:microsoft.com/office/officeart/2005/8/layout/hProcess9"/>
    <dgm:cxn modelId="{57C93C88-5CBD-4E22-AA6B-D553B18CF235}" type="presParOf" srcId="{EFBAE94F-CE84-4965-B58B-FD91AA697006}" destId="{796F0AF0-6311-4006-9DE2-BA765ABD8438}" srcOrd="3" destOrd="0" presId="urn:microsoft.com/office/officeart/2005/8/layout/hProcess9"/>
    <dgm:cxn modelId="{C7C7614F-CDCF-4DC5-8252-AEE9AB8A8DED}" type="presParOf" srcId="{EFBAE94F-CE84-4965-B58B-FD91AA697006}" destId="{4B57E6A5-4DE7-4B31-9347-53FF20D5DB57}" srcOrd="4" destOrd="0" presId="urn:microsoft.com/office/officeart/2005/8/layout/hProcess9"/>
    <dgm:cxn modelId="{8F59EC15-6882-4393-84BD-FB6F1AD55323}" type="presParOf" srcId="{EFBAE94F-CE84-4965-B58B-FD91AA697006}" destId="{4333D9E9-7660-45EF-90FB-C565C8474A7C}" srcOrd="5" destOrd="0" presId="urn:microsoft.com/office/officeart/2005/8/layout/hProcess9"/>
    <dgm:cxn modelId="{506771E0-1A53-4821-A131-65E66D506F80}" type="presParOf" srcId="{EFBAE94F-CE84-4965-B58B-FD91AA697006}" destId="{15FFBD0A-A87E-4EF3-985C-510BBCD27186}"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AD08E9-1E0C-45CF-B2E7-EFC7FAA2E2C2}" type="doc">
      <dgm:prSet loTypeId="urn:microsoft.com/office/officeart/2005/8/layout/hProcess9" loCatId="process" qsTypeId="urn:microsoft.com/office/officeart/2005/8/quickstyle/simple1" qsCatId="simple" csTypeId="urn:microsoft.com/office/officeart/2005/8/colors/accent1_2" csCatId="accent1" phldr="1"/>
      <dgm:spPr/>
    </dgm:pt>
    <dgm:pt modelId="{B5208846-14C6-47B7-821F-4CA509CDB6D1}">
      <dgm:prSet phldrT="[Text]" custT="1"/>
      <dgm:spPr>
        <a:solidFill>
          <a:srgbClr val="00194C">
            <a:alpha val="94118"/>
          </a:srgbClr>
        </a:solidFill>
      </dgm:spPr>
      <dgm:t>
        <a:bodyPr/>
        <a:lstStyle/>
        <a:p>
          <a:r>
            <a:rPr lang="en-US" sz="2400" b="0" i="0" dirty="0"/>
            <a:t>Develop infrastructure for projected sales, estimate cash flow, stay in touch with investors for potential fundraising, and collaborate with key input suppliers.</a:t>
          </a:r>
          <a:endParaRPr lang="en-US" sz="2400" dirty="0"/>
        </a:p>
      </dgm:t>
    </dgm:pt>
    <dgm:pt modelId="{FF0F8557-2E37-4A80-9633-EC4733B02932}" type="parTrans" cxnId="{CCEEDABB-EFF0-4EDA-8467-8B8388D013BD}">
      <dgm:prSet/>
      <dgm:spPr/>
      <dgm:t>
        <a:bodyPr/>
        <a:lstStyle/>
        <a:p>
          <a:endParaRPr lang="en-US"/>
        </a:p>
      </dgm:t>
    </dgm:pt>
    <dgm:pt modelId="{D9092D32-80B2-49B9-B46A-EE9EE1E78102}" type="sibTrans" cxnId="{CCEEDABB-EFF0-4EDA-8467-8B8388D013BD}">
      <dgm:prSet/>
      <dgm:spPr/>
      <dgm:t>
        <a:bodyPr/>
        <a:lstStyle/>
        <a:p>
          <a:endParaRPr lang="en-US"/>
        </a:p>
      </dgm:t>
    </dgm:pt>
    <dgm:pt modelId="{084646CD-A9D6-4904-BB27-E99954C3A143}">
      <dgm:prSet phldrT="[Text]" custT="1"/>
      <dgm:spPr>
        <a:solidFill>
          <a:srgbClr val="00194C">
            <a:alpha val="94118"/>
          </a:srgbClr>
        </a:solidFill>
      </dgm:spPr>
      <dgm:t>
        <a:bodyPr/>
        <a:lstStyle/>
        <a:p>
          <a:r>
            <a:rPr lang="en-US" sz="2400" b="0" i="0" dirty="0"/>
            <a:t>Execute  targeted marketing strategies for enhanced customer awareness. Prioritize retention and innovation to foster sustained customer growth.</a:t>
          </a:r>
          <a:endParaRPr lang="en-US" sz="2400" dirty="0"/>
        </a:p>
      </dgm:t>
    </dgm:pt>
    <dgm:pt modelId="{8EE46D71-0193-46B9-8F9D-210A2C7CC7BA}" type="parTrans" cxnId="{12A8D0F4-1C56-4727-BAA0-3B90568A80EF}">
      <dgm:prSet/>
      <dgm:spPr/>
      <dgm:t>
        <a:bodyPr/>
        <a:lstStyle/>
        <a:p>
          <a:endParaRPr lang="en-US"/>
        </a:p>
      </dgm:t>
    </dgm:pt>
    <dgm:pt modelId="{A7A42103-87B3-44AB-9AAB-3CF698D38A00}" type="sibTrans" cxnId="{12A8D0F4-1C56-4727-BAA0-3B90568A80EF}">
      <dgm:prSet/>
      <dgm:spPr/>
      <dgm:t>
        <a:bodyPr/>
        <a:lstStyle/>
        <a:p>
          <a:endParaRPr lang="en-US"/>
        </a:p>
      </dgm:t>
    </dgm:pt>
    <dgm:pt modelId="{D47CFBA6-2B88-4E7E-9242-ECC27F194F3F}">
      <dgm:prSet phldrT="[Text]" custT="1"/>
      <dgm:spPr>
        <a:solidFill>
          <a:srgbClr val="00194C">
            <a:alpha val="94118"/>
          </a:srgbClr>
        </a:solidFill>
      </dgm:spPr>
      <dgm:t>
        <a:bodyPr/>
        <a:lstStyle/>
        <a:p>
          <a:r>
            <a:rPr lang="en-US" sz="2400" b="0" i="0" dirty="0"/>
            <a:t>Establish logistics aligned with customer preferences and forge Collaboration with distributors, dealers, mega-retailers, and e-commerce platforms.</a:t>
          </a:r>
          <a:endParaRPr lang="en-US" sz="2400" dirty="0"/>
        </a:p>
      </dgm:t>
    </dgm:pt>
    <dgm:pt modelId="{A6622D50-99F1-4498-ADDC-C93987005477}" type="parTrans" cxnId="{FACB728A-F178-48BF-9CBD-49946BCAB7A7}">
      <dgm:prSet/>
      <dgm:spPr/>
      <dgm:t>
        <a:bodyPr/>
        <a:lstStyle/>
        <a:p>
          <a:endParaRPr lang="en-US"/>
        </a:p>
      </dgm:t>
    </dgm:pt>
    <dgm:pt modelId="{1A3BF933-99FE-4BA0-B4D6-51E1934DBDE2}" type="sibTrans" cxnId="{FACB728A-F178-48BF-9CBD-49946BCAB7A7}">
      <dgm:prSet/>
      <dgm:spPr/>
      <dgm:t>
        <a:bodyPr/>
        <a:lstStyle/>
        <a:p>
          <a:endParaRPr lang="en-US"/>
        </a:p>
      </dgm:t>
    </dgm:pt>
    <dgm:pt modelId="{9540801F-6F18-4A90-B934-850A915B5453}">
      <dgm:prSet custT="1"/>
      <dgm:spPr>
        <a:solidFill>
          <a:srgbClr val="00194C">
            <a:alpha val="94118"/>
          </a:srgbClr>
        </a:solidFill>
      </dgm:spPr>
      <dgm:t>
        <a:bodyPr/>
        <a:lstStyle/>
        <a:p>
          <a:r>
            <a:rPr lang="en-US" sz="2400" b="0" i="0" dirty="0"/>
            <a:t>Consistently gather customer feedback and enhance your solution to exceed their expectations.</a:t>
          </a:r>
          <a:endParaRPr lang="en-US" sz="2400" dirty="0"/>
        </a:p>
      </dgm:t>
    </dgm:pt>
    <dgm:pt modelId="{3C42991F-16A1-4A6F-A4B8-5C43EEE5C5EA}" type="parTrans" cxnId="{2B7EDB34-0FFD-4C8F-89B2-D8ED64E0BD05}">
      <dgm:prSet/>
      <dgm:spPr/>
      <dgm:t>
        <a:bodyPr/>
        <a:lstStyle/>
        <a:p>
          <a:endParaRPr lang="en-US"/>
        </a:p>
      </dgm:t>
    </dgm:pt>
    <dgm:pt modelId="{6457FA94-E1C8-43F2-90DF-EB10A90F9A94}" type="sibTrans" cxnId="{2B7EDB34-0FFD-4C8F-89B2-D8ED64E0BD05}">
      <dgm:prSet/>
      <dgm:spPr/>
      <dgm:t>
        <a:bodyPr/>
        <a:lstStyle/>
        <a:p>
          <a:endParaRPr lang="en-US"/>
        </a:p>
      </dgm:t>
    </dgm:pt>
    <dgm:pt modelId="{BDDE103F-2625-484A-A274-AFB9841F132F}" type="pres">
      <dgm:prSet presAssocID="{99AD08E9-1E0C-45CF-B2E7-EFC7FAA2E2C2}" presName="CompostProcess" presStyleCnt="0">
        <dgm:presLayoutVars>
          <dgm:dir/>
          <dgm:resizeHandles val="exact"/>
        </dgm:presLayoutVars>
      </dgm:prSet>
      <dgm:spPr/>
    </dgm:pt>
    <dgm:pt modelId="{88A4B99D-BE0A-4650-AED4-C552F13591BB}" type="pres">
      <dgm:prSet presAssocID="{99AD08E9-1E0C-45CF-B2E7-EFC7FAA2E2C2}" presName="arrow" presStyleLbl="bgShp" presStyleIdx="0" presStyleCnt="1" custScaleX="117647"/>
      <dgm:spPr/>
    </dgm:pt>
    <dgm:pt modelId="{EFBAE94F-CE84-4965-B58B-FD91AA697006}" type="pres">
      <dgm:prSet presAssocID="{99AD08E9-1E0C-45CF-B2E7-EFC7FAA2E2C2}" presName="linearProcess" presStyleCnt="0"/>
      <dgm:spPr/>
    </dgm:pt>
    <dgm:pt modelId="{B655FCBA-2659-4896-9330-C984013DA664}" type="pres">
      <dgm:prSet presAssocID="{B5208846-14C6-47B7-821F-4CA509CDB6D1}" presName="textNode" presStyleLbl="node1" presStyleIdx="0" presStyleCnt="4" custScaleX="119905" custScaleY="191967">
        <dgm:presLayoutVars>
          <dgm:bulletEnabled val="1"/>
        </dgm:presLayoutVars>
      </dgm:prSet>
      <dgm:spPr/>
      <dgm:t>
        <a:bodyPr/>
        <a:lstStyle/>
        <a:p>
          <a:endParaRPr lang="en-US"/>
        </a:p>
      </dgm:t>
    </dgm:pt>
    <dgm:pt modelId="{CEAEF731-B3EC-4B98-ABD7-18598581D953}" type="pres">
      <dgm:prSet presAssocID="{D9092D32-80B2-49B9-B46A-EE9EE1E78102}" presName="sibTrans" presStyleCnt="0"/>
      <dgm:spPr/>
    </dgm:pt>
    <dgm:pt modelId="{385976C6-C29B-4326-A78B-7C1F624FD980}" type="pres">
      <dgm:prSet presAssocID="{084646CD-A9D6-4904-BB27-E99954C3A143}" presName="textNode" presStyleLbl="node1" presStyleIdx="1" presStyleCnt="4" custScaleX="110588" custScaleY="191967">
        <dgm:presLayoutVars>
          <dgm:bulletEnabled val="1"/>
        </dgm:presLayoutVars>
      </dgm:prSet>
      <dgm:spPr/>
      <dgm:t>
        <a:bodyPr/>
        <a:lstStyle/>
        <a:p>
          <a:endParaRPr lang="en-US"/>
        </a:p>
      </dgm:t>
    </dgm:pt>
    <dgm:pt modelId="{796F0AF0-6311-4006-9DE2-BA765ABD8438}" type="pres">
      <dgm:prSet presAssocID="{A7A42103-87B3-44AB-9AAB-3CF698D38A00}" presName="sibTrans" presStyleCnt="0"/>
      <dgm:spPr/>
    </dgm:pt>
    <dgm:pt modelId="{4B57E6A5-4DE7-4B31-9347-53FF20D5DB57}" type="pres">
      <dgm:prSet presAssocID="{D47CFBA6-2B88-4E7E-9242-ECC27F194F3F}" presName="textNode" presStyleLbl="node1" presStyleIdx="2" presStyleCnt="4" custScaleX="110588" custScaleY="191967">
        <dgm:presLayoutVars>
          <dgm:bulletEnabled val="1"/>
        </dgm:presLayoutVars>
      </dgm:prSet>
      <dgm:spPr/>
      <dgm:t>
        <a:bodyPr/>
        <a:lstStyle/>
        <a:p>
          <a:endParaRPr lang="en-US"/>
        </a:p>
      </dgm:t>
    </dgm:pt>
    <dgm:pt modelId="{4333D9E9-7660-45EF-90FB-C565C8474A7C}" type="pres">
      <dgm:prSet presAssocID="{1A3BF933-99FE-4BA0-B4D6-51E1934DBDE2}" presName="sibTrans" presStyleCnt="0"/>
      <dgm:spPr/>
    </dgm:pt>
    <dgm:pt modelId="{15FFBD0A-A87E-4EF3-985C-510BBCD27186}" type="pres">
      <dgm:prSet presAssocID="{9540801F-6F18-4A90-B934-850A915B5453}" presName="textNode" presStyleLbl="node1" presStyleIdx="3" presStyleCnt="4" custScaleX="110588" custScaleY="191967">
        <dgm:presLayoutVars>
          <dgm:bulletEnabled val="1"/>
        </dgm:presLayoutVars>
      </dgm:prSet>
      <dgm:spPr/>
      <dgm:t>
        <a:bodyPr/>
        <a:lstStyle/>
        <a:p>
          <a:endParaRPr lang="en-US"/>
        </a:p>
      </dgm:t>
    </dgm:pt>
  </dgm:ptLst>
  <dgm:cxnLst>
    <dgm:cxn modelId="{2DB3F434-4BC8-4BA8-922F-0C17A3E5ABD0}" type="presOf" srcId="{084646CD-A9D6-4904-BB27-E99954C3A143}" destId="{385976C6-C29B-4326-A78B-7C1F624FD980}" srcOrd="0" destOrd="0" presId="urn:microsoft.com/office/officeart/2005/8/layout/hProcess9"/>
    <dgm:cxn modelId="{E04CD6B3-2168-4F4E-AC0A-E3DD6864110D}" type="presOf" srcId="{99AD08E9-1E0C-45CF-B2E7-EFC7FAA2E2C2}" destId="{BDDE103F-2625-484A-A274-AFB9841F132F}" srcOrd="0" destOrd="0" presId="urn:microsoft.com/office/officeart/2005/8/layout/hProcess9"/>
    <dgm:cxn modelId="{2B7EDB34-0FFD-4C8F-89B2-D8ED64E0BD05}" srcId="{99AD08E9-1E0C-45CF-B2E7-EFC7FAA2E2C2}" destId="{9540801F-6F18-4A90-B934-850A915B5453}" srcOrd="3" destOrd="0" parTransId="{3C42991F-16A1-4A6F-A4B8-5C43EEE5C5EA}" sibTransId="{6457FA94-E1C8-43F2-90DF-EB10A90F9A94}"/>
    <dgm:cxn modelId="{1606A614-0C52-420C-B95D-C70531D7B930}" type="presOf" srcId="{9540801F-6F18-4A90-B934-850A915B5453}" destId="{15FFBD0A-A87E-4EF3-985C-510BBCD27186}" srcOrd="0" destOrd="0" presId="urn:microsoft.com/office/officeart/2005/8/layout/hProcess9"/>
    <dgm:cxn modelId="{4828AC39-C5DD-4840-BE25-4827EAE8E3E2}" type="presOf" srcId="{B5208846-14C6-47B7-821F-4CA509CDB6D1}" destId="{B655FCBA-2659-4896-9330-C984013DA664}" srcOrd="0" destOrd="0" presId="urn:microsoft.com/office/officeart/2005/8/layout/hProcess9"/>
    <dgm:cxn modelId="{FACB728A-F178-48BF-9CBD-49946BCAB7A7}" srcId="{99AD08E9-1E0C-45CF-B2E7-EFC7FAA2E2C2}" destId="{D47CFBA6-2B88-4E7E-9242-ECC27F194F3F}" srcOrd="2" destOrd="0" parTransId="{A6622D50-99F1-4498-ADDC-C93987005477}" sibTransId="{1A3BF933-99FE-4BA0-B4D6-51E1934DBDE2}"/>
    <dgm:cxn modelId="{D2DC496B-31E8-4D79-8EE4-0ACBAE49A367}" type="presOf" srcId="{D47CFBA6-2B88-4E7E-9242-ECC27F194F3F}" destId="{4B57E6A5-4DE7-4B31-9347-53FF20D5DB57}" srcOrd="0" destOrd="0" presId="urn:microsoft.com/office/officeart/2005/8/layout/hProcess9"/>
    <dgm:cxn modelId="{CCEEDABB-EFF0-4EDA-8467-8B8388D013BD}" srcId="{99AD08E9-1E0C-45CF-B2E7-EFC7FAA2E2C2}" destId="{B5208846-14C6-47B7-821F-4CA509CDB6D1}" srcOrd="0" destOrd="0" parTransId="{FF0F8557-2E37-4A80-9633-EC4733B02932}" sibTransId="{D9092D32-80B2-49B9-B46A-EE9EE1E78102}"/>
    <dgm:cxn modelId="{12A8D0F4-1C56-4727-BAA0-3B90568A80EF}" srcId="{99AD08E9-1E0C-45CF-B2E7-EFC7FAA2E2C2}" destId="{084646CD-A9D6-4904-BB27-E99954C3A143}" srcOrd="1" destOrd="0" parTransId="{8EE46D71-0193-46B9-8F9D-210A2C7CC7BA}" sibTransId="{A7A42103-87B3-44AB-9AAB-3CF698D38A00}"/>
    <dgm:cxn modelId="{CA6EDBF6-60FD-4890-9135-77B140BC22B5}" type="presParOf" srcId="{BDDE103F-2625-484A-A274-AFB9841F132F}" destId="{88A4B99D-BE0A-4650-AED4-C552F13591BB}" srcOrd="0" destOrd="0" presId="urn:microsoft.com/office/officeart/2005/8/layout/hProcess9"/>
    <dgm:cxn modelId="{014300A7-6A29-4AC5-A268-F8C8037E6B98}" type="presParOf" srcId="{BDDE103F-2625-484A-A274-AFB9841F132F}" destId="{EFBAE94F-CE84-4965-B58B-FD91AA697006}" srcOrd="1" destOrd="0" presId="urn:microsoft.com/office/officeart/2005/8/layout/hProcess9"/>
    <dgm:cxn modelId="{5290EBAA-D3D7-456C-8A62-44876E92263E}" type="presParOf" srcId="{EFBAE94F-CE84-4965-B58B-FD91AA697006}" destId="{B655FCBA-2659-4896-9330-C984013DA664}" srcOrd="0" destOrd="0" presId="urn:microsoft.com/office/officeart/2005/8/layout/hProcess9"/>
    <dgm:cxn modelId="{54A8F23E-65C2-4F1F-B6B7-EDDEC5AC50CB}" type="presParOf" srcId="{EFBAE94F-CE84-4965-B58B-FD91AA697006}" destId="{CEAEF731-B3EC-4B98-ABD7-18598581D953}" srcOrd="1" destOrd="0" presId="urn:microsoft.com/office/officeart/2005/8/layout/hProcess9"/>
    <dgm:cxn modelId="{7B3AC39F-E629-4BC8-827B-92BFC8DDF880}" type="presParOf" srcId="{EFBAE94F-CE84-4965-B58B-FD91AA697006}" destId="{385976C6-C29B-4326-A78B-7C1F624FD980}" srcOrd="2" destOrd="0" presId="urn:microsoft.com/office/officeart/2005/8/layout/hProcess9"/>
    <dgm:cxn modelId="{565AA79A-056E-4218-8F78-4C6788730675}" type="presParOf" srcId="{EFBAE94F-CE84-4965-B58B-FD91AA697006}" destId="{796F0AF0-6311-4006-9DE2-BA765ABD8438}" srcOrd="3" destOrd="0" presId="urn:microsoft.com/office/officeart/2005/8/layout/hProcess9"/>
    <dgm:cxn modelId="{C86639A9-A0A5-4F55-9A04-9F8C97DB227D}" type="presParOf" srcId="{EFBAE94F-CE84-4965-B58B-FD91AA697006}" destId="{4B57E6A5-4DE7-4B31-9347-53FF20D5DB57}" srcOrd="4" destOrd="0" presId="urn:microsoft.com/office/officeart/2005/8/layout/hProcess9"/>
    <dgm:cxn modelId="{518152E6-605F-4517-AD08-56E53D8A7C61}" type="presParOf" srcId="{EFBAE94F-CE84-4965-B58B-FD91AA697006}" destId="{4333D9E9-7660-45EF-90FB-C565C8474A7C}" srcOrd="5" destOrd="0" presId="urn:microsoft.com/office/officeart/2005/8/layout/hProcess9"/>
    <dgm:cxn modelId="{790654B4-FD88-4A61-8E93-9AA6418C1B65}" type="presParOf" srcId="{EFBAE94F-CE84-4965-B58B-FD91AA697006}" destId="{15FFBD0A-A87E-4EF3-985C-510BBCD27186}"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AD08E9-1E0C-45CF-B2E7-EFC7FAA2E2C2}" type="doc">
      <dgm:prSet loTypeId="urn:microsoft.com/office/officeart/2005/8/layout/hProcess9" loCatId="process" qsTypeId="urn:microsoft.com/office/officeart/2005/8/quickstyle/simple1" qsCatId="simple" csTypeId="urn:microsoft.com/office/officeart/2005/8/colors/accent1_2" csCatId="accent1" phldr="1"/>
      <dgm:spPr/>
    </dgm:pt>
    <dgm:pt modelId="{B5208846-14C6-47B7-821F-4CA509CDB6D1}">
      <dgm:prSet phldrT="[Text]" custT="1"/>
      <dgm:spPr>
        <a:solidFill>
          <a:srgbClr val="00194C">
            <a:alpha val="94118"/>
          </a:srgbClr>
        </a:solidFill>
      </dgm:spPr>
      <dgm:t>
        <a:bodyPr/>
        <a:lstStyle/>
        <a:p>
          <a:r>
            <a:rPr lang="en-US" sz="2400" b="0" i="0" dirty="0"/>
            <a:t>Set realistic targets. Identify key growth indicators and allocate resources accordingly. Monitor daily sales closely and promptly address any issues that arise.</a:t>
          </a:r>
          <a:endParaRPr lang="en-US" sz="2400" dirty="0"/>
        </a:p>
      </dgm:t>
    </dgm:pt>
    <dgm:pt modelId="{FF0F8557-2E37-4A80-9633-EC4733B02932}" type="parTrans" cxnId="{CCEEDABB-EFF0-4EDA-8467-8B8388D013BD}">
      <dgm:prSet/>
      <dgm:spPr/>
      <dgm:t>
        <a:bodyPr/>
        <a:lstStyle/>
        <a:p>
          <a:endParaRPr lang="en-US"/>
        </a:p>
      </dgm:t>
    </dgm:pt>
    <dgm:pt modelId="{D9092D32-80B2-49B9-B46A-EE9EE1E78102}" type="sibTrans" cxnId="{CCEEDABB-EFF0-4EDA-8467-8B8388D013BD}">
      <dgm:prSet/>
      <dgm:spPr/>
      <dgm:t>
        <a:bodyPr/>
        <a:lstStyle/>
        <a:p>
          <a:endParaRPr lang="en-US"/>
        </a:p>
      </dgm:t>
    </dgm:pt>
    <dgm:pt modelId="{084646CD-A9D6-4904-BB27-E99954C3A143}">
      <dgm:prSet phldrT="[Text]" custT="1"/>
      <dgm:spPr>
        <a:solidFill>
          <a:srgbClr val="00194C">
            <a:alpha val="94118"/>
          </a:srgbClr>
        </a:solidFill>
      </dgm:spPr>
      <dgm:t>
        <a:bodyPr/>
        <a:lstStyle/>
        <a:p>
          <a:r>
            <a:rPr lang="en-US" sz="2400" b="0" i="0" dirty="0"/>
            <a:t>Constantly monitor competitors, proactively preempt their strategies when feasible, and respond swiftly to maintain your competitive edge.</a:t>
          </a:r>
          <a:endParaRPr lang="en-US" sz="2400" dirty="0"/>
        </a:p>
      </dgm:t>
    </dgm:pt>
    <dgm:pt modelId="{8EE46D71-0193-46B9-8F9D-210A2C7CC7BA}" type="parTrans" cxnId="{12A8D0F4-1C56-4727-BAA0-3B90568A80EF}">
      <dgm:prSet/>
      <dgm:spPr/>
      <dgm:t>
        <a:bodyPr/>
        <a:lstStyle/>
        <a:p>
          <a:endParaRPr lang="en-US"/>
        </a:p>
      </dgm:t>
    </dgm:pt>
    <dgm:pt modelId="{A7A42103-87B3-44AB-9AAB-3CF698D38A00}" type="sibTrans" cxnId="{12A8D0F4-1C56-4727-BAA0-3B90568A80EF}">
      <dgm:prSet/>
      <dgm:spPr/>
      <dgm:t>
        <a:bodyPr/>
        <a:lstStyle/>
        <a:p>
          <a:endParaRPr lang="en-US"/>
        </a:p>
      </dgm:t>
    </dgm:pt>
    <dgm:pt modelId="{D47CFBA6-2B88-4E7E-9242-ECC27F194F3F}">
      <dgm:prSet phldrT="[Text]" custT="1"/>
      <dgm:spPr>
        <a:solidFill>
          <a:srgbClr val="00194C">
            <a:alpha val="94118"/>
          </a:srgbClr>
        </a:solidFill>
      </dgm:spPr>
      <dgm:t>
        <a:bodyPr/>
        <a:lstStyle/>
        <a:p>
          <a:r>
            <a:rPr lang="en-US" sz="2400" b="0" i="0" dirty="0"/>
            <a:t>Assess resources and invest in talent. Analyze customer feedback, address complaints, and foster a positive work environment.</a:t>
          </a:r>
          <a:endParaRPr lang="en-US" sz="2400" dirty="0"/>
        </a:p>
      </dgm:t>
    </dgm:pt>
    <dgm:pt modelId="{A6622D50-99F1-4498-ADDC-C93987005477}" type="parTrans" cxnId="{FACB728A-F178-48BF-9CBD-49946BCAB7A7}">
      <dgm:prSet/>
      <dgm:spPr/>
      <dgm:t>
        <a:bodyPr/>
        <a:lstStyle/>
        <a:p>
          <a:endParaRPr lang="en-US"/>
        </a:p>
      </dgm:t>
    </dgm:pt>
    <dgm:pt modelId="{1A3BF933-99FE-4BA0-B4D6-51E1934DBDE2}" type="sibTrans" cxnId="{FACB728A-F178-48BF-9CBD-49946BCAB7A7}">
      <dgm:prSet/>
      <dgm:spPr/>
      <dgm:t>
        <a:bodyPr/>
        <a:lstStyle/>
        <a:p>
          <a:endParaRPr lang="en-US"/>
        </a:p>
      </dgm:t>
    </dgm:pt>
    <dgm:pt modelId="{9540801F-6F18-4A90-B934-850A915B5453}">
      <dgm:prSet custT="1"/>
      <dgm:spPr>
        <a:solidFill>
          <a:srgbClr val="00194C">
            <a:alpha val="94118"/>
          </a:srgbClr>
        </a:solidFill>
      </dgm:spPr>
      <dgm:t>
        <a:bodyPr/>
        <a:lstStyle/>
        <a:p>
          <a:r>
            <a:rPr lang="en-US" sz="2400" b="0" i="0" dirty="0"/>
            <a:t>Sustain product development efforts, stay ahead of competitors with new launches. Proactively forecast funding needs and secure funds proactively.</a:t>
          </a:r>
          <a:endParaRPr lang="en-US" sz="2400" dirty="0"/>
        </a:p>
      </dgm:t>
    </dgm:pt>
    <dgm:pt modelId="{3C42991F-16A1-4A6F-A4B8-5C43EEE5C5EA}" type="parTrans" cxnId="{2B7EDB34-0FFD-4C8F-89B2-D8ED64E0BD05}">
      <dgm:prSet/>
      <dgm:spPr/>
      <dgm:t>
        <a:bodyPr/>
        <a:lstStyle/>
        <a:p>
          <a:endParaRPr lang="en-US"/>
        </a:p>
      </dgm:t>
    </dgm:pt>
    <dgm:pt modelId="{6457FA94-E1C8-43F2-90DF-EB10A90F9A94}" type="sibTrans" cxnId="{2B7EDB34-0FFD-4C8F-89B2-D8ED64E0BD05}">
      <dgm:prSet/>
      <dgm:spPr/>
      <dgm:t>
        <a:bodyPr/>
        <a:lstStyle/>
        <a:p>
          <a:endParaRPr lang="en-US"/>
        </a:p>
      </dgm:t>
    </dgm:pt>
    <dgm:pt modelId="{BDDE103F-2625-484A-A274-AFB9841F132F}" type="pres">
      <dgm:prSet presAssocID="{99AD08E9-1E0C-45CF-B2E7-EFC7FAA2E2C2}" presName="CompostProcess" presStyleCnt="0">
        <dgm:presLayoutVars>
          <dgm:dir/>
          <dgm:resizeHandles val="exact"/>
        </dgm:presLayoutVars>
      </dgm:prSet>
      <dgm:spPr/>
    </dgm:pt>
    <dgm:pt modelId="{88A4B99D-BE0A-4650-AED4-C552F13591BB}" type="pres">
      <dgm:prSet presAssocID="{99AD08E9-1E0C-45CF-B2E7-EFC7FAA2E2C2}" presName="arrow" presStyleLbl="bgShp" presStyleIdx="0" presStyleCnt="1" custScaleX="117647"/>
      <dgm:spPr/>
    </dgm:pt>
    <dgm:pt modelId="{EFBAE94F-CE84-4965-B58B-FD91AA697006}" type="pres">
      <dgm:prSet presAssocID="{99AD08E9-1E0C-45CF-B2E7-EFC7FAA2E2C2}" presName="linearProcess" presStyleCnt="0"/>
      <dgm:spPr/>
    </dgm:pt>
    <dgm:pt modelId="{B655FCBA-2659-4896-9330-C984013DA664}" type="pres">
      <dgm:prSet presAssocID="{B5208846-14C6-47B7-821F-4CA509CDB6D1}" presName="textNode" presStyleLbl="node1" presStyleIdx="0" presStyleCnt="4" custScaleX="138385" custScaleY="187769">
        <dgm:presLayoutVars>
          <dgm:bulletEnabled val="1"/>
        </dgm:presLayoutVars>
      </dgm:prSet>
      <dgm:spPr/>
      <dgm:t>
        <a:bodyPr/>
        <a:lstStyle/>
        <a:p>
          <a:endParaRPr lang="en-US"/>
        </a:p>
      </dgm:t>
    </dgm:pt>
    <dgm:pt modelId="{CEAEF731-B3EC-4B98-ABD7-18598581D953}" type="pres">
      <dgm:prSet presAssocID="{D9092D32-80B2-49B9-B46A-EE9EE1E78102}" presName="sibTrans" presStyleCnt="0"/>
      <dgm:spPr/>
    </dgm:pt>
    <dgm:pt modelId="{385976C6-C29B-4326-A78B-7C1F624FD980}" type="pres">
      <dgm:prSet presAssocID="{084646CD-A9D6-4904-BB27-E99954C3A143}" presName="textNode" presStyleLbl="node1" presStyleIdx="1" presStyleCnt="4" custScaleX="147068" custScaleY="187769">
        <dgm:presLayoutVars>
          <dgm:bulletEnabled val="1"/>
        </dgm:presLayoutVars>
      </dgm:prSet>
      <dgm:spPr/>
      <dgm:t>
        <a:bodyPr/>
        <a:lstStyle/>
        <a:p>
          <a:endParaRPr lang="en-US"/>
        </a:p>
      </dgm:t>
    </dgm:pt>
    <dgm:pt modelId="{796F0AF0-6311-4006-9DE2-BA765ABD8438}" type="pres">
      <dgm:prSet presAssocID="{A7A42103-87B3-44AB-9AAB-3CF698D38A00}" presName="sibTrans" presStyleCnt="0"/>
      <dgm:spPr/>
    </dgm:pt>
    <dgm:pt modelId="{4B57E6A5-4DE7-4B31-9347-53FF20D5DB57}" type="pres">
      <dgm:prSet presAssocID="{D47CFBA6-2B88-4E7E-9242-ECC27F194F3F}" presName="textNode" presStyleLbl="node1" presStyleIdx="2" presStyleCnt="4" custScaleX="131354" custScaleY="187769">
        <dgm:presLayoutVars>
          <dgm:bulletEnabled val="1"/>
        </dgm:presLayoutVars>
      </dgm:prSet>
      <dgm:spPr/>
      <dgm:t>
        <a:bodyPr/>
        <a:lstStyle/>
        <a:p>
          <a:endParaRPr lang="en-US"/>
        </a:p>
      </dgm:t>
    </dgm:pt>
    <dgm:pt modelId="{4333D9E9-7660-45EF-90FB-C565C8474A7C}" type="pres">
      <dgm:prSet presAssocID="{1A3BF933-99FE-4BA0-B4D6-51E1934DBDE2}" presName="sibTrans" presStyleCnt="0"/>
      <dgm:spPr/>
    </dgm:pt>
    <dgm:pt modelId="{15FFBD0A-A87E-4EF3-985C-510BBCD27186}" type="pres">
      <dgm:prSet presAssocID="{9540801F-6F18-4A90-B934-850A915B5453}" presName="textNode" presStyleLbl="node1" presStyleIdx="3" presStyleCnt="4" custScaleX="122840" custScaleY="187769">
        <dgm:presLayoutVars>
          <dgm:bulletEnabled val="1"/>
        </dgm:presLayoutVars>
      </dgm:prSet>
      <dgm:spPr/>
      <dgm:t>
        <a:bodyPr/>
        <a:lstStyle/>
        <a:p>
          <a:endParaRPr lang="en-US"/>
        </a:p>
      </dgm:t>
    </dgm:pt>
  </dgm:ptLst>
  <dgm:cxnLst>
    <dgm:cxn modelId="{E081855A-AF18-4AB2-B7A6-50634E78B7A5}" type="presOf" srcId="{99AD08E9-1E0C-45CF-B2E7-EFC7FAA2E2C2}" destId="{BDDE103F-2625-484A-A274-AFB9841F132F}" srcOrd="0" destOrd="0" presId="urn:microsoft.com/office/officeart/2005/8/layout/hProcess9"/>
    <dgm:cxn modelId="{FACB728A-F178-48BF-9CBD-49946BCAB7A7}" srcId="{99AD08E9-1E0C-45CF-B2E7-EFC7FAA2E2C2}" destId="{D47CFBA6-2B88-4E7E-9242-ECC27F194F3F}" srcOrd="2" destOrd="0" parTransId="{A6622D50-99F1-4498-ADDC-C93987005477}" sibTransId="{1A3BF933-99FE-4BA0-B4D6-51E1934DBDE2}"/>
    <dgm:cxn modelId="{12A8D0F4-1C56-4727-BAA0-3B90568A80EF}" srcId="{99AD08E9-1E0C-45CF-B2E7-EFC7FAA2E2C2}" destId="{084646CD-A9D6-4904-BB27-E99954C3A143}" srcOrd="1" destOrd="0" parTransId="{8EE46D71-0193-46B9-8F9D-210A2C7CC7BA}" sibTransId="{A7A42103-87B3-44AB-9AAB-3CF698D38A00}"/>
    <dgm:cxn modelId="{33DBCBD5-F519-4E7D-B173-796BE28B0C23}" type="presOf" srcId="{B5208846-14C6-47B7-821F-4CA509CDB6D1}" destId="{B655FCBA-2659-4896-9330-C984013DA664}" srcOrd="0" destOrd="0" presId="urn:microsoft.com/office/officeart/2005/8/layout/hProcess9"/>
    <dgm:cxn modelId="{CCEEDABB-EFF0-4EDA-8467-8B8388D013BD}" srcId="{99AD08E9-1E0C-45CF-B2E7-EFC7FAA2E2C2}" destId="{B5208846-14C6-47B7-821F-4CA509CDB6D1}" srcOrd="0" destOrd="0" parTransId="{FF0F8557-2E37-4A80-9633-EC4733B02932}" sibTransId="{D9092D32-80B2-49B9-B46A-EE9EE1E78102}"/>
    <dgm:cxn modelId="{AA1BBC6C-5A35-4830-8181-B4C785B10B5C}" type="presOf" srcId="{9540801F-6F18-4A90-B934-850A915B5453}" destId="{15FFBD0A-A87E-4EF3-985C-510BBCD27186}" srcOrd="0" destOrd="0" presId="urn:microsoft.com/office/officeart/2005/8/layout/hProcess9"/>
    <dgm:cxn modelId="{2B7EDB34-0FFD-4C8F-89B2-D8ED64E0BD05}" srcId="{99AD08E9-1E0C-45CF-B2E7-EFC7FAA2E2C2}" destId="{9540801F-6F18-4A90-B934-850A915B5453}" srcOrd="3" destOrd="0" parTransId="{3C42991F-16A1-4A6F-A4B8-5C43EEE5C5EA}" sibTransId="{6457FA94-E1C8-43F2-90DF-EB10A90F9A94}"/>
    <dgm:cxn modelId="{EC1351A4-F23F-4328-8874-5D249F64069B}" type="presOf" srcId="{084646CD-A9D6-4904-BB27-E99954C3A143}" destId="{385976C6-C29B-4326-A78B-7C1F624FD980}" srcOrd="0" destOrd="0" presId="urn:microsoft.com/office/officeart/2005/8/layout/hProcess9"/>
    <dgm:cxn modelId="{DC81D7FE-A5FE-469D-8422-85121D7BAFA0}" type="presOf" srcId="{D47CFBA6-2B88-4E7E-9242-ECC27F194F3F}" destId="{4B57E6A5-4DE7-4B31-9347-53FF20D5DB57}" srcOrd="0" destOrd="0" presId="urn:microsoft.com/office/officeart/2005/8/layout/hProcess9"/>
    <dgm:cxn modelId="{7EE40FA9-0AA9-4A9F-947C-89981FAF9689}" type="presParOf" srcId="{BDDE103F-2625-484A-A274-AFB9841F132F}" destId="{88A4B99D-BE0A-4650-AED4-C552F13591BB}" srcOrd="0" destOrd="0" presId="urn:microsoft.com/office/officeart/2005/8/layout/hProcess9"/>
    <dgm:cxn modelId="{16AC4076-D497-47C4-BA45-5774487ED3E8}" type="presParOf" srcId="{BDDE103F-2625-484A-A274-AFB9841F132F}" destId="{EFBAE94F-CE84-4965-B58B-FD91AA697006}" srcOrd="1" destOrd="0" presId="urn:microsoft.com/office/officeart/2005/8/layout/hProcess9"/>
    <dgm:cxn modelId="{75CCC698-D247-4EFD-9306-EE7619AA38C4}" type="presParOf" srcId="{EFBAE94F-CE84-4965-B58B-FD91AA697006}" destId="{B655FCBA-2659-4896-9330-C984013DA664}" srcOrd="0" destOrd="0" presId="urn:microsoft.com/office/officeart/2005/8/layout/hProcess9"/>
    <dgm:cxn modelId="{D40C62B9-7C94-44BA-BEA4-6D135DFCC336}" type="presParOf" srcId="{EFBAE94F-CE84-4965-B58B-FD91AA697006}" destId="{CEAEF731-B3EC-4B98-ABD7-18598581D953}" srcOrd="1" destOrd="0" presId="urn:microsoft.com/office/officeart/2005/8/layout/hProcess9"/>
    <dgm:cxn modelId="{4F22F992-AA10-4AC6-B223-3752359FF64B}" type="presParOf" srcId="{EFBAE94F-CE84-4965-B58B-FD91AA697006}" destId="{385976C6-C29B-4326-A78B-7C1F624FD980}" srcOrd="2" destOrd="0" presId="urn:microsoft.com/office/officeart/2005/8/layout/hProcess9"/>
    <dgm:cxn modelId="{C6F3E169-AC84-4BE2-8E25-5539390DCCCF}" type="presParOf" srcId="{EFBAE94F-CE84-4965-B58B-FD91AA697006}" destId="{796F0AF0-6311-4006-9DE2-BA765ABD8438}" srcOrd="3" destOrd="0" presId="urn:microsoft.com/office/officeart/2005/8/layout/hProcess9"/>
    <dgm:cxn modelId="{B8374946-D4A2-48AE-B858-327F616E53FF}" type="presParOf" srcId="{EFBAE94F-CE84-4965-B58B-FD91AA697006}" destId="{4B57E6A5-4DE7-4B31-9347-53FF20D5DB57}" srcOrd="4" destOrd="0" presId="urn:microsoft.com/office/officeart/2005/8/layout/hProcess9"/>
    <dgm:cxn modelId="{D2BEFBB8-0DEB-45D0-B982-2445FA5BE776}" type="presParOf" srcId="{EFBAE94F-CE84-4965-B58B-FD91AA697006}" destId="{4333D9E9-7660-45EF-90FB-C565C8474A7C}" srcOrd="5" destOrd="0" presId="urn:microsoft.com/office/officeart/2005/8/layout/hProcess9"/>
    <dgm:cxn modelId="{7C968B4C-4782-40F7-8D6B-FBC43C3B1BE1}" type="presParOf" srcId="{EFBAE94F-CE84-4965-B58B-FD91AA697006}" destId="{15FFBD0A-A87E-4EF3-985C-510BBCD27186}"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8B9E4C2-343F-4774-A24F-D7D40E039C93}"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1F83BB5B-B2D6-41F5-86CD-62C9963FD6BF}">
      <dgm:prSet custT="1"/>
      <dgm:spPr>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n-US" sz="3200" b="1" dirty="0"/>
            <a:t>The business </a:t>
          </a:r>
          <a:endParaRPr lang="en-IN" sz="3200" dirty="0"/>
        </a:p>
      </dgm:t>
    </dgm:pt>
    <dgm:pt modelId="{E2590FE9-0709-4879-9858-73583AB95B33}" type="parTrans" cxnId="{0EAA680A-8439-433C-94EF-4D3AF9F4D414}">
      <dgm:prSet/>
      <dgm:spPr/>
      <dgm:t>
        <a:bodyPr/>
        <a:lstStyle/>
        <a:p>
          <a:endParaRPr lang="en-IN" sz="3200"/>
        </a:p>
      </dgm:t>
    </dgm:pt>
    <dgm:pt modelId="{A8E023FD-7CD4-4C15-8C6C-5D336FC5C605}" type="sibTrans" cxnId="{0EAA680A-8439-433C-94EF-4D3AF9F4D414}">
      <dgm:prSet/>
      <dgm:spPr>
        <a:ln w="142875" cmpd="thickThin"/>
      </dgm:spPr>
      <dgm:t>
        <a:bodyPr/>
        <a:lstStyle/>
        <a:p>
          <a:endParaRPr lang="en-IN" sz="3200"/>
        </a:p>
      </dgm:t>
    </dgm:pt>
    <dgm:pt modelId="{7120083C-4026-4963-838D-1AC0A6B27BED}">
      <dgm:prSet custT="1"/>
      <dgm:spPr>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n-US" sz="3200" b="1" dirty="0"/>
            <a:t>The team </a:t>
          </a:r>
          <a:endParaRPr lang="en-IN" sz="3200" dirty="0"/>
        </a:p>
      </dgm:t>
    </dgm:pt>
    <dgm:pt modelId="{55C19C13-14F0-44CA-8AAB-595AA9C2F10F}" type="parTrans" cxnId="{73C7723B-74A0-476E-9A4C-423929CE32EF}">
      <dgm:prSet/>
      <dgm:spPr/>
      <dgm:t>
        <a:bodyPr/>
        <a:lstStyle/>
        <a:p>
          <a:endParaRPr lang="en-IN" sz="3200"/>
        </a:p>
      </dgm:t>
    </dgm:pt>
    <dgm:pt modelId="{241D74C9-98BF-40FB-95A9-95197E75E27A}" type="sibTrans" cxnId="{73C7723B-74A0-476E-9A4C-423929CE32EF}">
      <dgm:prSet/>
      <dgm:spPr/>
      <dgm:t>
        <a:bodyPr/>
        <a:lstStyle/>
        <a:p>
          <a:endParaRPr lang="en-IN" sz="3200"/>
        </a:p>
      </dgm:t>
    </dgm:pt>
    <dgm:pt modelId="{6FEB7F6E-D5A8-4E93-B779-391AB5DA1C10}">
      <dgm:prSet custT="1"/>
      <dgm:spPr>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n-US" sz="3200" b="1" dirty="0"/>
            <a:t>The proposal </a:t>
          </a:r>
          <a:endParaRPr lang="en-IN" sz="3200" dirty="0"/>
        </a:p>
      </dgm:t>
    </dgm:pt>
    <dgm:pt modelId="{4DE58C48-157B-4AAC-A7D3-DCD5965F3B96}" type="parTrans" cxnId="{52CCDAA8-6EA3-4413-92BA-615108FBC8DE}">
      <dgm:prSet/>
      <dgm:spPr/>
      <dgm:t>
        <a:bodyPr/>
        <a:lstStyle/>
        <a:p>
          <a:endParaRPr lang="en-IN" sz="3200"/>
        </a:p>
      </dgm:t>
    </dgm:pt>
    <dgm:pt modelId="{A3C166EA-0890-41BA-AA0A-6FF074E755A4}" type="sibTrans" cxnId="{52CCDAA8-6EA3-4413-92BA-615108FBC8DE}">
      <dgm:prSet/>
      <dgm:spPr/>
      <dgm:t>
        <a:bodyPr/>
        <a:lstStyle/>
        <a:p>
          <a:endParaRPr lang="en-IN" sz="3200"/>
        </a:p>
      </dgm:t>
    </dgm:pt>
    <dgm:pt modelId="{4D560A84-D521-4E3E-856D-A8B075FED5C0}">
      <dgm:prSet custT="1"/>
      <dgm:spPr>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n-IN" sz="3200" b="1" dirty="0"/>
            <a:t>Why now</a:t>
          </a:r>
          <a:endParaRPr lang="en-IN" sz="3200" dirty="0"/>
        </a:p>
      </dgm:t>
    </dgm:pt>
    <dgm:pt modelId="{868485F5-EEEE-4FC0-BF10-A45DA7067B84}" type="parTrans" cxnId="{A771CA0F-5CC5-47C8-9F56-60E792108839}">
      <dgm:prSet/>
      <dgm:spPr/>
      <dgm:t>
        <a:bodyPr/>
        <a:lstStyle/>
        <a:p>
          <a:endParaRPr lang="en-IN" sz="3200"/>
        </a:p>
      </dgm:t>
    </dgm:pt>
    <dgm:pt modelId="{5F6E6AC4-3C56-4516-AB7A-3225296C3E5E}" type="sibTrans" cxnId="{A771CA0F-5CC5-47C8-9F56-60E792108839}">
      <dgm:prSet/>
      <dgm:spPr/>
      <dgm:t>
        <a:bodyPr/>
        <a:lstStyle/>
        <a:p>
          <a:endParaRPr lang="en-IN" sz="3200"/>
        </a:p>
      </dgm:t>
    </dgm:pt>
    <dgm:pt modelId="{06663932-1413-45CE-9D18-FD5F70EE037C}">
      <dgm:prSet custT="1"/>
      <dgm:spPr>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n-US" sz="3200" b="1" dirty="0"/>
            <a:t>Why it will succeed </a:t>
          </a:r>
          <a:endParaRPr lang="en-IN" sz="3200" dirty="0"/>
        </a:p>
      </dgm:t>
    </dgm:pt>
    <dgm:pt modelId="{58267719-5626-44BF-9B68-38566000E36C}" type="parTrans" cxnId="{8EDD9A2C-A07D-48BB-8B5A-85547AB36A9B}">
      <dgm:prSet/>
      <dgm:spPr/>
      <dgm:t>
        <a:bodyPr/>
        <a:lstStyle/>
        <a:p>
          <a:endParaRPr lang="en-IN" sz="3200"/>
        </a:p>
      </dgm:t>
    </dgm:pt>
    <dgm:pt modelId="{1450533E-A33C-4831-B3B0-93E6D33261E9}" type="sibTrans" cxnId="{8EDD9A2C-A07D-48BB-8B5A-85547AB36A9B}">
      <dgm:prSet/>
      <dgm:spPr/>
      <dgm:t>
        <a:bodyPr/>
        <a:lstStyle/>
        <a:p>
          <a:endParaRPr lang="en-IN" sz="3200"/>
        </a:p>
      </dgm:t>
    </dgm:pt>
    <dgm:pt modelId="{7CAB31D5-B4BD-4EBD-AF21-35680D0837E7}">
      <dgm:prSet custT="1"/>
      <dgm:spPr>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n-US" sz="3200" b="1" dirty="0"/>
            <a:t>What the rewards will be (to the investors) </a:t>
          </a:r>
          <a:endParaRPr lang="en-IN" sz="3200" dirty="0"/>
        </a:p>
      </dgm:t>
    </dgm:pt>
    <dgm:pt modelId="{B3B97AC6-A749-4688-AE9F-5D9A5C3728B0}" type="parTrans" cxnId="{9CCAB01A-2445-410F-A72A-6DBA1C6F3771}">
      <dgm:prSet/>
      <dgm:spPr/>
      <dgm:t>
        <a:bodyPr/>
        <a:lstStyle/>
        <a:p>
          <a:endParaRPr lang="en-IN" sz="3200"/>
        </a:p>
      </dgm:t>
    </dgm:pt>
    <dgm:pt modelId="{ECCA1508-5D7D-4BEB-B427-36878AE31F7C}" type="sibTrans" cxnId="{9CCAB01A-2445-410F-A72A-6DBA1C6F3771}">
      <dgm:prSet/>
      <dgm:spPr/>
      <dgm:t>
        <a:bodyPr/>
        <a:lstStyle/>
        <a:p>
          <a:endParaRPr lang="en-IN" sz="3200"/>
        </a:p>
      </dgm:t>
    </dgm:pt>
    <dgm:pt modelId="{C80EBDAC-25FE-4FBC-95B1-2FC644FBADA1}">
      <dgm:prSet custT="1"/>
      <dgm:spPr>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n-US" sz="3200" b="1" dirty="0"/>
            <a:t>Major risks and how you can minimize them </a:t>
          </a:r>
          <a:endParaRPr lang="en-IN" sz="3200" dirty="0"/>
        </a:p>
      </dgm:t>
    </dgm:pt>
    <dgm:pt modelId="{599857D5-CCC8-47B0-BBE6-6DEAB26F4142}" type="parTrans" cxnId="{1C6DAB89-9FE4-4D69-BB4D-868B00D2DCE1}">
      <dgm:prSet/>
      <dgm:spPr/>
      <dgm:t>
        <a:bodyPr/>
        <a:lstStyle/>
        <a:p>
          <a:endParaRPr lang="en-IN" sz="3200"/>
        </a:p>
      </dgm:t>
    </dgm:pt>
    <dgm:pt modelId="{37409DB3-D0F2-41E9-8DB6-815AB93716D8}" type="sibTrans" cxnId="{1C6DAB89-9FE4-4D69-BB4D-868B00D2DCE1}">
      <dgm:prSet/>
      <dgm:spPr/>
      <dgm:t>
        <a:bodyPr/>
        <a:lstStyle/>
        <a:p>
          <a:endParaRPr lang="en-IN" sz="3200"/>
        </a:p>
      </dgm:t>
    </dgm:pt>
    <dgm:pt modelId="{D6A04C14-04EE-4059-A078-CDA0213AEA72}">
      <dgm:prSet/>
      <dgm:spPr/>
      <dgm:t>
        <a:bodyPr/>
        <a:lstStyle/>
        <a:p>
          <a:endParaRPr lang="en-IN" sz="3200"/>
        </a:p>
      </dgm:t>
    </dgm:pt>
    <dgm:pt modelId="{41290F9E-80C6-4269-A3CD-317381009861}" type="parTrans" cxnId="{D9F4DA34-1C2C-4A04-984A-2D4BCB123052}">
      <dgm:prSet/>
      <dgm:spPr/>
      <dgm:t>
        <a:bodyPr/>
        <a:lstStyle/>
        <a:p>
          <a:endParaRPr lang="en-IN" sz="3200"/>
        </a:p>
      </dgm:t>
    </dgm:pt>
    <dgm:pt modelId="{789D6E33-A833-49C8-884F-1708C42882F6}" type="sibTrans" cxnId="{D9F4DA34-1C2C-4A04-984A-2D4BCB123052}">
      <dgm:prSet/>
      <dgm:spPr/>
      <dgm:t>
        <a:bodyPr/>
        <a:lstStyle/>
        <a:p>
          <a:endParaRPr lang="en-IN" sz="3200"/>
        </a:p>
      </dgm:t>
    </dgm:pt>
    <dgm:pt modelId="{477CF652-4044-48B8-A775-2303BA1635C5}" type="pres">
      <dgm:prSet presAssocID="{58B9E4C2-343F-4774-A24F-D7D40E039C93}" presName="Name0" presStyleCnt="0">
        <dgm:presLayoutVars>
          <dgm:chMax val="7"/>
          <dgm:chPref val="7"/>
          <dgm:dir/>
        </dgm:presLayoutVars>
      </dgm:prSet>
      <dgm:spPr/>
      <dgm:t>
        <a:bodyPr/>
        <a:lstStyle/>
        <a:p>
          <a:endParaRPr lang="en-US"/>
        </a:p>
      </dgm:t>
    </dgm:pt>
    <dgm:pt modelId="{C218D4DB-C471-4C59-9967-F5CECC705306}" type="pres">
      <dgm:prSet presAssocID="{58B9E4C2-343F-4774-A24F-D7D40E039C93}" presName="Name1" presStyleCnt="0"/>
      <dgm:spPr/>
    </dgm:pt>
    <dgm:pt modelId="{90C4EAA2-CE56-41D0-BEC1-E640DF150475}" type="pres">
      <dgm:prSet presAssocID="{58B9E4C2-343F-4774-A24F-D7D40E039C93}" presName="cycle" presStyleCnt="0"/>
      <dgm:spPr/>
    </dgm:pt>
    <dgm:pt modelId="{731002B2-CCC6-46EF-A650-CE6C396FFB21}" type="pres">
      <dgm:prSet presAssocID="{58B9E4C2-343F-4774-A24F-D7D40E039C93}" presName="srcNode" presStyleLbl="node1" presStyleIdx="0" presStyleCnt="7"/>
      <dgm:spPr/>
    </dgm:pt>
    <dgm:pt modelId="{5C6D7AB0-56AF-4624-86C1-CAA83B324FB6}" type="pres">
      <dgm:prSet presAssocID="{58B9E4C2-343F-4774-A24F-D7D40E039C93}" presName="conn" presStyleLbl="parChTrans1D2" presStyleIdx="0" presStyleCnt="1"/>
      <dgm:spPr/>
      <dgm:t>
        <a:bodyPr/>
        <a:lstStyle/>
        <a:p>
          <a:endParaRPr lang="en-US"/>
        </a:p>
      </dgm:t>
    </dgm:pt>
    <dgm:pt modelId="{9456CA94-0164-4BDB-9D93-8B6147029A6F}" type="pres">
      <dgm:prSet presAssocID="{58B9E4C2-343F-4774-A24F-D7D40E039C93}" presName="extraNode" presStyleLbl="node1" presStyleIdx="0" presStyleCnt="7"/>
      <dgm:spPr/>
    </dgm:pt>
    <dgm:pt modelId="{94035B67-4E16-4CE6-AB80-426762312B47}" type="pres">
      <dgm:prSet presAssocID="{58B9E4C2-343F-4774-A24F-D7D40E039C93}" presName="dstNode" presStyleLbl="node1" presStyleIdx="0" presStyleCnt="7"/>
      <dgm:spPr/>
    </dgm:pt>
    <dgm:pt modelId="{FE49DD63-2465-4E57-963D-812600181FD2}" type="pres">
      <dgm:prSet presAssocID="{1F83BB5B-B2D6-41F5-86CD-62C9963FD6BF}" presName="text_1" presStyleLbl="node1" presStyleIdx="0" presStyleCnt="7" custScaleY="133139">
        <dgm:presLayoutVars>
          <dgm:bulletEnabled val="1"/>
        </dgm:presLayoutVars>
      </dgm:prSet>
      <dgm:spPr/>
      <dgm:t>
        <a:bodyPr/>
        <a:lstStyle/>
        <a:p>
          <a:endParaRPr lang="en-US"/>
        </a:p>
      </dgm:t>
    </dgm:pt>
    <dgm:pt modelId="{84F3EB95-3334-43F5-8155-9F37CF90D292}" type="pres">
      <dgm:prSet presAssocID="{1F83BB5B-B2D6-41F5-86CD-62C9963FD6BF}" presName="accent_1" presStyleCnt="0"/>
      <dgm:spPr/>
    </dgm:pt>
    <dgm:pt modelId="{976F818B-700B-414D-B4DE-679F3C256E9E}" type="pres">
      <dgm:prSet presAssocID="{1F83BB5B-B2D6-41F5-86CD-62C9963FD6BF}" presName="accentRepeatNode" presStyleLbl="solidFgAcc1" presStyleIdx="0" presStyleCnt="7"/>
      <dgm:spPr>
        <a:blipFill rotWithShape="0">
          <a:blip xmlns:r="http://schemas.openxmlformats.org/officeDocument/2006/relationships" r:embed="rId1"/>
          <a:stretch>
            <a:fillRect/>
          </a:stretch>
        </a:blipFill>
      </dgm:spPr>
    </dgm:pt>
    <dgm:pt modelId="{F55F74FF-C0F7-4C88-8649-CB5BCE7F8800}" type="pres">
      <dgm:prSet presAssocID="{7120083C-4026-4963-838D-1AC0A6B27BED}" presName="text_2" presStyleLbl="node1" presStyleIdx="1" presStyleCnt="7" custScaleY="133139">
        <dgm:presLayoutVars>
          <dgm:bulletEnabled val="1"/>
        </dgm:presLayoutVars>
      </dgm:prSet>
      <dgm:spPr/>
      <dgm:t>
        <a:bodyPr/>
        <a:lstStyle/>
        <a:p>
          <a:endParaRPr lang="en-US"/>
        </a:p>
      </dgm:t>
    </dgm:pt>
    <dgm:pt modelId="{B39E6D0B-06B6-4E3D-A1AD-7D94BA942EFB}" type="pres">
      <dgm:prSet presAssocID="{7120083C-4026-4963-838D-1AC0A6B27BED}" presName="accent_2" presStyleCnt="0"/>
      <dgm:spPr/>
    </dgm:pt>
    <dgm:pt modelId="{41209540-CEFD-42BA-9F50-F6C7E755EE49}" type="pres">
      <dgm:prSet presAssocID="{7120083C-4026-4963-838D-1AC0A6B27BED}" presName="accentRepeatNode" presStyleLbl="solidFgAcc1" presStyleIdx="1" presStyleCnt="7"/>
      <dgm:spPr>
        <a:blipFill rotWithShape="0">
          <a:blip xmlns:r="http://schemas.openxmlformats.org/officeDocument/2006/relationships" r:embed="rId1"/>
          <a:stretch>
            <a:fillRect/>
          </a:stretch>
        </a:blipFill>
      </dgm:spPr>
    </dgm:pt>
    <dgm:pt modelId="{9AE9AD43-389F-403F-B1D7-25FBF65F46D7}" type="pres">
      <dgm:prSet presAssocID="{6FEB7F6E-D5A8-4E93-B779-391AB5DA1C10}" presName="text_3" presStyleLbl="node1" presStyleIdx="2" presStyleCnt="7" custScaleY="133139">
        <dgm:presLayoutVars>
          <dgm:bulletEnabled val="1"/>
        </dgm:presLayoutVars>
      </dgm:prSet>
      <dgm:spPr/>
      <dgm:t>
        <a:bodyPr/>
        <a:lstStyle/>
        <a:p>
          <a:endParaRPr lang="en-US"/>
        </a:p>
      </dgm:t>
    </dgm:pt>
    <dgm:pt modelId="{FDD7FD9D-FE46-4E1C-8A2E-7E120562E651}" type="pres">
      <dgm:prSet presAssocID="{6FEB7F6E-D5A8-4E93-B779-391AB5DA1C10}" presName="accent_3" presStyleCnt="0"/>
      <dgm:spPr/>
    </dgm:pt>
    <dgm:pt modelId="{84FF2FD5-37FC-466B-918A-46BA06DF7C2A}" type="pres">
      <dgm:prSet presAssocID="{6FEB7F6E-D5A8-4E93-B779-391AB5DA1C10}" presName="accentRepeatNode" presStyleLbl="solidFgAcc1" presStyleIdx="2" presStyleCnt="7"/>
      <dgm:spPr>
        <a:blipFill rotWithShape="0">
          <a:blip xmlns:r="http://schemas.openxmlformats.org/officeDocument/2006/relationships" r:embed="rId1"/>
          <a:stretch>
            <a:fillRect/>
          </a:stretch>
        </a:blipFill>
      </dgm:spPr>
    </dgm:pt>
    <dgm:pt modelId="{84260938-52B0-49E6-943B-4307FBE10D8F}" type="pres">
      <dgm:prSet presAssocID="{4D560A84-D521-4E3E-856D-A8B075FED5C0}" presName="text_4" presStyleLbl="node1" presStyleIdx="3" presStyleCnt="7" custScaleY="133139">
        <dgm:presLayoutVars>
          <dgm:bulletEnabled val="1"/>
        </dgm:presLayoutVars>
      </dgm:prSet>
      <dgm:spPr/>
      <dgm:t>
        <a:bodyPr/>
        <a:lstStyle/>
        <a:p>
          <a:endParaRPr lang="en-US"/>
        </a:p>
      </dgm:t>
    </dgm:pt>
    <dgm:pt modelId="{CB84912D-9576-4D44-B97C-2FD659DE6922}" type="pres">
      <dgm:prSet presAssocID="{4D560A84-D521-4E3E-856D-A8B075FED5C0}" presName="accent_4" presStyleCnt="0"/>
      <dgm:spPr/>
    </dgm:pt>
    <dgm:pt modelId="{F7EF0412-1288-49B4-B57A-E6F2214FF79B}" type="pres">
      <dgm:prSet presAssocID="{4D560A84-D521-4E3E-856D-A8B075FED5C0}" presName="accentRepeatNode" presStyleLbl="solidFgAcc1" presStyleIdx="3" presStyleCnt="7"/>
      <dgm:spPr>
        <a:blipFill rotWithShape="0">
          <a:blip xmlns:r="http://schemas.openxmlformats.org/officeDocument/2006/relationships" r:embed="rId1"/>
          <a:stretch>
            <a:fillRect/>
          </a:stretch>
        </a:blipFill>
      </dgm:spPr>
    </dgm:pt>
    <dgm:pt modelId="{63A2A7D5-F08D-4CE0-96FC-DE052EDAE51B}" type="pres">
      <dgm:prSet presAssocID="{06663932-1413-45CE-9D18-FD5F70EE037C}" presName="text_5" presStyleLbl="node1" presStyleIdx="4" presStyleCnt="7" custScaleY="133139">
        <dgm:presLayoutVars>
          <dgm:bulletEnabled val="1"/>
        </dgm:presLayoutVars>
      </dgm:prSet>
      <dgm:spPr/>
      <dgm:t>
        <a:bodyPr/>
        <a:lstStyle/>
        <a:p>
          <a:endParaRPr lang="en-US"/>
        </a:p>
      </dgm:t>
    </dgm:pt>
    <dgm:pt modelId="{58C7C8F9-3C51-4848-96D0-818DCC3EEE1D}" type="pres">
      <dgm:prSet presAssocID="{06663932-1413-45CE-9D18-FD5F70EE037C}" presName="accent_5" presStyleCnt="0"/>
      <dgm:spPr/>
    </dgm:pt>
    <dgm:pt modelId="{01C1EA1D-C4A1-4D03-819D-55F9FF4F04DC}" type="pres">
      <dgm:prSet presAssocID="{06663932-1413-45CE-9D18-FD5F70EE037C}" presName="accentRepeatNode" presStyleLbl="solidFgAcc1" presStyleIdx="4" presStyleCnt="7"/>
      <dgm:spPr>
        <a:blipFill rotWithShape="0">
          <a:blip xmlns:r="http://schemas.openxmlformats.org/officeDocument/2006/relationships" r:embed="rId1"/>
          <a:stretch>
            <a:fillRect/>
          </a:stretch>
        </a:blipFill>
      </dgm:spPr>
    </dgm:pt>
    <dgm:pt modelId="{9828D08B-A5AA-4746-8303-AA97335F6FFB}" type="pres">
      <dgm:prSet presAssocID="{7CAB31D5-B4BD-4EBD-AF21-35680D0837E7}" presName="text_6" presStyleLbl="node1" presStyleIdx="5" presStyleCnt="7" custScaleY="133139">
        <dgm:presLayoutVars>
          <dgm:bulletEnabled val="1"/>
        </dgm:presLayoutVars>
      </dgm:prSet>
      <dgm:spPr/>
      <dgm:t>
        <a:bodyPr/>
        <a:lstStyle/>
        <a:p>
          <a:endParaRPr lang="en-US"/>
        </a:p>
      </dgm:t>
    </dgm:pt>
    <dgm:pt modelId="{05B322FF-AB86-47E9-B306-4553BD584468}" type="pres">
      <dgm:prSet presAssocID="{7CAB31D5-B4BD-4EBD-AF21-35680D0837E7}" presName="accent_6" presStyleCnt="0"/>
      <dgm:spPr/>
    </dgm:pt>
    <dgm:pt modelId="{2BF7A44A-8DF4-4358-93DE-772B4A6A46EE}" type="pres">
      <dgm:prSet presAssocID="{7CAB31D5-B4BD-4EBD-AF21-35680D0837E7}" presName="accentRepeatNode" presStyleLbl="solidFgAcc1" presStyleIdx="5" presStyleCnt="7"/>
      <dgm:spPr>
        <a:blipFill rotWithShape="0">
          <a:blip xmlns:r="http://schemas.openxmlformats.org/officeDocument/2006/relationships" r:embed="rId1"/>
          <a:stretch>
            <a:fillRect/>
          </a:stretch>
        </a:blipFill>
      </dgm:spPr>
    </dgm:pt>
    <dgm:pt modelId="{358DB8F3-C2B0-4108-B608-E45BF241DD0D}" type="pres">
      <dgm:prSet presAssocID="{C80EBDAC-25FE-4FBC-95B1-2FC644FBADA1}" presName="text_7" presStyleLbl="node1" presStyleIdx="6" presStyleCnt="7" custScaleY="133139">
        <dgm:presLayoutVars>
          <dgm:bulletEnabled val="1"/>
        </dgm:presLayoutVars>
      </dgm:prSet>
      <dgm:spPr/>
      <dgm:t>
        <a:bodyPr/>
        <a:lstStyle/>
        <a:p>
          <a:endParaRPr lang="en-US"/>
        </a:p>
      </dgm:t>
    </dgm:pt>
    <dgm:pt modelId="{B18B1547-EF5A-4936-B784-2CCFEB340883}" type="pres">
      <dgm:prSet presAssocID="{C80EBDAC-25FE-4FBC-95B1-2FC644FBADA1}" presName="accent_7" presStyleCnt="0"/>
      <dgm:spPr/>
    </dgm:pt>
    <dgm:pt modelId="{6EAB1C16-4EE8-45D5-8B0B-00941756D0FB}" type="pres">
      <dgm:prSet presAssocID="{C80EBDAC-25FE-4FBC-95B1-2FC644FBADA1}" presName="accentRepeatNode" presStyleLbl="solidFgAcc1" presStyleIdx="6" presStyleCnt="7"/>
      <dgm:spPr>
        <a:blipFill rotWithShape="0">
          <a:blip xmlns:r="http://schemas.openxmlformats.org/officeDocument/2006/relationships" r:embed="rId1"/>
          <a:stretch>
            <a:fillRect/>
          </a:stretch>
        </a:blipFill>
      </dgm:spPr>
    </dgm:pt>
  </dgm:ptLst>
  <dgm:cxnLst>
    <dgm:cxn modelId="{F1D52245-473D-44FD-80BB-430E5A2EA99C}" type="presOf" srcId="{06663932-1413-45CE-9D18-FD5F70EE037C}" destId="{63A2A7D5-F08D-4CE0-96FC-DE052EDAE51B}" srcOrd="0" destOrd="0" presId="urn:microsoft.com/office/officeart/2008/layout/VerticalCurvedList"/>
    <dgm:cxn modelId="{8EDD9A2C-A07D-48BB-8B5A-85547AB36A9B}" srcId="{58B9E4C2-343F-4774-A24F-D7D40E039C93}" destId="{06663932-1413-45CE-9D18-FD5F70EE037C}" srcOrd="4" destOrd="0" parTransId="{58267719-5626-44BF-9B68-38566000E36C}" sibTransId="{1450533E-A33C-4831-B3B0-93E6D33261E9}"/>
    <dgm:cxn modelId="{1C6DAB89-9FE4-4D69-BB4D-868B00D2DCE1}" srcId="{58B9E4C2-343F-4774-A24F-D7D40E039C93}" destId="{C80EBDAC-25FE-4FBC-95B1-2FC644FBADA1}" srcOrd="6" destOrd="0" parTransId="{599857D5-CCC8-47B0-BBE6-6DEAB26F4142}" sibTransId="{37409DB3-D0F2-41E9-8DB6-815AB93716D8}"/>
    <dgm:cxn modelId="{73C7723B-74A0-476E-9A4C-423929CE32EF}" srcId="{58B9E4C2-343F-4774-A24F-D7D40E039C93}" destId="{7120083C-4026-4963-838D-1AC0A6B27BED}" srcOrd="1" destOrd="0" parTransId="{55C19C13-14F0-44CA-8AAB-595AA9C2F10F}" sibTransId="{241D74C9-98BF-40FB-95A9-95197E75E27A}"/>
    <dgm:cxn modelId="{9CCAB01A-2445-410F-A72A-6DBA1C6F3771}" srcId="{58B9E4C2-343F-4774-A24F-D7D40E039C93}" destId="{7CAB31D5-B4BD-4EBD-AF21-35680D0837E7}" srcOrd="5" destOrd="0" parTransId="{B3B97AC6-A749-4688-AE9F-5D9A5C3728B0}" sibTransId="{ECCA1508-5D7D-4BEB-B427-36878AE31F7C}"/>
    <dgm:cxn modelId="{FC7EEC65-9EF8-44BC-9402-57B5BF0D560A}" type="presOf" srcId="{C80EBDAC-25FE-4FBC-95B1-2FC644FBADA1}" destId="{358DB8F3-C2B0-4108-B608-E45BF241DD0D}" srcOrd="0" destOrd="0" presId="urn:microsoft.com/office/officeart/2008/layout/VerticalCurvedList"/>
    <dgm:cxn modelId="{FDF89B3D-EBCC-4301-B98B-FB5023F0BCB6}" type="presOf" srcId="{7120083C-4026-4963-838D-1AC0A6B27BED}" destId="{F55F74FF-C0F7-4C88-8649-CB5BCE7F8800}" srcOrd="0" destOrd="0" presId="urn:microsoft.com/office/officeart/2008/layout/VerticalCurvedList"/>
    <dgm:cxn modelId="{246990D5-1B80-44C1-927F-A4728C30623A}" type="presOf" srcId="{58B9E4C2-343F-4774-A24F-D7D40E039C93}" destId="{477CF652-4044-48B8-A775-2303BA1635C5}" srcOrd="0" destOrd="0" presId="urn:microsoft.com/office/officeart/2008/layout/VerticalCurvedList"/>
    <dgm:cxn modelId="{D9F4DA34-1C2C-4A04-984A-2D4BCB123052}" srcId="{58B9E4C2-343F-4774-A24F-D7D40E039C93}" destId="{D6A04C14-04EE-4059-A078-CDA0213AEA72}" srcOrd="7" destOrd="0" parTransId="{41290F9E-80C6-4269-A3CD-317381009861}" sibTransId="{789D6E33-A833-49C8-884F-1708C42882F6}"/>
    <dgm:cxn modelId="{4BB8DA3B-3253-4C56-9414-4F8E6FB5DB20}" type="presOf" srcId="{7CAB31D5-B4BD-4EBD-AF21-35680D0837E7}" destId="{9828D08B-A5AA-4746-8303-AA97335F6FFB}" srcOrd="0" destOrd="0" presId="urn:microsoft.com/office/officeart/2008/layout/VerticalCurvedList"/>
    <dgm:cxn modelId="{A771CA0F-5CC5-47C8-9F56-60E792108839}" srcId="{58B9E4C2-343F-4774-A24F-D7D40E039C93}" destId="{4D560A84-D521-4E3E-856D-A8B075FED5C0}" srcOrd="3" destOrd="0" parTransId="{868485F5-EEEE-4FC0-BF10-A45DA7067B84}" sibTransId="{5F6E6AC4-3C56-4516-AB7A-3225296C3E5E}"/>
    <dgm:cxn modelId="{2030BAC5-AA75-469A-B543-D763236714A6}" type="presOf" srcId="{1F83BB5B-B2D6-41F5-86CD-62C9963FD6BF}" destId="{FE49DD63-2465-4E57-963D-812600181FD2}" srcOrd="0" destOrd="0" presId="urn:microsoft.com/office/officeart/2008/layout/VerticalCurvedList"/>
    <dgm:cxn modelId="{52CCDAA8-6EA3-4413-92BA-615108FBC8DE}" srcId="{58B9E4C2-343F-4774-A24F-D7D40E039C93}" destId="{6FEB7F6E-D5A8-4E93-B779-391AB5DA1C10}" srcOrd="2" destOrd="0" parTransId="{4DE58C48-157B-4AAC-A7D3-DCD5965F3B96}" sibTransId="{A3C166EA-0890-41BA-AA0A-6FF074E755A4}"/>
    <dgm:cxn modelId="{0EAA680A-8439-433C-94EF-4D3AF9F4D414}" srcId="{58B9E4C2-343F-4774-A24F-D7D40E039C93}" destId="{1F83BB5B-B2D6-41F5-86CD-62C9963FD6BF}" srcOrd="0" destOrd="0" parTransId="{E2590FE9-0709-4879-9858-73583AB95B33}" sibTransId="{A8E023FD-7CD4-4C15-8C6C-5D336FC5C605}"/>
    <dgm:cxn modelId="{D61A0056-281F-4996-8CA3-A414BE558B81}" type="presOf" srcId="{4D560A84-D521-4E3E-856D-A8B075FED5C0}" destId="{84260938-52B0-49E6-943B-4307FBE10D8F}" srcOrd="0" destOrd="0" presId="urn:microsoft.com/office/officeart/2008/layout/VerticalCurvedList"/>
    <dgm:cxn modelId="{980AB110-0D54-44A5-9772-4D4CD4F1D463}" type="presOf" srcId="{6FEB7F6E-D5A8-4E93-B779-391AB5DA1C10}" destId="{9AE9AD43-389F-403F-B1D7-25FBF65F46D7}" srcOrd="0" destOrd="0" presId="urn:microsoft.com/office/officeart/2008/layout/VerticalCurvedList"/>
    <dgm:cxn modelId="{41C9F59F-1D80-4FFD-9D44-75649314EEDF}" type="presOf" srcId="{A8E023FD-7CD4-4C15-8C6C-5D336FC5C605}" destId="{5C6D7AB0-56AF-4624-86C1-CAA83B324FB6}" srcOrd="0" destOrd="0" presId="urn:microsoft.com/office/officeart/2008/layout/VerticalCurvedList"/>
    <dgm:cxn modelId="{55ABAC0B-96ED-406E-BA17-1C6AE91401BA}" type="presParOf" srcId="{477CF652-4044-48B8-A775-2303BA1635C5}" destId="{C218D4DB-C471-4C59-9967-F5CECC705306}" srcOrd="0" destOrd="0" presId="urn:microsoft.com/office/officeart/2008/layout/VerticalCurvedList"/>
    <dgm:cxn modelId="{16B0729A-AD60-44F1-B698-DE564767C056}" type="presParOf" srcId="{C218D4DB-C471-4C59-9967-F5CECC705306}" destId="{90C4EAA2-CE56-41D0-BEC1-E640DF150475}" srcOrd="0" destOrd="0" presId="urn:microsoft.com/office/officeart/2008/layout/VerticalCurvedList"/>
    <dgm:cxn modelId="{EE6D79A3-EC13-4D06-A552-6645042533A1}" type="presParOf" srcId="{90C4EAA2-CE56-41D0-BEC1-E640DF150475}" destId="{731002B2-CCC6-46EF-A650-CE6C396FFB21}" srcOrd="0" destOrd="0" presId="urn:microsoft.com/office/officeart/2008/layout/VerticalCurvedList"/>
    <dgm:cxn modelId="{074240D4-7029-48F8-9F9E-93176B29EC0F}" type="presParOf" srcId="{90C4EAA2-CE56-41D0-BEC1-E640DF150475}" destId="{5C6D7AB0-56AF-4624-86C1-CAA83B324FB6}" srcOrd="1" destOrd="0" presId="urn:microsoft.com/office/officeart/2008/layout/VerticalCurvedList"/>
    <dgm:cxn modelId="{1367D184-4167-4DA5-A1E6-8C785114FEE9}" type="presParOf" srcId="{90C4EAA2-CE56-41D0-BEC1-E640DF150475}" destId="{9456CA94-0164-4BDB-9D93-8B6147029A6F}" srcOrd="2" destOrd="0" presId="urn:microsoft.com/office/officeart/2008/layout/VerticalCurvedList"/>
    <dgm:cxn modelId="{BA722D9E-B00E-4C2F-886C-98D7FB6E2FCF}" type="presParOf" srcId="{90C4EAA2-CE56-41D0-BEC1-E640DF150475}" destId="{94035B67-4E16-4CE6-AB80-426762312B47}" srcOrd="3" destOrd="0" presId="urn:microsoft.com/office/officeart/2008/layout/VerticalCurvedList"/>
    <dgm:cxn modelId="{0BEF7137-A2DD-46C0-8CF4-D089FC9D31FD}" type="presParOf" srcId="{C218D4DB-C471-4C59-9967-F5CECC705306}" destId="{FE49DD63-2465-4E57-963D-812600181FD2}" srcOrd="1" destOrd="0" presId="urn:microsoft.com/office/officeart/2008/layout/VerticalCurvedList"/>
    <dgm:cxn modelId="{F31C133F-ABAC-4B1F-8EC2-78A6679EDC6A}" type="presParOf" srcId="{C218D4DB-C471-4C59-9967-F5CECC705306}" destId="{84F3EB95-3334-43F5-8155-9F37CF90D292}" srcOrd="2" destOrd="0" presId="urn:microsoft.com/office/officeart/2008/layout/VerticalCurvedList"/>
    <dgm:cxn modelId="{96DB0AA7-C9B0-45EB-80BB-17AF5F5351B0}" type="presParOf" srcId="{84F3EB95-3334-43F5-8155-9F37CF90D292}" destId="{976F818B-700B-414D-B4DE-679F3C256E9E}" srcOrd="0" destOrd="0" presId="urn:microsoft.com/office/officeart/2008/layout/VerticalCurvedList"/>
    <dgm:cxn modelId="{FD4CDBC5-EA2B-4FB2-8A86-5779183372D7}" type="presParOf" srcId="{C218D4DB-C471-4C59-9967-F5CECC705306}" destId="{F55F74FF-C0F7-4C88-8649-CB5BCE7F8800}" srcOrd="3" destOrd="0" presId="urn:microsoft.com/office/officeart/2008/layout/VerticalCurvedList"/>
    <dgm:cxn modelId="{52407346-E384-4427-996C-063B06D07EE8}" type="presParOf" srcId="{C218D4DB-C471-4C59-9967-F5CECC705306}" destId="{B39E6D0B-06B6-4E3D-A1AD-7D94BA942EFB}" srcOrd="4" destOrd="0" presId="urn:microsoft.com/office/officeart/2008/layout/VerticalCurvedList"/>
    <dgm:cxn modelId="{87920ED7-A27F-44A0-9BE0-3F58900B90DF}" type="presParOf" srcId="{B39E6D0B-06B6-4E3D-A1AD-7D94BA942EFB}" destId="{41209540-CEFD-42BA-9F50-F6C7E755EE49}" srcOrd="0" destOrd="0" presId="urn:microsoft.com/office/officeart/2008/layout/VerticalCurvedList"/>
    <dgm:cxn modelId="{CE9CB757-6C9B-44B8-ACDB-F77C9051E611}" type="presParOf" srcId="{C218D4DB-C471-4C59-9967-F5CECC705306}" destId="{9AE9AD43-389F-403F-B1D7-25FBF65F46D7}" srcOrd="5" destOrd="0" presId="urn:microsoft.com/office/officeart/2008/layout/VerticalCurvedList"/>
    <dgm:cxn modelId="{09E0E434-F3D0-4573-8C1E-434B15025F48}" type="presParOf" srcId="{C218D4DB-C471-4C59-9967-F5CECC705306}" destId="{FDD7FD9D-FE46-4E1C-8A2E-7E120562E651}" srcOrd="6" destOrd="0" presId="urn:microsoft.com/office/officeart/2008/layout/VerticalCurvedList"/>
    <dgm:cxn modelId="{20547A1E-152E-4688-8778-B1110A69D910}" type="presParOf" srcId="{FDD7FD9D-FE46-4E1C-8A2E-7E120562E651}" destId="{84FF2FD5-37FC-466B-918A-46BA06DF7C2A}" srcOrd="0" destOrd="0" presId="urn:microsoft.com/office/officeart/2008/layout/VerticalCurvedList"/>
    <dgm:cxn modelId="{2EE898B2-C824-418F-868D-328F49911CB1}" type="presParOf" srcId="{C218D4DB-C471-4C59-9967-F5CECC705306}" destId="{84260938-52B0-49E6-943B-4307FBE10D8F}" srcOrd="7" destOrd="0" presId="urn:microsoft.com/office/officeart/2008/layout/VerticalCurvedList"/>
    <dgm:cxn modelId="{89B30BC0-6712-4F24-A86B-B5A5F6F334CC}" type="presParOf" srcId="{C218D4DB-C471-4C59-9967-F5CECC705306}" destId="{CB84912D-9576-4D44-B97C-2FD659DE6922}" srcOrd="8" destOrd="0" presId="urn:microsoft.com/office/officeart/2008/layout/VerticalCurvedList"/>
    <dgm:cxn modelId="{8ECB8BCC-F341-4BE3-A04C-AEEBD45BD106}" type="presParOf" srcId="{CB84912D-9576-4D44-B97C-2FD659DE6922}" destId="{F7EF0412-1288-49B4-B57A-E6F2214FF79B}" srcOrd="0" destOrd="0" presId="urn:microsoft.com/office/officeart/2008/layout/VerticalCurvedList"/>
    <dgm:cxn modelId="{104AA3B3-077F-474C-AF17-4CE0B74AF5D3}" type="presParOf" srcId="{C218D4DB-C471-4C59-9967-F5CECC705306}" destId="{63A2A7D5-F08D-4CE0-96FC-DE052EDAE51B}" srcOrd="9" destOrd="0" presId="urn:microsoft.com/office/officeart/2008/layout/VerticalCurvedList"/>
    <dgm:cxn modelId="{C687A624-9A11-4AF4-A7D7-9D1074D7B326}" type="presParOf" srcId="{C218D4DB-C471-4C59-9967-F5CECC705306}" destId="{58C7C8F9-3C51-4848-96D0-818DCC3EEE1D}" srcOrd="10" destOrd="0" presId="urn:microsoft.com/office/officeart/2008/layout/VerticalCurvedList"/>
    <dgm:cxn modelId="{C3FBE3A3-CD76-4DD1-806D-724F5AC045F9}" type="presParOf" srcId="{58C7C8F9-3C51-4848-96D0-818DCC3EEE1D}" destId="{01C1EA1D-C4A1-4D03-819D-55F9FF4F04DC}" srcOrd="0" destOrd="0" presId="urn:microsoft.com/office/officeart/2008/layout/VerticalCurvedList"/>
    <dgm:cxn modelId="{BA04D248-CCFC-4442-BE44-FBF47AEFE169}" type="presParOf" srcId="{C218D4DB-C471-4C59-9967-F5CECC705306}" destId="{9828D08B-A5AA-4746-8303-AA97335F6FFB}" srcOrd="11" destOrd="0" presId="urn:microsoft.com/office/officeart/2008/layout/VerticalCurvedList"/>
    <dgm:cxn modelId="{2689EEF6-0BC9-4F5D-972D-D85B781C390D}" type="presParOf" srcId="{C218D4DB-C471-4C59-9967-F5CECC705306}" destId="{05B322FF-AB86-47E9-B306-4553BD584468}" srcOrd="12" destOrd="0" presId="urn:microsoft.com/office/officeart/2008/layout/VerticalCurvedList"/>
    <dgm:cxn modelId="{A4D549E7-9304-4586-8792-C179D5544988}" type="presParOf" srcId="{05B322FF-AB86-47E9-B306-4553BD584468}" destId="{2BF7A44A-8DF4-4358-93DE-772B4A6A46EE}" srcOrd="0" destOrd="0" presId="urn:microsoft.com/office/officeart/2008/layout/VerticalCurvedList"/>
    <dgm:cxn modelId="{7ED88374-6470-4F8B-9E2F-68D8F9F62CE5}" type="presParOf" srcId="{C218D4DB-C471-4C59-9967-F5CECC705306}" destId="{358DB8F3-C2B0-4108-B608-E45BF241DD0D}" srcOrd="13" destOrd="0" presId="urn:microsoft.com/office/officeart/2008/layout/VerticalCurvedList"/>
    <dgm:cxn modelId="{10EA3B15-02A2-4679-A51A-402CB2A8D46F}" type="presParOf" srcId="{C218D4DB-C471-4C59-9967-F5CECC705306}" destId="{B18B1547-EF5A-4936-B784-2CCFEB340883}" srcOrd="14" destOrd="0" presId="urn:microsoft.com/office/officeart/2008/layout/VerticalCurvedList"/>
    <dgm:cxn modelId="{7E62D549-A948-4F2D-98A8-1E9DB3891AA8}" type="presParOf" srcId="{B18B1547-EF5A-4936-B784-2CCFEB340883}" destId="{6EAB1C16-4EE8-45D5-8B0B-00941756D0F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4B99D-BE0A-4650-AED4-C552F13591BB}">
      <dsp:nvSpPr>
        <dsp:cNvPr id="0" name=""/>
        <dsp:cNvSpPr/>
      </dsp:nvSpPr>
      <dsp:spPr>
        <a:xfrm>
          <a:off x="2" y="0"/>
          <a:ext cx="10223804" cy="75438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55FCBA-2659-4896-9330-C984013DA664}">
      <dsp:nvSpPr>
        <dsp:cNvPr id="0" name=""/>
        <dsp:cNvSpPr/>
      </dsp:nvSpPr>
      <dsp:spPr>
        <a:xfrm>
          <a:off x="7208" y="1806498"/>
          <a:ext cx="2079238" cy="3930802"/>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0" i="0" kern="1200" dirty="0"/>
            <a:t>Identify an unmet need or problem within a group, empathize, define the pain as completely as possible, and explore a compelling solution.</a:t>
          </a:r>
          <a:endParaRPr lang="en-US" sz="2000" kern="1200" dirty="0"/>
        </a:p>
      </dsp:txBody>
      <dsp:txXfrm>
        <a:off x="108708" y="1907998"/>
        <a:ext cx="1876238" cy="3727802"/>
      </dsp:txXfrm>
    </dsp:sp>
    <dsp:sp modelId="{385976C6-C29B-4326-A78B-7C1F624FD980}">
      <dsp:nvSpPr>
        <dsp:cNvPr id="0" name=""/>
        <dsp:cNvSpPr/>
      </dsp:nvSpPr>
      <dsp:spPr>
        <a:xfrm>
          <a:off x="2409435" y="1807932"/>
          <a:ext cx="2079238" cy="3927935"/>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0" i="0" kern="1200" dirty="0"/>
            <a:t>Assemble a well-rounded team of co-founders with complementary skills and shared vision. Conduct thorough market research before proceeding to establish the company.</a:t>
          </a:r>
          <a:endParaRPr lang="en-US" sz="2000" kern="1200" dirty="0"/>
        </a:p>
      </dsp:txBody>
      <dsp:txXfrm>
        <a:off x="2510935" y="1909432"/>
        <a:ext cx="1876238" cy="3724935"/>
      </dsp:txXfrm>
    </dsp:sp>
    <dsp:sp modelId="{4B57E6A5-4DE7-4B31-9347-53FF20D5DB57}">
      <dsp:nvSpPr>
        <dsp:cNvPr id="0" name=""/>
        <dsp:cNvSpPr/>
      </dsp:nvSpPr>
      <dsp:spPr>
        <a:xfrm>
          <a:off x="4811662" y="1672686"/>
          <a:ext cx="2352450" cy="4198426"/>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0" i="0" kern="1200" dirty="0"/>
            <a:t>Understand the target group, define the problem, ideate solutions for product-market fit, explore incubation and seed funding, and recruit tech experts to address skill gaps.</a:t>
          </a:r>
          <a:endParaRPr lang="en-US" sz="2000" kern="1200" dirty="0"/>
        </a:p>
      </dsp:txBody>
      <dsp:txXfrm>
        <a:off x="4926499" y="1787523"/>
        <a:ext cx="2122776" cy="3968752"/>
      </dsp:txXfrm>
    </dsp:sp>
    <dsp:sp modelId="{15FFBD0A-A87E-4EF3-985C-510BBCD27186}">
      <dsp:nvSpPr>
        <dsp:cNvPr id="0" name=""/>
        <dsp:cNvSpPr/>
      </dsp:nvSpPr>
      <dsp:spPr>
        <a:xfrm>
          <a:off x="7487101" y="1494260"/>
          <a:ext cx="2729499" cy="4555278"/>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0" i="0" kern="1200" dirty="0"/>
            <a:t>Embrace the lean startup approach: build, measure, learn, and create a go-to-market plan grounded in market understanding and marketing strategies. Join acceleration programs and connect with angel investors.</a:t>
          </a:r>
          <a:endParaRPr lang="en-US" sz="2000" kern="1200" dirty="0"/>
        </a:p>
      </dsp:txBody>
      <dsp:txXfrm>
        <a:off x="7620344" y="1627503"/>
        <a:ext cx="2463013" cy="42887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4B99D-BE0A-4650-AED4-C552F13591BB}">
      <dsp:nvSpPr>
        <dsp:cNvPr id="0" name=""/>
        <dsp:cNvSpPr/>
      </dsp:nvSpPr>
      <dsp:spPr>
        <a:xfrm>
          <a:off x="2" y="0"/>
          <a:ext cx="9749878" cy="75438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55FCBA-2659-4896-9330-C984013DA664}">
      <dsp:nvSpPr>
        <dsp:cNvPr id="0" name=""/>
        <dsp:cNvSpPr/>
      </dsp:nvSpPr>
      <dsp:spPr>
        <a:xfrm>
          <a:off x="173627" y="875578"/>
          <a:ext cx="2287214" cy="5792642"/>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0" i="0" kern="1200" dirty="0"/>
            <a:t>Develop infrastructure for projected sales, estimate cash flow, stay in touch with investors for potential fundraising, and collaborate with key input suppliers.</a:t>
          </a:r>
          <a:endParaRPr lang="en-US" sz="2400" kern="1200" dirty="0"/>
        </a:p>
      </dsp:txBody>
      <dsp:txXfrm>
        <a:off x="285280" y="987231"/>
        <a:ext cx="2063908" cy="5569336"/>
      </dsp:txXfrm>
    </dsp:sp>
    <dsp:sp modelId="{385976C6-C29B-4326-A78B-7C1F624FD980}">
      <dsp:nvSpPr>
        <dsp:cNvPr id="0" name=""/>
        <dsp:cNvSpPr/>
      </dsp:nvSpPr>
      <dsp:spPr>
        <a:xfrm>
          <a:off x="2723155" y="875578"/>
          <a:ext cx="2109490" cy="5792642"/>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0" i="0" kern="1200" dirty="0"/>
            <a:t>Execute  targeted marketing strategies for enhanced customer awareness. Prioritize retention and innovation to foster sustained customer growth.</a:t>
          </a:r>
          <a:endParaRPr lang="en-US" sz="2400" kern="1200" dirty="0"/>
        </a:p>
      </dsp:txBody>
      <dsp:txXfrm>
        <a:off x="2826132" y="978555"/>
        <a:ext cx="1903536" cy="5586688"/>
      </dsp:txXfrm>
    </dsp:sp>
    <dsp:sp modelId="{4B57E6A5-4DE7-4B31-9347-53FF20D5DB57}">
      <dsp:nvSpPr>
        <dsp:cNvPr id="0" name=""/>
        <dsp:cNvSpPr/>
      </dsp:nvSpPr>
      <dsp:spPr>
        <a:xfrm>
          <a:off x="5094960" y="875578"/>
          <a:ext cx="2109490" cy="5792642"/>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0" i="0" kern="1200" dirty="0"/>
            <a:t>Establish logistics aligned with customer preferences and forge Collaboration with distributors, dealers, mega-retailers, and e-commerce platforms.</a:t>
          </a:r>
          <a:endParaRPr lang="en-US" sz="2400" kern="1200" dirty="0"/>
        </a:p>
      </dsp:txBody>
      <dsp:txXfrm>
        <a:off x="5197937" y="978555"/>
        <a:ext cx="1903536" cy="5586688"/>
      </dsp:txXfrm>
    </dsp:sp>
    <dsp:sp modelId="{15FFBD0A-A87E-4EF3-985C-510BBCD27186}">
      <dsp:nvSpPr>
        <dsp:cNvPr id="0" name=""/>
        <dsp:cNvSpPr/>
      </dsp:nvSpPr>
      <dsp:spPr>
        <a:xfrm>
          <a:off x="7466764" y="875578"/>
          <a:ext cx="2109490" cy="5792642"/>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0" i="0" kern="1200" dirty="0"/>
            <a:t>Consistently gather customer feedback and enhance your solution to exceed their expectations.</a:t>
          </a:r>
          <a:endParaRPr lang="en-US" sz="2400" kern="1200" dirty="0"/>
        </a:p>
      </dsp:txBody>
      <dsp:txXfrm>
        <a:off x="7569741" y="978555"/>
        <a:ext cx="1903536" cy="55866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4B99D-BE0A-4650-AED4-C552F13591BB}">
      <dsp:nvSpPr>
        <dsp:cNvPr id="0" name=""/>
        <dsp:cNvSpPr/>
      </dsp:nvSpPr>
      <dsp:spPr>
        <a:xfrm>
          <a:off x="2" y="0"/>
          <a:ext cx="9857673" cy="75438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55FCBA-2659-4896-9330-C984013DA664}">
      <dsp:nvSpPr>
        <dsp:cNvPr id="0" name=""/>
        <dsp:cNvSpPr/>
      </dsp:nvSpPr>
      <dsp:spPr>
        <a:xfrm>
          <a:off x="3999" y="938916"/>
          <a:ext cx="2355108" cy="5665967"/>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0" i="0" kern="1200" dirty="0"/>
            <a:t>Set realistic targets. Identify key growth indicators and allocate resources accordingly. Monitor daily sales closely and promptly address any issues that arise.</a:t>
          </a:r>
          <a:endParaRPr lang="en-US" sz="2400" kern="1200" dirty="0"/>
        </a:p>
      </dsp:txBody>
      <dsp:txXfrm>
        <a:off x="118966" y="1053883"/>
        <a:ext cx="2125174" cy="5436033"/>
      </dsp:txXfrm>
    </dsp:sp>
    <dsp:sp modelId="{385976C6-C29B-4326-A78B-7C1F624FD980}">
      <dsp:nvSpPr>
        <dsp:cNvPr id="0" name=""/>
        <dsp:cNvSpPr/>
      </dsp:nvSpPr>
      <dsp:spPr>
        <a:xfrm>
          <a:off x="2581002" y="938916"/>
          <a:ext cx="2502880" cy="5665967"/>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0" i="0" kern="1200" dirty="0"/>
            <a:t>Constantly monitor competitors, proactively preempt their strategies when feasible, and respond swiftly to maintain your competitive edge.</a:t>
          </a:r>
          <a:endParaRPr lang="en-US" sz="2400" kern="1200" dirty="0"/>
        </a:p>
      </dsp:txBody>
      <dsp:txXfrm>
        <a:off x="2703183" y="1061097"/>
        <a:ext cx="2258518" cy="5421605"/>
      </dsp:txXfrm>
    </dsp:sp>
    <dsp:sp modelId="{4B57E6A5-4DE7-4B31-9347-53FF20D5DB57}">
      <dsp:nvSpPr>
        <dsp:cNvPr id="0" name=""/>
        <dsp:cNvSpPr/>
      </dsp:nvSpPr>
      <dsp:spPr>
        <a:xfrm>
          <a:off x="5305777" y="938916"/>
          <a:ext cx="2235451" cy="5665967"/>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0" i="0" kern="1200" dirty="0"/>
            <a:t>Assess resources and invest in talent. Analyze customer feedback, address complaints, and foster a positive work environment.</a:t>
          </a:r>
          <a:endParaRPr lang="en-US" sz="2400" kern="1200" dirty="0"/>
        </a:p>
      </dsp:txBody>
      <dsp:txXfrm>
        <a:off x="5414903" y="1048042"/>
        <a:ext cx="2017199" cy="5447715"/>
      </dsp:txXfrm>
    </dsp:sp>
    <dsp:sp modelId="{15FFBD0A-A87E-4EF3-985C-510BBCD27186}">
      <dsp:nvSpPr>
        <dsp:cNvPr id="0" name=""/>
        <dsp:cNvSpPr/>
      </dsp:nvSpPr>
      <dsp:spPr>
        <a:xfrm>
          <a:off x="7763122" y="938916"/>
          <a:ext cx="2090555" cy="5665967"/>
        </a:xfrm>
        <a:prstGeom prst="roundRect">
          <a:avLst/>
        </a:prstGeom>
        <a:solidFill>
          <a:srgbClr val="00194C">
            <a:alpha val="94118"/>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0" i="0" kern="1200" dirty="0"/>
            <a:t>Sustain product development efforts, stay ahead of competitors with new launches. Proactively forecast funding needs and secure funds proactively.</a:t>
          </a:r>
          <a:endParaRPr lang="en-US" sz="2400" kern="1200" dirty="0"/>
        </a:p>
      </dsp:txBody>
      <dsp:txXfrm>
        <a:off x="7865174" y="1040968"/>
        <a:ext cx="1886451" cy="54618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D7AB0-56AF-4624-86C1-CAA83B324FB6}">
      <dsp:nvSpPr>
        <dsp:cNvPr id="0" name=""/>
        <dsp:cNvSpPr/>
      </dsp:nvSpPr>
      <dsp:spPr>
        <a:xfrm>
          <a:off x="-5701338" y="-873208"/>
          <a:ext cx="6791812" cy="6791812"/>
        </a:xfrm>
        <a:prstGeom prst="blockArc">
          <a:avLst>
            <a:gd name="adj1" fmla="val 18900000"/>
            <a:gd name="adj2" fmla="val 2700000"/>
            <a:gd name="adj3" fmla="val 318"/>
          </a:avLst>
        </a:prstGeom>
        <a:noFill/>
        <a:ln w="142875" cap="flat" cmpd="thickThin"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FE49DD63-2465-4E57-963D-812600181FD2}">
      <dsp:nvSpPr>
        <dsp:cNvPr id="0" name=""/>
        <dsp:cNvSpPr/>
      </dsp:nvSpPr>
      <dsp:spPr>
        <a:xfrm>
          <a:off x="353934" y="153388"/>
          <a:ext cx="10551929" cy="610476"/>
        </a:xfrm>
        <a:prstGeom prst="rect">
          <a:avLst/>
        </a:prstGeom>
        <a:solidFill>
          <a:srgbClr val="002060"/>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363955" tIns="81280" rIns="81280" bIns="81280" numCol="1" spcCol="1270" anchor="ctr" anchorCtr="0">
          <a:noAutofit/>
        </a:bodyPr>
        <a:lstStyle/>
        <a:p>
          <a:pPr lvl="0" algn="l" defTabSz="1422400" rtl="0">
            <a:lnSpc>
              <a:spcPct val="90000"/>
            </a:lnSpc>
            <a:spcBef>
              <a:spcPct val="0"/>
            </a:spcBef>
            <a:spcAft>
              <a:spcPct val="35000"/>
            </a:spcAft>
          </a:pPr>
          <a:r>
            <a:rPr lang="en-US" sz="3200" b="1" kern="1200" dirty="0"/>
            <a:t>The business </a:t>
          </a:r>
          <a:endParaRPr lang="en-IN" sz="3200" kern="1200" dirty="0"/>
        </a:p>
      </dsp:txBody>
      <dsp:txXfrm>
        <a:off x="353934" y="153388"/>
        <a:ext cx="10551929" cy="610476"/>
      </dsp:txXfrm>
    </dsp:sp>
    <dsp:sp modelId="{976F818B-700B-414D-B4DE-679F3C256E9E}">
      <dsp:nvSpPr>
        <dsp:cNvPr id="0" name=""/>
        <dsp:cNvSpPr/>
      </dsp:nvSpPr>
      <dsp:spPr>
        <a:xfrm>
          <a:off x="67356" y="172048"/>
          <a:ext cx="573156" cy="573156"/>
        </a:xfrm>
        <a:prstGeom prst="ellipse">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55F74FF-C0F7-4C88-8649-CB5BCE7F8800}">
      <dsp:nvSpPr>
        <dsp:cNvPr id="0" name=""/>
        <dsp:cNvSpPr/>
      </dsp:nvSpPr>
      <dsp:spPr>
        <a:xfrm>
          <a:off x="769170" y="841580"/>
          <a:ext cx="10136693" cy="610476"/>
        </a:xfrm>
        <a:prstGeom prst="rect">
          <a:avLst/>
        </a:prstGeom>
        <a:solidFill>
          <a:srgbClr val="002060"/>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363955" tIns="81280" rIns="81280" bIns="81280" numCol="1" spcCol="1270" anchor="ctr" anchorCtr="0">
          <a:noAutofit/>
        </a:bodyPr>
        <a:lstStyle/>
        <a:p>
          <a:pPr lvl="0" algn="l" defTabSz="1422400" rtl="0">
            <a:lnSpc>
              <a:spcPct val="90000"/>
            </a:lnSpc>
            <a:spcBef>
              <a:spcPct val="0"/>
            </a:spcBef>
            <a:spcAft>
              <a:spcPct val="35000"/>
            </a:spcAft>
          </a:pPr>
          <a:r>
            <a:rPr lang="en-US" sz="3200" b="1" kern="1200" dirty="0"/>
            <a:t>The team </a:t>
          </a:r>
          <a:endParaRPr lang="en-IN" sz="3200" kern="1200" dirty="0"/>
        </a:p>
      </dsp:txBody>
      <dsp:txXfrm>
        <a:off x="769170" y="841580"/>
        <a:ext cx="10136693" cy="610476"/>
      </dsp:txXfrm>
    </dsp:sp>
    <dsp:sp modelId="{41209540-CEFD-42BA-9F50-F6C7E755EE49}">
      <dsp:nvSpPr>
        <dsp:cNvPr id="0" name=""/>
        <dsp:cNvSpPr/>
      </dsp:nvSpPr>
      <dsp:spPr>
        <a:xfrm>
          <a:off x="482592" y="860240"/>
          <a:ext cx="573156" cy="573156"/>
        </a:xfrm>
        <a:prstGeom prst="ellipse">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E9AD43-389F-403F-B1D7-25FBF65F46D7}">
      <dsp:nvSpPr>
        <dsp:cNvPr id="0" name=""/>
        <dsp:cNvSpPr/>
      </dsp:nvSpPr>
      <dsp:spPr>
        <a:xfrm>
          <a:off x="996717" y="1529267"/>
          <a:ext cx="9909145" cy="610476"/>
        </a:xfrm>
        <a:prstGeom prst="rect">
          <a:avLst/>
        </a:prstGeom>
        <a:solidFill>
          <a:srgbClr val="002060"/>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363955" tIns="81280" rIns="81280" bIns="81280" numCol="1" spcCol="1270" anchor="ctr" anchorCtr="0">
          <a:noAutofit/>
        </a:bodyPr>
        <a:lstStyle/>
        <a:p>
          <a:pPr lvl="0" algn="l" defTabSz="1422400" rtl="0">
            <a:lnSpc>
              <a:spcPct val="90000"/>
            </a:lnSpc>
            <a:spcBef>
              <a:spcPct val="0"/>
            </a:spcBef>
            <a:spcAft>
              <a:spcPct val="35000"/>
            </a:spcAft>
          </a:pPr>
          <a:r>
            <a:rPr lang="en-US" sz="3200" b="1" kern="1200" dirty="0"/>
            <a:t>The proposal </a:t>
          </a:r>
          <a:endParaRPr lang="en-IN" sz="3200" kern="1200" dirty="0"/>
        </a:p>
      </dsp:txBody>
      <dsp:txXfrm>
        <a:off x="996717" y="1529267"/>
        <a:ext cx="9909145" cy="610476"/>
      </dsp:txXfrm>
    </dsp:sp>
    <dsp:sp modelId="{84FF2FD5-37FC-466B-918A-46BA06DF7C2A}">
      <dsp:nvSpPr>
        <dsp:cNvPr id="0" name=""/>
        <dsp:cNvSpPr/>
      </dsp:nvSpPr>
      <dsp:spPr>
        <a:xfrm>
          <a:off x="710139" y="1547927"/>
          <a:ext cx="573156" cy="573156"/>
        </a:xfrm>
        <a:prstGeom prst="ellipse">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260938-52B0-49E6-943B-4307FBE10D8F}">
      <dsp:nvSpPr>
        <dsp:cNvPr id="0" name=""/>
        <dsp:cNvSpPr/>
      </dsp:nvSpPr>
      <dsp:spPr>
        <a:xfrm>
          <a:off x="1069371" y="2217459"/>
          <a:ext cx="9836492" cy="610476"/>
        </a:xfrm>
        <a:prstGeom prst="rect">
          <a:avLst/>
        </a:prstGeom>
        <a:solidFill>
          <a:srgbClr val="002060"/>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363955" tIns="81280" rIns="81280" bIns="81280" numCol="1" spcCol="1270" anchor="ctr" anchorCtr="0">
          <a:noAutofit/>
        </a:bodyPr>
        <a:lstStyle/>
        <a:p>
          <a:pPr lvl="0" algn="l" defTabSz="1422400" rtl="0">
            <a:lnSpc>
              <a:spcPct val="90000"/>
            </a:lnSpc>
            <a:spcBef>
              <a:spcPct val="0"/>
            </a:spcBef>
            <a:spcAft>
              <a:spcPct val="35000"/>
            </a:spcAft>
          </a:pPr>
          <a:r>
            <a:rPr lang="en-IN" sz="3200" b="1" kern="1200" dirty="0"/>
            <a:t>Why now</a:t>
          </a:r>
          <a:endParaRPr lang="en-IN" sz="3200" kern="1200" dirty="0"/>
        </a:p>
      </dsp:txBody>
      <dsp:txXfrm>
        <a:off x="1069371" y="2217459"/>
        <a:ext cx="9836492" cy="610476"/>
      </dsp:txXfrm>
    </dsp:sp>
    <dsp:sp modelId="{F7EF0412-1288-49B4-B57A-E6F2214FF79B}">
      <dsp:nvSpPr>
        <dsp:cNvPr id="0" name=""/>
        <dsp:cNvSpPr/>
      </dsp:nvSpPr>
      <dsp:spPr>
        <a:xfrm>
          <a:off x="782793" y="2236119"/>
          <a:ext cx="573156" cy="573156"/>
        </a:xfrm>
        <a:prstGeom prst="ellipse">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3A2A7D5-F08D-4CE0-96FC-DE052EDAE51B}">
      <dsp:nvSpPr>
        <dsp:cNvPr id="0" name=""/>
        <dsp:cNvSpPr/>
      </dsp:nvSpPr>
      <dsp:spPr>
        <a:xfrm>
          <a:off x="996717" y="2905651"/>
          <a:ext cx="9909145" cy="610476"/>
        </a:xfrm>
        <a:prstGeom prst="rect">
          <a:avLst/>
        </a:prstGeom>
        <a:solidFill>
          <a:srgbClr val="002060"/>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363955" tIns="81280" rIns="81280" bIns="81280" numCol="1" spcCol="1270" anchor="ctr" anchorCtr="0">
          <a:noAutofit/>
        </a:bodyPr>
        <a:lstStyle/>
        <a:p>
          <a:pPr lvl="0" algn="l" defTabSz="1422400" rtl="0">
            <a:lnSpc>
              <a:spcPct val="90000"/>
            </a:lnSpc>
            <a:spcBef>
              <a:spcPct val="0"/>
            </a:spcBef>
            <a:spcAft>
              <a:spcPct val="35000"/>
            </a:spcAft>
          </a:pPr>
          <a:r>
            <a:rPr lang="en-US" sz="3200" b="1" kern="1200" dirty="0"/>
            <a:t>Why it will succeed </a:t>
          </a:r>
          <a:endParaRPr lang="en-IN" sz="3200" kern="1200" dirty="0"/>
        </a:p>
      </dsp:txBody>
      <dsp:txXfrm>
        <a:off x="996717" y="2905651"/>
        <a:ext cx="9909145" cy="610476"/>
      </dsp:txXfrm>
    </dsp:sp>
    <dsp:sp modelId="{01C1EA1D-C4A1-4D03-819D-55F9FF4F04DC}">
      <dsp:nvSpPr>
        <dsp:cNvPr id="0" name=""/>
        <dsp:cNvSpPr/>
      </dsp:nvSpPr>
      <dsp:spPr>
        <a:xfrm>
          <a:off x="710139" y="2924311"/>
          <a:ext cx="573156" cy="573156"/>
        </a:xfrm>
        <a:prstGeom prst="ellipse">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28D08B-A5AA-4746-8303-AA97335F6FFB}">
      <dsp:nvSpPr>
        <dsp:cNvPr id="0" name=""/>
        <dsp:cNvSpPr/>
      </dsp:nvSpPr>
      <dsp:spPr>
        <a:xfrm>
          <a:off x="769170" y="3593339"/>
          <a:ext cx="10136693" cy="610476"/>
        </a:xfrm>
        <a:prstGeom prst="rect">
          <a:avLst/>
        </a:prstGeom>
        <a:solidFill>
          <a:srgbClr val="002060"/>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363955" tIns="81280" rIns="81280" bIns="81280" numCol="1" spcCol="1270" anchor="ctr" anchorCtr="0">
          <a:noAutofit/>
        </a:bodyPr>
        <a:lstStyle/>
        <a:p>
          <a:pPr lvl="0" algn="l" defTabSz="1422400" rtl="0">
            <a:lnSpc>
              <a:spcPct val="90000"/>
            </a:lnSpc>
            <a:spcBef>
              <a:spcPct val="0"/>
            </a:spcBef>
            <a:spcAft>
              <a:spcPct val="35000"/>
            </a:spcAft>
          </a:pPr>
          <a:r>
            <a:rPr lang="en-US" sz="3200" b="1" kern="1200" dirty="0"/>
            <a:t>What the rewards will be (to the investors) </a:t>
          </a:r>
          <a:endParaRPr lang="en-IN" sz="3200" kern="1200" dirty="0"/>
        </a:p>
      </dsp:txBody>
      <dsp:txXfrm>
        <a:off x="769170" y="3593339"/>
        <a:ext cx="10136693" cy="610476"/>
      </dsp:txXfrm>
    </dsp:sp>
    <dsp:sp modelId="{2BF7A44A-8DF4-4358-93DE-772B4A6A46EE}">
      <dsp:nvSpPr>
        <dsp:cNvPr id="0" name=""/>
        <dsp:cNvSpPr/>
      </dsp:nvSpPr>
      <dsp:spPr>
        <a:xfrm>
          <a:off x="482592" y="3611998"/>
          <a:ext cx="573156" cy="573156"/>
        </a:xfrm>
        <a:prstGeom prst="ellipse">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8DB8F3-C2B0-4108-B608-E45BF241DD0D}">
      <dsp:nvSpPr>
        <dsp:cNvPr id="0" name=""/>
        <dsp:cNvSpPr/>
      </dsp:nvSpPr>
      <dsp:spPr>
        <a:xfrm>
          <a:off x="353934" y="4281531"/>
          <a:ext cx="10551929" cy="610476"/>
        </a:xfrm>
        <a:prstGeom prst="rect">
          <a:avLst/>
        </a:prstGeom>
        <a:solidFill>
          <a:srgbClr val="002060"/>
        </a:solidFill>
        <a:ln w="1270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363955" tIns="81280" rIns="81280" bIns="81280" numCol="1" spcCol="1270" anchor="ctr" anchorCtr="0">
          <a:noAutofit/>
        </a:bodyPr>
        <a:lstStyle/>
        <a:p>
          <a:pPr lvl="0" algn="l" defTabSz="1422400" rtl="0">
            <a:lnSpc>
              <a:spcPct val="90000"/>
            </a:lnSpc>
            <a:spcBef>
              <a:spcPct val="0"/>
            </a:spcBef>
            <a:spcAft>
              <a:spcPct val="35000"/>
            </a:spcAft>
          </a:pPr>
          <a:r>
            <a:rPr lang="en-US" sz="3200" b="1" kern="1200" dirty="0"/>
            <a:t>Major risks and how you can minimize them </a:t>
          </a:r>
          <a:endParaRPr lang="en-IN" sz="3200" kern="1200" dirty="0"/>
        </a:p>
      </dsp:txBody>
      <dsp:txXfrm>
        <a:off x="353934" y="4281531"/>
        <a:ext cx="10551929" cy="610476"/>
      </dsp:txXfrm>
    </dsp:sp>
    <dsp:sp modelId="{6EAB1C16-4EE8-45D5-8B0B-00941756D0FB}">
      <dsp:nvSpPr>
        <dsp:cNvPr id="0" name=""/>
        <dsp:cNvSpPr/>
      </dsp:nvSpPr>
      <dsp:spPr>
        <a:xfrm>
          <a:off x="67356" y="4300191"/>
          <a:ext cx="573156" cy="573156"/>
        </a:xfrm>
        <a:prstGeom prst="ellipse">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image" Target="../media/image4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88E89F-0399-4DEE-95C4-B22E362F6EA9}" type="datetimeFigureOut">
              <a:rPr lang="en-IN" smtClean="0"/>
              <a:t>09-03-2026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D678F0-0C79-49A0-A642-EB0D9642E1D1}" type="slidenum">
              <a:rPr lang="en-IN" smtClean="0"/>
              <a:t>‹#›</a:t>
            </a:fld>
            <a:endParaRPr lang="en-IN"/>
          </a:p>
        </p:txBody>
      </p:sp>
    </p:spTree>
    <p:extLst>
      <p:ext uri="{BB962C8B-B14F-4D97-AF65-F5344CB8AC3E}">
        <p14:creationId xmlns:p14="http://schemas.microsoft.com/office/powerpoint/2010/main" val="4216109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5286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D678F0-0C79-49A0-A642-EB0D9642E1D1}" type="slidenum">
              <a:rPr lang="en-IN" smtClean="0"/>
              <a:t>5</a:t>
            </a:fld>
            <a:endParaRPr lang="en-IN"/>
          </a:p>
        </p:txBody>
      </p:sp>
    </p:spTree>
    <p:extLst>
      <p:ext uri="{BB962C8B-B14F-4D97-AF65-F5344CB8AC3E}">
        <p14:creationId xmlns:p14="http://schemas.microsoft.com/office/powerpoint/2010/main" val="4221604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D678F0-0C79-49A0-A642-EB0D9642E1D1}" type="slidenum">
              <a:rPr lang="en-IN" smtClean="0"/>
              <a:t>8</a:t>
            </a:fld>
            <a:endParaRPr lang="en-IN"/>
          </a:p>
        </p:txBody>
      </p:sp>
    </p:spTree>
    <p:extLst>
      <p:ext uri="{BB962C8B-B14F-4D97-AF65-F5344CB8AC3E}">
        <p14:creationId xmlns:p14="http://schemas.microsoft.com/office/powerpoint/2010/main" val="1678629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5FB7399-CC66-438F-947D-89BDE01E8B21}" type="slidenum">
              <a:rPr lang="en-IN" smtClean="0"/>
              <a:t>11</a:t>
            </a:fld>
            <a:endParaRPr lang="en-IN"/>
          </a:p>
        </p:txBody>
      </p:sp>
    </p:spTree>
    <p:extLst>
      <p:ext uri="{BB962C8B-B14F-4D97-AF65-F5344CB8AC3E}">
        <p14:creationId xmlns:p14="http://schemas.microsoft.com/office/powerpoint/2010/main" val="2249018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79536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202124"/>
                </a:solidFill>
                <a:effectLst/>
                <a:latin typeface="Google Sans"/>
              </a:rPr>
              <a:t>Nick </a:t>
            </a:r>
            <a:r>
              <a:rPr lang="en-IN" b="0" i="0" dirty="0" err="1">
                <a:solidFill>
                  <a:srgbClr val="202124"/>
                </a:solidFill>
                <a:effectLst/>
                <a:latin typeface="Google Sans"/>
              </a:rPr>
              <a:t>Swinmurn</a:t>
            </a:r>
            <a:r>
              <a:rPr lang="en-IN" b="0" i="0" dirty="0">
                <a:solidFill>
                  <a:srgbClr val="202124"/>
                </a:solidFill>
                <a:effectLst/>
                <a:latin typeface="Google Sans"/>
              </a:rPr>
              <a:t> – </a:t>
            </a:r>
            <a:r>
              <a:rPr lang="en-IN" b="0" i="0" dirty="0" err="1">
                <a:solidFill>
                  <a:srgbClr val="202124"/>
                </a:solidFill>
                <a:effectLst/>
                <a:latin typeface="Google Sans"/>
              </a:rPr>
              <a:t>Zappose</a:t>
            </a:r>
            <a:r>
              <a:rPr lang="en-IN" b="0" i="0" dirty="0">
                <a:solidFill>
                  <a:srgbClr val="202124"/>
                </a:solidFill>
                <a:effectLst/>
                <a:latin typeface="Google Sans"/>
              </a:rPr>
              <a:t>,  Drew Houston -  drop box</a:t>
            </a:r>
            <a:endParaRPr lang="en-IN" dirty="0"/>
          </a:p>
        </p:txBody>
      </p:sp>
      <p:sp>
        <p:nvSpPr>
          <p:cNvPr id="4" name="Slide Number Placeholder 3"/>
          <p:cNvSpPr>
            <a:spLocks noGrp="1"/>
          </p:cNvSpPr>
          <p:nvPr>
            <p:ph type="sldNum" sz="quarter" idx="5"/>
          </p:nvPr>
        </p:nvSpPr>
        <p:spPr/>
        <p:txBody>
          <a:bodyPr/>
          <a:lstStyle/>
          <a:p>
            <a:fld id="{85D678F0-0C79-49A0-A642-EB0D9642E1D1}" type="slidenum">
              <a:rPr lang="en-IN" smtClean="0"/>
              <a:t>14</a:t>
            </a:fld>
            <a:endParaRPr lang="en-IN"/>
          </a:p>
        </p:txBody>
      </p:sp>
    </p:spTree>
    <p:extLst>
      <p:ext uri="{BB962C8B-B14F-4D97-AF65-F5344CB8AC3E}">
        <p14:creationId xmlns:p14="http://schemas.microsoft.com/office/powerpoint/2010/main" val="2402063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D678F0-0C79-49A0-A642-EB0D9642E1D1}" type="slidenum">
              <a:rPr lang="en-IN" smtClean="0"/>
              <a:t>16</a:t>
            </a:fld>
            <a:endParaRPr lang="en-IN"/>
          </a:p>
        </p:txBody>
      </p:sp>
    </p:spTree>
    <p:extLst>
      <p:ext uri="{BB962C8B-B14F-4D97-AF65-F5344CB8AC3E}">
        <p14:creationId xmlns:p14="http://schemas.microsoft.com/office/powerpoint/2010/main" val="955777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D678F0-0C79-49A0-A642-EB0D9642E1D1}" type="slidenum">
              <a:rPr lang="en-IN" smtClean="0"/>
              <a:t>19</a:t>
            </a:fld>
            <a:endParaRPr lang="en-IN"/>
          </a:p>
        </p:txBody>
      </p:sp>
    </p:spTree>
    <p:extLst>
      <p:ext uri="{BB962C8B-B14F-4D97-AF65-F5344CB8AC3E}">
        <p14:creationId xmlns:p14="http://schemas.microsoft.com/office/powerpoint/2010/main" val="3792424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Painting a mental picture of how a specific customer will benefit or has already benefited from the new product or service packs a wallop.</a:t>
            </a:r>
            <a:endParaRPr lang="en-IN" dirty="0"/>
          </a:p>
        </p:txBody>
      </p:sp>
    </p:spTree>
    <p:extLst>
      <p:ext uri="{BB962C8B-B14F-4D97-AF65-F5344CB8AC3E}">
        <p14:creationId xmlns:p14="http://schemas.microsoft.com/office/powerpoint/2010/main" val="3347707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Zappos</a:t>
            </a:r>
            <a:endParaRPr lang="en-IN" dirty="0"/>
          </a:p>
        </p:txBody>
      </p:sp>
      <p:sp>
        <p:nvSpPr>
          <p:cNvPr id="4" name="Slide Number Placeholder 3"/>
          <p:cNvSpPr>
            <a:spLocks noGrp="1"/>
          </p:cNvSpPr>
          <p:nvPr>
            <p:ph type="sldNum" sz="quarter" idx="5"/>
          </p:nvPr>
        </p:nvSpPr>
        <p:spPr/>
        <p:txBody>
          <a:bodyPr/>
          <a:lstStyle/>
          <a:p>
            <a:fld id="{85D678F0-0C79-49A0-A642-EB0D9642E1D1}" type="slidenum">
              <a:rPr lang="en-IN" smtClean="0"/>
              <a:t>27</a:t>
            </a:fld>
            <a:endParaRPr lang="en-IN"/>
          </a:p>
        </p:txBody>
      </p:sp>
    </p:spTree>
    <p:extLst>
      <p:ext uri="{BB962C8B-B14F-4D97-AF65-F5344CB8AC3E}">
        <p14:creationId xmlns:p14="http://schemas.microsoft.com/office/powerpoint/2010/main" val="793707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225147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(antonyms: scruffy, shabby, untidy or dirty)</a:t>
            </a:r>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1AD14704-A2DE-4B21-8280-03DDADA19E3E}" type="slidenum">
              <a:rPr lang="en-IN" smtClean="0"/>
              <a:t>41</a:t>
            </a:fld>
            <a:endParaRPr lang="en-IN"/>
          </a:p>
        </p:txBody>
      </p:sp>
    </p:spTree>
    <p:extLst>
      <p:ext uri="{BB962C8B-B14F-4D97-AF65-F5344CB8AC3E}">
        <p14:creationId xmlns:p14="http://schemas.microsoft.com/office/powerpoint/2010/main" val="1966501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People have grown cynical toward advertisements. They say it shows up in every conceivable place, makes ridiculous claims, plays to our most base instincts, and crowds out things that are more interesting and essential. In a world where brands are making incredible </a:t>
            </a:r>
            <a:r>
              <a:rPr lang="en-US" sz="1200" b="0" i="0" kern="1200" baseline="0" dirty="0">
                <a:solidFill>
                  <a:schemeClr val="tx1"/>
                </a:solidFill>
                <a:effectLst/>
                <a:latin typeface="+mn-lt"/>
                <a:ea typeface="+mn-ea"/>
                <a:cs typeface="+mn-cs"/>
              </a:rPr>
              <a:t>claims and counter-claims,</a:t>
            </a:r>
            <a:r>
              <a:rPr lang="en-US" sz="1200" b="0" i="0" kern="1200" dirty="0">
                <a:solidFill>
                  <a:schemeClr val="tx1"/>
                </a:solidFill>
                <a:effectLst/>
                <a:latin typeface="+mn-lt"/>
                <a:ea typeface="+mn-ea"/>
                <a:cs typeface="+mn-cs"/>
              </a:rPr>
              <a:t> it is hard to trust any of the claims that marketers make. This cynicism is often eroded when a seemingly known person recommends a particular brand.</a:t>
            </a:r>
            <a:r>
              <a:rPr lang="en-US" sz="1200" b="0" i="0" kern="1200" baseline="0" dirty="0">
                <a:solidFill>
                  <a:schemeClr val="tx1"/>
                </a:solidFill>
                <a:effectLst/>
                <a:latin typeface="+mn-lt"/>
                <a:ea typeface="+mn-ea"/>
                <a:cs typeface="+mn-cs"/>
              </a:rPr>
              <a:t> The trusted source may be just a casual </a:t>
            </a:r>
            <a:r>
              <a:rPr lang="en-US" sz="1200" b="0" i="0" kern="1200" baseline="0" dirty="0" err="1">
                <a:solidFill>
                  <a:schemeClr val="tx1"/>
                </a:solidFill>
                <a:effectLst/>
                <a:latin typeface="+mn-lt"/>
                <a:ea typeface="+mn-ea"/>
                <a:cs typeface="+mn-cs"/>
              </a:rPr>
              <a:t>acquaintant</a:t>
            </a:r>
            <a:r>
              <a:rPr lang="en-US" sz="1200" b="0" i="0" kern="1200" baseline="0" dirty="0">
                <a:solidFill>
                  <a:schemeClr val="tx1"/>
                </a:solidFill>
                <a:effectLst/>
                <a:latin typeface="+mn-lt"/>
                <a:ea typeface="+mn-ea"/>
                <a:cs typeface="+mn-cs"/>
              </a:rPr>
              <a:t> on the social media. If the same </a:t>
            </a:r>
            <a:endParaRPr lang="en-IN" dirty="0"/>
          </a:p>
        </p:txBody>
      </p:sp>
      <p:sp>
        <p:nvSpPr>
          <p:cNvPr id="4" name="Slide Number Placeholder 3"/>
          <p:cNvSpPr>
            <a:spLocks noGrp="1"/>
          </p:cNvSpPr>
          <p:nvPr>
            <p:ph type="sldNum" sz="quarter" idx="10"/>
          </p:nvPr>
        </p:nvSpPr>
        <p:spPr/>
        <p:txBody>
          <a:bodyPr/>
          <a:lstStyle/>
          <a:p>
            <a:fld id="{57EB6E22-9D15-4452-85F3-00CB2F27F9D6}" type="slidenum">
              <a:rPr lang="en-IN" smtClean="0"/>
              <a:t>89</a:t>
            </a:fld>
            <a:endParaRPr lang="en-IN"/>
          </a:p>
        </p:txBody>
      </p:sp>
    </p:spTree>
    <p:extLst>
      <p:ext uri="{BB962C8B-B14F-4D97-AF65-F5344CB8AC3E}">
        <p14:creationId xmlns:p14="http://schemas.microsoft.com/office/powerpoint/2010/main" val="1487254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your product</a:t>
            </a:r>
            <a:r>
              <a:rPr lang="en-US" baseline="0" dirty="0"/>
              <a:t> </a:t>
            </a:r>
            <a:r>
              <a:rPr lang="en-US" sz="1200" b="0" i="0" kern="1200" dirty="0">
                <a:solidFill>
                  <a:schemeClr val="tx1"/>
                </a:solidFill>
                <a:effectLst/>
                <a:latin typeface="+mn-lt"/>
                <a:ea typeface="+mn-ea"/>
                <a:cs typeface="+mn-cs"/>
              </a:rPr>
              <a:t>blasts off into the space</a:t>
            </a:r>
            <a:endParaRPr lang="en-IN" dirty="0"/>
          </a:p>
        </p:txBody>
      </p:sp>
      <p:sp>
        <p:nvSpPr>
          <p:cNvPr id="4" name="Slide Number Placeholder 3"/>
          <p:cNvSpPr>
            <a:spLocks noGrp="1"/>
          </p:cNvSpPr>
          <p:nvPr>
            <p:ph type="sldNum" sz="quarter" idx="10"/>
          </p:nvPr>
        </p:nvSpPr>
        <p:spPr/>
        <p:txBody>
          <a:bodyPr/>
          <a:lstStyle/>
          <a:p>
            <a:fld id="{57EB6E22-9D15-4452-85F3-00CB2F27F9D6}" type="slidenum">
              <a:rPr lang="en-IN" smtClean="0"/>
              <a:t>92</a:t>
            </a:fld>
            <a:endParaRPr lang="en-IN"/>
          </a:p>
        </p:txBody>
      </p:sp>
    </p:spTree>
    <p:extLst>
      <p:ext uri="{BB962C8B-B14F-4D97-AF65-F5344CB8AC3E}">
        <p14:creationId xmlns:p14="http://schemas.microsoft.com/office/powerpoint/2010/main" val="371299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2679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5F0B33F-DB5A-47ED-89A9-A6D0C54C65CF}" type="datetime1">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371229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solidFill>
                  <a:schemeClr val="accent5">
                    <a:lumMod val="75000"/>
                  </a:schemeClr>
                </a:solidFill>
                <a:latin typeface="+mn-lt"/>
              </a:defRPr>
            </a:lvl1pPr>
          </a:lstStyle>
          <a:p>
            <a:r>
              <a:rPr lang="en-US"/>
              <a:t>Click to edit Master title style</a:t>
            </a:r>
            <a:endParaRPr lang="en-IN"/>
          </a:p>
        </p:txBody>
      </p:sp>
      <p:sp>
        <p:nvSpPr>
          <p:cNvPr id="3" name="Content Placeholder 2"/>
          <p:cNvSpPr>
            <a:spLocks noGrp="1"/>
          </p:cNvSpPr>
          <p:nvPr>
            <p:ph idx="1"/>
          </p:nvPr>
        </p:nvSpPr>
        <p:spPr/>
        <p:txBody>
          <a:bodyPr>
            <a:normAutofit/>
          </a:bodyPr>
          <a:lstStyle>
            <a:lvl1pPr>
              <a:defRPr sz="2800" b="1">
                <a:solidFill>
                  <a:schemeClr val="accent5">
                    <a:lumMod val="50000"/>
                  </a:schemeClr>
                </a:solidFill>
              </a:defRPr>
            </a:lvl1pPr>
            <a:lvl2pPr>
              <a:defRPr sz="2800" b="1">
                <a:solidFill>
                  <a:schemeClr val="accent5">
                    <a:lumMod val="50000"/>
                  </a:schemeClr>
                </a:solidFill>
              </a:defRPr>
            </a:lvl2pPr>
            <a:lvl3pPr>
              <a:defRPr sz="2800" b="1">
                <a:solidFill>
                  <a:schemeClr val="accent5">
                    <a:lumMod val="50000"/>
                  </a:schemeClr>
                </a:solidFill>
              </a:defRPr>
            </a:lvl3pPr>
            <a:lvl4pPr>
              <a:defRPr sz="2800" b="1">
                <a:solidFill>
                  <a:schemeClr val="accent5">
                    <a:lumMod val="50000"/>
                  </a:schemeClr>
                </a:solidFill>
              </a:defRPr>
            </a:lvl4pPr>
            <a:lvl5pPr>
              <a:defRPr sz="2800" b="1">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A587623-9FCB-48CC-938F-20E2AD725072}" type="datetime1">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692600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0524C1-D1EC-41A6-914F-27EE5780FF55}" type="datetime1">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2442919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9F743C0-8069-40C4-8EF6-CEB0B7284BE5}" type="datetime1">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1171810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9A3B915-FCC9-48CF-ABE6-7E60AC685019}" type="datetime1">
              <a:rPr lang="en-IN" smtClean="0"/>
              <a:t>09-03-2026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3504843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48C642D-647C-49BB-A560-674E38ECF996}" type="datetime1">
              <a:rPr lang="en-IN" smtClean="0"/>
              <a:t>09-03-2026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3489204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CC7903-C879-45AA-A420-D11C50C6D208}" type="datetime1">
              <a:rPr lang="en-IN" smtClean="0"/>
              <a:t>09-03-2026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2798733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CF3C16-7B56-4F16-B8CB-D11E4D147BA8}" type="datetime1">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466512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651AE-580C-4B08-A1B4-91F7AA3ACB90}" type="datetime1">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3956902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C3841A3-60A3-4592-A42D-69FCE5962CFC}" type="datetime1">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3011755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C10CA6C-BB92-471B-AC68-599711B8D7DE}" type="datetime1">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D1DB16-3243-4916-96AE-0416B7586CF1}" type="slidenum">
              <a:rPr lang="en-IN" smtClean="0"/>
              <a:t>‹#›</a:t>
            </a:fld>
            <a:endParaRPr lang="en-IN"/>
          </a:p>
        </p:txBody>
      </p:sp>
    </p:spTree>
    <p:extLst>
      <p:ext uri="{BB962C8B-B14F-4D97-AF65-F5344CB8AC3E}">
        <p14:creationId xmlns:p14="http://schemas.microsoft.com/office/powerpoint/2010/main" val="1691821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1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EAD37A-BE7A-4B35-92C0-8227747E36CE}" type="datetime1">
              <a:rPr lang="en-IN" smtClean="0"/>
              <a:t>09-03-2026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D1DB16-3243-4916-96AE-0416B7586CF1}" type="slidenum">
              <a:rPr lang="en-IN" smtClean="0"/>
              <a:t>‹#›</a:t>
            </a:fld>
            <a:endParaRPr lang="en-IN"/>
          </a:p>
        </p:txBody>
      </p:sp>
      <p:sp>
        <p:nvSpPr>
          <p:cNvPr id="7" name="Rectangle 6"/>
          <p:cNvSpPr/>
          <p:nvPr userDrawn="1"/>
        </p:nvSpPr>
        <p:spPr>
          <a:xfrm>
            <a:off x="-1" y="6721475"/>
            <a:ext cx="12192001" cy="163909"/>
          </a:xfrm>
          <a:prstGeom prst="rect">
            <a:avLst/>
          </a:prstGeom>
          <a:solidFill>
            <a:schemeClr val="tx2">
              <a:lumMod val="50000"/>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i="1" dirty="0"/>
              <a:t>© </a:t>
            </a:r>
            <a:r>
              <a:rPr lang="en-US" sz="1400" i="1" dirty="0" err="1"/>
              <a:t>Manoj</a:t>
            </a:r>
            <a:r>
              <a:rPr lang="en-US" sz="1400" i="1" dirty="0"/>
              <a:t> Kumar </a:t>
            </a:r>
            <a:r>
              <a:rPr lang="en-US" sz="1400" i="1" dirty="0" err="1"/>
              <a:t>Mondal</a:t>
            </a:r>
            <a:r>
              <a:rPr lang="en-US" sz="1400" i="1" dirty="0"/>
              <a:t>, </a:t>
            </a:r>
            <a:r>
              <a:rPr lang="en-US" sz="1400" i="1" dirty="0" err="1"/>
              <a:t>RMSoEE</a:t>
            </a:r>
            <a:endParaRPr lang="en-US" sz="1400" i="1" dirty="0"/>
          </a:p>
        </p:txBody>
      </p:sp>
      <p:cxnSp>
        <p:nvCxnSpPr>
          <p:cNvPr id="9" name="Straight Connector 8"/>
          <p:cNvCxnSpPr/>
          <p:nvPr userDrawn="1"/>
        </p:nvCxnSpPr>
        <p:spPr>
          <a:xfrm flipV="1">
            <a:off x="-15730" y="224287"/>
            <a:ext cx="12196228" cy="5188"/>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F594CE6F-74E0-AD67-0CA0-F50E13942223}"/>
              </a:ext>
            </a:extLst>
          </p:cNvPr>
          <p:cNvGrpSpPr/>
          <p:nvPr userDrawn="1"/>
        </p:nvGrpSpPr>
        <p:grpSpPr>
          <a:xfrm>
            <a:off x="-15731" y="-134663"/>
            <a:ext cx="12196229" cy="461665"/>
            <a:chOff x="-15731" y="4601693"/>
            <a:chExt cx="12196229" cy="461665"/>
          </a:xfrm>
        </p:grpSpPr>
        <p:sp>
          <p:nvSpPr>
            <p:cNvPr id="10" name="Rectangle 9">
              <a:extLst>
                <a:ext uri="{FF2B5EF4-FFF2-40B4-BE49-F238E27FC236}">
                  <a16:creationId xmlns:a16="http://schemas.microsoft.com/office/drawing/2014/main" id="{43F9B716-B1A5-DCCA-AE11-1FF60341C2C7}"/>
                </a:ext>
              </a:extLst>
            </p:cNvPr>
            <p:cNvSpPr/>
            <p:nvPr userDrawn="1"/>
          </p:nvSpPr>
          <p:spPr>
            <a:xfrm>
              <a:off x="0" y="4634143"/>
              <a:ext cx="12180498" cy="317831"/>
            </a:xfrm>
            <a:prstGeom prst="rect">
              <a:avLst/>
            </a:prstGeom>
            <a:solidFill>
              <a:srgbClr val="49454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AB0F85C-3F9A-215C-C59C-A4BCEFFF1953}"/>
                </a:ext>
              </a:extLst>
            </p:cNvPr>
            <p:cNvSpPr txBox="1"/>
            <p:nvPr userDrawn="1"/>
          </p:nvSpPr>
          <p:spPr>
            <a:xfrm>
              <a:off x="-15731" y="4601693"/>
              <a:ext cx="11902931" cy="461665"/>
            </a:xfrm>
            <a:prstGeom prst="rect">
              <a:avLst/>
            </a:prstGeom>
            <a:noFill/>
          </p:spPr>
          <p:txBody>
            <a:bodyPr wrap="square" rtlCol="0">
              <a:spAutoFit/>
            </a:bodyPr>
            <a:lstStyle/>
            <a:p>
              <a:r>
                <a:rPr lang="en-US" sz="2400" b="0" spc="400" baseline="0" dirty="0">
                  <a:solidFill>
                    <a:schemeClr val="bg1">
                      <a:lumMod val="95000"/>
                    </a:schemeClr>
                  </a:solidFill>
                  <a:latin typeface="Algerian" panose="04020705040A02060702" pitchFamily="82" charset="0"/>
                </a:rPr>
                <a:t>ENTREPRENEURSHIP ESSENTIALS</a:t>
              </a:r>
              <a:endParaRPr lang="en-IN" sz="2400" b="0" spc="400" baseline="0" dirty="0">
                <a:solidFill>
                  <a:schemeClr val="bg1">
                    <a:lumMod val="95000"/>
                  </a:schemeClr>
                </a:solidFill>
                <a:latin typeface="Algerian" panose="04020705040A02060702" pitchFamily="82" charset="0"/>
              </a:endParaRPr>
            </a:p>
          </p:txBody>
        </p:sp>
      </p:grpSp>
    </p:spTree>
    <p:extLst>
      <p:ext uri="{BB962C8B-B14F-4D97-AF65-F5344CB8AC3E}">
        <p14:creationId xmlns:p14="http://schemas.microsoft.com/office/powerpoint/2010/main" val="1953699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4.svg"/><Relationship Id="rId3" Type="http://schemas.openxmlformats.org/officeDocument/2006/relationships/image" Target="../media/image4.svg"/><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6.svg"/><Relationship Id="rId11" Type="http://schemas.openxmlformats.org/officeDocument/2006/relationships/image" Target="../media/image22.png"/><Relationship Id="rId5" Type="http://schemas.openxmlformats.org/officeDocument/2006/relationships/image" Target="../media/image19.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3.xml"/><Relationship Id="rId7" Type="http://schemas.openxmlformats.org/officeDocument/2006/relationships/image" Target="../media/image2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7.png"/><Relationship Id="rId4" Type="http://schemas.openxmlformats.org/officeDocument/2006/relationships/slideLayout" Target="../slideLayouts/slideLayout7.xml"/><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slideLayout" Target="../slideLayouts/slideLayout7.xml"/><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tags" Target="../tags/tag4.xml"/><Relationship Id="rId1" Type="http://schemas.openxmlformats.org/officeDocument/2006/relationships/vmlDrawing" Target="../drawings/vmlDrawing1.vml"/><Relationship Id="rId6" Type="http://schemas.openxmlformats.org/officeDocument/2006/relationships/image" Target="../media/image28.emf"/><Relationship Id="rId11" Type="http://schemas.openxmlformats.org/officeDocument/2006/relationships/image" Target="../media/image33.png"/><Relationship Id="rId5" Type="http://schemas.openxmlformats.org/officeDocument/2006/relationships/oleObject" Target="../embeddings/oleObject1.bin"/><Relationship Id="rId10" Type="http://schemas.openxmlformats.org/officeDocument/2006/relationships/image" Target="../media/image32.png"/><Relationship Id="rId4" Type="http://schemas.openxmlformats.org/officeDocument/2006/relationships/notesSlide" Target="../notesSlides/notesSlide5.xml"/><Relationship Id="rId9" Type="http://schemas.openxmlformats.org/officeDocument/2006/relationships/image" Target="../media/image31.png"/><Relationship Id="rId14" Type="http://schemas.openxmlformats.org/officeDocument/2006/relationships/image" Target="../media/image3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ddicted2success.com/motivation/video-muhammad-ali-shares-his-most-powerful-quote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42.png"/><Relationship Id="rId12" Type="http://schemas.openxmlformats.org/officeDocument/2006/relationships/image" Target="../media/image57.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50.svg"/><Relationship Id="rId10" Type="http://schemas.openxmlformats.org/officeDocument/2006/relationships/image" Target="../media/image45.png"/><Relationship Id="rId4" Type="http://schemas.openxmlformats.org/officeDocument/2006/relationships/image" Target="../media/image40.png"/><Relationship Id="rId9" Type="http://schemas.openxmlformats.org/officeDocument/2006/relationships/image" Target="../media/image44.png"/></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package" Target="../embeddings/Microsoft_Excel_Worksheet.xlsx"/><Relationship Id="rId7" Type="http://schemas.openxmlformats.org/officeDocument/2006/relationships/package" Target="../embeddings/Microsoft_Excel_Worksheet2.xlsx"/><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50.emf"/><Relationship Id="rId5" Type="http://schemas.openxmlformats.org/officeDocument/2006/relationships/package" Target="../embeddings/Microsoft_Excel_Worksheet1.xlsx"/><Relationship Id="rId4" Type="http://schemas.openxmlformats.org/officeDocument/2006/relationships/image" Target="../media/image49.emf"/></Relationships>
</file>

<file path=ppt/slides/_rels/slide6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openxmlformats.org/officeDocument/2006/relationships/slideLayout" Target="../slideLayouts/slideLayout6.xml"/><Relationship Id="rId1" Type="http://schemas.openxmlformats.org/officeDocument/2006/relationships/vmlDrawing" Target="../drawings/vmlDrawing3.vml"/><Relationship Id="rId4" Type="http://schemas.openxmlformats.org/officeDocument/2006/relationships/image" Target="../media/image52.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en.wikipedia.org/wiki/Content_marketing" TargetMode="External"/><Relationship Id="rId2" Type="http://schemas.openxmlformats.org/officeDocument/2006/relationships/hyperlink" Target="https://en.wikipedia.org/wiki/Search_engine_optimization" TargetMode="External"/><Relationship Id="rId1" Type="http://schemas.openxmlformats.org/officeDocument/2006/relationships/slideLayout" Target="../slideLayouts/slideLayout2.xml"/><Relationship Id="rId4" Type="http://schemas.openxmlformats.org/officeDocument/2006/relationships/hyperlink" Target="https://en.wikipedia.org/wiki/A/B_testing" TargetMode="External"/></Relationships>
</file>

<file path=ppt/slides/_rels/slide8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s://www.nytimes.com/2019/03/01/business/media/social-media-influencers-kids.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FD1DB16-3243-4916-96AE-0416B7586CF1}" type="slidenum">
              <a:rPr lang="en-IN" smtClean="0"/>
              <a:t>1</a:t>
            </a:fld>
            <a:endParaRPr lang="en-IN"/>
          </a:p>
        </p:txBody>
      </p:sp>
      <p:pic>
        <p:nvPicPr>
          <p:cNvPr id="5" name="Picture 2" descr="man standing in front of people sitting beside table with laptop comput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7720" y="272460"/>
            <a:ext cx="8702675" cy="580468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997720" y="277894"/>
            <a:ext cx="8702675" cy="1005924"/>
          </a:xfrm>
          <a:solidFill>
            <a:schemeClr val="tx1">
              <a:lumMod val="75000"/>
              <a:lumOff val="25000"/>
            </a:schemeClr>
          </a:solidFill>
        </p:spPr>
        <p:txBody>
          <a:bodyPr>
            <a:normAutofit fontScale="90000"/>
          </a:bodyPr>
          <a:lstStyle/>
          <a:p>
            <a:pPr algn="l"/>
            <a:r>
              <a:rPr lang="en-US" sz="3600" b="1" dirty="0">
                <a:solidFill>
                  <a:schemeClr val="tx1">
                    <a:lumMod val="50000"/>
                    <a:lumOff val="50000"/>
                  </a:schemeClr>
                </a:solidFill>
                <a:latin typeface="Georgia" panose="02040502050405020303" pitchFamily="18" charset="0"/>
              </a:rPr>
              <a:t>Entrepreneurship</a:t>
            </a:r>
            <a:br>
              <a:rPr lang="en-US" sz="3600" b="1" dirty="0">
                <a:solidFill>
                  <a:schemeClr val="tx1">
                    <a:lumMod val="50000"/>
                    <a:lumOff val="50000"/>
                  </a:schemeClr>
                </a:solidFill>
                <a:latin typeface="Georgia" panose="02040502050405020303" pitchFamily="18" charset="0"/>
              </a:rPr>
            </a:br>
            <a:r>
              <a:rPr lang="en-US" sz="3600" b="1" dirty="0">
                <a:solidFill>
                  <a:schemeClr val="tx1">
                    <a:lumMod val="50000"/>
                    <a:lumOff val="50000"/>
                  </a:schemeClr>
                </a:solidFill>
                <a:latin typeface="Georgia" panose="02040502050405020303" pitchFamily="18" charset="0"/>
              </a:rPr>
              <a:t>Essentials</a:t>
            </a:r>
            <a:endParaRPr lang="en-IN" sz="3600" b="1" dirty="0">
              <a:solidFill>
                <a:schemeClr val="tx1">
                  <a:lumMod val="50000"/>
                  <a:lumOff val="50000"/>
                </a:schemeClr>
              </a:solidFill>
              <a:latin typeface="Georgia" panose="02040502050405020303" pitchFamily="18" charset="0"/>
            </a:endParaRPr>
          </a:p>
        </p:txBody>
      </p:sp>
      <p:sp>
        <p:nvSpPr>
          <p:cNvPr id="3" name="Subtitle 2"/>
          <p:cNvSpPr>
            <a:spLocks noGrp="1"/>
          </p:cNvSpPr>
          <p:nvPr>
            <p:ph type="subTitle" idx="1"/>
          </p:nvPr>
        </p:nvSpPr>
        <p:spPr>
          <a:xfrm>
            <a:off x="2144250" y="5554136"/>
            <a:ext cx="6604001" cy="1193006"/>
          </a:xfrm>
          <a:solidFill>
            <a:schemeClr val="accent1">
              <a:alpha val="27000"/>
            </a:schemeClr>
          </a:solidFill>
        </p:spPr>
        <p:txBody>
          <a:bodyPr>
            <a:normAutofit/>
          </a:bodyPr>
          <a:lstStyle/>
          <a:p>
            <a:pPr algn="l"/>
            <a:r>
              <a:rPr lang="en-US" b="1" dirty="0">
                <a:solidFill>
                  <a:schemeClr val="bg1"/>
                </a:solidFill>
              </a:rPr>
              <a:t>Lecture Note # 12</a:t>
            </a:r>
          </a:p>
          <a:p>
            <a:pPr algn="l"/>
            <a:r>
              <a:rPr lang="en-US" sz="3600" b="1" dirty="0">
                <a:solidFill>
                  <a:schemeClr val="tx1">
                    <a:lumMod val="75000"/>
                    <a:lumOff val="25000"/>
                  </a:schemeClr>
                </a:solidFill>
              </a:rPr>
              <a:t>Business Plan</a:t>
            </a:r>
            <a:endParaRPr lang="en-IN" sz="3600" b="1" dirty="0">
              <a:solidFill>
                <a:schemeClr val="tx1">
                  <a:lumMod val="75000"/>
                  <a:lumOff val="25000"/>
                </a:schemeClr>
              </a:solidFill>
            </a:endParaRPr>
          </a:p>
        </p:txBody>
      </p:sp>
      <p:sp>
        <p:nvSpPr>
          <p:cNvPr id="7" name="Subtitle 2"/>
          <p:cNvSpPr txBox="1">
            <a:spLocks/>
          </p:cNvSpPr>
          <p:nvPr/>
        </p:nvSpPr>
        <p:spPr>
          <a:xfrm>
            <a:off x="2827867" y="1512391"/>
            <a:ext cx="1922942" cy="86479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solidFill>
                  <a:srgbClr val="0070C0"/>
                </a:solidFill>
              </a:rPr>
              <a:t>Business Plan</a:t>
            </a:r>
            <a:endParaRPr lang="en-IN" sz="2000" b="1" dirty="0">
              <a:solidFill>
                <a:srgbClr val="0070C0"/>
              </a:solidFill>
            </a:endParaRPr>
          </a:p>
        </p:txBody>
      </p:sp>
      <p:sp>
        <p:nvSpPr>
          <p:cNvPr id="6" name="TextBox 5">
            <a:extLst>
              <a:ext uri="{FF2B5EF4-FFF2-40B4-BE49-F238E27FC236}">
                <a16:creationId xmlns:a16="http://schemas.microsoft.com/office/drawing/2014/main" id="{40F4FBE3-304A-4474-9620-F6A844B276CA}"/>
              </a:ext>
            </a:extLst>
          </p:cNvPr>
          <p:cNvSpPr txBox="1"/>
          <p:nvPr/>
        </p:nvSpPr>
        <p:spPr>
          <a:xfrm>
            <a:off x="3239589" y="1854926"/>
            <a:ext cx="1166948" cy="461665"/>
          </a:xfrm>
          <a:prstGeom prst="rect">
            <a:avLst/>
          </a:prstGeom>
          <a:noFill/>
        </p:spPr>
        <p:txBody>
          <a:bodyPr wrap="square" rtlCol="0">
            <a:spAutoFit/>
          </a:bodyPr>
          <a:lstStyle/>
          <a:p>
            <a:r>
              <a:rPr lang="en-US" sz="800" dirty="0"/>
              <a:t>@%$W%$*&amp;%*&amp;*&amp;%&amp;^$$^*^*^$^*$*&amp;&amp;^%^&amp;%%</a:t>
            </a:r>
            <a:endParaRPr lang="en-IN" sz="800" dirty="0"/>
          </a:p>
        </p:txBody>
      </p:sp>
    </p:spTree>
    <p:extLst>
      <p:ext uri="{BB962C8B-B14F-4D97-AF65-F5344CB8AC3E}">
        <p14:creationId xmlns:p14="http://schemas.microsoft.com/office/powerpoint/2010/main" val="1545602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p:nvPr/>
        </p:nvSpPr>
        <p:spPr>
          <a:xfrm>
            <a:off x="950070" y="778934"/>
            <a:ext cx="10242863" cy="5164666"/>
          </a:xfrm>
          <a:prstGeom prst="rect">
            <a:avLst/>
          </a:prstGeom>
          <a:noFill/>
          <a:ln>
            <a:noFill/>
          </a:ln>
        </p:spPr>
        <p:txBody>
          <a:bodyPr spcFirstLastPara="1" wrap="square" lIns="91425" tIns="45700" rIns="91425" bIns="45700" anchor="t" anchorCtr="0">
            <a:noAutofit/>
          </a:bodyPr>
          <a:lstStyle/>
          <a:p>
            <a:pPr>
              <a:lnSpc>
                <a:spcPct val="200000"/>
              </a:lnSpc>
            </a:pPr>
            <a:r>
              <a:rPr lang="en-US" sz="3200" b="1" dirty="0">
                <a:solidFill>
                  <a:srgbClr val="002060"/>
                </a:solidFill>
              </a:rPr>
              <a:t>Concepts Covered:</a:t>
            </a:r>
          </a:p>
          <a:p>
            <a:pPr marL="342900" indent="-342900">
              <a:lnSpc>
                <a:spcPct val="200000"/>
              </a:lnSpc>
              <a:buFont typeface="Wingdings" panose="05000000000000000000" pitchFamily="2" charset="2"/>
              <a:buChar char="Ø"/>
            </a:pPr>
            <a:r>
              <a:rPr lang="en-US" sz="3200" b="1" dirty="0">
                <a:solidFill>
                  <a:schemeClr val="dk1"/>
                </a:solidFill>
                <a:latin typeface="Calibri"/>
                <a:ea typeface="Calibri"/>
                <a:cs typeface="Calibri"/>
              </a:rPr>
              <a:t>Elements of a business plan</a:t>
            </a:r>
          </a:p>
          <a:p>
            <a:pPr marL="342900" indent="-342900">
              <a:lnSpc>
                <a:spcPct val="200000"/>
              </a:lnSpc>
              <a:buFont typeface="Wingdings" panose="05000000000000000000" pitchFamily="2" charset="2"/>
              <a:buChar char="Ø"/>
            </a:pPr>
            <a:r>
              <a:rPr lang="en-US" sz="3200" b="1" dirty="0">
                <a:solidFill>
                  <a:schemeClr val="dk1"/>
                </a:solidFill>
                <a:latin typeface="Calibri"/>
                <a:ea typeface="Calibri"/>
                <a:cs typeface="Calibri"/>
              </a:rPr>
              <a:t>  Importance of the various components</a:t>
            </a:r>
          </a:p>
          <a:p>
            <a:pPr marL="342900" indent="-342900">
              <a:lnSpc>
                <a:spcPct val="200000"/>
              </a:lnSpc>
              <a:buFont typeface="Wingdings" panose="05000000000000000000" pitchFamily="2" charset="2"/>
              <a:buChar char="Ø"/>
            </a:pPr>
            <a:r>
              <a:rPr lang="en-US" sz="3200" b="1" dirty="0">
                <a:solidFill>
                  <a:schemeClr val="dk1"/>
                </a:solidFill>
                <a:latin typeface="Calibri"/>
                <a:ea typeface="Calibri"/>
                <a:cs typeface="Calibri"/>
              </a:rPr>
              <a:t>  Information contents</a:t>
            </a:r>
          </a:p>
          <a:p>
            <a:pPr marL="342900" indent="-342900">
              <a:lnSpc>
                <a:spcPct val="200000"/>
              </a:lnSpc>
              <a:buFont typeface="Wingdings" panose="05000000000000000000" pitchFamily="2" charset="2"/>
              <a:buChar char="Ø"/>
            </a:pPr>
            <a:r>
              <a:rPr lang="en-US" sz="3200" b="1" dirty="0">
                <a:solidFill>
                  <a:schemeClr val="dk1"/>
                </a:solidFill>
                <a:latin typeface="Calibri"/>
                <a:ea typeface="Calibri"/>
                <a:cs typeface="Calibri"/>
              </a:rPr>
              <a:t>  Preparing winning business plan</a:t>
            </a:r>
          </a:p>
        </p:txBody>
      </p:sp>
      <p:sp>
        <p:nvSpPr>
          <p:cNvPr id="2" name="TextBox 1">
            <a:extLst>
              <a:ext uri="{FF2B5EF4-FFF2-40B4-BE49-F238E27FC236}">
                <a16:creationId xmlns:a16="http://schemas.microsoft.com/office/drawing/2014/main" id="{A2B727BD-7C5B-8640-BA1D-D844060BCE46}"/>
              </a:ext>
            </a:extLst>
          </p:cNvPr>
          <p:cNvSpPr txBox="1"/>
          <p:nvPr/>
        </p:nvSpPr>
        <p:spPr>
          <a:xfrm>
            <a:off x="8003356" y="914400"/>
            <a:ext cx="3929347" cy="1569660"/>
          </a:xfrm>
          <a:prstGeom prst="rect">
            <a:avLst/>
          </a:prstGeom>
          <a:solidFill>
            <a:schemeClr val="accent6">
              <a:lumMod val="20000"/>
              <a:lumOff val="80000"/>
            </a:schemeClr>
          </a:solidFill>
        </p:spPr>
        <p:txBody>
          <a:bodyPr wrap="square" rtlCol="0">
            <a:spAutoFit/>
          </a:bodyPr>
          <a:lstStyle/>
          <a:p>
            <a:pPr algn="ctr"/>
            <a:r>
              <a:rPr lang="en-US" sz="3600" b="1" dirty="0"/>
              <a:t>Writing a winning business plan</a:t>
            </a:r>
          </a:p>
          <a:p>
            <a:pPr algn="ctr"/>
            <a:r>
              <a:rPr lang="en-US" sz="2400" b="1" dirty="0"/>
              <a:t>- a book by Vaughan Evans </a:t>
            </a:r>
            <a:endParaRPr lang="en-IN" sz="2400" b="1" dirty="0"/>
          </a:p>
        </p:txBody>
      </p:sp>
      <p:sp>
        <p:nvSpPr>
          <p:cNvPr id="4" name="TextBox 3">
            <a:extLst>
              <a:ext uri="{FF2B5EF4-FFF2-40B4-BE49-F238E27FC236}">
                <a16:creationId xmlns:a16="http://schemas.microsoft.com/office/drawing/2014/main" id="{08CF36AD-D7F6-BCDF-A2C0-E4BA2B3975B5}"/>
              </a:ext>
            </a:extLst>
          </p:cNvPr>
          <p:cNvSpPr txBox="1"/>
          <p:nvPr/>
        </p:nvSpPr>
        <p:spPr>
          <a:xfrm>
            <a:off x="6528856" y="6079066"/>
            <a:ext cx="6157912" cy="369332"/>
          </a:xfrm>
          <a:prstGeom prst="rect">
            <a:avLst/>
          </a:prstGeom>
          <a:noFill/>
        </p:spPr>
        <p:txBody>
          <a:bodyPr wrap="square">
            <a:spAutoFit/>
          </a:bodyPr>
          <a:lstStyle/>
          <a:p>
            <a:r>
              <a:rPr lang="en-IN" dirty="0"/>
              <a:t>https://www.15minuteplan.ai/</a:t>
            </a:r>
          </a:p>
        </p:txBody>
      </p:sp>
    </p:spTree>
    <p:extLst>
      <p:ext uri="{BB962C8B-B14F-4D97-AF65-F5344CB8AC3E}">
        <p14:creationId xmlns:p14="http://schemas.microsoft.com/office/powerpoint/2010/main" val="3156202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C16135A9-A680-4D68-A09C-FD75F3B57835}"/>
              </a:ext>
            </a:extLst>
          </p:cNvPr>
          <p:cNvSpPr/>
          <p:nvPr/>
        </p:nvSpPr>
        <p:spPr>
          <a:xfrm>
            <a:off x="6015244" y="3147111"/>
            <a:ext cx="2250292" cy="369332"/>
          </a:xfrm>
          <a:prstGeom prst="rect">
            <a:avLst/>
          </a:prstGeom>
        </p:spPr>
        <p:txBody>
          <a:bodyPr wrap="square">
            <a:spAutoFit/>
          </a:bodyPr>
          <a:lstStyle/>
          <a:p>
            <a:pPr algn="ctr"/>
            <a:r>
              <a:rPr lang="en-US" b="1" i="0" dirty="0">
                <a:solidFill>
                  <a:srgbClr val="E04660"/>
                </a:solidFill>
                <a:effectLst/>
                <a:latin typeface="Open Sans" panose="020B0606030504020204" pitchFamily="34" charset="0"/>
              </a:rPr>
              <a:t>Commencement</a:t>
            </a:r>
            <a:endParaRPr lang="en-US" b="1" dirty="0"/>
          </a:p>
        </p:txBody>
      </p:sp>
      <p:grpSp>
        <p:nvGrpSpPr>
          <p:cNvPr id="2" name="Group 1">
            <a:extLst>
              <a:ext uri="{FF2B5EF4-FFF2-40B4-BE49-F238E27FC236}">
                <a16:creationId xmlns:a16="http://schemas.microsoft.com/office/drawing/2014/main" id="{4CF1DB4A-4771-4205-BE65-6F9C063BCF60}"/>
              </a:ext>
            </a:extLst>
          </p:cNvPr>
          <p:cNvGrpSpPr/>
          <p:nvPr/>
        </p:nvGrpSpPr>
        <p:grpSpPr>
          <a:xfrm>
            <a:off x="1462041" y="35648"/>
            <a:ext cx="9143333" cy="6852169"/>
            <a:chOff x="1529296" y="682861"/>
            <a:chExt cx="7328734" cy="5492278"/>
          </a:xfrm>
        </p:grpSpPr>
        <p:sp>
          <p:nvSpPr>
            <p:cNvPr id="93" name="Circle: Hollow 92">
              <a:extLst>
                <a:ext uri="{FF2B5EF4-FFF2-40B4-BE49-F238E27FC236}">
                  <a16:creationId xmlns:a16="http://schemas.microsoft.com/office/drawing/2014/main" id="{76DBD273-0C40-4C3B-AD86-6BCDC7D334C4}"/>
                </a:ext>
              </a:extLst>
            </p:cNvPr>
            <p:cNvSpPr/>
            <p:nvPr/>
          </p:nvSpPr>
          <p:spPr>
            <a:xfrm flipV="1">
              <a:off x="3627120" y="960120"/>
              <a:ext cx="4937760" cy="4937760"/>
            </a:xfrm>
            <a:prstGeom prst="donut">
              <a:avLst>
                <a:gd name="adj" fmla="val 21215"/>
              </a:avLst>
            </a:prstGeom>
            <a:solidFill>
              <a:srgbClr val="2A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2" name="Freeform: Shape 91">
              <a:extLst>
                <a:ext uri="{FF2B5EF4-FFF2-40B4-BE49-F238E27FC236}">
                  <a16:creationId xmlns:a16="http://schemas.microsoft.com/office/drawing/2014/main" id="{9C384545-E1E4-4134-9568-BC407B22A1C5}"/>
                </a:ext>
              </a:extLst>
            </p:cNvPr>
            <p:cNvSpPr>
              <a:spLocks/>
            </p:cNvSpPr>
            <p:nvPr/>
          </p:nvSpPr>
          <p:spPr bwMode="auto">
            <a:xfrm flipV="1">
              <a:off x="4200499" y="4358976"/>
              <a:ext cx="1836617" cy="1535930"/>
            </a:xfrm>
            <a:custGeom>
              <a:avLst/>
              <a:gdLst>
                <a:gd name="connsiteX0" fmla="*/ 1836617 w 1836617"/>
                <a:gd name="connsiteY0" fmla="*/ 0 h 1535930"/>
                <a:gd name="connsiteX1" fmla="*/ 1836617 w 1836617"/>
                <a:gd name="connsiteY1" fmla="*/ 1047545 h 1535930"/>
                <a:gd name="connsiteX2" fmla="*/ 1750179 w 1836617"/>
                <a:gd name="connsiteY2" fmla="*/ 1051910 h 1535930"/>
                <a:gd name="connsiteX3" fmla="*/ 890467 w 1836617"/>
                <a:gd name="connsiteY3" fmla="*/ 1460871 h 1535930"/>
                <a:gd name="connsiteX4" fmla="*/ 822250 w 1836617"/>
                <a:gd name="connsiteY4" fmla="*/ 1535930 h 1535930"/>
                <a:gd name="connsiteX5" fmla="*/ 0 w 1836617"/>
                <a:gd name="connsiteY5" fmla="*/ 884899 h 1535930"/>
                <a:gd name="connsiteX6" fmla="*/ 149740 w 1836617"/>
                <a:gd name="connsiteY6" fmla="*/ 720144 h 1535930"/>
                <a:gd name="connsiteX7" fmla="*/ 1643073 w 1836617"/>
                <a:gd name="connsiteY7" fmla="*/ 9773 h 1535930"/>
                <a:gd name="connsiteX8" fmla="*/ 1836617 w 1836617"/>
                <a:gd name="connsiteY8" fmla="*/ 0 h 153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617" h="1535930">
                  <a:moveTo>
                    <a:pt x="1836617" y="0"/>
                  </a:moveTo>
                  <a:lnTo>
                    <a:pt x="1836617" y="1047545"/>
                  </a:lnTo>
                  <a:lnTo>
                    <a:pt x="1750179" y="1051910"/>
                  </a:lnTo>
                  <a:cubicBezTo>
                    <a:pt x="1415711" y="1085877"/>
                    <a:pt x="1115527" y="1235812"/>
                    <a:pt x="890467" y="1460871"/>
                  </a:cubicBezTo>
                  <a:lnTo>
                    <a:pt x="822250" y="1535930"/>
                  </a:lnTo>
                  <a:lnTo>
                    <a:pt x="0" y="884899"/>
                  </a:lnTo>
                  <a:lnTo>
                    <a:pt x="149740" y="720144"/>
                  </a:lnTo>
                  <a:cubicBezTo>
                    <a:pt x="540672" y="329212"/>
                    <a:pt x="1062098" y="68774"/>
                    <a:pt x="1643073" y="9773"/>
                  </a:cubicBezTo>
                  <a:lnTo>
                    <a:pt x="1836617" y="0"/>
                  </a:lnTo>
                  <a:close/>
                </a:path>
              </a:pathLst>
            </a:custGeom>
            <a:solidFill>
              <a:srgbClr val="DF425D"/>
            </a:solidFill>
            <a:ln>
              <a:noFill/>
            </a:ln>
          </p:spPr>
          <p:txBody>
            <a:bodyPr vert="horz" wrap="square" lIns="91440" tIns="45720" rIns="91440" bIns="45720" numCol="1" anchor="t" anchorCtr="0" compatLnSpc="1">
              <a:prstTxWarp prst="textNoShape">
                <a:avLst/>
              </a:prstTxWarp>
              <a:noAutofit/>
            </a:bodyPr>
            <a:lstStyle/>
            <a:p>
              <a:endParaRPr lang="en-US" sz="1000"/>
            </a:p>
          </p:txBody>
        </p:sp>
        <p:sp>
          <p:nvSpPr>
            <p:cNvPr id="91" name="Freeform: Shape 90">
              <a:extLst>
                <a:ext uri="{FF2B5EF4-FFF2-40B4-BE49-F238E27FC236}">
                  <a16:creationId xmlns:a16="http://schemas.microsoft.com/office/drawing/2014/main" id="{BADD1461-1B35-440B-B221-CB95A3FBA29E}"/>
                </a:ext>
              </a:extLst>
            </p:cNvPr>
            <p:cNvSpPr>
              <a:spLocks/>
            </p:cNvSpPr>
            <p:nvPr/>
          </p:nvSpPr>
          <p:spPr bwMode="auto">
            <a:xfrm flipV="1">
              <a:off x="6154886" y="4358974"/>
              <a:ext cx="1836616" cy="1535931"/>
            </a:xfrm>
            <a:custGeom>
              <a:avLst/>
              <a:gdLst>
                <a:gd name="connsiteX0" fmla="*/ 0 w 1836616"/>
                <a:gd name="connsiteY0" fmla="*/ 0 h 1535931"/>
                <a:gd name="connsiteX1" fmla="*/ 193543 w 1836616"/>
                <a:gd name="connsiteY1" fmla="*/ 9773 h 1535931"/>
                <a:gd name="connsiteX2" fmla="*/ 1686876 w 1836616"/>
                <a:gd name="connsiteY2" fmla="*/ 720144 h 1535931"/>
                <a:gd name="connsiteX3" fmla="*/ 1836616 w 1836616"/>
                <a:gd name="connsiteY3" fmla="*/ 884900 h 1535931"/>
                <a:gd name="connsiteX4" fmla="*/ 1014367 w 1836616"/>
                <a:gd name="connsiteY4" fmla="*/ 1535931 h 1535931"/>
                <a:gd name="connsiteX5" fmla="*/ 946149 w 1836616"/>
                <a:gd name="connsiteY5" fmla="*/ 1460871 h 1535931"/>
                <a:gd name="connsiteX6" fmla="*/ 86437 w 1836616"/>
                <a:gd name="connsiteY6" fmla="*/ 1051910 h 1535931"/>
                <a:gd name="connsiteX7" fmla="*/ 0 w 1836616"/>
                <a:gd name="connsiteY7" fmla="*/ 1047546 h 1535931"/>
                <a:gd name="connsiteX8" fmla="*/ 0 w 1836616"/>
                <a:gd name="connsiteY8" fmla="*/ 0 h 1535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616" h="1535931">
                  <a:moveTo>
                    <a:pt x="0" y="0"/>
                  </a:moveTo>
                  <a:lnTo>
                    <a:pt x="193543" y="9773"/>
                  </a:lnTo>
                  <a:cubicBezTo>
                    <a:pt x="774519" y="68774"/>
                    <a:pt x="1295944" y="329212"/>
                    <a:pt x="1686876" y="720144"/>
                  </a:cubicBezTo>
                  <a:lnTo>
                    <a:pt x="1836616" y="884900"/>
                  </a:lnTo>
                  <a:lnTo>
                    <a:pt x="1014367" y="1535931"/>
                  </a:lnTo>
                  <a:lnTo>
                    <a:pt x="946149" y="1460871"/>
                  </a:lnTo>
                  <a:cubicBezTo>
                    <a:pt x="721090" y="1235812"/>
                    <a:pt x="420905" y="1085877"/>
                    <a:pt x="86437" y="1051910"/>
                  </a:cubicBezTo>
                  <a:lnTo>
                    <a:pt x="0" y="1047546"/>
                  </a:lnTo>
                  <a:lnTo>
                    <a:pt x="0" y="0"/>
                  </a:lnTo>
                  <a:close/>
                </a:path>
              </a:pathLst>
            </a:custGeom>
            <a:solidFill>
              <a:srgbClr val="C14265"/>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90" name="Freeform: Shape 89">
              <a:extLst>
                <a:ext uri="{FF2B5EF4-FFF2-40B4-BE49-F238E27FC236}">
                  <a16:creationId xmlns:a16="http://schemas.microsoft.com/office/drawing/2014/main" id="{2E7AD96F-BE5E-4DAF-8C16-7F6A937D6875}"/>
                </a:ext>
              </a:extLst>
            </p:cNvPr>
            <p:cNvSpPr>
              <a:spLocks/>
            </p:cNvSpPr>
            <p:nvPr/>
          </p:nvSpPr>
          <p:spPr bwMode="auto">
            <a:xfrm flipV="1">
              <a:off x="3627120" y="2941845"/>
              <a:ext cx="1323464" cy="1976499"/>
            </a:xfrm>
            <a:custGeom>
              <a:avLst/>
              <a:gdLst>
                <a:gd name="connsiteX0" fmla="*/ 503133 w 1323464"/>
                <a:gd name="connsiteY0" fmla="*/ 0 h 1976499"/>
                <a:gd name="connsiteX1" fmla="*/ 1323464 w 1323464"/>
                <a:gd name="connsiteY1" fmla="*/ 650299 h 1976499"/>
                <a:gd name="connsiteX2" fmla="*/ 1290288 w 1323464"/>
                <a:gd name="connsiteY2" fmla="*/ 694664 h 1976499"/>
                <a:gd name="connsiteX3" fmla="*/ 1047546 w 1323464"/>
                <a:gd name="connsiteY3" fmla="*/ 1489345 h 1976499"/>
                <a:gd name="connsiteX4" fmla="*/ 1054884 w 1323464"/>
                <a:gd name="connsiteY4" fmla="*/ 1634668 h 1976499"/>
                <a:gd name="connsiteX5" fmla="*/ 1071290 w 1323464"/>
                <a:gd name="connsiteY5" fmla="*/ 1742166 h 1976499"/>
                <a:gd name="connsiteX6" fmla="*/ 48570 w 1323464"/>
                <a:gd name="connsiteY6" fmla="*/ 1976499 h 1976499"/>
                <a:gd name="connsiteX7" fmla="*/ 12747 w 1323464"/>
                <a:gd name="connsiteY7" fmla="*/ 1741774 h 1976499"/>
                <a:gd name="connsiteX8" fmla="*/ 0 w 1323464"/>
                <a:gd name="connsiteY8" fmla="*/ 1489345 h 1976499"/>
                <a:gd name="connsiteX9" fmla="*/ 421646 w 1323464"/>
                <a:gd name="connsiteY9" fmla="*/ 108971 h 1976499"/>
                <a:gd name="connsiteX10" fmla="*/ 503133 w 1323464"/>
                <a:gd name="connsiteY10" fmla="*/ 0 h 1976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3464" h="1976499">
                  <a:moveTo>
                    <a:pt x="503133" y="0"/>
                  </a:moveTo>
                  <a:lnTo>
                    <a:pt x="1323464" y="650299"/>
                  </a:lnTo>
                  <a:lnTo>
                    <a:pt x="1290288" y="694664"/>
                  </a:lnTo>
                  <a:cubicBezTo>
                    <a:pt x="1137033" y="921510"/>
                    <a:pt x="1047546" y="1194977"/>
                    <a:pt x="1047546" y="1489345"/>
                  </a:cubicBezTo>
                  <a:cubicBezTo>
                    <a:pt x="1047546" y="1538406"/>
                    <a:pt x="1050032" y="1586887"/>
                    <a:pt x="1054884" y="1634668"/>
                  </a:cubicBezTo>
                  <a:lnTo>
                    <a:pt x="1071290" y="1742166"/>
                  </a:lnTo>
                  <a:lnTo>
                    <a:pt x="48570" y="1976499"/>
                  </a:lnTo>
                  <a:lnTo>
                    <a:pt x="12747" y="1741774"/>
                  </a:lnTo>
                  <a:cubicBezTo>
                    <a:pt x="4318" y="1658777"/>
                    <a:pt x="0" y="1574565"/>
                    <a:pt x="0" y="1489345"/>
                  </a:cubicBezTo>
                  <a:cubicBezTo>
                    <a:pt x="0" y="978023"/>
                    <a:pt x="155440" y="503007"/>
                    <a:pt x="421646" y="108971"/>
                  </a:cubicBezTo>
                  <a:lnTo>
                    <a:pt x="503133" y="0"/>
                  </a:lnTo>
                  <a:close/>
                </a:path>
              </a:pathLst>
            </a:custGeom>
            <a:solidFill>
              <a:srgbClr val="FD5746"/>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89" name="Freeform: Shape 88">
              <a:extLst>
                <a:ext uri="{FF2B5EF4-FFF2-40B4-BE49-F238E27FC236}">
                  <a16:creationId xmlns:a16="http://schemas.microsoft.com/office/drawing/2014/main" id="{38813959-F7B0-4C0C-BD5C-024FDFD7427D}"/>
                </a:ext>
              </a:extLst>
            </p:cNvPr>
            <p:cNvSpPr>
              <a:spLocks/>
            </p:cNvSpPr>
            <p:nvPr/>
          </p:nvSpPr>
          <p:spPr bwMode="auto">
            <a:xfrm flipV="1">
              <a:off x="7241418" y="2941846"/>
              <a:ext cx="1323463" cy="1976497"/>
            </a:xfrm>
            <a:custGeom>
              <a:avLst/>
              <a:gdLst>
                <a:gd name="connsiteX0" fmla="*/ 820331 w 1323463"/>
                <a:gd name="connsiteY0" fmla="*/ 0 h 1976497"/>
                <a:gd name="connsiteX1" fmla="*/ 901817 w 1323463"/>
                <a:gd name="connsiteY1" fmla="*/ 108970 h 1976497"/>
                <a:gd name="connsiteX2" fmla="*/ 1323463 w 1323463"/>
                <a:gd name="connsiteY2" fmla="*/ 1489344 h 1976497"/>
                <a:gd name="connsiteX3" fmla="*/ 1310716 w 1323463"/>
                <a:gd name="connsiteY3" fmla="*/ 1741773 h 1976497"/>
                <a:gd name="connsiteX4" fmla="*/ 1274893 w 1323463"/>
                <a:gd name="connsiteY4" fmla="*/ 1976497 h 1976497"/>
                <a:gd name="connsiteX5" fmla="*/ 252173 w 1323463"/>
                <a:gd name="connsiteY5" fmla="*/ 1742165 h 1976497"/>
                <a:gd name="connsiteX6" fmla="*/ 268579 w 1323463"/>
                <a:gd name="connsiteY6" fmla="*/ 1634667 h 1976497"/>
                <a:gd name="connsiteX7" fmla="*/ 275917 w 1323463"/>
                <a:gd name="connsiteY7" fmla="*/ 1489344 h 1976497"/>
                <a:gd name="connsiteX8" fmla="*/ 33175 w 1323463"/>
                <a:gd name="connsiteY8" fmla="*/ 694663 h 1976497"/>
                <a:gd name="connsiteX9" fmla="*/ 0 w 1323463"/>
                <a:gd name="connsiteY9" fmla="*/ 650298 h 1976497"/>
                <a:gd name="connsiteX10" fmla="*/ 820331 w 1323463"/>
                <a:gd name="connsiteY10" fmla="*/ 0 h 197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3463" h="1976497">
                  <a:moveTo>
                    <a:pt x="820331" y="0"/>
                  </a:moveTo>
                  <a:lnTo>
                    <a:pt x="901817" y="108970"/>
                  </a:lnTo>
                  <a:cubicBezTo>
                    <a:pt x="1168023" y="503006"/>
                    <a:pt x="1323463" y="978022"/>
                    <a:pt x="1323463" y="1489344"/>
                  </a:cubicBezTo>
                  <a:cubicBezTo>
                    <a:pt x="1323463" y="1574564"/>
                    <a:pt x="1319145" y="1658776"/>
                    <a:pt x="1310716" y="1741773"/>
                  </a:cubicBezTo>
                  <a:lnTo>
                    <a:pt x="1274893" y="1976497"/>
                  </a:lnTo>
                  <a:lnTo>
                    <a:pt x="252173" y="1742165"/>
                  </a:lnTo>
                  <a:lnTo>
                    <a:pt x="268579" y="1634667"/>
                  </a:lnTo>
                  <a:cubicBezTo>
                    <a:pt x="273431" y="1586886"/>
                    <a:pt x="275917" y="1538405"/>
                    <a:pt x="275917" y="1489344"/>
                  </a:cubicBezTo>
                  <a:cubicBezTo>
                    <a:pt x="275917" y="1194976"/>
                    <a:pt x="186430" y="921509"/>
                    <a:pt x="33175" y="694663"/>
                  </a:cubicBezTo>
                  <a:lnTo>
                    <a:pt x="0" y="650298"/>
                  </a:lnTo>
                  <a:lnTo>
                    <a:pt x="820331" y="0"/>
                  </a:lnTo>
                  <a:close/>
                </a:path>
              </a:pathLst>
            </a:custGeom>
            <a:solidFill>
              <a:srgbClr val="9D3D6B"/>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7" name="Freeform: Shape 76">
              <a:extLst>
                <a:ext uri="{FF2B5EF4-FFF2-40B4-BE49-F238E27FC236}">
                  <a16:creationId xmlns:a16="http://schemas.microsoft.com/office/drawing/2014/main" id="{5828805E-1FA6-44FB-9891-2BF63940A59F}"/>
                </a:ext>
              </a:extLst>
            </p:cNvPr>
            <p:cNvSpPr>
              <a:spLocks/>
            </p:cNvSpPr>
            <p:nvPr/>
          </p:nvSpPr>
          <p:spPr bwMode="auto">
            <a:xfrm flipV="1">
              <a:off x="3702661" y="1235466"/>
              <a:ext cx="1721558" cy="1827951"/>
            </a:xfrm>
            <a:custGeom>
              <a:avLst/>
              <a:gdLst>
                <a:gd name="connsiteX0" fmla="*/ 1021228 w 1721558"/>
                <a:gd name="connsiteY0" fmla="*/ 0 h 1827951"/>
                <a:gd name="connsiteX1" fmla="*/ 1035905 w 1721558"/>
                <a:gd name="connsiteY1" fmla="*/ 57079 h 1827951"/>
                <a:gd name="connsiteX2" fmla="*/ 1715847 w 1721558"/>
                <a:gd name="connsiteY2" fmla="*/ 884205 h 1827951"/>
                <a:gd name="connsiteX3" fmla="*/ 1721558 w 1721558"/>
                <a:gd name="connsiteY3" fmla="*/ 886957 h 1827951"/>
                <a:gd name="connsiteX4" fmla="*/ 1263508 w 1721558"/>
                <a:gd name="connsiteY4" fmla="*/ 1827951 h 1827951"/>
                <a:gd name="connsiteX5" fmla="*/ 1216524 w 1721558"/>
                <a:gd name="connsiteY5" fmla="*/ 1805318 h 1827951"/>
                <a:gd name="connsiteX6" fmla="*/ 35455 w 1721558"/>
                <a:gd name="connsiteY6" fmla="*/ 368587 h 1827951"/>
                <a:gd name="connsiteX7" fmla="*/ 0 w 1721558"/>
                <a:gd name="connsiteY7" fmla="*/ 230696 h 1827951"/>
                <a:gd name="connsiteX8" fmla="*/ 1021228 w 1721558"/>
                <a:gd name="connsiteY8" fmla="*/ 0 h 1827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1558" h="1827951">
                  <a:moveTo>
                    <a:pt x="1021228" y="0"/>
                  </a:moveTo>
                  <a:lnTo>
                    <a:pt x="1035905" y="57079"/>
                  </a:lnTo>
                  <a:cubicBezTo>
                    <a:pt x="1146648" y="413129"/>
                    <a:pt x="1393617" y="709159"/>
                    <a:pt x="1715847" y="884205"/>
                  </a:cubicBezTo>
                  <a:lnTo>
                    <a:pt x="1721558" y="886957"/>
                  </a:lnTo>
                  <a:lnTo>
                    <a:pt x="1263508" y="1827951"/>
                  </a:lnTo>
                  <a:lnTo>
                    <a:pt x="1216524" y="1805318"/>
                  </a:lnTo>
                  <a:cubicBezTo>
                    <a:pt x="656806" y="1501261"/>
                    <a:pt x="227817" y="987051"/>
                    <a:pt x="35455" y="368587"/>
                  </a:cubicBezTo>
                  <a:lnTo>
                    <a:pt x="0" y="230696"/>
                  </a:lnTo>
                  <a:lnTo>
                    <a:pt x="1021228" y="0"/>
                  </a:lnTo>
                  <a:close/>
                </a:path>
              </a:pathLst>
            </a:custGeom>
            <a:solidFill>
              <a:srgbClr val="FE7344"/>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6" name="Freeform: Shape 75">
              <a:extLst>
                <a:ext uri="{FF2B5EF4-FFF2-40B4-BE49-F238E27FC236}">
                  <a16:creationId xmlns:a16="http://schemas.microsoft.com/office/drawing/2014/main" id="{6877A4FE-EEFC-4B72-82F6-45FC32470A46}"/>
                </a:ext>
              </a:extLst>
            </p:cNvPr>
            <p:cNvSpPr>
              <a:spLocks/>
            </p:cNvSpPr>
            <p:nvPr/>
          </p:nvSpPr>
          <p:spPr bwMode="auto">
            <a:xfrm flipV="1">
              <a:off x="6767781" y="1234825"/>
              <a:ext cx="1721515" cy="1827146"/>
            </a:xfrm>
            <a:custGeom>
              <a:avLst/>
              <a:gdLst>
                <a:gd name="connsiteX0" fmla="*/ 700123 w 1721515"/>
                <a:gd name="connsiteY0" fmla="*/ 0 h 1827146"/>
                <a:gd name="connsiteX1" fmla="*/ 1721515 w 1721515"/>
                <a:gd name="connsiteY1" fmla="*/ 230061 h 1827146"/>
                <a:gd name="connsiteX2" fmla="*/ 1686103 w 1721515"/>
                <a:gd name="connsiteY2" fmla="*/ 367782 h 1827146"/>
                <a:gd name="connsiteX3" fmla="*/ 505034 w 1721515"/>
                <a:gd name="connsiteY3" fmla="*/ 1804513 h 1827146"/>
                <a:gd name="connsiteX4" fmla="*/ 458050 w 1721515"/>
                <a:gd name="connsiteY4" fmla="*/ 1827146 h 1827146"/>
                <a:gd name="connsiteX5" fmla="*/ 0 w 1721515"/>
                <a:gd name="connsiteY5" fmla="*/ 886152 h 1827146"/>
                <a:gd name="connsiteX6" fmla="*/ 5711 w 1721515"/>
                <a:gd name="connsiteY6" fmla="*/ 883400 h 1827146"/>
                <a:gd name="connsiteX7" fmla="*/ 685653 w 1721515"/>
                <a:gd name="connsiteY7" fmla="*/ 56274 h 1827146"/>
                <a:gd name="connsiteX8" fmla="*/ 700123 w 1721515"/>
                <a:gd name="connsiteY8" fmla="*/ 0 h 182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1515" h="1827146">
                  <a:moveTo>
                    <a:pt x="700123" y="0"/>
                  </a:moveTo>
                  <a:lnTo>
                    <a:pt x="1721515" y="230061"/>
                  </a:lnTo>
                  <a:lnTo>
                    <a:pt x="1686103" y="367782"/>
                  </a:lnTo>
                  <a:cubicBezTo>
                    <a:pt x="1493741" y="986246"/>
                    <a:pt x="1064752" y="1500456"/>
                    <a:pt x="505034" y="1804513"/>
                  </a:cubicBezTo>
                  <a:lnTo>
                    <a:pt x="458050" y="1827146"/>
                  </a:lnTo>
                  <a:lnTo>
                    <a:pt x="0" y="886152"/>
                  </a:lnTo>
                  <a:lnTo>
                    <a:pt x="5711" y="883400"/>
                  </a:lnTo>
                  <a:cubicBezTo>
                    <a:pt x="327941" y="708354"/>
                    <a:pt x="574910" y="412324"/>
                    <a:pt x="685653" y="56274"/>
                  </a:cubicBezTo>
                  <a:lnTo>
                    <a:pt x="700123" y="0"/>
                  </a:lnTo>
                  <a:close/>
                </a:path>
              </a:pathLst>
            </a:custGeom>
            <a:solidFill>
              <a:srgbClr val="703357"/>
            </a:solidFill>
            <a:ln>
              <a:noFill/>
            </a:ln>
          </p:spPr>
          <p:txBody>
            <a:bodyPr vert="horz" wrap="square" lIns="91440" tIns="45720" rIns="91440" bIns="45720" numCol="1" anchor="t" anchorCtr="0" compatLnSpc="1">
              <a:prstTxWarp prst="textNoShape">
                <a:avLst/>
              </a:prstTxWarp>
              <a:noAutofit/>
            </a:bodyPr>
            <a:lstStyle/>
            <a:p>
              <a:endParaRPr lang="en-US" sz="1000"/>
            </a:p>
          </p:txBody>
        </p:sp>
        <p:sp>
          <p:nvSpPr>
            <p:cNvPr id="72" name="Freeform: Shape 71">
              <a:extLst>
                <a:ext uri="{FF2B5EF4-FFF2-40B4-BE49-F238E27FC236}">
                  <a16:creationId xmlns:a16="http://schemas.microsoft.com/office/drawing/2014/main" id="{C8FDD025-0ACF-4AE4-B96D-EC9CD8BC073C}"/>
                </a:ext>
              </a:extLst>
            </p:cNvPr>
            <p:cNvSpPr>
              <a:spLocks/>
            </p:cNvSpPr>
            <p:nvPr/>
          </p:nvSpPr>
          <p:spPr bwMode="auto">
            <a:xfrm flipV="1">
              <a:off x="5070429" y="960119"/>
              <a:ext cx="2051144" cy="1166871"/>
            </a:xfrm>
            <a:custGeom>
              <a:avLst/>
              <a:gdLst>
                <a:gd name="connsiteX0" fmla="*/ 1594659 w 2051144"/>
                <a:gd name="connsiteY0" fmla="*/ 0 h 1166871"/>
                <a:gd name="connsiteX1" fmla="*/ 2051144 w 2051144"/>
                <a:gd name="connsiteY1" fmla="*/ 941748 h 1166871"/>
                <a:gd name="connsiteX2" fmla="*/ 1986571 w 2051144"/>
                <a:gd name="connsiteY2" fmla="*/ 972854 h 1166871"/>
                <a:gd name="connsiteX3" fmla="*/ 1025571 w 2051144"/>
                <a:gd name="connsiteY3" fmla="*/ 1166871 h 1166871"/>
                <a:gd name="connsiteX4" fmla="*/ 64571 w 2051144"/>
                <a:gd name="connsiteY4" fmla="*/ 972854 h 1166871"/>
                <a:gd name="connsiteX5" fmla="*/ 0 w 2051144"/>
                <a:gd name="connsiteY5" fmla="*/ 941749 h 1166871"/>
                <a:gd name="connsiteX6" fmla="*/ 456485 w 2051144"/>
                <a:gd name="connsiteY6" fmla="*/ 0 h 1166871"/>
                <a:gd name="connsiteX7" fmla="*/ 472324 w 2051144"/>
                <a:gd name="connsiteY7" fmla="*/ 7630 h 1166871"/>
                <a:gd name="connsiteX8" fmla="*/ 1025571 w 2051144"/>
                <a:gd name="connsiteY8" fmla="*/ 119325 h 1166871"/>
                <a:gd name="connsiteX9" fmla="*/ 1578818 w 2051144"/>
                <a:gd name="connsiteY9" fmla="*/ 7630 h 1166871"/>
                <a:gd name="connsiteX10" fmla="*/ 1594659 w 2051144"/>
                <a:gd name="connsiteY10" fmla="*/ 0 h 1166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51144" h="1166871">
                  <a:moveTo>
                    <a:pt x="1594659" y="0"/>
                  </a:moveTo>
                  <a:lnTo>
                    <a:pt x="2051144" y="941748"/>
                  </a:lnTo>
                  <a:lnTo>
                    <a:pt x="1986571" y="972854"/>
                  </a:lnTo>
                  <a:cubicBezTo>
                    <a:pt x="1691198" y="1097787"/>
                    <a:pt x="1366452" y="1166871"/>
                    <a:pt x="1025571" y="1166871"/>
                  </a:cubicBezTo>
                  <a:cubicBezTo>
                    <a:pt x="684690" y="1166871"/>
                    <a:pt x="359944" y="1097787"/>
                    <a:pt x="64571" y="972854"/>
                  </a:cubicBezTo>
                  <a:lnTo>
                    <a:pt x="0" y="941749"/>
                  </a:lnTo>
                  <a:lnTo>
                    <a:pt x="456485" y="0"/>
                  </a:lnTo>
                  <a:lnTo>
                    <a:pt x="472324" y="7630"/>
                  </a:lnTo>
                  <a:cubicBezTo>
                    <a:pt x="642370" y="79553"/>
                    <a:pt x="829326" y="119325"/>
                    <a:pt x="1025571" y="119325"/>
                  </a:cubicBezTo>
                  <a:cubicBezTo>
                    <a:pt x="1221816" y="119325"/>
                    <a:pt x="1408772" y="79553"/>
                    <a:pt x="1578818" y="7630"/>
                  </a:cubicBezTo>
                  <a:lnTo>
                    <a:pt x="1594659" y="0"/>
                  </a:lnTo>
                  <a:close/>
                </a:path>
              </a:pathLst>
            </a:custGeom>
            <a:solidFill>
              <a:srgbClr val="FFA219"/>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1" name="Freeform: Shape 70">
              <a:extLst>
                <a:ext uri="{FF2B5EF4-FFF2-40B4-BE49-F238E27FC236}">
                  <a16:creationId xmlns:a16="http://schemas.microsoft.com/office/drawing/2014/main" id="{A34BFA36-713B-4E8F-96B2-A298780D1969}"/>
                </a:ext>
              </a:extLst>
            </p:cNvPr>
            <p:cNvSpPr>
              <a:spLocks/>
            </p:cNvSpPr>
            <p:nvPr/>
          </p:nvSpPr>
          <p:spPr bwMode="auto">
            <a:xfrm flipV="1">
              <a:off x="3982651" y="5010007"/>
              <a:ext cx="2054464" cy="1165132"/>
            </a:xfrm>
            <a:custGeom>
              <a:avLst/>
              <a:gdLst>
                <a:gd name="connsiteX0" fmla="*/ 2054464 w 2054464"/>
                <a:gd name="connsiteY0" fmla="*/ 0 h 1165132"/>
                <a:gd name="connsiteX1" fmla="*/ 2054464 w 2054464"/>
                <a:gd name="connsiteY1" fmla="*/ 280233 h 1165132"/>
                <a:gd name="connsiteX2" fmla="*/ 1860920 w 2054464"/>
                <a:gd name="connsiteY2" fmla="*/ 290006 h 1165132"/>
                <a:gd name="connsiteX3" fmla="*/ 367587 w 2054464"/>
                <a:gd name="connsiteY3" fmla="*/ 1000377 h 1165132"/>
                <a:gd name="connsiteX4" fmla="*/ 217847 w 2054464"/>
                <a:gd name="connsiteY4" fmla="*/ 1165132 h 1165132"/>
                <a:gd name="connsiteX5" fmla="*/ 0 w 2054464"/>
                <a:gd name="connsiteY5" fmla="*/ 992648 h 1165132"/>
                <a:gd name="connsiteX6" fmla="*/ 198156 w 2054464"/>
                <a:gd name="connsiteY6" fmla="*/ 768321 h 1165132"/>
                <a:gd name="connsiteX7" fmla="*/ 416875 w 2054464"/>
                <a:gd name="connsiteY7" fmla="*/ 570165 h 1165132"/>
                <a:gd name="connsiteX8" fmla="*/ 532777 w 2054464"/>
                <a:gd name="connsiteY8" fmla="*/ 482304 h 1165132"/>
                <a:gd name="connsiteX9" fmla="*/ 656157 w 2054464"/>
                <a:gd name="connsiteY9" fmla="*/ 400050 h 1165132"/>
                <a:gd name="connsiteX10" fmla="*/ 785146 w 2054464"/>
                <a:gd name="connsiteY10" fmla="*/ 325275 h 1165132"/>
                <a:gd name="connsiteX11" fmla="*/ 916003 w 2054464"/>
                <a:gd name="connsiteY11" fmla="*/ 263585 h 1165132"/>
                <a:gd name="connsiteX12" fmla="*/ 1044991 w 2054464"/>
                <a:gd name="connsiteY12" fmla="*/ 203764 h 1165132"/>
                <a:gd name="connsiteX13" fmla="*/ 1188935 w 2054464"/>
                <a:gd name="connsiteY13" fmla="*/ 149552 h 1165132"/>
                <a:gd name="connsiteX14" fmla="*/ 1325401 w 2054464"/>
                <a:gd name="connsiteY14" fmla="*/ 108425 h 1165132"/>
                <a:gd name="connsiteX15" fmla="*/ 1467474 w 2054464"/>
                <a:gd name="connsiteY15" fmla="*/ 67298 h 1165132"/>
                <a:gd name="connsiteX16" fmla="*/ 1611418 w 2054464"/>
                <a:gd name="connsiteY16" fmla="*/ 39257 h 1165132"/>
                <a:gd name="connsiteX17" fmla="*/ 1755361 w 2054464"/>
                <a:gd name="connsiteY17" fmla="*/ 20563 h 1165132"/>
                <a:gd name="connsiteX18" fmla="*/ 1904913 w 2054464"/>
                <a:gd name="connsiteY18" fmla="*/ 5608 h 1165132"/>
                <a:gd name="connsiteX19" fmla="*/ 2054464 w 2054464"/>
                <a:gd name="connsiteY19" fmla="*/ 0 h 1165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464" h="1165132">
                  <a:moveTo>
                    <a:pt x="2054464" y="0"/>
                  </a:moveTo>
                  <a:lnTo>
                    <a:pt x="2054464" y="280233"/>
                  </a:lnTo>
                  <a:lnTo>
                    <a:pt x="1860920" y="290006"/>
                  </a:lnTo>
                  <a:cubicBezTo>
                    <a:pt x="1279945" y="349007"/>
                    <a:pt x="758519" y="609445"/>
                    <a:pt x="367587" y="1000377"/>
                  </a:cubicBezTo>
                  <a:lnTo>
                    <a:pt x="217847" y="1165132"/>
                  </a:lnTo>
                  <a:lnTo>
                    <a:pt x="0" y="992648"/>
                  </a:lnTo>
                  <a:lnTo>
                    <a:pt x="198156" y="768321"/>
                  </a:lnTo>
                  <a:lnTo>
                    <a:pt x="416875" y="570165"/>
                  </a:lnTo>
                  <a:lnTo>
                    <a:pt x="532777" y="482304"/>
                  </a:lnTo>
                  <a:lnTo>
                    <a:pt x="656157" y="400050"/>
                  </a:lnTo>
                  <a:lnTo>
                    <a:pt x="785146" y="325275"/>
                  </a:lnTo>
                  <a:lnTo>
                    <a:pt x="916003" y="263585"/>
                  </a:lnTo>
                  <a:lnTo>
                    <a:pt x="1044991" y="203764"/>
                  </a:lnTo>
                  <a:lnTo>
                    <a:pt x="1188935" y="149552"/>
                  </a:lnTo>
                  <a:lnTo>
                    <a:pt x="1325401" y="108425"/>
                  </a:lnTo>
                  <a:lnTo>
                    <a:pt x="1467474" y="67298"/>
                  </a:lnTo>
                  <a:lnTo>
                    <a:pt x="1611418" y="39257"/>
                  </a:lnTo>
                  <a:lnTo>
                    <a:pt x="1755361" y="20563"/>
                  </a:lnTo>
                  <a:lnTo>
                    <a:pt x="1904913" y="5608"/>
                  </a:lnTo>
                  <a:lnTo>
                    <a:pt x="2054464" y="0"/>
                  </a:lnTo>
                  <a:close/>
                </a:path>
              </a:pathLst>
            </a:custGeom>
            <a:solidFill>
              <a:srgbClr val="DF425D">
                <a:alpha val="80000"/>
              </a:srgb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0" name="Freeform: Shape 69">
              <a:extLst>
                <a:ext uri="{FF2B5EF4-FFF2-40B4-BE49-F238E27FC236}">
                  <a16:creationId xmlns:a16="http://schemas.microsoft.com/office/drawing/2014/main" id="{F773AD19-F950-4FC5-A8ED-E095559D60A9}"/>
                </a:ext>
              </a:extLst>
            </p:cNvPr>
            <p:cNvSpPr>
              <a:spLocks/>
            </p:cNvSpPr>
            <p:nvPr/>
          </p:nvSpPr>
          <p:spPr bwMode="auto">
            <a:xfrm flipV="1">
              <a:off x="6154886" y="5010005"/>
              <a:ext cx="2054464" cy="1165133"/>
            </a:xfrm>
            <a:custGeom>
              <a:avLst/>
              <a:gdLst>
                <a:gd name="connsiteX0" fmla="*/ 0 w 2054464"/>
                <a:gd name="connsiteY0" fmla="*/ 0 h 1165133"/>
                <a:gd name="connsiteX1" fmla="*/ 149552 w 2054464"/>
                <a:gd name="connsiteY1" fmla="*/ 5608 h 1165133"/>
                <a:gd name="connsiteX2" fmla="*/ 293495 w 2054464"/>
                <a:gd name="connsiteY2" fmla="*/ 20563 h 1165133"/>
                <a:gd name="connsiteX3" fmla="*/ 443047 w 2054464"/>
                <a:gd name="connsiteY3" fmla="*/ 39257 h 1165133"/>
                <a:gd name="connsiteX4" fmla="*/ 586990 w 2054464"/>
                <a:gd name="connsiteY4" fmla="*/ 67298 h 1165133"/>
                <a:gd name="connsiteX5" fmla="*/ 729064 w 2054464"/>
                <a:gd name="connsiteY5" fmla="*/ 108425 h 1165133"/>
                <a:gd name="connsiteX6" fmla="*/ 865530 w 2054464"/>
                <a:gd name="connsiteY6" fmla="*/ 149552 h 1165133"/>
                <a:gd name="connsiteX7" fmla="*/ 1001995 w 2054464"/>
                <a:gd name="connsiteY7" fmla="*/ 203764 h 1165133"/>
                <a:gd name="connsiteX8" fmla="*/ 1138461 w 2054464"/>
                <a:gd name="connsiteY8" fmla="*/ 263585 h 1165133"/>
                <a:gd name="connsiteX9" fmla="*/ 1269319 w 2054464"/>
                <a:gd name="connsiteY9" fmla="*/ 325275 h 1165133"/>
                <a:gd name="connsiteX10" fmla="*/ 1398307 w 2054464"/>
                <a:gd name="connsiteY10" fmla="*/ 400050 h 1165133"/>
                <a:gd name="connsiteX11" fmla="*/ 1514209 w 2054464"/>
                <a:gd name="connsiteY11" fmla="*/ 482304 h 1165133"/>
                <a:gd name="connsiteX12" fmla="*/ 1637589 w 2054464"/>
                <a:gd name="connsiteY12" fmla="*/ 570165 h 1165133"/>
                <a:gd name="connsiteX13" fmla="*/ 1856308 w 2054464"/>
                <a:gd name="connsiteY13" fmla="*/ 768321 h 1165133"/>
                <a:gd name="connsiteX14" fmla="*/ 2054464 w 2054464"/>
                <a:gd name="connsiteY14" fmla="*/ 992648 h 1165133"/>
                <a:gd name="connsiteX15" fmla="*/ 1836616 w 2054464"/>
                <a:gd name="connsiteY15" fmla="*/ 1165133 h 1165133"/>
                <a:gd name="connsiteX16" fmla="*/ 1686876 w 2054464"/>
                <a:gd name="connsiteY16" fmla="*/ 1000377 h 1165133"/>
                <a:gd name="connsiteX17" fmla="*/ 193543 w 2054464"/>
                <a:gd name="connsiteY17" fmla="*/ 290006 h 1165133"/>
                <a:gd name="connsiteX18" fmla="*/ 0 w 2054464"/>
                <a:gd name="connsiteY18" fmla="*/ 280233 h 1165133"/>
                <a:gd name="connsiteX19" fmla="*/ 0 w 2054464"/>
                <a:gd name="connsiteY19" fmla="*/ 0 h 116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464" h="1165133">
                  <a:moveTo>
                    <a:pt x="0" y="0"/>
                  </a:moveTo>
                  <a:lnTo>
                    <a:pt x="149552" y="5608"/>
                  </a:lnTo>
                  <a:lnTo>
                    <a:pt x="293495" y="20563"/>
                  </a:lnTo>
                  <a:lnTo>
                    <a:pt x="443047" y="39257"/>
                  </a:lnTo>
                  <a:lnTo>
                    <a:pt x="586990" y="67298"/>
                  </a:lnTo>
                  <a:lnTo>
                    <a:pt x="729064" y="108425"/>
                  </a:lnTo>
                  <a:lnTo>
                    <a:pt x="865530" y="149552"/>
                  </a:lnTo>
                  <a:lnTo>
                    <a:pt x="1001995" y="203764"/>
                  </a:lnTo>
                  <a:lnTo>
                    <a:pt x="1138461" y="263585"/>
                  </a:lnTo>
                  <a:lnTo>
                    <a:pt x="1269319" y="325275"/>
                  </a:lnTo>
                  <a:lnTo>
                    <a:pt x="1398307" y="400050"/>
                  </a:lnTo>
                  <a:lnTo>
                    <a:pt x="1514209" y="482304"/>
                  </a:lnTo>
                  <a:lnTo>
                    <a:pt x="1637589" y="570165"/>
                  </a:lnTo>
                  <a:lnTo>
                    <a:pt x="1856308" y="768321"/>
                  </a:lnTo>
                  <a:lnTo>
                    <a:pt x="2054464" y="992648"/>
                  </a:lnTo>
                  <a:lnTo>
                    <a:pt x="1836616" y="1165133"/>
                  </a:lnTo>
                  <a:lnTo>
                    <a:pt x="1686876" y="1000377"/>
                  </a:lnTo>
                  <a:cubicBezTo>
                    <a:pt x="1295944" y="609445"/>
                    <a:pt x="774519" y="349007"/>
                    <a:pt x="193543" y="290006"/>
                  </a:cubicBezTo>
                  <a:lnTo>
                    <a:pt x="0" y="280233"/>
                  </a:lnTo>
                  <a:lnTo>
                    <a:pt x="0" y="0"/>
                  </a:lnTo>
                  <a:close/>
                </a:path>
              </a:pathLst>
            </a:custGeom>
            <a:solidFill>
              <a:srgbClr val="C14265">
                <a:alpha val="80000"/>
              </a:srgb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68" name="Freeform: Shape 67">
              <a:extLst>
                <a:ext uri="{FF2B5EF4-FFF2-40B4-BE49-F238E27FC236}">
                  <a16:creationId xmlns:a16="http://schemas.microsoft.com/office/drawing/2014/main" id="{4271676A-0DC9-4C4A-A9C5-0C93DDCD91B2}"/>
                </a:ext>
              </a:extLst>
            </p:cNvPr>
            <p:cNvSpPr>
              <a:spLocks/>
            </p:cNvSpPr>
            <p:nvPr/>
          </p:nvSpPr>
          <p:spPr bwMode="auto">
            <a:xfrm flipV="1">
              <a:off x="3333971" y="2879398"/>
              <a:ext cx="796282" cy="2215232"/>
            </a:xfrm>
            <a:custGeom>
              <a:avLst/>
              <a:gdLst>
                <a:gd name="connsiteX0" fmla="*/ 573904 w 796282"/>
                <a:gd name="connsiteY0" fmla="*/ 0 h 2215232"/>
                <a:gd name="connsiteX1" fmla="*/ 796282 w 796282"/>
                <a:gd name="connsiteY1" fmla="*/ 176285 h 2215232"/>
                <a:gd name="connsiteX2" fmla="*/ 714795 w 796282"/>
                <a:gd name="connsiteY2" fmla="*/ 285256 h 2215232"/>
                <a:gd name="connsiteX3" fmla="*/ 293149 w 796282"/>
                <a:gd name="connsiteY3" fmla="*/ 1665630 h 2215232"/>
                <a:gd name="connsiteX4" fmla="*/ 305896 w 796282"/>
                <a:gd name="connsiteY4" fmla="*/ 1918059 h 2215232"/>
                <a:gd name="connsiteX5" fmla="*/ 341719 w 796282"/>
                <a:gd name="connsiteY5" fmla="*/ 2152784 h 2215232"/>
                <a:gd name="connsiteX6" fmla="*/ 69168 w 796282"/>
                <a:gd name="connsiteY6" fmla="*/ 2215232 h 2215232"/>
                <a:gd name="connsiteX7" fmla="*/ 41127 w 796282"/>
                <a:gd name="connsiteY7" fmla="*/ 2065681 h 2215232"/>
                <a:gd name="connsiteX8" fmla="*/ 20563 w 796282"/>
                <a:gd name="connsiteY8" fmla="*/ 1923607 h 2215232"/>
                <a:gd name="connsiteX9" fmla="*/ 7478 w 796282"/>
                <a:gd name="connsiteY9" fmla="*/ 1774055 h 2215232"/>
                <a:gd name="connsiteX10" fmla="*/ 0 w 796282"/>
                <a:gd name="connsiteY10" fmla="*/ 1624504 h 2215232"/>
                <a:gd name="connsiteX11" fmla="*/ 7478 w 796282"/>
                <a:gd name="connsiteY11" fmla="*/ 1480560 h 2215232"/>
                <a:gd name="connsiteX12" fmla="*/ 20563 w 796282"/>
                <a:gd name="connsiteY12" fmla="*/ 1331009 h 2215232"/>
                <a:gd name="connsiteX13" fmla="*/ 41127 w 796282"/>
                <a:gd name="connsiteY13" fmla="*/ 1188935 h 2215232"/>
                <a:gd name="connsiteX14" fmla="*/ 69168 w 796282"/>
                <a:gd name="connsiteY14" fmla="*/ 1046861 h 2215232"/>
                <a:gd name="connsiteX15" fmla="*/ 102817 w 796282"/>
                <a:gd name="connsiteY15" fmla="*/ 902918 h 2215232"/>
                <a:gd name="connsiteX16" fmla="*/ 151421 w 796282"/>
                <a:gd name="connsiteY16" fmla="*/ 768321 h 2215232"/>
                <a:gd name="connsiteX17" fmla="*/ 198156 w 796282"/>
                <a:gd name="connsiteY17" fmla="*/ 631855 h 2215232"/>
                <a:gd name="connsiteX18" fmla="*/ 259846 w 796282"/>
                <a:gd name="connsiteY18" fmla="*/ 495390 h 2215232"/>
                <a:gd name="connsiteX19" fmla="*/ 329013 w 796282"/>
                <a:gd name="connsiteY19" fmla="*/ 366401 h 2215232"/>
                <a:gd name="connsiteX20" fmla="*/ 403789 w 796282"/>
                <a:gd name="connsiteY20" fmla="*/ 237413 h 2215232"/>
                <a:gd name="connsiteX21" fmla="*/ 486042 w 796282"/>
                <a:gd name="connsiteY21" fmla="*/ 115903 h 2215232"/>
                <a:gd name="connsiteX22" fmla="*/ 573904 w 796282"/>
                <a:gd name="connsiteY22" fmla="*/ 0 h 2215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6282" h="2215232">
                  <a:moveTo>
                    <a:pt x="573904" y="0"/>
                  </a:moveTo>
                  <a:lnTo>
                    <a:pt x="796282" y="176285"/>
                  </a:lnTo>
                  <a:lnTo>
                    <a:pt x="714795" y="285256"/>
                  </a:lnTo>
                  <a:cubicBezTo>
                    <a:pt x="448589" y="679292"/>
                    <a:pt x="293149" y="1154308"/>
                    <a:pt x="293149" y="1665630"/>
                  </a:cubicBezTo>
                  <a:cubicBezTo>
                    <a:pt x="293149" y="1750850"/>
                    <a:pt x="297467" y="1835062"/>
                    <a:pt x="305896" y="1918059"/>
                  </a:cubicBezTo>
                  <a:lnTo>
                    <a:pt x="341719" y="2152784"/>
                  </a:lnTo>
                  <a:lnTo>
                    <a:pt x="69168" y="2215232"/>
                  </a:lnTo>
                  <a:lnTo>
                    <a:pt x="41127" y="2065681"/>
                  </a:lnTo>
                  <a:lnTo>
                    <a:pt x="20563" y="1923607"/>
                  </a:lnTo>
                  <a:lnTo>
                    <a:pt x="7478" y="1774055"/>
                  </a:lnTo>
                  <a:lnTo>
                    <a:pt x="0" y="1624504"/>
                  </a:lnTo>
                  <a:lnTo>
                    <a:pt x="7478" y="1480560"/>
                  </a:lnTo>
                  <a:lnTo>
                    <a:pt x="20563" y="1331009"/>
                  </a:lnTo>
                  <a:lnTo>
                    <a:pt x="41127" y="1188935"/>
                  </a:lnTo>
                  <a:lnTo>
                    <a:pt x="69168" y="1046861"/>
                  </a:lnTo>
                  <a:lnTo>
                    <a:pt x="102817" y="902918"/>
                  </a:lnTo>
                  <a:lnTo>
                    <a:pt x="151421" y="768321"/>
                  </a:lnTo>
                  <a:lnTo>
                    <a:pt x="198156" y="631855"/>
                  </a:lnTo>
                  <a:lnTo>
                    <a:pt x="259846" y="495390"/>
                  </a:lnTo>
                  <a:lnTo>
                    <a:pt x="329013" y="366401"/>
                  </a:lnTo>
                  <a:lnTo>
                    <a:pt x="403789" y="237413"/>
                  </a:lnTo>
                  <a:lnTo>
                    <a:pt x="486042" y="115903"/>
                  </a:lnTo>
                  <a:lnTo>
                    <a:pt x="573904" y="0"/>
                  </a:lnTo>
                  <a:close/>
                </a:path>
              </a:pathLst>
            </a:custGeom>
            <a:solidFill>
              <a:srgbClr val="FD5746">
                <a:alpha val="80000"/>
              </a:srgb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67" name="Freeform: Shape 66">
              <a:extLst>
                <a:ext uri="{FF2B5EF4-FFF2-40B4-BE49-F238E27FC236}">
                  <a16:creationId xmlns:a16="http://schemas.microsoft.com/office/drawing/2014/main" id="{16C43F53-3D23-49E4-B422-0BD99ADAB1B1}"/>
                </a:ext>
              </a:extLst>
            </p:cNvPr>
            <p:cNvSpPr>
              <a:spLocks/>
            </p:cNvSpPr>
            <p:nvPr/>
          </p:nvSpPr>
          <p:spPr bwMode="auto">
            <a:xfrm flipV="1">
              <a:off x="8061749" y="2879398"/>
              <a:ext cx="796281" cy="2215232"/>
            </a:xfrm>
            <a:custGeom>
              <a:avLst/>
              <a:gdLst>
                <a:gd name="connsiteX0" fmla="*/ 222378 w 796281"/>
                <a:gd name="connsiteY0" fmla="*/ 0 h 2215232"/>
                <a:gd name="connsiteX1" fmla="*/ 310239 w 796281"/>
                <a:gd name="connsiteY1" fmla="*/ 115903 h 2215232"/>
                <a:gd name="connsiteX2" fmla="*/ 392492 w 796281"/>
                <a:gd name="connsiteY2" fmla="*/ 237413 h 2215232"/>
                <a:gd name="connsiteX3" fmla="*/ 467268 w 796281"/>
                <a:gd name="connsiteY3" fmla="*/ 366401 h 2215232"/>
                <a:gd name="connsiteX4" fmla="*/ 536436 w 796281"/>
                <a:gd name="connsiteY4" fmla="*/ 495390 h 2215232"/>
                <a:gd name="connsiteX5" fmla="*/ 598126 w 796281"/>
                <a:gd name="connsiteY5" fmla="*/ 631855 h 2215232"/>
                <a:gd name="connsiteX6" fmla="*/ 644860 w 796281"/>
                <a:gd name="connsiteY6" fmla="*/ 768321 h 2215232"/>
                <a:gd name="connsiteX7" fmla="*/ 693465 w 796281"/>
                <a:gd name="connsiteY7" fmla="*/ 902918 h 2215232"/>
                <a:gd name="connsiteX8" fmla="*/ 727114 w 796281"/>
                <a:gd name="connsiteY8" fmla="*/ 1046861 h 2215232"/>
                <a:gd name="connsiteX9" fmla="*/ 755155 w 796281"/>
                <a:gd name="connsiteY9" fmla="*/ 1188935 h 2215232"/>
                <a:gd name="connsiteX10" fmla="*/ 775718 w 796281"/>
                <a:gd name="connsiteY10" fmla="*/ 1331009 h 2215232"/>
                <a:gd name="connsiteX11" fmla="*/ 788804 w 796281"/>
                <a:gd name="connsiteY11" fmla="*/ 1480560 h 2215232"/>
                <a:gd name="connsiteX12" fmla="*/ 796281 w 796281"/>
                <a:gd name="connsiteY12" fmla="*/ 1624504 h 2215232"/>
                <a:gd name="connsiteX13" fmla="*/ 788804 w 796281"/>
                <a:gd name="connsiteY13" fmla="*/ 1774055 h 2215232"/>
                <a:gd name="connsiteX14" fmla="*/ 775718 w 796281"/>
                <a:gd name="connsiteY14" fmla="*/ 1923607 h 2215232"/>
                <a:gd name="connsiteX15" fmla="*/ 755155 w 796281"/>
                <a:gd name="connsiteY15" fmla="*/ 2065681 h 2215232"/>
                <a:gd name="connsiteX16" fmla="*/ 727114 w 796281"/>
                <a:gd name="connsiteY16" fmla="*/ 2215232 h 2215232"/>
                <a:gd name="connsiteX17" fmla="*/ 454562 w 796281"/>
                <a:gd name="connsiteY17" fmla="*/ 2152783 h 2215232"/>
                <a:gd name="connsiteX18" fmla="*/ 490385 w 796281"/>
                <a:gd name="connsiteY18" fmla="*/ 1918059 h 2215232"/>
                <a:gd name="connsiteX19" fmla="*/ 503132 w 796281"/>
                <a:gd name="connsiteY19" fmla="*/ 1665630 h 2215232"/>
                <a:gd name="connsiteX20" fmla="*/ 81486 w 796281"/>
                <a:gd name="connsiteY20" fmla="*/ 285256 h 2215232"/>
                <a:gd name="connsiteX21" fmla="*/ 0 w 796281"/>
                <a:gd name="connsiteY21" fmla="*/ 176286 h 2215232"/>
                <a:gd name="connsiteX22" fmla="*/ 222378 w 796281"/>
                <a:gd name="connsiteY22" fmla="*/ 0 h 2215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6281" h="2215232">
                  <a:moveTo>
                    <a:pt x="222378" y="0"/>
                  </a:moveTo>
                  <a:lnTo>
                    <a:pt x="310239" y="115903"/>
                  </a:lnTo>
                  <a:lnTo>
                    <a:pt x="392492" y="237413"/>
                  </a:lnTo>
                  <a:lnTo>
                    <a:pt x="467268" y="366401"/>
                  </a:lnTo>
                  <a:lnTo>
                    <a:pt x="536436" y="495390"/>
                  </a:lnTo>
                  <a:lnTo>
                    <a:pt x="598126" y="631855"/>
                  </a:lnTo>
                  <a:lnTo>
                    <a:pt x="644860" y="768321"/>
                  </a:lnTo>
                  <a:lnTo>
                    <a:pt x="693465" y="902918"/>
                  </a:lnTo>
                  <a:lnTo>
                    <a:pt x="727114" y="1046861"/>
                  </a:lnTo>
                  <a:lnTo>
                    <a:pt x="755155" y="1188935"/>
                  </a:lnTo>
                  <a:lnTo>
                    <a:pt x="775718" y="1331009"/>
                  </a:lnTo>
                  <a:lnTo>
                    <a:pt x="788804" y="1480560"/>
                  </a:lnTo>
                  <a:lnTo>
                    <a:pt x="796281" y="1624504"/>
                  </a:lnTo>
                  <a:lnTo>
                    <a:pt x="788804" y="1774055"/>
                  </a:lnTo>
                  <a:lnTo>
                    <a:pt x="775718" y="1923607"/>
                  </a:lnTo>
                  <a:lnTo>
                    <a:pt x="755155" y="2065681"/>
                  </a:lnTo>
                  <a:lnTo>
                    <a:pt x="727114" y="2215232"/>
                  </a:lnTo>
                  <a:lnTo>
                    <a:pt x="454562" y="2152783"/>
                  </a:lnTo>
                  <a:lnTo>
                    <a:pt x="490385" y="1918059"/>
                  </a:lnTo>
                  <a:cubicBezTo>
                    <a:pt x="498814" y="1835062"/>
                    <a:pt x="503132" y="1750850"/>
                    <a:pt x="503132" y="1665630"/>
                  </a:cubicBezTo>
                  <a:cubicBezTo>
                    <a:pt x="503132" y="1154308"/>
                    <a:pt x="347692" y="679292"/>
                    <a:pt x="81486" y="285256"/>
                  </a:cubicBezTo>
                  <a:lnTo>
                    <a:pt x="0" y="176286"/>
                  </a:lnTo>
                  <a:lnTo>
                    <a:pt x="222378" y="0"/>
                  </a:lnTo>
                  <a:close/>
                </a:path>
              </a:pathLst>
            </a:custGeom>
            <a:solidFill>
              <a:srgbClr val="9D3D6B">
                <a:alpha val="80000"/>
              </a:srgb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64" name="Freeform: Shape 63">
              <a:extLst>
                <a:ext uri="{FF2B5EF4-FFF2-40B4-BE49-F238E27FC236}">
                  <a16:creationId xmlns:a16="http://schemas.microsoft.com/office/drawing/2014/main" id="{93AA6244-BAAD-46D9-B468-00BA0E694A61}"/>
                </a:ext>
              </a:extLst>
            </p:cNvPr>
            <p:cNvSpPr>
              <a:spLocks/>
            </p:cNvSpPr>
            <p:nvPr/>
          </p:nvSpPr>
          <p:spPr bwMode="auto">
            <a:xfrm flipV="1">
              <a:off x="5022749" y="4109987"/>
              <a:ext cx="1014367" cy="737374"/>
            </a:xfrm>
            <a:custGeom>
              <a:avLst/>
              <a:gdLst>
                <a:gd name="connsiteX0" fmla="*/ 1014367 w 1014367"/>
                <a:gd name="connsiteY0" fmla="*/ 0 h 737374"/>
                <a:gd name="connsiteX1" fmla="*/ 1014367 w 1014367"/>
                <a:gd name="connsiteY1" fmla="*/ 402942 h 737374"/>
                <a:gd name="connsiteX2" fmla="*/ 961352 w 1014367"/>
                <a:gd name="connsiteY2" fmla="*/ 405619 h 737374"/>
                <a:gd name="connsiteX3" fmla="*/ 352957 w 1014367"/>
                <a:gd name="connsiteY3" fmla="*/ 695030 h 737374"/>
                <a:gd name="connsiteX4" fmla="*/ 314472 w 1014367"/>
                <a:gd name="connsiteY4" fmla="*/ 737374 h 737374"/>
                <a:gd name="connsiteX5" fmla="*/ 0 w 1014367"/>
                <a:gd name="connsiteY5" fmla="*/ 488385 h 737374"/>
                <a:gd name="connsiteX6" fmla="*/ 68217 w 1014367"/>
                <a:gd name="connsiteY6" fmla="*/ 413326 h 737374"/>
                <a:gd name="connsiteX7" fmla="*/ 927929 w 1014367"/>
                <a:gd name="connsiteY7" fmla="*/ 4365 h 737374"/>
                <a:gd name="connsiteX8" fmla="*/ 1014367 w 1014367"/>
                <a:gd name="connsiteY8" fmla="*/ 0 h 737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4367" h="737374">
                  <a:moveTo>
                    <a:pt x="1014367" y="0"/>
                  </a:moveTo>
                  <a:lnTo>
                    <a:pt x="1014367" y="402942"/>
                  </a:lnTo>
                  <a:lnTo>
                    <a:pt x="961352" y="405619"/>
                  </a:lnTo>
                  <a:cubicBezTo>
                    <a:pt x="724658" y="429657"/>
                    <a:pt x="512225" y="535761"/>
                    <a:pt x="352957" y="695030"/>
                  </a:cubicBezTo>
                  <a:lnTo>
                    <a:pt x="314472" y="737374"/>
                  </a:lnTo>
                  <a:lnTo>
                    <a:pt x="0" y="488385"/>
                  </a:lnTo>
                  <a:lnTo>
                    <a:pt x="68217" y="413326"/>
                  </a:lnTo>
                  <a:cubicBezTo>
                    <a:pt x="293277" y="188267"/>
                    <a:pt x="593461" y="38332"/>
                    <a:pt x="927929" y="4365"/>
                  </a:cubicBezTo>
                  <a:lnTo>
                    <a:pt x="1014367" y="0"/>
                  </a:lnTo>
                  <a:close/>
                </a:path>
              </a:pathLst>
            </a:custGeom>
            <a:solidFill>
              <a:srgbClr val="D52639"/>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63" name="Freeform: Shape 62">
              <a:extLst>
                <a:ext uri="{FF2B5EF4-FFF2-40B4-BE49-F238E27FC236}">
                  <a16:creationId xmlns:a16="http://schemas.microsoft.com/office/drawing/2014/main" id="{5E857B24-67EC-4CE5-B914-B252695CDFA7}"/>
                </a:ext>
              </a:extLst>
            </p:cNvPr>
            <p:cNvSpPr>
              <a:spLocks/>
            </p:cNvSpPr>
            <p:nvPr/>
          </p:nvSpPr>
          <p:spPr bwMode="auto">
            <a:xfrm flipV="1">
              <a:off x="6154887" y="4101644"/>
              <a:ext cx="1014367" cy="745716"/>
            </a:xfrm>
            <a:custGeom>
              <a:avLst/>
              <a:gdLst>
                <a:gd name="connsiteX0" fmla="*/ 0 w 1014367"/>
                <a:gd name="connsiteY0" fmla="*/ 0 h 745716"/>
                <a:gd name="connsiteX1" fmla="*/ 86437 w 1014367"/>
                <a:gd name="connsiteY1" fmla="*/ 4364 h 745716"/>
                <a:gd name="connsiteX2" fmla="*/ 946149 w 1014367"/>
                <a:gd name="connsiteY2" fmla="*/ 413325 h 745716"/>
                <a:gd name="connsiteX3" fmla="*/ 1014367 w 1014367"/>
                <a:gd name="connsiteY3" fmla="*/ 488385 h 745716"/>
                <a:gd name="connsiteX4" fmla="*/ 689359 w 1014367"/>
                <a:gd name="connsiteY4" fmla="*/ 745716 h 745716"/>
                <a:gd name="connsiteX5" fmla="*/ 643291 w 1014367"/>
                <a:gd name="connsiteY5" fmla="*/ 695029 h 745716"/>
                <a:gd name="connsiteX6" fmla="*/ 34896 w 1014367"/>
                <a:gd name="connsiteY6" fmla="*/ 405618 h 745716"/>
                <a:gd name="connsiteX7" fmla="*/ 0 w 1014367"/>
                <a:gd name="connsiteY7" fmla="*/ 403856 h 745716"/>
                <a:gd name="connsiteX8" fmla="*/ 0 w 1014367"/>
                <a:gd name="connsiteY8" fmla="*/ 0 h 74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4367" h="745716">
                  <a:moveTo>
                    <a:pt x="0" y="0"/>
                  </a:moveTo>
                  <a:lnTo>
                    <a:pt x="86437" y="4364"/>
                  </a:lnTo>
                  <a:cubicBezTo>
                    <a:pt x="420905" y="38331"/>
                    <a:pt x="721090" y="188266"/>
                    <a:pt x="946149" y="413325"/>
                  </a:cubicBezTo>
                  <a:lnTo>
                    <a:pt x="1014367" y="488385"/>
                  </a:lnTo>
                  <a:lnTo>
                    <a:pt x="689359" y="745716"/>
                  </a:lnTo>
                  <a:lnTo>
                    <a:pt x="643291" y="695029"/>
                  </a:lnTo>
                  <a:cubicBezTo>
                    <a:pt x="484023" y="535760"/>
                    <a:pt x="271590" y="429656"/>
                    <a:pt x="34896" y="405618"/>
                  </a:cubicBezTo>
                  <a:lnTo>
                    <a:pt x="0" y="403856"/>
                  </a:lnTo>
                  <a:lnTo>
                    <a:pt x="0" y="0"/>
                  </a:lnTo>
                  <a:close/>
                </a:path>
              </a:pathLst>
            </a:custGeom>
            <a:solidFill>
              <a:srgbClr val="A2224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61" name="Freeform: Shape 60">
              <a:extLst>
                <a:ext uri="{FF2B5EF4-FFF2-40B4-BE49-F238E27FC236}">
                  <a16:creationId xmlns:a16="http://schemas.microsoft.com/office/drawing/2014/main" id="{A131D34B-4FF7-498B-9719-7AF5E3650AA0}"/>
                </a:ext>
              </a:extLst>
            </p:cNvPr>
            <p:cNvSpPr>
              <a:spLocks/>
            </p:cNvSpPr>
            <p:nvPr/>
          </p:nvSpPr>
          <p:spPr bwMode="auto">
            <a:xfrm flipV="1">
              <a:off x="4674667" y="3176178"/>
              <a:ext cx="589923" cy="1091867"/>
            </a:xfrm>
            <a:custGeom>
              <a:avLst/>
              <a:gdLst>
                <a:gd name="connsiteX0" fmla="*/ 275918 w 589923"/>
                <a:gd name="connsiteY0" fmla="*/ 0 h 1091867"/>
                <a:gd name="connsiteX1" fmla="*/ 589923 w 589923"/>
                <a:gd name="connsiteY1" fmla="*/ 248922 h 1091867"/>
                <a:gd name="connsiteX2" fmla="*/ 578217 w 589923"/>
                <a:gd name="connsiteY2" fmla="*/ 264576 h 1091867"/>
                <a:gd name="connsiteX3" fmla="*/ 406435 w 589923"/>
                <a:gd name="connsiteY3" fmla="*/ 826951 h 1091867"/>
                <a:gd name="connsiteX4" fmla="*/ 411628 w 589923"/>
                <a:gd name="connsiteY4" fmla="*/ 929792 h 1091867"/>
                <a:gd name="connsiteX5" fmla="*/ 422422 w 589923"/>
                <a:gd name="connsiteY5" fmla="*/ 1000520 h 1091867"/>
                <a:gd name="connsiteX6" fmla="*/ 23744 w 589923"/>
                <a:gd name="connsiteY6" fmla="*/ 1091867 h 1091867"/>
                <a:gd name="connsiteX7" fmla="*/ 7338 w 589923"/>
                <a:gd name="connsiteY7" fmla="*/ 984369 h 1091867"/>
                <a:gd name="connsiteX8" fmla="*/ 0 w 589923"/>
                <a:gd name="connsiteY8" fmla="*/ 839046 h 1091867"/>
                <a:gd name="connsiteX9" fmla="*/ 242742 w 589923"/>
                <a:gd name="connsiteY9" fmla="*/ 44365 h 1091867"/>
                <a:gd name="connsiteX10" fmla="*/ 275918 w 589923"/>
                <a:gd name="connsiteY10" fmla="*/ 0 h 109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9923" h="1091867">
                  <a:moveTo>
                    <a:pt x="275918" y="0"/>
                  </a:moveTo>
                  <a:lnTo>
                    <a:pt x="589923" y="248922"/>
                  </a:lnTo>
                  <a:lnTo>
                    <a:pt x="578217" y="264576"/>
                  </a:lnTo>
                  <a:cubicBezTo>
                    <a:pt x="469763" y="425110"/>
                    <a:pt x="406435" y="618635"/>
                    <a:pt x="406435" y="826951"/>
                  </a:cubicBezTo>
                  <a:cubicBezTo>
                    <a:pt x="406435" y="861671"/>
                    <a:pt x="408194" y="895979"/>
                    <a:pt x="411628" y="929792"/>
                  </a:cubicBezTo>
                  <a:lnTo>
                    <a:pt x="422422" y="1000520"/>
                  </a:lnTo>
                  <a:lnTo>
                    <a:pt x="23744" y="1091867"/>
                  </a:lnTo>
                  <a:lnTo>
                    <a:pt x="7338" y="984369"/>
                  </a:lnTo>
                  <a:cubicBezTo>
                    <a:pt x="2486" y="936588"/>
                    <a:pt x="0" y="888107"/>
                    <a:pt x="0" y="839046"/>
                  </a:cubicBezTo>
                  <a:cubicBezTo>
                    <a:pt x="0" y="544678"/>
                    <a:pt x="89487" y="271211"/>
                    <a:pt x="242742" y="44365"/>
                  </a:cubicBezTo>
                  <a:lnTo>
                    <a:pt x="275918" y="0"/>
                  </a:lnTo>
                  <a:close/>
                </a:path>
              </a:pathLst>
            </a:custGeom>
            <a:solidFill>
              <a:srgbClr val="E83D3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60" name="Freeform: Shape 59">
              <a:extLst>
                <a:ext uri="{FF2B5EF4-FFF2-40B4-BE49-F238E27FC236}">
                  <a16:creationId xmlns:a16="http://schemas.microsoft.com/office/drawing/2014/main" id="{DA7588E1-3445-48F8-9594-489BA04767EB}"/>
                </a:ext>
              </a:extLst>
            </p:cNvPr>
            <p:cNvSpPr>
              <a:spLocks/>
            </p:cNvSpPr>
            <p:nvPr/>
          </p:nvSpPr>
          <p:spPr bwMode="auto">
            <a:xfrm flipV="1">
              <a:off x="6916036" y="3176178"/>
              <a:ext cx="601298" cy="1091867"/>
            </a:xfrm>
            <a:custGeom>
              <a:avLst/>
              <a:gdLst>
                <a:gd name="connsiteX0" fmla="*/ 325381 w 601298"/>
                <a:gd name="connsiteY0" fmla="*/ 0 h 1091867"/>
                <a:gd name="connsiteX1" fmla="*/ 358556 w 601298"/>
                <a:gd name="connsiteY1" fmla="*/ 44365 h 1091867"/>
                <a:gd name="connsiteX2" fmla="*/ 601298 w 601298"/>
                <a:gd name="connsiteY2" fmla="*/ 839046 h 1091867"/>
                <a:gd name="connsiteX3" fmla="*/ 593960 w 601298"/>
                <a:gd name="connsiteY3" fmla="*/ 984369 h 1091867"/>
                <a:gd name="connsiteX4" fmla="*/ 577554 w 601298"/>
                <a:gd name="connsiteY4" fmla="*/ 1091867 h 1091867"/>
                <a:gd name="connsiteX5" fmla="*/ 161370 w 601298"/>
                <a:gd name="connsiteY5" fmla="*/ 996509 h 1091867"/>
                <a:gd name="connsiteX6" fmla="*/ 171552 w 601298"/>
                <a:gd name="connsiteY6" fmla="*/ 929792 h 1091867"/>
                <a:gd name="connsiteX7" fmla="*/ 176745 w 601298"/>
                <a:gd name="connsiteY7" fmla="*/ 826951 h 1091867"/>
                <a:gd name="connsiteX8" fmla="*/ 4963 w 601298"/>
                <a:gd name="connsiteY8" fmla="*/ 264576 h 1091867"/>
                <a:gd name="connsiteX9" fmla="*/ 0 w 601298"/>
                <a:gd name="connsiteY9" fmla="*/ 257939 h 1091867"/>
                <a:gd name="connsiteX10" fmla="*/ 325381 w 601298"/>
                <a:gd name="connsiteY10" fmla="*/ 0 h 109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1298" h="1091867">
                  <a:moveTo>
                    <a:pt x="325381" y="0"/>
                  </a:moveTo>
                  <a:lnTo>
                    <a:pt x="358556" y="44365"/>
                  </a:lnTo>
                  <a:cubicBezTo>
                    <a:pt x="511811" y="271211"/>
                    <a:pt x="601298" y="544678"/>
                    <a:pt x="601298" y="839046"/>
                  </a:cubicBezTo>
                  <a:cubicBezTo>
                    <a:pt x="601298" y="888107"/>
                    <a:pt x="598812" y="936588"/>
                    <a:pt x="593960" y="984369"/>
                  </a:cubicBezTo>
                  <a:lnTo>
                    <a:pt x="577554" y="1091867"/>
                  </a:lnTo>
                  <a:lnTo>
                    <a:pt x="161370" y="996509"/>
                  </a:lnTo>
                  <a:lnTo>
                    <a:pt x="171552" y="929792"/>
                  </a:lnTo>
                  <a:cubicBezTo>
                    <a:pt x="174986" y="895979"/>
                    <a:pt x="176745" y="861671"/>
                    <a:pt x="176745" y="826951"/>
                  </a:cubicBezTo>
                  <a:cubicBezTo>
                    <a:pt x="176745" y="618635"/>
                    <a:pt x="113418" y="425110"/>
                    <a:pt x="4963" y="264576"/>
                  </a:cubicBezTo>
                  <a:lnTo>
                    <a:pt x="0" y="257939"/>
                  </a:lnTo>
                  <a:lnTo>
                    <a:pt x="325381" y="0"/>
                  </a:lnTo>
                  <a:close/>
                </a:path>
              </a:pathLst>
            </a:custGeom>
            <a:solidFill>
              <a:srgbClr val="81274A"/>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57" name="Freeform: Shape 56">
              <a:extLst>
                <a:ext uri="{FF2B5EF4-FFF2-40B4-BE49-F238E27FC236}">
                  <a16:creationId xmlns:a16="http://schemas.microsoft.com/office/drawing/2014/main" id="{D1A0AC87-5DBD-44DC-9D72-E2C5B9D59692}"/>
                </a:ext>
              </a:extLst>
            </p:cNvPr>
            <p:cNvSpPr>
              <a:spLocks/>
            </p:cNvSpPr>
            <p:nvPr/>
          </p:nvSpPr>
          <p:spPr bwMode="auto">
            <a:xfrm flipV="1">
              <a:off x="6578988" y="2176461"/>
              <a:ext cx="888917" cy="979994"/>
            </a:xfrm>
            <a:custGeom>
              <a:avLst/>
              <a:gdLst>
                <a:gd name="connsiteX0" fmla="*/ 472293 w 888917"/>
                <a:gd name="connsiteY0" fmla="*/ 0 h 979994"/>
                <a:gd name="connsiteX1" fmla="*/ 888917 w 888917"/>
                <a:gd name="connsiteY1" fmla="*/ 93842 h 979994"/>
                <a:gd name="connsiteX2" fmla="*/ 874447 w 888917"/>
                <a:gd name="connsiteY2" fmla="*/ 150116 h 979994"/>
                <a:gd name="connsiteX3" fmla="*/ 194505 w 888917"/>
                <a:gd name="connsiteY3" fmla="*/ 977242 h 979994"/>
                <a:gd name="connsiteX4" fmla="*/ 188794 w 888917"/>
                <a:gd name="connsiteY4" fmla="*/ 979994 h 979994"/>
                <a:gd name="connsiteX5" fmla="*/ 0 w 888917"/>
                <a:gd name="connsiteY5" fmla="*/ 592145 h 979994"/>
                <a:gd name="connsiteX6" fmla="*/ 70329 w 888917"/>
                <a:gd name="connsiteY6" fmla="*/ 549418 h 979994"/>
                <a:gd name="connsiteX7" fmla="*/ 468573 w 888917"/>
                <a:gd name="connsiteY7" fmla="*/ 14466 h 979994"/>
                <a:gd name="connsiteX8" fmla="*/ 472293 w 888917"/>
                <a:gd name="connsiteY8" fmla="*/ 0 h 97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8917" h="979994">
                  <a:moveTo>
                    <a:pt x="472293" y="0"/>
                  </a:moveTo>
                  <a:lnTo>
                    <a:pt x="888917" y="93842"/>
                  </a:lnTo>
                  <a:lnTo>
                    <a:pt x="874447" y="150116"/>
                  </a:lnTo>
                  <a:cubicBezTo>
                    <a:pt x="763704" y="506166"/>
                    <a:pt x="516735" y="802196"/>
                    <a:pt x="194505" y="977242"/>
                  </a:cubicBezTo>
                  <a:lnTo>
                    <a:pt x="188794" y="979994"/>
                  </a:lnTo>
                  <a:lnTo>
                    <a:pt x="0" y="592145"/>
                  </a:lnTo>
                  <a:lnTo>
                    <a:pt x="70329" y="549418"/>
                  </a:lnTo>
                  <a:cubicBezTo>
                    <a:pt x="257618" y="422889"/>
                    <a:pt x="400000" y="234937"/>
                    <a:pt x="468573" y="14466"/>
                  </a:cubicBezTo>
                  <a:lnTo>
                    <a:pt x="472293" y="0"/>
                  </a:lnTo>
                  <a:close/>
                </a:path>
              </a:pathLst>
            </a:custGeom>
            <a:solidFill>
              <a:srgbClr val="4F1F39"/>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56" name="Freeform: Shape 55">
              <a:extLst>
                <a:ext uri="{FF2B5EF4-FFF2-40B4-BE49-F238E27FC236}">
                  <a16:creationId xmlns:a16="http://schemas.microsoft.com/office/drawing/2014/main" id="{28A688D1-D098-4DBD-A29D-219A5A27E887}"/>
                </a:ext>
              </a:extLst>
            </p:cNvPr>
            <p:cNvSpPr>
              <a:spLocks/>
            </p:cNvSpPr>
            <p:nvPr/>
          </p:nvSpPr>
          <p:spPr bwMode="auto">
            <a:xfrm flipV="1">
              <a:off x="4723889" y="2176461"/>
              <a:ext cx="885058" cy="977190"/>
            </a:xfrm>
            <a:custGeom>
              <a:avLst/>
              <a:gdLst>
                <a:gd name="connsiteX0" fmla="*/ 399434 w 885058"/>
                <a:gd name="connsiteY0" fmla="*/ 0 h 977190"/>
                <a:gd name="connsiteX1" fmla="*/ 402433 w 885058"/>
                <a:gd name="connsiteY1" fmla="*/ 11662 h 977190"/>
                <a:gd name="connsiteX2" fmla="*/ 883609 w 885058"/>
                <a:gd name="connsiteY2" fmla="*/ 596997 h 977190"/>
                <a:gd name="connsiteX3" fmla="*/ 885058 w 885058"/>
                <a:gd name="connsiteY3" fmla="*/ 597695 h 977190"/>
                <a:gd name="connsiteX4" fmla="*/ 700330 w 885058"/>
                <a:gd name="connsiteY4" fmla="*/ 977190 h 977190"/>
                <a:gd name="connsiteX5" fmla="*/ 694619 w 885058"/>
                <a:gd name="connsiteY5" fmla="*/ 974438 h 977190"/>
                <a:gd name="connsiteX6" fmla="*/ 14677 w 885058"/>
                <a:gd name="connsiteY6" fmla="*/ 147312 h 977190"/>
                <a:gd name="connsiteX7" fmla="*/ 0 w 885058"/>
                <a:gd name="connsiteY7" fmla="*/ 90233 h 977190"/>
                <a:gd name="connsiteX8" fmla="*/ 399434 w 885058"/>
                <a:gd name="connsiteY8" fmla="*/ 0 h 977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5058" h="977190">
                  <a:moveTo>
                    <a:pt x="399434" y="0"/>
                  </a:moveTo>
                  <a:lnTo>
                    <a:pt x="402433" y="11662"/>
                  </a:lnTo>
                  <a:cubicBezTo>
                    <a:pt x="480802" y="263629"/>
                    <a:pt x="655576" y="473122"/>
                    <a:pt x="883609" y="596997"/>
                  </a:cubicBezTo>
                  <a:lnTo>
                    <a:pt x="885058" y="597695"/>
                  </a:lnTo>
                  <a:lnTo>
                    <a:pt x="700330" y="977190"/>
                  </a:lnTo>
                  <a:lnTo>
                    <a:pt x="694619" y="974438"/>
                  </a:lnTo>
                  <a:cubicBezTo>
                    <a:pt x="372389" y="799392"/>
                    <a:pt x="125420" y="503362"/>
                    <a:pt x="14677" y="147312"/>
                  </a:cubicBezTo>
                  <a:lnTo>
                    <a:pt x="0" y="90233"/>
                  </a:lnTo>
                  <a:lnTo>
                    <a:pt x="399434" y="0"/>
                  </a:lnTo>
                  <a:close/>
                </a:path>
              </a:pathLst>
            </a:custGeom>
            <a:solidFill>
              <a:srgbClr val="FF4F2A"/>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55" name="Freeform: Shape 54">
              <a:extLst>
                <a:ext uri="{FF2B5EF4-FFF2-40B4-BE49-F238E27FC236}">
                  <a16:creationId xmlns:a16="http://schemas.microsoft.com/office/drawing/2014/main" id="{C5157EB1-2FB3-409E-830B-89A22448D48A}"/>
                </a:ext>
              </a:extLst>
            </p:cNvPr>
            <p:cNvSpPr>
              <a:spLocks/>
            </p:cNvSpPr>
            <p:nvPr/>
          </p:nvSpPr>
          <p:spPr bwMode="auto">
            <a:xfrm flipV="1">
              <a:off x="3429311" y="996918"/>
              <a:ext cx="1536858" cy="1835804"/>
            </a:xfrm>
            <a:custGeom>
              <a:avLst/>
              <a:gdLst>
                <a:gd name="connsiteX0" fmla="*/ 273350 w 1536858"/>
                <a:gd name="connsiteY0" fmla="*/ 0 h 1835804"/>
                <a:gd name="connsiteX1" fmla="*/ 308805 w 1536858"/>
                <a:gd name="connsiteY1" fmla="*/ 137891 h 1835804"/>
                <a:gd name="connsiteX2" fmla="*/ 1489874 w 1536858"/>
                <a:gd name="connsiteY2" fmla="*/ 1574622 h 1835804"/>
                <a:gd name="connsiteX3" fmla="*/ 1536858 w 1536858"/>
                <a:gd name="connsiteY3" fmla="*/ 1597255 h 1835804"/>
                <a:gd name="connsiteX4" fmla="*/ 1420739 w 1536858"/>
                <a:gd name="connsiteY4" fmla="*/ 1835804 h 1835804"/>
                <a:gd name="connsiteX5" fmla="*/ 1291751 w 1536858"/>
                <a:gd name="connsiteY5" fmla="*/ 1768506 h 1835804"/>
                <a:gd name="connsiteX6" fmla="*/ 1160894 w 1536858"/>
                <a:gd name="connsiteY6" fmla="*/ 1693730 h 1835804"/>
                <a:gd name="connsiteX7" fmla="*/ 921611 w 1536858"/>
                <a:gd name="connsiteY7" fmla="*/ 1523615 h 1835804"/>
                <a:gd name="connsiteX8" fmla="*/ 704761 w 1536858"/>
                <a:gd name="connsiteY8" fmla="*/ 1332937 h 1835804"/>
                <a:gd name="connsiteX9" fmla="*/ 506606 w 1536858"/>
                <a:gd name="connsiteY9" fmla="*/ 1116088 h 1835804"/>
                <a:gd name="connsiteX10" fmla="*/ 334622 w 1536858"/>
                <a:gd name="connsiteY10" fmla="*/ 878675 h 1835804"/>
                <a:gd name="connsiteX11" fmla="*/ 259846 w 1536858"/>
                <a:gd name="connsiteY11" fmla="*/ 749686 h 1835804"/>
                <a:gd name="connsiteX12" fmla="*/ 192548 w 1536858"/>
                <a:gd name="connsiteY12" fmla="*/ 620698 h 1835804"/>
                <a:gd name="connsiteX13" fmla="*/ 136466 w 1536858"/>
                <a:gd name="connsiteY13" fmla="*/ 484233 h 1835804"/>
                <a:gd name="connsiteX14" fmla="*/ 82253 w 1536858"/>
                <a:gd name="connsiteY14" fmla="*/ 347767 h 1835804"/>
                <a:gd name="connsiteX15" fmla="*/ 35519 w 1536858"/>
                <a:gd name="connsiteY15" fmla="*/ 205693 h 1835804"/>
                <a:gd name="connsiteX16" fmla="*/ 0 w 1536858"/>
                <a:gd name="connsiteY16" fmla="*/ 61750 h 1835804"/>
                <a:gd name="connsiteX17" fmla="*/ 273350 w 1536858"/>
                <a:gd name="connsiteY17" fmla="*/ 0 h 183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6858" h="1835804">
                  <a:moveTo>
                    <a:pt x="273350" y="0"/>
                  </a:moveTo>
                  <a:lnTo>
                    <a:pt x="308805" y="137891"/>
                  </a:lnTo>
                  <a:cubicBezTo>
                    <a:pt x="501167" y="756355"/>
                    <a:pt x="930156" y="1270565"/>
                    <a:pt x="1489874" y="1574622"/>
                  </a:cubicBezTo>
                  <a:lnTo>
                    <a:pt x="1536858" y="1597255"/>
                  </a:lnTo>
                  <a:lnTo>
                    <a:pt x="1420739" y="1835804"/>
                  </a:lnTo>
                  <a:lnTo>
                    <a:pt x="1291751" y="1768506"/>
                  </a:lnTo>
                  <a:lnTo>
                    <a:pt x="1160894" y="1693730"/>
                  </a:lnTo>
                  <a:lnTo>
                    <a:pt x="921611" y="1523615"/>
                  </a:lnTo>
                  <a:lnTo>
                    <a:pt x="704761" y="1332937"/>
                  </a:lnTo>
                  <a:lnTo>
                    <a:pt x="506606" y="1116088"/>
                  </a:lnTo>
                  <a:lnTo>
                    <a:pt x="334622" y="878675"/>
                  </a:lnTo>
                  <a:lnTo>
                    <a:pt x="259846" y="749686"/>
                  </a:lnTo>
                  <a:lnTo>
                    <a:pt x="192548" y="620698"/>
                  </a:lnTo>
                  <a:lnTo>
                    <a:pt x="136466" y="484233"/>
                  </a:lnTo>
                  <a:lnTo>
                    <a:pt x="82253" y="347767"/>
                  </a:lnTo>
                  <a:lnTo>
                    <a:pt x="35519" y="205693"/>
                  </a:lnTo>
                  <a:lnTo>
                    <a:pt x="0" y="61750"/>
                  </a:lnTo>
                  <a:lnTo>
                    <a:pt x="273350" y="0"/>
                  </a:lnTo>
                  <a:close/>
                </a:path>
              </a:pathLst>
            </a:custGeom>
            <a:solidFill>
              <a:srgbClr val="FE7344">
                <a:alpha val="80000"/>
              </a:srgb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54" name="Freeform: Shape 53">
              <a:extLst>
                <a:ext uri="{FF2B5EF4-FFF2-40B4-BE49-F238E27FC236}">
                  <a16:creationId xmlns:a16="http://schemas.microsoft.com/office/drawing/2014/main" id="{BC7A707A-D710-4BA9-BC60-5E57432C8507}"/>
                </a:ext>
              </a:extLst>
            </p:cNvPr>
            <p:cNvSpPr>
              <a:spLocks/>
            </p:cNvSpPr>
            <p:nvPr/>
          </p:nvSpPr>
          <p:spPr bwMode="auto">
            <a:xfrm flipV="1">
              <a:off x="7225831" y="996918"/>
              <a:ext cx="1536858" cy="1835634"/>
            </a:xfrm>
            <a:custGeom>
              <a:avLst/>
              <a:gdLst>
                <a:gd name="connsiteX0" fmla="*/ 1263465 w 1536858"/>
                <a:gd name="connsiteY0" fmla="*/ 0 h 1835634"/>
                <a:gd name="connsiteX1" fmla="*/ 1536858 w 1536858"/>
                <a:gd name="connsiteY1" fmla="*/ 61580 h 1835634"/>
                <a:gd name="connsiteX2" fmla="*/ 1501340 w 1536858"/>
                <a:gd name="connsiteY2" fmla="*/ 205523 h 1835634"/>
                <a:gd name="connsiteX3" fmla="*/ 1454605 w 1536858"/>
                <a:gd name="connsiteY3" fmla="*/ 347597 h 1835634"/>
                <a:gd name="connsiteX4" fmla="*/ 1400392 w 1536858"/>
                <a:gd name="connsiteY4" fmla="*/ 484063 h 1835634"/>
                <a:gd name="connsiteX5" fmla="*/ 1344311 w 1536858"/>
                <a:gd name="connsiteY5" fmla="*/ 620528 h 1835634"/>
                <a:gd name="connsiteX6" fmla="*/ 1277012 w 1536858"/>
                <a:gd name="connsiteY6" fmla="*/ 749516 h 1835634"/>
                <a:gd name="connsiteX7" fmla="*/ 1202237 w 1536858"/>
                <a:gd name="connsiteY7" fmla="*/ 878505 h 1835634"/>
                <a:gd name="connsiteX8" fmla="*/ 1030253 w 1536858"/>
                <a:gd name="connsiteY8" fmla="*/ 1115918 h 1835634"/>
                <a:gd name="connsiteX9" fmla="*/ 832097 w 1536858"/>
                <a:gd name="connsiteY9" fmla="*/ 1332767 h 1835634"/>
                <a:gd name="connsiteX10" fmla="*/ 615247 w 1536858"/>
                <a:gd name="connsiteY10" fmla="*/ 1523445 h 1835634"/>
                <a:gd name="connsiteX11" fmla="*/ 375965 w 1536858"/>
                <a:gd name="connsiteY11" fmla="*/ 1693560 h 1835634"/>
                <a:gd name="connsiteX12" fmla="*/ 245107 w 1536858"/>
                <a:gd name="connsiteY12" fmla="*/ 1768336 h 1835634"/>
                <a:gd name="connsiteX13" fmla="*/ 116119 w 1536858"/>
                <a:gd name="connsiteY13" fmla="*/ 1835634 h 1835634"/>
                <a:gd name="connsiteX14" fmla="*/ 0 w 1536858"/>
                <a:gd name="connsiteY14" fmla="*/ 1597085 h 1835634"/>
                <a:gd name="connsiteX15" fmla="*/ 46984 w 1536858"/>
                <a:gd name="connsiteY15" fmla="*/ 1574452 h 1835634"/>
                <a:gd name="connsiteX16" fmla="*/ 1228053 w 1536858"/>
                <a:gd name="connsiteY16" fmla="*/ 137721 h 1835634"/>
                <a:gd name="connsiteX17" fmla="*/ 1263465 w 1536858"/>
                <a:gd name="connsiteY17" fmla="*/ 0 h 1835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6858" h="1835634">
                  <a:moveTo>
                    <a:pt x="1263465" y="0"/>
                  </a:moveTo>
                  <a:lnTo>
                    <a:pt x="1536858" y="61580"/>
                  </a:lnTo>
                  <a:lnTo>
                    <a:pt x="1501340" y="205523"/>
                  </a:lnTo>
                  <a:lnTo>
                    <a:pt x="1454605" y="347597"/>
                  </a:lnTo>
                  <a:lnTo>
                    <a:pt x="1400392" y="484063"/>
                  </a:lnTo>
                  <a:lnTo>
                    <a:pt x="1344311" y="620528"/>
                  </a:lnTo>
                  <a:lnTo>
                    <a:pt x="1277012" y="749516"/>
                  </a:lnTo>
                  <a:lnTo>
                    <a:pt x="1202237" y="878505"/>
                  </a:lnTo>
                  <a:lnTo>
                    <a:pt x="1030253" y="1115918"/>
                  </a:lnTo>
                  <a:lnTo>
                    <a:pt x="832097" y="1332767"/>
                  </a:lnTo>
                  <a:lnTo>
                    <a:pt x="615247" y="1523445"/>
                  </a:lnTo>
                  <a:lnTo>
                    <a:pt x="375965" y="1693560"/>
                  </a:lnTo>
                  <a:lnTo>
                    <a:pt x="245107" y="1768336"/>
                  </a:lnTo>
                  <a:lnTo>
                    <a:pt x="116119" y="1835634"/>
                  </a:lnTo>
                  <a:lnTo>
                    <a:pt x="0" y="1597085"/>
                  </a:lnTo>
                  <a:lnTo>
                    <a:pt x="46984" y="1574452"/>
                  </a:lnTo>
                  <a:cubicBezTo>
                    <a:pt x="606702" y="1270395"/>
                    <a:pt x="1035691" y="756185"/>
                    <a:pt x="1228053" y="137721"/>
                  </a:cubicBezTo>
                  <a:lnTo>
                    <a:pt x="1263465" y="0"/>
                  </a:lnTo>
                  <a:close/>
                </a:path>
              </a:pathLst>
            </a:custGeom>
            <a:solidFill>
              <a:srgbClr val="703357">
                <a:alpha val="80000"/>
              </a:srgb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53" name="Freeform: Shape 52">
              <a:extLst>
                <a:ext uri="{FF2B5EF4-FFF2-40B4-BE49-F238E27FC236}">
                  <a16:creationId xmlns:a16="http://schemas.microsoft.com/office/drawing/2014/main" id="{E832CDFE-135F-4F95-A5F3-AE687D69DC91}"/>
                </a:ext>
              </a:extLst>
            </p:cNvPr>
            <p:cNvSpPr>
              <a:spLocks/>
            </p:cNvSpPr>
            <p:nvPr/>
          </p:nvSpPr>
          <p:spPr bwMode="auto">
            <a:xfrm flipV="1">
              <a:off x="5526914" y="2007666"/>
              <a:ext cx="1138174" cy="506288"/>
            </a:xfrm>
            <a:custGeom>
              <a:avLst/>
              <a:gdLst>
                <a:gd name="connsiteX0" fmla="*/ 950605 w 1138174"/>
                <a:gd name="connsiteY0" fmla="*/ 0 h 506288"/>
                <a:gd name="connsiteX1" fmla="*/ 1138174 w 1138174"/>
                <a:gd name="connsiteY1" fmla="*/ 386963 h 506288"/>
                <a:gd name="connsiteX2" fmla="*/ 1122333 w 1138174"/>
                <a:gd name="connsiteY2" fmla="*/ 394593 h 506288"/>
                <a:gd name="connsiteX3" fmla="*/ 569086 w 1138174"/>
                <a:gd name="connsiteY3" fmla="*/ 506288 h 506288"/>
                <a:gd name="connsiteX4" fmla="*/ 15839 w 1138174"/>
                <a:gd name="connsiteY4" fmla="*/ 394593 h 506288"/>
                <a:gd name="connsiteX5" fmla="*/ 0 w 1138174"/>
                <a:gd name="connsiteY5" fmla="*/ 386963 h 506288"/>
                <a:gd name="connsiteX6" fmla="*/ 184840 w 1138174"/>
                <a:gd name="connsiteY6" fmla="*/ 5632 h 506288"/>
                <a:gd name="connsiteX7" fmla="*/ 260921 w 1138174"/>
                <a:gd name="connsiteY7" fmla="*/ 33478 h 506288"/>
                <a:gd name="connsiteX8" fmla="*/ 560027 w 1138174"/>
                <a:gd name="connsiteY8" fmla="*/ 78699 h 506288"/>
                <a:gd name="connsiteX9" fmla="*/ 859133 w 1138174"/>
                <a:gd name="connsiteY9" fmla="*/ 33478 h 506288"/>
                <a:gd name="connsiteX10" fmla="*/ 950605 w 1138174"/>
                <a:gd name="connsiteY10" fmla="*/ 0 h 50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8174" h="506288">
                  <a:moveTo>
                    <a:pt x="950605" y="0"/>
                  </a:moveTo>
                  <a:lnTo>
                    <a:pt x="1138174" y="386963"/>
                  </a:lnTo>
                  <a:lnTo>
                    <a:pt x="1122333" y="394593"/>
                  </a:lnTo>
                  <a:cubicBezTo>
                    <a:pt x="952287" y="466516"/>
                    <a:pt x="765331" y="506288"/>
                    <a:pt x="569086" y="506288"/>
                  </a:cubicBezTo>
                  <a:cubicBezTo>
                    <a:pt x="372841" y="506288"/>
                    <a:pt x="185885" y="466516"/>
                    <a:pt x="15839" y="394593"/>
                  </a:cubicBezTo>
                  <a:lnTo>
                    <a:pt x="0" y="386963"/>
                  </a:lnTo>
                  <a:lnTo>
                    <a:pt x="184840" y="5632"/>
                  </a:lnTo>
                  <a:lnTo>
                    <a:pt x="260921" y="33478"/>
                  </a:lnTo>
                  <a:cubicBezTo>
                    <a:pt x="355409" y="62867"/>
                    <a:pt x="455869" y="78699"/>
                    <a:pt x="560027" y="78699"/>
                  </a:cubicBezTo>
                  <a:cubicBezTo>
                    <a:pt x="664185" y="78699"/>
                    <a:pt x="764646" y="62867"/>
                    <a:pt x="859133" y="33478"/>
                  </a:cubicBezTo>
                  <a:lnTo>
                    <a:pt x="950605" y="0"/>
                  </a:lnTo>
                  <a:close/>
                </a:path>
              </a:pathLst>
            </a:custGeom>
            <a:solidFill>
              <a:srgbClr val="FD8107"/>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50" name="Freeform: Shape 49">
              <a:extLst>
                <a:ext uri="{FF2B5EF4-FFF2-40B4-BE49-F238E27FC236}">
                  <a16:creationId xmlns:a16="http://schemas.microsoft.com/office/drawing/2014/main" id="{09C02D1E-CE2F-490E-AD91-2789D40BF7B2}"/>
                </a:ext>
              </a:extLst>
            </p:cNvPr>
            <p:cNvSpPr>
              <a:spLocks/>
            </p:cNvSpPr>
            <p:nvPr/>
          </p:nvSpPr>
          <p:spPr bwMode="auto">
            <a:xfrm flipV="1">
              <a:off x="4952866" y="682861"/>
              <a:ext cx="2286269" cy="502382"/>
            </a:xfrm>
            <a:custGeom>
              <a:avLst/>
              <a:gdLst>
                <a:gd name="connsiteX0" fmla="*/ 2168707 w 2286269"/>
                <a:gd name="connsiteY0" fmla="*/ 0 h 502382"/>
                <a:gd name="connsiteX1" fmla="*/ 2286269 w 2286269"/>
                <a:gd name="connsiteY1" fmla="*/ 242537 h 502382"/>
                <a:gd name="connsiteX2" fmla="*/ 2149803 w 2286269"/>
                <a:gd name="connsiteY2" fmla="*/ 304226 h 502382"/>
                <a:gd name="connsiteX3" fmla="*/ 2005860 w 2286269"/>
                <a:gd name="connsiteY3" fmla="*/ 352831 h 502382"/>
                <a:gd name="connsiteX4" fmla="*/ 1869394 w 2286269"/>
                <a:gd name="connsiteY4" fmla="*/ 399566 h 502382"/>
                <a:gd name="connsiteX5" fmla="*/ 1727320 w 2286269"/>
                <a:gd name="connsiteY5" fmla="*/ 433215 h 502382"/>
                <a:gd name="connsiteX6" fmla="*/ 1583377 w 2286269"/>
                <a:gd name="connsiteY6" fmla="*/ 466864 h 502382"/>
                <a:gd name="connsiteX7" fmla="*/ 1433825 w 2286269"/>
                <a:gd name="connsiteY7" fmla="*/ 481819 h 502382"/>
                <a:gd name="connsiteX8" fmla="*/ 1289882 w 2286269"/>
                <a:gd name="connsiteY8" fmla="*/ 494905 h 502382"/>
                <a:gd name="connsiteX9" fmla="*/ 1140331 w 2286269"/>
                <a:gd name="connsiteY9" fmla="*/ 502382 h 502382"/>
                <a:gd name="connsiteX10" fmla="*/ 996387 w 2286269"/>
                <a:gd name="connsiteY10" fmla="*/ 494905 h 502382"/>
                <a:gd name="connsiteX11" fmla="*/ 852444 w 2286269"/>
                <a:gd name="connsiteY11" fmla="*/ 481819 h 502382"/>
                <a:gd name="connsiteX12" fmla="*/ 702892 w 2286269"/>
                <a:gd name="connsiteY12" fmla="*/ 466864 h 502382"/>
                <a:gd name="connsiteX13" fmla="*/ 558949 w 2286269"/>
                <a:gd name="connsiteY13" fmla="*/ 433215 h 502382"/>
                <a:gd name="connsiteX14" fmla="*/ 416875 w 2286269"/>
                <a:gd name="connsiteY14" fmla="*/ 399566 h 502382"/>
                <a:gd name="connsiteX15" fmla="*/ 280409 w 2286269"/>
                <a:gd name="connsiteY15" fmla="*/ 352831 h 502382"/>
                <a:gd name="connsiteX16" fmla="*/ 136466 w 2286269"/>
                <a:gd name="connsiteY16" fmla="*/ 304226 h 502382"/>
                <a:gd name="connsiteX17" fmla="*/ 0 w 2286269"/>
                <a:gd name="connsiteY17" fmla="*/ 242537 h 502382"/>
                <a:gd name="connsiteX18" fmla="*/ 117563 w 2286269"/>
                <a:gd name="connsiteY18" fmla="*/ 1 h 502382"/>
                <a:gd name="connsiteX19" fmla="*/ 182134 w 2286269"/>
                <a:gd name="connsiteY19" fmla="*/ 31106 h 502382"/>
                <a:gd name="connsiteX20" fmla="*/ 1143134 w 2286269"/>
                <a:gd name="connsiteY20" fmla="*/ 225123 h 502382"/>
                <a:gd name="connsiteX21" fmla="*/ 2104134 w 2286269"/>
                <a:gd name="connsiteY21" fmla="*/ 31106 h 502382"/>
                <a:gd name="connsiteX22" fmla="*/ 2168707 w 2286269"/>
                <a:gd name="connsiteY22" fmla="*/ 0 h 50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86269" h="502382">
                  <a:moveTo>
                    <a:pt x="2168707" y="0"/>
                  </a:moveTo>
                  <a:lnTo>
                    <a:pt x="2286269" y="242537"/>
                  </a:lnTo>
                  <a:lnTo>
                    <a:pt x="2149803" y="304226"/>
                  </a:lnTo>
                  <a:lnTo>
                    <a:pt x="2005860" y="352831"/>
                  </a:lnTo>
                  <a:lnTo>
                    <a:pt x="1869394" y="399566"/>
                  </a:lnTo>
                  <a:lnTo>
                    <a:pt x="1727320" y="433215"/>
                  </a:lnTo>
                  <a:lnTo>
                    <a:pt x="1583377" y="466864"/>
                  </a:lnTo>
                  <a:lnTo>
                    <a:pt x="1433825" y="481819"/>
                  </a:lnTo>
                  <a:lnTo>
                    <a:pt x="1289882" y="494905"/>
                  </a:lnTo>
                  <a:lnTo>
                    <a:pt x="1140331" y="502382"/>
                  </a:lnTo>
                  <a:lnTo>
                    <a:pt x="996387" y="494905"/>
                  </a:lnTo>
                  <a:lnTo>
                    <a:pt x="852444" y="481819"/>
                  </a:lnTo>
                  <a:lnTo>
                    <a:pt x="702892" y="466864"/>
                  </a:lnTo>
                  <a:lnTo>
                    <a:pt x="558949" y="433215"/>
                  </a:lnTo>
                  <a:lnTo>
                    <a:pt x="416875" y="399566"/>
                  </a:lnTo>
                  <a:lnTo>
                    <a:pt x="280409" y="352831"/>
                  </a:lnTo>
                  <a:lnTo>
                    <a:pt x="136466" y="304226"/>
                  </a:lnTo>
                  <a:lnTo>
                    <a:pt x="0" y="242537"/>
                  </a:lnTo>
                  <a:lnTo>
                    <a:pt x="117563" y="1"/>
                  </a:lnTo>
                  <a:lnTo>
                    <a:pt x="182134" y="31106"/>
                  </a:lnTo>
                  <a:cubicBezTo>
                    <a:pt x="477507" y="156039"/>
                    <a:pt x="802253" y="225123"/>
                    <a:pt x="1143134" y="225123"/>
                  </a:cubicBezTo>
                  <a:cubicBezTo>
                    <a:pt x="1484015" y="225123"/>
                    <a:pt x="1808761" y="156039"/>
                    <a:pt x="2104134" y="31106"/>
                  </a:cubicBezTo>
                  <a:lnTo>
                    <a:pt x="2168707" y="0"/>
                  </a:lnTo>
                  <a:close/>
                </a:path>
              </a:pathLst>
            </a:custGeom>
            <a:solidFill>
              <a:srgbClr val="FFA219">
                <a:alpha val="80000"/>
              </a:srgbClr>
            </a:solidFill>
            <a:ln>
              <a:noFill/>
            </a:ln>
          </p:spPr>
          <p:txBody>
            <a:bodyPr vert="horz" wrap="square" lIns="91440" tIns="45720" rIns="91440" bIns="45720" numCol="1" anchor="t" anchorCtr="0" compatLnSpc="1">
              <a:prstTxWarp prst="textNoShape">
                <a:avLst/>
              </a:prstTxWarp>
              <a:noAutofit/>
            </a:bodyPr>
            <a:lstStyle/>
            <a:p>
              <a:endParaRPr lang="en-US"/>
            </a:p>
          </p:txBody>
        </p:sp>
        <p:grpSp>
          <p:nvGrpSpPr>
            <p:cNvPr id="38" name="Group 37">
              <a:extLst>
                <a:ext uri="{FF2B5EF4-FFF2-40B4-BE49-F238E27FC236}">
                  <a16:creationId xmlns:a16="http://schemas.microsoft.com/office/drawing/2014/main" id="{040E778C-FF86-4B8C-9926-9485E2FF3925}"/>
                </a:ext>
              </a:extLst>
            </p:cNvPr>
            <p:cNvGrpSpPr/>
            <p:nvPr/>
          </p:nvGrpSpPr>
          <p:grpSpPr>
            <a:xfrm>
              <a:off x="3818347" y="1999252"/>
              <a:ext cx="1329604" cy="786067"/>
              <a:chOff x="5364202" y="1229480"/>
              <a:chExt cx="1329604" cy="786067"/>
            </a:xfrm>
          </p:grpSpPr>
          <p:sp>
            <p:nvSpPr>
              <p:cNvPr id="39" name="Rectangle 38">
                <a:extLst>
                  <a:ext uri="{FF2B5EF4-FFF2-40B4-BE49-F238E27FC236}">
                    <a16:creationId xmlns:a16="http://schemas.microsoft.com/office/drawing/2014/main" id="{4D62D367-13FA-4BF0-8E5F-DE02362839E1}"/>
                  </a:ext>
                </a:extLst>
              </p:cNvPr>
              <p:cNvSpPr/>
              <p:nvPr/>
            </p:nvSpPr>
            <p:spPr>
              <a:xfrm>
                <a:off x="5364202" y="1448149"/>
                <a:ext cx="1329604" cy="567398"/>
              </a:xfrm>
              <a:prstGeom prst="rect">
                <a:avLst/>
              </a:prstGeom>
            </p:spPr>
            <p:txBody>
              <a:bodyPr wrap="square">
                <a:spAutoFit/>
              </a:bodyPr>
              <a:lstStyle/>
              <a:p>
                <a:pPr algn="ctr"/>
                <a:r>
                  <a:rPr lang="en-US" sz="1000" i="0" dirty="0">
                    <a:solidFill>
                      <a:schemeClr val="bg1"/>
                    </a:solidFill>
                    <a:effectLst/>
                    <a:latin typeface="Open Sans" panose="020B0606030504020204" pitchFamily="34" charset="0"/>
                  </a:rPr>
                  <a:t>Capital, technology, financial, environmental, any government restriction</a:t>
                </a:r>
                <a:endParaRPr lang="en-US" sz="1000" dirty="0">
                  <a:solidFill>
                    <a:schemeClr val="bg1"/>
                  </a:solidFill>
                </a:endParaRPr>
              </a:p>
            </p:txBody>
          </p:sp>
          <p:sp>
            <p:nvSpPr>
              <p:cNvPr id="40" name="Rectangle 39">
                <a:extLst>
                  <a:ext uri="{FF2B5EF4-FFF2-40B4-BE49-F238E27FC236}">
                    <a16:creationId xmlns:a16="http://schemas.microsoft.com/office/drawing/2014/main" id="{BD6D5E45-DA98-48DA-BEFC-5DBCD1D7BF7F}"/>
                  </a:ext>
                </a:extLst>
              </p:cNvPr>
              <p:cNvSpPr/>
              <p:nvPr/>
            </p:nvSpPr>
            <p:spPr>
              <a:xfrm>
                <a:off x="5550822" y="1229480"/>
                <a:ext cx="1078765" cy="230832"/>
              </a:xfrm>
              <a:prstGeom prst="rect">
                <a:avLst/>
              </a:prstGeom>
            </p:spPr>
            <p:txBody>
              <a:bodyPr wrap="square">
                <a:spAutoFit/>
              </a:bodyPr>
              <a:lstStyle/>
              <a:p>
                <a:pPr algn="ctr"/>
                <a:r>
                  <a:rPr lang="en-US" sz="1200" b="1" i="0" dirty="0">
                    <a:solidFill>
                      <a:schemeClr val="bg1"/>
                    </a:solidFill>
                    <a:effectLst/>
                    <a:latin typeface="Open Sans" panose="020B0606030504020204" pitchFamily="34" charset="0"/>
                  </a:rPr>
                  <a:t>Feasibility</a:t>
                </a:r>
                <a:endParaRPr lang="en-US" sz="1200" b="1" dirty="0">
                  <a:solidFill>
                    <a:schemeClr val="bg1"/>
                  </a:solidFill>
                </a:endParaRPr>
              </a:p>
            </p:txBody>
          </p:sp>
        </p:grpSp>
        <p:grpSp>
          <p:nvGrpSpPr>
            <p:cNvPr id="41" name="Group 40">
              <a:extLst>
                <a:ext uri="{FF2B5EF4-FFF2-40B4-BE49-F238E27FC236}">
                  <a16:creationId xmlns:a16="http://schemas.microsoft.com/office/drawing/2014/main" id="{F174179A-8FDC-46B1-9460-489D18D74A4C}"/>
                </a:ext>
              </a:extLst>
            </p:cNvPr>
            <p:cNvGrpSpPr/>
            <p:nvPr/>
          </p:nvGrpSpPr>
          <p:grpSpPr>
            <a:xfrm>
              <a:off x="7160322" y="3582689"/>
              <a:ext cx="197541" cy="197541"/>
              <a:chOff x="8889951" y="2760237"/>
              <a:chExt cx="402172" cy="402172"/>
            </a:xfrm>
            <a:solidFill>
              <a:schemeClr val="bg1"/>
            </a:solidFill>
          </p:grpSpPr>
          <p:sp>
            <p:nvSpPr>
              <p:cNvPr id="42" name="Freeform: Shape 41">
                <a:extLst>
                  <a:ext uri="{FF2B5EF4-FFF2-40B4-BE49-F238E27FC236}">
                    <a16:creationId xmlns:a16="http://schemas.microsoft.com/office/drawing/2014/main" id="{95699625-F62C-4DD2-B670-E63D21F887CD}"/>
                  </a:ext>
                </a:extLst>
              </p:cNvPr>
              <p:cNvSpPr/>
              <p:nvPr/>
            </p:nvSpPr>
            <p:spPr>
              <a:xfrm>
                <a:off x="8889951" y="2760237"/>
                <a:ext cx="402172" cy="402172"/>
              </a:xfrm>
              <a:custGeom>
                <a:avLst/>
                <a:gdLst>
                  <a:gd name="connsiteX0" fmla="*/ 35486 w 402171"/>
                  <a:gd name="connsiteY0" fmla="*/ 0 h 402171"/>
                  <a:gd name="connsiteX1" fmla="*/ 0 w 402171"/>
                  <a:gd name="connsiteY1" fmla="*/ 0 h 402171"/>
                  <a:gd name="connsiteX2" fmla="*/ 0 w 402171"/>
                  <a:gd name="connsiteY2" fmla="*/ 402172 h 402171"/>
                  <a:gd name="connsiteX3" fmla="*/ 402172 w 402171"/>
                  <a:gd name="connsiteY3" fmla="*/ 402172 h 402171"/>
                  <a:gd name="connsiteX4" fmla="*/ 402172 w 402171"/>
                  <a:gd name="connsiteY4" fmla="*/ 366686 h 402171"/>
                  <a:gd name="connsiteX5" fmla="*/ 35486 w 402171"/>
                  <a:gd name="connsiteY5" fmla="*/ 366686 h 40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2171" h="402171">
                    <a:moveTo>
                      <a:pt x="35486" y="0"/>
                    </a:moveTo>
                    <a:lnTo>
                      <a:pt x="0" y="0"/>
                    </a:lnTo>
                    <a:lnTo>
                      <a:pt x="0" y="402172"/>
                    </a:lnTo>
                    <a:lnTo>
                      <a:pt x="402172" y="402172"/>
                    </a:lnTo>
                    <a:lnTo>
                      <a:pt x="402172" y="366686"/>
                    </a:lnTo>
                    <a:lnTo>
                      <a:pt x="35486" y="366686"/>
                    </a:lnTo>
                    <a:close/>
                  </a:path>
                </a:pathLst>
              </a:custGeom>
              <a:grpFill/>
              <a:ln w="58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1978F15-80E8-4AB6-B818-131F9F0846D3}"/>
                  </a:ext>
                </a:extLst>
              </p:cNvPr>
              <p:cNvSpPr/>
              <p:nvPr/>
            </p:nvSpPr>
            <p:spPr>
              <a:xfrm>
                <a:off x="8960923" y="2884437"/>
                <a:ext cx="65057" cy="207000"/>
              </a:xfrm>
              <a:custGeom>
                <a:avLst/>
                <a:gdLst>
                  <a:gd name="connsiteX0" fmla="*/ 0 w 65057"/>
                  <a:gd name="connsiteY0" fmla="*/ 0 h 207000"/>
                  <a:gd name="connsiteX1" fmla="*/ 65057 w 65057"/>
                  <a:gd name="connsiteY1" fmla="*/ 0 h 207000"/>
                  <a:gd name="connsiteX2" fmla="*/ 65057 w 65057"/>
                  <a:gd name="connsiteY2" fmla="*/ 207000 h 207000"/>
                  <a:gd name="connsiteX3" fmla="*/ 0 w 65057"/>
                  <a:gd name="connsiteY3" fmla="*/ 207000 h 207000"/>
                </a:gdLst>
                <a:ahLst/>
                <a:cxnLst>
                  <a:cxn ang="0">
                    <a:pos x="connsiteX0" y="connsiteY0"/>
                  </a:cxn>
                  <a:cxn ang="0">
                    <a:pos x="connsiteX1" y="connsiteY1"/>
                  </a:cxn>
                  <a:cxn ang="0">
                    <a:pos x="connsiteX2" y="connsiteY2"/>
                  </a:cxn>
                  <a:cxn ang="0">
                    <a:pos x="connsiteX3" y="connsiteY3"/>
                  </a:cxn>
                </a:cxnLst>
                <a:rect l="l" t="t" r="r" b="b"/>
                <a:pathLst>
                  <a:path w="65057" h="207000">
                    <a:moveTo>
                      <a:pt x="0" y="0"/>
                    </a:moveTo>
                    <a:lnTo>
                      <a:pt x="65057" y="0"/>
                    </a:lnTo>
                    <a:lnTo>
                      <a:pt x="65057" y="207000"/>
                    </a:lnTo>
                    <a:lnTo>
                      <a:pt x="0" y="207000"/>
                    </a:lnTo>
                    <a:close/>
                  </a:path>
                </a:pathLst>
              </a:custGeom>
              <a:grpFill/>
              <a:ln w="58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36092A7B-C255-419C-A8D7-51D520531FE1}"/>
                  </a:ext>
                </a:extLst>
              </p:cNvPr>
              <p:cNvSpPr/>
              <p:nvPr/>
            </p:nvSpPr>
            <p:spPr>
              <a:xfrm>
                <a:off x="9049637" y="2760237"/>
                <a:ext cx="65057" cy="331200"/>
              </a:xfrm>
              <a:custGeom>
                <a:avLst/>
                <a:gdLst>
                  <a:gd name="connsiteX0" fmla="*/ 0 w 65057"/>
                  <a:gd name="connsiteY0" fmla="*/ 0 h 331200"/>
                  <a:gd name="connsiteX1" fmla="*/ 65057 w 65057"/>
                  <a:gd name="connsiteY1" fmla="*/ 0 h 331200"/>
                  <a:gd name="connsiteX2" fmla="*/ 65057 w 65057"/>
                  <a:gd name="connsiteY2" fmla="*/ 331200 h 331200"/>
                  <a:gd name="connsiteX3" fmla="*/ 0 w 65057"/>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65057" h="331200">
                    <a:moveTo>
                      <a:pt x="0" y="0"/>
                    </a:moveTo>
                    <a:lnTo>
                      <a:pt x="65057" y="0"/>
                    </a:lnTo>
                    <a:lnTo>
                      <a:pt x="65057" y="331200"/>
                    </a:lnTo>
                    <a:lnTo>
                      <a:pt x="0" y="331200"/>
                    </a:lnTo>
                    <a:close/>
                  </a:path>
                </a:pathLst>
              </a:custGeom>
              <a:grpFill/>
              <a:ln w="58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FE41D780-D766-40F0-8C12-D8CB48DE2C95}"/>
                  </a:ext>
                </a:extLst>
              </p:cNvPr>
              <p:cNvSpPr/>
              <p:nvPr/>
            </p:nvSpPr>
            <p:spPr>
              <a:xfrm>
                <a:off x="9138351" y="2884437"/>
                <a:ext cx="65057" cy="207000"/>
              </a:xfrm>
              <a:custGeom>
                <a:avLst/>
                <a:gdLst>
                  <a:gd name="connsiteX0" fmla="*/ 0 w 65057"/>
                  <a:gd name="connsiteY0" fmla="*/ 0 h 207000"/>
                  <a:gd name="connsiteX1" fmla="*/ 65057 w 65057"/>
                  <a:gd name="connsiteY1" fmla="*/ 0 h 207000"/>
                  <a:gd name="connsiteX2" fmla="*/ 65057 w 65057"/>
                  <a:gd name="connsiteY2" fmla="*/ 207000 h 207000"/>
                  <a:gd name="connsiteX3" fmla="*/ 0 w 65057"/>
                  <a:gd name="connsiteY3" fmla="*/ 207000 h 207000"/>
                </a:gdLst>
                <a:ahLst/>
                <a:cxnLst>
                  <a:cxn ang="0">
                    <a:pos x="connsiteX0" y="connsiteY0"/>
                  </a:cxn>
                  <a:cxn ang="0">
                    <a:pos x="connsiteX1" y="connsiteY1"/>
                  </a:cxn>
                  <a:cxn ang="0">
                    <a:pos x="connsiteX2" y="connsiteY2"/>
                  </a:cxn>
                  <a:cxn ang="0">
                    <a:pos x="connsiteX3" y="connsiteY3"/>
                  </a:cxn>
                </a:cxnLst>
                <a:rect l="l" t="t" r="r" b="b"/>
                <a:pathLst>
                  <a:path w="65057" h="207000">
                    <a:moveTo>
                      <a:pt x="0" y="0"/>
                    </a:moveTo>
                    <a:lnTo>
                      <a:pt x="65057" y="0"/>
                    </a:lnTo>
                    <a:lnTo>
                      <a:pt x="65057" y="207000"/>
                    </a:lnTo>
                    <a:lnTo>
                      <a:pt x="0" y="207000"/>
                    </a:lnTo>
                    <a:close/>
                  </a:path>
                </a:pathLst>
              </a:custGeom>
              <a:grpFill/>
              <a:ln w="58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68AE94F-4996-4424-8171-D984E6A05410}"/>
                  </a:ext>
                </a:extLst>
              </p:cNvPr>
              <p:cNvSpPr/>
              <p:nvPr/>
            </p:nvSpPr>
            <p:spPr>
              <a:xfrm>
                <a:off x="9227066" y="2984980"/>
                <a:ext cx="65057" cy="106457"/>
              </a:xfrm>
              <a:custGeom>
                <a:avLst/>
                <a:gdLst>
                  <a:gd name="connsiteX0" fmla="*/ 0 w 65057"/>
                  <a:gd name="connsiteY0" fmla="*/ 0 h 106457"/>
                  <a:gd name="connsiteX1" fmla="*/ 65057 w 65057"/>
                  <a:gd name="connsiteY1" fmla="*/ 0 h 106457"/>
                  <a:gd name="connsiteX2" fmla="*/ 65057 w 65057"/>
                  <a:gd name="connsiteY2" fmla="*/ 106457 h 106457"/>
                  <a:gd name="connsiteX3" fmla="*/ 0 w 65057"/>
                  <a:gd name="connsiteY3" fmla="*/ 106457 h 106457"/>
                </a:gdLst>
                <a:ahLst/>
                <a:cxnLst>
                  <a:cxn ang="0">
                    <a:pos x="connsiteX0" y="connsiteY0"/>
                  </a:cxn>
                  <a:cxn ang="0">
                    <a:pos x="connsiteX1" y="connsiteY1"/>
                  </a:cxn>
                  <a:cxn ang="0">
                    <a:pos x="connsiteX2" y="connsiteY2"/>
                  </a:cxn>
                  <a:cxn ang="0">
                    <a:pos x="connsiteX3" y="connsiteY3"/>
                  </a:cxn>
                </a:cxnLst>
                <a:rect l="l" t="t" r="r" b="b"/>
                <a:pathLst>
                  <a:path w="65057" h="106457">
                    <a:moveTo>
                      <a:pt x="0" y="0"/>
                    </a:moveTo>
                    <a:lnTo>
                      <a:pt x="65057" y="0"/>
                    </a:lnTo>
                    <a:lnTo>
                      <a:pt x="65057" y="106457"/>
                    </a:lnTo>
                    <a:lnTo>
                      <a:pt x="0" y="106457"/>
                    </a:lnTo>
                    <a:close/>
                  </a:path>
                </a:pathLst>
              </a:custGeom>
              <a:grpFill/>
              <a:ln w="5854" cap="flat">
                <a:noFill/>
                <a:prstDash val="solid"/>
                <a:miter/>
              </a:ln>
            </p:spPr>
            <p:txBody>
              <a:bodyPr rtlCol="0" anchor="ctr"/>
              <a:lstStyle/>
              <a:p>
                <a:endParaRPr lang="en-US"/>
              </a:p>
            </p:txBody>
          </p:sp>
        </p:grpSp>
        <p:pic>
          <p:nvPicPr>
            <p:cNvPr id="59" name="Graphic 58" descr="Circles with arrows">
              <a:extLst>
                <a:ext uri="{FF2B5EF4-FFF2-40B4-BE49-F238E27FC236}">
                  <a16:creationId xmlns:a16="http://schemas.microsoft.com/office/drawing/2014/main" id="{7F326FCD-0944-4F42-A9F2-4B481FCAF91C}"/>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1529296" y="3178984"/>
              <a:ext cx="352541" cy="352541"/>
            </a:xfrm>
            <a:prstGeom prst="rect">
              <a:avLst/>
            </a:prstGeom>
          </p:spPr>
        </p:pic>
        <p:pic>
          <p:nvPicPr>
            <p:cNvPr id="62" name="Graphic 61" descr="Lock">
              <a:extLst>
                <a:ext uri="{FF2B5EF4-FFF2-40B4-BE49-F238E27FC236}">
                  <a16:creationId xmlns:a16="http://schemas.microsoft.com/office/drawing/2014/main" id="{FA1B2ADD-AC1B-4594-8BD6-923FE42721C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5397328" y="4345023"/>
              <a:ext cx="320492" cy="320492"/>
            </a:xfrm>
            <a:prstGeom prst="rect">
              <a:avLst/>
            </a:prstGeom>
          </p:spPr>
        </p:pic>
        <p:grpSp>
          <p:nvGrpSpPr>
            <p:cNvPr id="66" name="Group 65">
              <a:extLst>
                <a:ext uri="{FF2B5EF4-FFF2-40B4-BE49-F238E27FC236}">
                  <a16:creationId xmlns:a16="http://schemas.microsoft.com/office/drawing/2014/main" id="{700A7AAD-F06D-41CB-A787-E464758D93FC}"/>
                </a:ext>
              </a:extLst>
            </p:cNvPr>
            <p:cNvGrpSpPr/>
            <p:nvPr/>
          </p:nvGrpSpPr>
          <p:grpSpPr>
            <a:xfrm>
              <a:off x="6487416" y="4420187"/>
              <a:ext cx="272652" cy="148719"/>
              <a:chOff x="6408540" y="5966455"/>
              <a:chExt cx="838200" cy="457200"/>
            </a:xfrm>
            <a:solidFill>
              <a:schemeClr val="bg1"/>
            </a:solidFill>
          </p:grpSpPr>
          <p:sp>
            <p:nvSpPr>
              <p:cNvPr id="69" name="Freeform: Shape 68">
                <a:extLst>
                  <a:ext uri="{FF2B5EF4-FFF2-40B4-BE49-F238E27FC236}">
                    <a16:creationId xmlns:a16="http://schemas.microsoft.com/office/drawing/2014/main" id="{66FE105B-7F88-4636-B47B-605A945393B0}"/>
                  </a:ext>
                </a:extLst>
              </p:cNvPr>
              <p:cNvSpPr/>
              <p:nvPr/>
            </p:nvSpPr>
            <p:spPr>
              <a:xfrm>
                <a:off x="6408540" y="5966455"/>
                <a:ext cx="666750" cy="457200"/>
              </a:xfrm>
              <a:custGeom>
                <a:avLst/>
                <a:gdLst>
                  <a:gd name="connsiteX0" fmla="*/ 400050 w 666750"/>
                  <a:gd name="connsiteY0" fmla="*/ 58103 h 457200"/>
                  <a:gd name="connsiteX1" fmla="*/ 400050 w 666750"/>
                  <a:gd name="connsiteY1" fmla="*/ 96202 h 457200"/>
                  <a:gd name="connsiteX2" fmla="*/ 419100 w 666750"/>
                  <a:gd name="connsiteY2" fmla="*/ 95250 h 457200"/>
                  <a:gd name="connsiteX3" fmla="*/ 438150 w 666750"/>
                  <a:gd name="connsiteY3" fmla="*/ 96202 h 457200"/>
                  <a:gd name="connsiteX4" fmla="*/ 438150 w 666750"/>
                  <a:gd name="connsiteY4" fmla="*/ 58103 h 457200"/>
                  <a:gd name="connsiteX5" fmla="*/ 542925 w 666750"/>
                  <a:gd name="connsiteY5" fmla="*/ 80010 h 457200"/>
                  <a:gd name="connsiteX6" fmla="*/ 528638 w 666750"/>
                  <a:gd name="connsiteY6" fmla="*/ 114300 h 457200"/>
                  <a:gd name="connsiteX7" fmla="*/ 563880 w 666750"/>
                  <a:gd name="connsiteY7" fmla="*/ 129540 h 457200"/>
                  <a:gd name="connsiteX8" fmla="*/ 578168 w 666750"/>
                  <a:gd name="connsiteY8" fmla="*/ 94298 h 457200"/>
                  <a:gd name="connsiteX9" fmla="*/ 628650 w 666750"/>
                  <a:gd name="connsiteY9" fmla="*/ 124777 h 457200"/>
                  <a:gd name="connsiteX10" fmla="*/ 669608 w 666750"/>
                  <a:gd name="connsiteY10" fmla="*/ 83820 h 457200"/>
                  <a:gd name="connsiteX11" fmla="*/ 419100 w 666750"/>
                  <a:gd name="connsiteY11" fmla="*/ 0 h 457200"/>
                  <a:gd name="connsiteX12" fmla="*/ 0 w 666750"/>
                  <a:gd name="connsiteY12" fmla="*/ 419100 h 457200"/>
                  <a:gd name="connsiteX13" fmla="*/ 0 w 666750"/>
                  <a:gd name="connsiteY13" fmla="*/ 457200 h 457200"/>
                  <a:gd name="connsiteX14" fmla="*/ 57150 w 666750"/>
                  <a:gd name="connsiteY14" fmla="*/ 457200 h 457200"/>
                  <a:gd name="connsiteX15" fmla="*/ 57150 w 666750"/>
                  <a:gd name="connsiteY15" fmla="*/ 419100 h 457200"/>
                  <a:gd name="connsiteX16" fmla="*/ 75248 w 666750"/>
                  <a:gd name="connsiteY16" fmla="*/ 306705 h 457200"/>
                  <a:gd name="connsiteX17" fmla="*/ 110490 w 666750"/>
                  <a:gd name="connsiteY17" fmla="*/ 320993 h 457200"/>
                  <a:gd name="connsiteX18" fmla="*/ 123825 w 666750"/>
                  <a:gd name="connsiteY18" fmla="*/ 285750 h 457200"/>
                  <a:gd name="connsiteX19" fmla="*/ 88583 w 666750"/>
                  <a:gd name="connsiteY19" fmla="*/ 271463 h 457200"/>
                  <a:gd name="connsiteX20" fmla="*/ 145733 w 666750"/>
                  <a:gd name="connsiteY20" fmla="*/ 182880 h 457200"/>
                  <a:gd name="connsiteX21" fmla="*/ 172403 w 666750"/>
                  <a:gd name="connsiteY21" fmla="*/ 209550 h 457200"/>
                  <a:gd name="connsiteX22" fmla="*/ 199073 w 666750"/>
                  <a:gd name="connsiteY22" fmla="*/ 181927 h 457200"/>
                  <a:gd name="connsiteX23" fmla="*/ 172403 w 666750"/>
                  <a:gd name="connsiteY23" fmla="*/ 155258 h 457200"/>
                  <a:gd name="connsiteX24" fmla="*/ 260033 w 666750"/>
                  <a:gd name="connsiteY24" fmla="*/ 94298 h 457200"/>
                  <a:gd name="connsiteX25" fmla="*/ 274320 w 666750"/>
                  <a:gd name="connsiteY25" fmla="*/ 129540 h 457200"/>
                  <a:gd name="connsiteX26" fmla="*/ 309563 w 666750"/>
                  <a:gd name="connsiteY26" fmla="*/ 114300 h 457200"/>
                  <a:gd name="connsiteX27" fmla="*/ 295275 w 666750"/>
                  <a:gd name="connsiteY27" fmla="*/ 79057 h 457200"/>
                  <a:gd name="connsiteX28" fmla="*/ 400050 w 666750"/>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6750" h="457200">
                    <a:moveTo>
                      <a:pt x="400050" y="58103"/>
                    </a:moveTo>
                    <a:lnTo>
                      <a:pt x="400050" y="96202"/>
                    </a:lnTo>
                    <a:cubicBezTo>
                      <a:pt x="406718" y="96202"/>
                      <a:pt x="412433" y="95250"/>
                      <a:pt x="419100" y="95250"/>
                    </a:cubicBezTo>
                    <a:cubicBezTo>
                      <a:pt x="425768" y="95250"/>
                      <a:pt x="431483" y="95250"/>
                      <a:pt x="438150" y="96202"/>
                    </a:cubicBezTo>
                    <a:lnTo>
                      <a:pt x="438150" y="58103"/>
                    </a:lnTo>
                    <a:cubicBezTo>
                      <a:pt x="475298" y="60007"/>
                      <a:pt x="510540" y="67628"/>
                      <a:pt x="542925" y="80010"/>
                    </a:cubicBezTo>
                    <a:lnTo>
                      <a:pt x="528638" y="114300"/>
                    </a:lnTo>
                    <a:cubicBezTo>
                      <a:pt x="541020" y="119063"/>
                      <a:pt x="552450" y="123825"/>
                      <a:pt x="563880" y="129540"/>
                    </a:cubicBezTo>
                    <a:lnTo>
                      <a:pt x="578168" y="94298"/>
                    </a:lnTo>
                    <a:cubicBezTo>
                      <a:pt x="596265" y="102870"/>
                      <a:pt x="612458" y="113348"/>
                      <a:pt x="628650" y="124777"/>
                    </a:cubicBezTo>
                    <a:lnTo>
                      <a:pt x="669608" y="83820"/>
                    </a:lnTo>
                    <a:cubicBezTo>
                      <a:pt x="600075" y="31432"/>
                      <a:pt x="513398" y="0"/>
                      <a:pt x="419100" y="0"/>
                    </a:cubicBezTo>
                    <a:cubicBezTo>
                      <a:pt x="187643" y="0"/>
                      <a:pt x="0" y="187643"/>
                      <a:pt x="0" y="419100"/>
                    </a:cubicBezTo>
                    <a:lnTo>
                      <a:pt x="0" y="457200"/>
                    </a:lnTo>
                    <a:lnTo>
                      <a:pt x="57150" y="457200"/>
                    </a:lnTo>
                    <a:lnTo>
                      <a:pt x="57150" y="419100"/>
                    </a:lnTo>
                    <a:cubicBezTo>
                      <a:pt x="57150" y="380048"/>
                      <a:pt x="63818" y="341948"/>
                      <a:pt x="75248" y="306705"/>
                    </a:cubicBezTo>
                    <a:lnTo>
                      <a:pt x="110490" y="320993"/>
                    </a:lnTo>
                    <a:cubicBezTo>
                      <a:pt x="114300" y="308610"/>
                      <a:pt x="119063" y="297180"/>
                      <a:pt x="123825" y="285750"/>
                    </a:cubicBezTo>
                    <a:lnTo>
                      <a:pt x="88583" y="271463"/>
                    </a:lnTo>
                    <a:cubicBezTo>
                      <a:pt x="102870" y="239077"/>
                      <a:pt x="122873" y="208598"/>
                      <a:pt x="145733" y="182880"/>
                    </a:cubicBezTo>
                    <a:lnTo>
                      <a:pt x="172403" y="209550"/>
                    </a:lnTo>
                    <a:cubicBezTo>
                      <a:pt x="180975" y="200025"/>
                      <a:pt x="189548" y="190500"/>
                      <a:pt x="199073" y="181927"/>
                    </a:cubicBezTo>
                    <a:lnTo>
                      <a:pt x="172403" y="155258"/>
                    </a:lnTo>
                    <a:cubicBezTo>
                      <a:pt x="198120" y="131445"/>
                      <a:pt x="227648" y="110490"/>
                      <a:pt x="260033" y="94298"/>
                    </a:cubicBezTo>
                    <a:lnTo>
                      <a:pt x="274320" y="129540"/>
                    </a:lnTo>
                    <a:cubicBezTo>
                      <a:pt x="285750" y="123825"/>
                      <a:pt x="297180" y="119063"/>
                      <a:pt x="309563" y="114300"/>
                    </a:cubicBezTo>
                    <a:lnTo>
                      <a:pt x="295275" y="79057"/>
                    </a:lnTo>
                    <a:cubicBezTo>
                      <a:pt x="327660" y="66675"/>
                      <a:pt x="362903" y="60007"/>
                      <a:pt x="400050" y="58103"/>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78483349-D097-4DE0-A256-C6EA645A3E62}"/>
                  </a:ext>
                </a:extLst>
              </p:cNvPr>
              <p:cNvSpPr/>
              <p:nvPr/>
            </p:nvSpPr>
            <p:spPr>
              <a:xfrm>
                <a:off x="7122915" y="6145525"/>
                <a:ext cx="123825" cy="276225"/>
              </a:xfrm>
              <a:custGeom>
                <a:avLst/>
                <a:gdLst>
                  <a:gd name="connsiteX0" fmla="*/ 48577 w 123825"/>
                  <a:gd name="connsiteY0" fmla="*/ 0 h 276225"/>
                  <a:gd name="connsiteX1" fmla="*/ 7620 w 123825"/>
                  <a:gd name="connsiteY1" fmla="*/ 40957 h 276225"/>
                  <a:gd name="connsiteX2" fmla="*/ 35242 w 123825"/>
                  <a:gd name="connsiteY2" fmla="*/ 91440 h 276225"/>
                  <a:gd name="connsiteX3" fmla="*/ 0 w 123825"/>
                  <a:gd name="connsiteY3" fmla="*/ 106680 h 276225"/>
                  <a:gd name="connsiteX4" fmla="*/ 13335 w 123825"/>
                  <a:gd name="connsiteY4" fmla="*/ 141923 h 276225"/>
                  <a:gd name="connsiteX5" fmla="*/ 48577 w 123825"/>
                  <a:gd name="connsiteY5" fmla="*/ 127635 h 276225"/>
                  <a:gd name="connsiteX6" fmla="*/ 66675 w 123825"/>
                  <a:gd name="connsiteY6" fmla="*/ 240030 h 276225"/>
                  <a:gd name="connsiteX7" fmla="*/ 66675 w 123825"/>
                  <a:gd name="connsiteY7" fmla="*/ 278130 h 276225"/>
                  <a:gd name="connsiteX8" fmla="*/ 123825 w 123825"/>
                  <a:gd name="connsiteY8" fmla="*/ 278130 h 276225"/>
                  <a:gd name="connsiteX9" fmla="*/ 123825 w 123825"/>
                  <a:gd name="connsiteY9" fmla="*/ 240030 h 276225"/>
                  <a:gd name="connsiteX10" fmla="*/ 48577 w 123825"/>
                  <a:gd name="connsiteY10" fmla="*/ 0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5" h="276225">
                    <a:moveTo>
                      <a:pt x="48577" y="0"/>
                    </a:moveTo>
                    <a:lnTo>
                      <a:pt x="7620" y="40957"/>
                    </a:lnTo>
                    <a:cubicBezTo>
                      <a:pt x="18098" y="57150"/>
                      <a:pt x="27623" y="74295"/>
                      <a:pt x="35242" y="91440"/>
                    </a:cubicBezTo>
                    <a:lnTo>
                      <a:pt x="0" y="106680"/>
                    </a:lnTo>
                    <a:cubicBezTo>
                      <a:pt x="4763" y="118110"/>
                      <a:pt x="9525" y="130493"/>
                      <a:pt x="13335" y="141923"/>
                    </a:cubicBezTo>
                    <a:lnTo>
                      <a:pt x="48577" y="127635"/>
                    </a:lnTo>
                    <a:cubicBezTo>
                      <a:pt x="60008" y="162878"/>
                      <a:pt x="66675" y="200978"/>
                      <a:pt x="66675" y="240030"/>
                    </a:cubicBezTo>
                    <a:lnTo>
                      <a:pt x="66675" y="278130"/>
                    </a:lnTo>
                    <a:lnTo>
                      <a:pt x="123825" y="278130"/>
                    </a:lnTo>
                    <a:lnTo>
                      <a:pt x="123825" y="240030"/>
                    </a:lnTo>
                    <a:cubicBezTo>
                      <a:pt x="123825" y="150495"/>
                      <a:pt x="96202" y="68580"/>
                      <a:pt x="48577" y="0"/>
                    </a:cubicBezTo>
                    <a:close/>
                  </a:path>
                </a:pathLst>
              </a:custGeom>
              <a:grpFill/>
              <a:ln w="9525" cap="flat">
                <a:noFill/>
                <a:prstDash val="solid"/>
                <a:miter/>
              </a:ln>
            </p:spPr>
            <p:txBody>
              <a:bodyPr rtlCol="0" anchor="ctr"/>
              <a:lstStyle/>
              <a:p>
                <a:endParaRPr lang="en-US"/>
              </a:p>
            </p:txBody>
          </p:sp>
        </p:grpSp>
        <p:grpSp>
          <p:nvGrpSpPr>
            <p:cNvPr id="78" name="Group 77">
              <a:extLst>
                <a:ext uri="{FF2B5EF4-FFF2-40B4-BE49-F238E27FC236}">
                  <a16:creationId xmlns:a16="http://schemas.microsoft.com/office/drawing/2014/main" id="{277E5F8A-8D83-4A83-A7F7-5D31B4F0A68A}"/>
                </a:ext>
              </a:extLst>
            </p:cNvPr>
            <p:cNvGrpSpPr/>
            <p:nvPr/>
          </p:nvGrpSpPr>
          <p:grpSpPr>
            <a:xfrm>
              <a:off x="7052624" y="1999252"/>
              <a:ext cx="1237975" cy="525609"/>
              <a:chOff x="5494307" y="1229480"/>
              <a:chExt cx="1237975" cy="525609"/>
            </a:xfrm>
          </p:grpSpPr>
          <p:sp>
            <p:nvSpPr>
              <p:cNvPr id="79" name="Rectangle 78">
                <a:extLst>
                  <a:ext uri="{FF2B5EF4-FFF2-40B4-BE49-F238E27FC236}">
                    <a16:creationId xmlns:a16="http://schemas.microsoft.com/office/drawing/2014/main" id="{659F2132-DEB0-4A46-9EF1-1F385E1694F1}"/>
                  </a:ext>
                </a:extLst>
              </p:cNvPr>
              <p:cNvSpPr/>
              <p:nvPr/>
            </p:nvSpPr>
            <p:spPr>
              <a:xfrm>
                <a:off x="5494307" y="1434386"/>
                <a:ext cx="1237975" cy="320703"/>
              </a:xfrm>
              <a:prstGeom prst="rect">
                <a:avLst/>
              </a:prstGeom>
            </p:spPr>
            <p:txBody>
              <a:bodyPr wrap="square">
                <a:spAutoFit/>
              </a:bodyPr>
              <a:lstStyle/>
              <a:p>
                <a:pPr algn="ctr"/>
                <a:r>
                  <a:rPr lang="en-US" sz="1000" i="0" dirty="0">
                    <a:solidFill>
                      <a:schemeClr val="bg1"/>
                    </a:solidFill>
                    <a:effectLst/>
                    <a:latin typeface="Open Sans" panose="020B0606030504020204" pitchFamily="34" charset="0"/>
                  </a:rPr>
                  <a:t>Come up with many ideas</a:t>
                </a:r>
                <a:endParaRPr lang="en-US" sz="1000" dirty="0">
                  <a:solidFill>
                    <a:schemeClr val="bg1"/>
                  </a:solidFill>
                </a:endParaRPr>
              </a:p>
            </p:txBody>
          </p:sp>
          <p:sp>
            <p:nvSpPr>
              <p:cNvPr id="80" name="Rectangle 79">
                <a:extLst>
                  <a:ext uri="{FF2B5EF4-FFF2-40B4-BE49-F238E27FC236}">
                    <a16:creationId xmlns:a16="http://schemas.microsoft.com/office/drawing/2014/main" id="{9316460D-CF2D-442B-89C2-6BB305CD04B1}"/>
                  </a:ext>
                </a:extLst>
              </p:cNvPr>
              <p:cNvSpPr/>
              <p:nvPr/>
            </p:nvSpPr>
            <p:spPr>
              <a:xfrm>
                <a:off x="5550822" y="1229480"/>
                <a:ext cx="1078765" cy="230832"/>
              </a:xfrm>
              <a:prstGeom prst="rect">
                <a:avLst/>
              </a:prstGeom>
            </p:spPr>
            <p:txBody>
              <a:bodyPr wrap="square">
                <a:spAutoFit/>
              </a:bodyPr>
              <a:lstStyle/>
              <a:p>
                <a:pPr algn="ctr"/>
                <a:r>
                  <a:rPr lang="en-US" sz="1200" b="1" i="0" dirty="0">
                    <a:solidFill>
                      <a:schemeClr val="bg1"/>
                    </a:solidFill>
                    <a:effectLst/>
                    <a:latin typeface="Open Sans" panose="020B0606030504020204" pitchFamily="34" charset="0"/>
                  </a:rPr>
                  <a:t>Generate ideas</a:t>
                </a:r>
                <a:endParaRPr lang="en-US" sz="1200" b="1" dirty="0">
                  <a:solidFill>
                    <a:schemeClr val="bg1"/>
                  </a:solidFill>
                </a:endParaRPr>
              </a:p>
            </p:txBody>
          </p:sp>
        </p:grpSp>
        <p:grpSp>
          <p:nvGrpSpPr>
            <p:cNvPr id="81" name="Group 80">
              <a:extLst>
                <a:ext uri="{FF2B5EF4-FFF2-40B4-BE49-F238E27FC236}">
                  <a16:creationId xmlns:a16="http://schemas.microsoft.com/office/drawing/2014/main" id="{B1E3C964-4DCA-47D4-9BF7-B390404B72F6}"/>
                </a:ext>
              </a:extLst>
            </p:cNvPr>
            <p:cNvGrpSpPr/>
            <p:nvPr/>
          </p:nvGrpSpPr>
          <p:grpSpPr>
            <a:xfrm>
              <a:off x="5397328" y="1176410"/>
              <a:ext cx="1370453" cy="674883"/>
              <a:chOff x="5398812" y="1149204"/>
              <a:chExt cx="1370453" cy="674883"/>
            </a:xfrm>
          </p:grpSpPr>
          <p:sp>
            <p:nvSpPr>
              <p:cNvPr id="82" name="Rectangle 81">
                <a:extLst>
                  <a:ext uri="{FF2B5EF4-FFF2-40B4-BE49-F238E27FC236}">
                    <a16:creationId xmlns:a16="http://schemas.microsoft.com/office/drawing/2014/main" id="{9C337B68-F507-4E54-BCD2-B1F879104881}"/>
                  </a:ext>
                </a:extLst>
              </p:cNvPr>
              <p:cNvSpPr/>
              <p:nvPr/>
            </p:nvSpPr>
            <p:spPr>
              <a:xfrm>
                <a:off x="5398812" y="1380036"/>
                <a:ext cx="1370453" cy="444051"/>
              </a:xfrm>
              <a:prstGeom prst="rect">
                <a:avLst/>
              </a:prstGeom>
            </p:spPr>
            <p:txBody>
              <a:bodyPr wrap="square">
                <a:spAutoFit/>
              </a:bodyPr>
              <a:lstStyle/>
              <a:p>
                <a:pPr algn="ctr"/>
                <a:r>
                  <a:rPr lang="en-US" sz="1000" i="0" dirty="0">
                    <a:solidFill>
                      <a:schemeClr val="bg1"/>
                    </a:solidFill>
                    <a:effectLst/>
                    <a:latin typeface="Open Sans" panose="020B0606030504020204" pitchFamily="34" charset="0"/>
                  </a:rPr>
                  <a:t>Empathize by suffering the pain.</a:t>
                </a:r>
              </a:p>
              <a:p>
                <a:pPr algn="ctr"/>
                <a:r>
                  <a:rPr lang="en-US" sz="1000" dirty="0">
                    <a:solidFill>
                      <a:schemeClr val="bg1"/>
                    </a:solidFill>
                    <a:latin typeface="Open Sans" panose="020B0606030504020204" pitchFamily="34" charset="0"/>
                  </a:rPr>
                  <a:t>Set your vision</a:t>
                </a:r>
                <a:endParaRPr lang="en-US" sz="1000" dirty="0">
                  <a:solidFill>
                    <a:schemeClr val="bg1"/>
                  </a:solidFill>
                </a:endParaRPr>
              </a:p>
            </p:txBody>
          </p:sp>
          <p:sp>
            <p:nvSpPr>
              <p:cNvPr id="83" name="Rectangle 82">
                <a:extLst>
                  <a:ext uri="{FF2B5EF4-FFF2-40B4-BE49-F238E27FC236}">
                    <a16:creationId xmlns:a16="http://schemas.microsoft.com/office/drawing/2014/main" id="{3726BC17-2291-4306-A739-F2F185E158EC}"/>
                  </a:ext>
                </a:extLst>
              </p:cNvPr>
              <p:cNvSpPr/>
              <p:nvPr/>
            </p:nvSpPr>
            <p:spPr>
              <a:xfrm>
                <a:off x="5525495" y="1149204"/>
                <a:ext cx="1078765" cy="230832"/>
              </a:xfrm>
              <a:prstGeom prst="rect">
                <a:avLst/>
              </a:prstGeom>
            </p:spPr>
            <p:txBody>
              <a:bodyPr wrap="square">
                <a:spAutoFit/>
              </a:bodyPr>
              <a:lstStyle/>
              <a:p>
                <a:pPr algn="ctr"/>
                <a:r>
                  <a:rPr lang="en-US" sz="1200" b="1" i="0" dirty="0">
                    <a:solidFill>
                      <a:schemeClr val="bg1"/>
                    </a:solidFill>
                    <a:effectLst/>
                    <a:latin typeface="Open Sans" panose="020B0606030504020204" pitchFamily="34" charset="0"/>
                  </a:rPr>
                  <a:t>Identify a pain</a:t>
                </a:r>
                <a:endParaRPr lang="en-US" sz="1200" b="1" dirty="0">
                  <a:solidFill>
                    <a:schemeClr val="bg1"/>
                  </a:solidFill>
                </a:endParaRPr>
              </a:p>
            </p:txBody>
          </p:sp>
        </p:grpSp>
        <p:grpSp>
          <p:nvGrpSpPr>
            <p:cNvPr id="85" name="Group 84">
              <a:extLst>
                <a:ext uri="{FF2B5EF4-FFF2-40B4-BE49-F238E27FC236}">
                  <a16:creationId xmlns:a16="http://schemas.microsoft.com/office/drawing/2014/main" id="{F9C72C7C-C6DA-412A-AB09-03AFBCA49CFF}"/>
                </a:ext>
              </a:extLst>
            </p:cNvPr>
            <p:cNvGrpSpPr/>
            <p:nvPr/>
          </p:nvGrpSpPr>
          <p:grpSpPr>
            <a:xfrm>
              <a:off x="3656926" y="3388112"/>
              <a:ext cx="1078765" cy="794346"/>
              <a:chOff x="5544714" y="1029741"/>
              <a:chExt cx="1078765" cy="794346"/>
            </a:xfrm>
          </p:grpSpPr>
          <p:sp>
            <p:nvSpPr>
              <p:cNvPr id="86" name="Rectangle 85">
                <a:extLst>
                  <a:ext uri="{FF2B5EF4-FFF2-40B4-BE49-F238E27FC236}">
                    <a16:creationId xmlns:a16="http://schemas.microsoft.com/office/drawing/2014/main" id="{EF1E851E-9EC7-497C-9501-A95D9B8A645F}"/>
                  </a:ext>
                </a:extLst>
              </p:cNvPr>
              <p:cNvSpPr/>
              <p:nvPr/>
            </p:nvSpPr>
            <p:spPr>
              <a:xfrm>
                <a:off x="5575287" y="1380036"/>
                <a:ext cx="995136" cy="444051"/>
              </a:xfrm>
              <a:prstGeom prst="rect">
                <a:avLst/>
              </a:prstGeom>
            </p:spPr>
            <p:txBody>
              <a:bodyPr wrap="square">
                <a:spAutoFit/>
              </a:bodyPr>
              <a:lstStyle/>
              <a:p>
                <a:pPr algn="ctr"/>
                <a:r>
                  <a:rPr lang="en-US" sz="1000" dirty="0">
                    <a:solidFill>
                      <a:schemeClr val="bg1"/>
                    </a:solidFill>
                    <a:latin typeface="Open Sans" panose="020B0606030504020204" pitchFamily="34" charset="0"/>
                  </a:rPr>
                  <a:t>Do you see a superior value proposition?</a:t>
                </a:r>
                <a:endParaRPr lang="en-US" sz="1000" dirty="0">
                  <a:solidFill>
                    <a:schemeClr val="bg1"/>
                  </a:solidFill>
                </a:endParaRPr>
              </a:p>
            </p:txBody>
          </p:sp>
          <p:sp>
            <p:nvSpPr>
              <p:cNvPr id="87" name="Rectangle 86">
                <a:extLst>
                  <a:ext uri="{FF2B5EF4-FFF2-40B4-BE49-F238E27FC236}">
                    <a16:creationId xmlns:a16="http://schemas.microsoft.com/office/drawing/2014/main" id="{BF2FBB2D-2FC9-4278-B5A0-27EBADC80C16}"/>
                  </a:ext>
                </a:extLst>
              </p:cNvPr>
              <p:cNvSpPr/>
              <p:nvPr/>
            </p:nvSpPr>
            <p:spPr>
              <a:xfrm>
                <a:off x="5544714" y="1029741"/>
                <a:ext cx="1078765" cy="369332"/>
              </a:xfrm>
              <a:prstGeom prst="rect">
                <a:avLst/>
              </a:prstGeom>
            </p:spPr>
            <p:txBody>
              <a:bodyPr wrap="square">
                <a:spAutoFit/>
              </a:bodyPr>
              <a:lstStyle/>
              <a:p>
                <a:pPr algn="ctr"/>
                <a:r>
                  <a:rPr lang="en-US" sz="1200" b="1" i="0" dirty="0">
                    <a:solidFill>
                      <a:schemeClr val="bg1"/>
                    </a:solidFill>
                    <a:effectLst/>
                    <a:latin typeface="Open Sans" panose="020B0606030504020204" pitchFamily="34" charset="0"/>
                  </a:rPr>
                  <a:t>Assess value proposition</a:t>
                </a:r>
                <a:endParaRPr lang="en-US" sz="1200" b="1" dirty="0">
                  <a:solidFill>
                    <a:schemeClr val="bg1"/>
                  </a:solidFill>
                </a:endParaRPr>
              </a:p>
            </p:txBody>
          </p:sp>
        </p:grpSp>
        <p:grpSp>
          <p:nvGrpSpPr>
            <p:cNvPr id="88" name="Group 87">
              <a:extLst>
                <a:ext uri="{FF2B5EF4-FFF2-40B4-BE49-F238E27FC236}">
                  <a16:creationId xmlns:a16="http://schemas.microsoft.com/office/drawing/2014/main" id="{7143444D-247B-43CD-8B28-4B32700FE197}"/>
                </a:ext>
              </a:extLst>
            </p:cNvPr>
            <p:cNvGrpSpPr/>
            <p:nvPr/>
          </p:nvGrpSpPr>
          <p:grpSpPr>
            <a:xfrm>
              <a:off x="7382713" y="3264686"/>
              <a:ext cx="1182167" cy="1164466"/>
              <a:chOff x="5468539" y="906315"/>
              <a:chExt cx="1182167" cy="1164466"/>
            </a:xfrm>
          </p:grpSpPr>
          <p:sp>
            <p:nvSpPr>
              <p:cNvPr id="94" name="Rectangle 93">
                <a:extLst>
                  <a:ext uri="{FF2B5EF4-FFF2-40B4-BE49-F238E27FC236}">
                    <a16:creationId xmlns:a16="http://schemas.microsoft.com/office/drawing/2014/main" id="{2910A8BF-8B9B-4D9E-A7C3-3532D3686ACD}"/>
                  </a:ext>
                </a:extLst>
              </p:cNvPr>
              <p:cNvSpPr/>
              <p:nvPr/>
            </p:nvSpPr>
            <p:spPr>
              <a:xfrm>
                <a:off x="5468539" y="1380036"/>
                <a:ext cx="1182167" cy="690745"/>
              </a:xfrm>
              <a:prstGeom prst="rect">
                <a:avLst/>
              </a:prstGeom>
            </p:spPr>
            <p:txBody>
              <a:bodyPr wrap="square">
                <a:spAutoFit/>
              </a:bodyPr>
              <a:lstStyle/>
              <a:p>
                <a:pPr algn="ctr"/>
                <a:r>
                  <a:rPr lang="en-US" sz="1000" i="0" dirty="0">
                    <a:solidFill>
                      <a:schemeClr val="bg1"/>
                    </a:solidFill>
                    <a:effectLst/>
                    <a:latin typeface="Open Sans" panose="020B0606030504020204" pitchFamily="34" charset="0"/>
                  </a:rPr>
                  <a:t>Are there unmet demands? Are the customers crying for a solution or a better solution?</a:t>
                </a:r>
                <a:endParaRPr lang="en-US" sz="1000" dirty="0">
                  <a:solidFill>
                    <a:schemeClr val="bg1"/>
                  </a:solidFill>
                </a:endParaRPr>
              </a:p>
            </p:txBody>
          </p:sp>
          <p:sp>
            <p:nvSpPr>
              <p:cNvPr id="95" name="Rectangle 94">
                <a:extLst>
                  <a:ext uri="{FF2B5EF4-FFF2-40B4-BE49-F238E27FC236}">
                    <a16:creationId xmlns:a16="http://schemas.microsoft.com/office/drawing/2014/main" id="{5213732F-3C85-4C9D-8984-B1AF26A1FCA2}"/>
                  </a:ext>
                </a:extLst>
              </p:cNvPr>
              <p:cNvSpPr/>
              <p:nvPr/>
            </p:nvSpPr>
            <p:spPr>
              <a:xfrm>
                <a:off x="5540703" y="906315"/>
                <a:ext cx="1078765" cy="518059"/>
              </a:xfrm>
              <a:prstGeom prst="rect">
                <a:avLst/>
              </a:prstGeom>
            </p:spPr>
            <p:txBody>
              <a:bodyPr wrap="square">
                <a:spAutoFit/>
              </a:bodyPr>
              <a:lstStyle/>
              <a:p>
                <a:pPr algn="ctr"/>
                <a:r>
                  <a:rPr lang="en-US" sz="1200" b="1" i="0" dirty="0">
                    <a:solidFill>
                      <a:schemeClr val="bg1"/>
                    </a:solidFill>
                    <a:effectLst/>
                    <a:latin typeface="Open Sans" panose="020B0606030504020204" pitchFamily="34" charset="0"/>
                  </a:rPr>
                  <a:t>Elementary market research</a:t>
                </a:r>
                <a:endParaRPr lang="en-US" sz="1200" b="1" dirty="0">
                  <a:solidFill>
                    <a:schemeClr val="bg1"/>
                  </a:solidFill>
                </a:endParaRPr>
              </a:p>
            </p:txBody>
          </p:sp>
        </p:grpSp>
        <p:grpSp>
          <p:nvGrpSpPr>
            <p:cNvPr id="96" name="Group 95">
              <a:extLst>
                <a:ext uri="{FF2B5EF4-FFF2-40B4-BE49-F238E27FC236}">
                  <a16:creationId xmlns:a16="http://schemas.microsoft.com/office/drawing/2014/main" id="{EACC683F-19B5-4FF7-9024-5A70926D9A49}"/>
                </a:ext>
              </a:extLst>
            </p:cNvPr>
            <p:cNvGrpSpPr/>
            <p:nvPr/>
          </p:nvGrpSpPr>
          <p:grpSpPr>
            <a:xfrm>
              <a:off x="4696894" y="4792479"/>
              <a:ext cx="1078765" cy="732600"/>
              <a:chOff x="5533472" y="1091487"/>
              <a:chExt cx="1078765" cy="732600"/>
            </a:xfrm>
          </p:grpSpPr>
          <p:sp>
            <p:nvSpPr>
              <p:cNvPr id="97" name="Rectangle 96">
                <a:extLst>
                  <a:ext uri="{FF2B5EF4-FFF2-40B4-BE49-F238E27FC236}">
                    <a16:creationId xmlns:a16="http://schemas.microsoft.com/office/drawing/2014/main" id="{7EEEB181-A5D7-4713-A24F-18A011C98485}"/>
                  </a:ext>
                </a:extLst>
              </p:cNvPr>
              <p:cNvSpPr/>
              <p:nvPr/>
            </p:nvSpPr>
            <p:spPr>
              <a:xfrm>
                <a:off x="5575287" y="1380036"/>
                <a:ext cx="995136" cy="444051"/>
              </a:xfrm>
              <a:prstGeom prst="rect">
                <a:avLst/>
              </a:prstGeom>
            </p:spPr>
            <p:txBody>
              <a:bodyPr wrap="square">
                <a:spAutoFit/>
              </a:bodyPr>
              <a:lstStyle/>
              <a:p>
                <a:pPr algn="ctr"/>
                <a:r>
                  <a:rPr lang="en-US" sz="1000" i="0" dirty="0">
                    <a:solidFill>
                      <a:schemeClr val="bg1"/>
                    </a:solidFill>
                    <a:effectLst/>
                    <a:latin typeface="Open Sans" panose="020B0606030504020204" pitchFamily="34" charset="0"/>
                  </a:rPr>
                  <a:t>Raw-materials, utilities, technical resources.</a:t>
                </a:r>
                <a:endParaRPr lang="en-US" sz="1000" dirty="0">
                  <a:solidFill>
                    <a:schemeClr val="bg1"/>
                  </a:solidFill>
                </a:endParaRPr>
              </a:p>
            </p:txBody>
          </p:sp>
          <p:sp>
            <p:nvSpPr>
              <p:cNvPr id="98" name="Rectangle 97">
                <a:extLst>
                  <a:ext uri="{FF2B5EF4-FFF2-40B4-BE49-F238E27FC236}">
                    <a16:creationId xmlns:a16="http://schemas.microsoft.com/office/drawing/2014/main" id="{FFAC964F-B7D1-4FC9-BCE0-D14C0950F371}"/>
                  </a:ext>
                </a:extLst>
              </p:cNvPr>
              <p:cNvSpPr/>
              <p:nvPr/>
            </p:nvSpPr>
            <p:spPr>
              <a:xfrm>
                <a:off x="5533472" y="1091487"/>
                <a:ext cx="1078765" cy="369332"/>
              </a:xfrm>
              <a:prstGeom prst="rect">
                <a:avLst/>
              </a:prstGeom>
            </p:spPr>
            <p:txBody>
              <a:bodyPr wrap="square">
                <a:spAutoFit/>
              </a:bodyPr>
              <a:lstStyle/>
              <a:p>
                <a:pPr algn="ctr"/>
                <a:r>
                  <a:rPr lang="en-US" sz="1200" b="1" i="0" dirty="0">
                    <a:solidFill>
                      <a:schemeClr val="bg1"/>
                    </a:solidFill>
                    <a:effectLst/>
                    <a:latin typeface="Open Sans" panose="020B0606030504020204" pitchFamily="34" charset="0"/>
                  </a:rPr>
                  <a:t>Inputs availability</a:t>
                </a:r>
                <a:endParaRPr lang="en-US" sz="1200" b="1" dirty="0">
                  <a:solidFill>
                    <a:schemeClr val="bg1"/>
                  </a:solidFill>
                </a:endParaRPr>
              </a:p>
            </p:txBody>
          </p:sp>
        </p:grpSp>
        <p:grpSp>
          <p:nvGrpSpPr>
            <p:cNvPr id="99" name="Group 98">
              <a:extLst>
                <a:ext uri="{FF2B5EF4-FFF2-40B4-BE49-F238E27FC236}">
                  <a16:creationId xmlns:a16="http://schemas.microsoft.com/office/drawing/2014/main" id="{5F8BAD61-8F3B-4048-A784-5DCC25E58C9C}"/>
                </a:ext>
              </a:extLst>
            </p:cNvPr>
            <p:cNvGrpSpPr/>
            <p:nvPr/>
          </p:nvGrpSpPr>
          <p:grpSpPr>
            <a:xfrm>
              <a:off x="6327688" y="4904234"/>
              <a:ext cx="1173356" cy="594607"/>
              <a:chOff x="5456231" y="1229480"/>
              <a:chExt cx="1173356" cy="594607"/>
            </a:xfrm>
          </p:grpSpPr>
          <p:sp>
            <p:nvSpPr>
              <p:cNvPr id="100" name="Rectangle 99">
                <a:extLst>
                  <a:ext uri="{FF2B5EF4-FFF2-40B4-BE49-F238E27FC236}">
                    <a16:creationId xmlns:a16="http://schemas.microsoft.com/office/drawing/2014/main" id="{48284104-D641-401C-8991-2A708B08C6AE}"/>
                  </a:ext>
                </a:extLst>
              </p:cNvPr>
              <p:cNvSpPr/>
              <p:nvPr/>
            </p:nvSpPr>
            <p:spPr>
              <a:xfrm>
                <a:off x="5575287" y="1380036"/>
                <a:ext cx="995136" cy="444051"/>
              </a:xfrm>
              <a:prstGeom prst="rect">
                <a:avLst/>
              </a:prstGeom>
            </p:spPr>
            <p:txBody>
              <a:bodyPr wrap="square">
                <a:spAutoFit/>
              </a:bodyPr>
              <a:lstStyle/>
              <a:p>
                <a:pPr algn="ctr"/>
                <a:r>
                  <a:rPr lang="en-US" sz="1000" i="0" dirty="0">
                    <a:solidFill>
                      <a:schemeClr val="bg1"/>
                    </a:solidFill>
                    <a:effectLst/>
                    <a:latin typeface="Open Sans" panose="020B0606030504020204" pitchFamily="34" charset="0"/>
                  </a:rPr>
                  <a:t>Are there more demand than supply.</a:t>
                </a:r>
                <a:endParaRPr lang="en-US" sz="1000" dirty="0">
                  <a:solidFill>
                    <a:schemeClr val="bg1"/>
                  </a:solidFill>
                </a:endParaRPr>
              </a:p>
            </p:txBody>
          </p:sp>
          <p:sp>
            <p:nvSpPr>
              <p:cNvPr id="101" name="Rectangle 100">
                <a:extLst>
                  <a:ext uri="{FF2B5EF4-FFF2-40B4-BE49-F238E27FC236}">
                    <a16:creationId xmlns:a16="http://schemas.microsoft.com/office/drawing/2014/main" id="{83F79898-C328-4203-B5F4-493614B49007}"/>
                  </a:ext>
                </a:extLst>
              </p:cNvPr>
              <p:cNvSpPr/>
              <p:nvPr/>
            </p:nvSpPr>
            <p:spPr>
              <a:xfrm>
                <a:off x="5456231" y="1229480"/>
                <a:ext cx="1173356" cy="222025"/>
              </a:xfrm>
              <a:prstGeom prst="rect">
                <a:avLst/>
              </a:prstGeom>
            </p:spPr>
            <p:txBody>
              <a:bodyPr wrap="square">
                <a:spAutoFit/>
              </a:bodyPr>
              <a:lstStyle/>
              <a:p>
                <a:pPr algn="ctr"/>
                <a:r>
                  <a:rPr lang="en-US" sz="1200" b="1" i="0" dirty="0">
                    <a:solidFill>
                      <a:schemeClr val="bg1"/>
                    </a:solidFill>
                    <a:effectLst/>
                    <a:latin typeface="Open Sans" panose="020B0606030504020204" pitchFamily="34" charset="0"/>
                  </a:rPr>
                  <a:t>Demand-supply</a:t>
                </a:r>
                <a:endParaRPr lang="en-US" sz="1200" b="1" dirty="0">
                  <a:solidFill>
                    <a:schemeClr val="bg1"/>
                  </a:solidFill>
                </a:endParaRPr>
              </a:p>
            </p:txBody>
          </p:sp>
        </p:grpSp>
      </p:grpSp>
      <p:pic>
        <p:nvPicPr>
          <p:cNvPr id="4" name="Picture 3">
            <a:extLst>
              <a:ext uri="{FF2B5EF4-FFF2-40B4-BE49-F238E27FC236}">
                <a16:creationId xmlns:a16="http://schemas.microsoft.com/office/drawing/2014/main" id="{90E00D0F-A7E3-8EBE-2B11-7404E0EEFC6A}"/>
              </a:ext>
            </a:extLst>
          </p:cNvPr>
          <p:cNvPicPr>
            <a:picLocks noChangeAspect="1"/>
          </p:cNvPicPr>
          <p:nvPr/>
        </p:nvPicPr>
        <p:blipFill>
          <a:blip r:embed="rId6">
            <a:lum bright="70000" contrast="-70000"/>
          </a:blip>
          <a:stretch>
            <a:fillRect/>
          </a:stretch>
        </p:blipFill>
        <p:spPr>
          <a:xfrm>
            <a:off x="6811320" y="1623353"/>
            <a:ext cx="584315" cy="584315"/>
          </a:xfrm>
          <a:prstGeom prst="rect">
            <a:avLst/>
          </a:prstGeom>
        </p:spPr>
      </p:pic>
      <p:pic>
        <p:nvPicPr>
          <p:cNvPr id="5" name="Picture 4">
            <a:extLst>
              <a:ext uri="{FF2B5EF4-FFF2-40B4-BE49-F238E27FC236}">
                <a16:creationId xmlns:a16="http://schemas.microsoft.com/office/drawing/2014/main" id="{9115F31F-10DB-EFD9-6F2D-4A002BF02992}"/>
              </a:ext>
            </a:extLst>
          </p:cNvPr>
          <p:cNvPicPr>
            <a:picLocks noChangeAspect="1"/>
          </p:cNvPicPr>
          <p:nvPr/>
        </p:nvPicPr>
        <p:blipFill>
          <a:blip r:embed="rId7"/>
          <a:stretch>
            <a:fillRect/>
          </a:stretch>
        </p:blipFill>
        <p:spPr>
          <a:xfrm>
            <a:off x="8098706" y="2253625"/>
            <a:ext cx="470335" cy="470335"/>
          </a:xfrm>
          <a:prstGeom prst="rect">
            <a:avLst/>
          </a:prstGeom>
        </p:spPr>
      </p:pic>
      <p:pic>
        <p:nvPicPr>
          <p:cNvPr id="8" name="Graphic 7" descr="Supply And Demand with solid fill">
            <a:extLst>
              <a:ext uri="{FF2B5EF4-FFF2-40B4-BE49-F238E27FC236}">
                <a16:creationId xmlns:a16="http://schemas.microsoft.com/office/drawing/2014/main" id="{811151E0-A41B-0227-730B-D7B0DE4A5C43}"/>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7599489" y="4596875"/>
            <a:ext cx="388467" cy="388467"/>
          </a:xfrm>
          <a:prstGeom prst="rect">
            <a:avLst/>
          </a:prstGeom>
        </p:spPr>
      </p:pic>
      <p:pic>
        <p:nvPicPr>
          <p:cNvPr id="10" name="Graphic 9" descr="Bullseye outline">
            <a:extLst>
              <a:ext uri="{FF2B5EF4-FFF2-40B4-BE49-F238E27FC236}">
                <a16:creationId xmlns:a16="http://schemas.microsoft.com/office/drawing/2014/main" id="{7A85A929-F53A-4764-9551-71D0F753E42F}"/>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5747543" y="2282539"/>
            <a:ext cx="432425" cy="432425"/>
          </a:xfrm>
          <a:prstGeom prst="rect">
            <a:avLst/>
          </a:prstGeom>
        </p:spPr>
      </p:pic>
      <p:pic>
        <p:nvPicPr>
          <p:cNvPr id="12" name="Graphic 11" descr="Business Growth outline">
            <a:extLst>
              <a:ext uri="{FF2B5EF4-FFF2-40B4-BE49-F238E27FC236}">
                <a16:creationId xmlns:a16="http://schemas.microsoft.com/office/drawing/2014/main" id="{0CA50F9B-6282-C3DE-6A74-516723ECD39F}"/>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5402517" y="3645935"/>
            <a:ext cx="437027" cy="437027"/>
          </a:xfrm>
          <a:prstGeom prst="rect">
            <a:avLst/>
          </a:prstGeom>
        </p:spPr>
      </p:pic>
      <p:sp>
        <p:nvSpPr>
          <p:cNvPr id="13" name="Arc 12">
            <a:extLst>
              <a:ext uri="{FF2B5EF4-FFF2-40B4-BE49-F238E27FC236}">
                <a16:creationId xmlns:a16="http://schemas.microsoft.com/office/drawing/2014/main" id="{72D27360-3459-8BEE-EBC8-6972185A2954}"/>
              </a:ext>
            </a:extLst>
          </p:cNvPr>
          <p:cNvSpPr/>
          <p:nvPr/>
        </p:nvSpPr>
        <p:spPr>
          <a:xfrm rot="16590891">
            <a:off x="3559463" y="-83557"/>
            <a:ext cx="7200000" cy="7200000"/>
          </a:xfrm>
          <a:prstGeom prst="arc">
            <a:avLst>
              <a:gd name="adj1" fmla="val 1626956"/>
              <a:gd name="adj2" fmla="val 0"/>
            </a:avLst>
          </a:prstGeom>
          <a:ln w="38100" cmpd="dbl">
            <a:solidFill>
              <a:srgbClr val="C00000"/>
            </a:solidFill>
            <a:prstDash val="lgDashDotDot"/>
            <a:headEnd type="none"/>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TextBox 13">
            <a:extLst>
              <a:ext uri="{FF2B5EF4-FFF2-40B4-BE49-F238E27FC236}">
                <a16:creationId xmlns:a16="http://schemas.microsoft.com/office/drawing/2014/main" id="{86394C00-1F3A-C654-42F4-C716DBCD64B4}"/>
              </a:ext>
            </a:extLst>
          </p:cNvPr>
          <p:cNvSpPr txBox="1"/>
          <p:nvPr/>
        </p:nvSpPr>
        <p:spPr>
          <a:xfrm>
            <a:off x="566530" y="1438240"/>
            <a:ext cx="2941889" cy="2554545"/>
          </a:xfrm>
          <a:prstGeom prst="rect">
            <a:avLst/>
          </a:prstGeom>
          <a:noFill/>
        </p:spPr>
        <p:txBody>
          <a:bodyPr wrap="square" rtlCol="0">
            <a:spAutoFit/>
          </a:bodyPr>
          <a:lstStyle/>
          <a:p>
            <a:r>
              <a:rPr lang="en-US" sz="3200" b="1" dirty="0">
                <a:solidFill>
                  <a:schemeClr val="tx1">
                    <a:lumMod val="65000"/>
                    <a:lumOff val="35000"/>
                  </a:schemeClr>
                </a:solidFill>
              </a:rPr>
              <a:t>Problem Identification, Idea generation, Screening, and Selection Phase</a:t>
            </a:r>
            <a:endParaRPr lang="en-IN" sz="3200" b="1" dirty="0">
              <a:solidFill>
                <a:schemeClr val="tx1">
                  <a:lumMod val="65000"/>
                  <a:lumOff val="35000"/>
                </a:schemeClr>
              </a:solidFill>
            </a:endParaRPr>
          </a:p>
        </p:txBody>
      </p:sp>
    </p:spTree>
    <p:extLst>
      <p:ext uri="{BB962C8B-B14F-4D97-AF65-F5344CB8AC3E}">
        <p14:creationId xmlns:p14="http://schemas.microsoft.com/office/powerpoint/2010/main" val="317450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500" fill="hold"/>
                                        <p:tgtEl>
                                          <p:spTgt spid="2"/>
                                        </p:tgtEl>
                                        <p:attrNameLst>
                                          <p:attrName>ppt_w</p:attrName>
                                        </p:attrNameLst>
                                      </p:cBhvr>
                                      <p:tavLst>
                                        <p:tav tm="0">
                                          <p:val>
                                            <p:fltVal val="0"/>
                                          </p:val>
                                        </p:tav>
                                        <p:tav tm="100000">
                                          <p:val>
                                            <p:strVal val="#ppt_w"/>
                                          </p:val>
                                        </p:tav>
                                      </p:tavLst>
                                    </p:anim>
                                    <p:anim calcmode="lin" valueType="num">
                                      <p:cBhvr>
                                        <p:cTn id="8" dur="1500" fill="hold"/>
                                        <p:tgtEl>
                                          <p:spTgt spid="2"/>
                                        </p:tgtEl>
                                        <p:attrNameLst>
                                          <p:attrName>ppt_h</p:attrName>
                                        </p:attrNameLst>
                                      </p:cBhvr>
                                      <p:tavLst>
                                        <p:tav tm="0">
                                          <p:val>
                                            <p:fltVal val="0"/>
                                          </p:val>
                                        </p:tav>
                                        <p:tav tm="100000">
                                          <p:val>
                                            <p:strVal val="#ppt_h"/>
                                          </p:val>
                                        </p:tav>
                                      </p:tavLst>
                                    </p:anim>
                                    <p:anim calcmode="lin" valueType="num">
                                      <p:cBhvr>
                                        <p:cTn id="9" dur="1500" fill="hold"/>
                                        <p:tgtEl>
                                          <p:spTgt spid="2"/>
                                        </p:tgtEl>
                                        <p:attrNameLst>
                                          <p:attrName>style.rotation</p:attrName>
                                        </p:attrNameLst>
                                      </p:cBhvr>
                                      <p:tavLst>
                                        <p:tav tm="0">
                                          <p:val>
                                            <p:fltVal val="90"/>
                                          </p:val>
                                        </p:tav>
                                        <p:tav tm="100000">
                                          <p:val>
                                            <p:fltVal val="0"/>
                                          </p:val>
                                        </p:tav>
                                      </p:tavLst>
                                    </p:anim>
                                    <p:animEffect transition="in" filter="fade">
                                      <p:cBhvr>
                                        <p:cTn id="10" dur="1500"/>
                                        <p:tgtEl>
                                          <p:spTgt spid="2"/>
                                        </p:tgtEl>
                                      </p:cBhvr>
                                    </p:animEffect>
                                  </p:childTnLst>
                                </p:cTn>
                              </p:par>
                            </p:childTnLst>
                          </p:cTn>
                        </p:par>
                        <p:par>
                          <p:cTn id="11" fill="hold">
                            <p:stCondLst>
                              <p:cond delay="1500"/>
                            </p:stCondLst>
                            <p:childTnLst>
                              <p:par>
                                <p:cTn id="12" presetID="42" presetClass="entr" presetSubtype="0" fill="hold" grpId="0" nodeType="afterEffect">
                                  <p:stCondLst>
                                    <p:cond delay="0"/>
                                  </p:stCondLst>
                                  <p:childTnLst>
                                    <p:set>
                                      <p:cBhvr>
                                        <p:cTn id="13" dur="1" fill="hold">
                                          <p:stCondLst>
                                            <p:cond delay="0"/>
                                          </p:stCondLst>
                                        </p:cTn>
                                        <p:tgtEl>
                                          <p:spTgt spid="75"/>
                                        </p:tgtEl>
                                        <p:attrNameLst>
                                          <p:attrName>style.visibility</p:attrName>
                                        </p:attrNameLst>
                                      </p:cBhvr>
                                      <p:to>
                                        <p:strVal val="visible"/>
                                      </p:to>
                                    </p:set>
                                    <p:animEffect transition="in" filter="fade">
                                      <p:cBhvr>
                                        <p:cTn id="14" dur="1250"/>
                                        <p:tgtEl>
                                          <p:spTgt spid="75"/>
                                        </p:tgtEl>
                                      </p:cBhvr>
                                    </p:animEffect>
                                    <p:anim calcmode="lin" valueType="num">
                                      <p:cBhvr>
                                        <p:cTn id="15" dur="1250" fill="hold"/>
                                        <p:tgtEl>
                                          <p:spTgt spid="75"/>
                                        </p:tgtEl>
                                        <p:attrNameLst>
                                          <p:attrName>ppt_x</p:attrName>
                                        </p:attrNameLst>
                                      </p:cBhvr>
                                      <p:tavLst>
                                        <p:tav tm="0">
                                          <p:val>
                                            <p:strVal val="#ppt_x"/>
                                          </p:val>
                                        </p:tav>
                                        <p:tav tm="100000">
                                          <p:val>
                                            <p:strVal val="#ppt_x"/>
                                          </p:val>
                                        </p:tav>
                                      </p:tavLst>
                                    </p:anim>
                                    <p:anim calcmode="lin" valueType="num">
                                      <p:cBhvr>
                                        <p:cTn id="16" dur="1250" fill="hold"/>
                                        <p:tgtEl>
                                          <p:spTgt spid="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
          <p:cNvGrpSpPr/>
          <p:nvPr/>
        </p:nvGrpSpPr>
        <p:grpSpPr>
          <a:xfrm>
            <a:off x="4088773" y="424800"/>
            <a:ext cx="3680460" cy="3680460"/>
            <a:chOff x="4031623" y="300118"/>
            <a:chExt cx="3820088" cy="3820088"/>
          </a:xfrm>
        </p:grpSpPr>
        <p:sp>
          <p:nvSpPr>
            <p:cNvPr id="85" name="Google Shape;85;p1"/>
            <p:cNvSpPr/>
            <p:nvPr/>
          </p:nvSpPr>
          <p:spPr>
            <a:xfrm>
              <a:off x="4031623" y="300118"/>
              <a:ext cx="3820088" cy="3820088"/>
            </a:xfrm>
            <a:prstGeom prst="ellipse">
              <a:avLst/>
            </a:prstGeom>
            <a:noFill/>
            <a:ln w="139700" cap="flat" cmpd="sng">
              <a:solidFill>
                <a:srgbClr val="F2F2F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6" name="Google Shape;86;p1"/>
            <p:cNvSpPr/>
            <p:nvPr/>
          </p:nvSpPr>
          <p:spPr>
            <a:xfrm>
              <a:off x="4290340" y="504879"/>
              <a:ext cx="3350211" cy="3350211"/>
            </a:xfrm>
            <a:prstGeom prst="ellipse">
              <a:avLst/>
            </a:prstGeom>
            <a:solidFill>
              <a:srgbClr val="F2F2F2"/>
            </a:solidFill>
            <a:ln>
              <a:noFill/>
            </a:ln>
            <a:effectLst>
              <a:outerShdw blurRad="292100" dist="63500" dir="7800000" sx="102000" sy="102000" algn="tr" rotWithShape="0">
                <a:srgbClr val="000000">
                  <a:alpha val="4078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87" name="Google Shape;87;p1"/>
          <p:cNvSpPr/>
          <p:nvPr/>
        </p:nvSpPr>
        <p:spPr>
          <a:xfrm rot="4288309">
            <a:off x="3559954" y="-115514"/>
            <a:ext cx="4700518" cy="4700518"/>
          </a:xfrm>
          <a:prstGeom prst="arc">
            <a:avLst>
              <a:gd name="adj1" fmla="val 15749458"/>
              <a:gd name="adj2" fmla="val 8100709"/>
            </a:avLst>
          </a:prstGeom>
          <a:noFill/>
          <a:ln w="57150" cap="flat" cmpd="sng">
            <a:solidFill>
              <a:srgbClr val="BFBFBF"/>
            </a:solidFill>
            <a:prstDash val="solid"/>
            <a:miter lim="800000"/>
            <a:headEnd type="stealth" w="lg" len="lg"/>
            <a:tailEnd type="stealth"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88" name="Google Shape;88;p1"/>
          <p:cNvGrpSpPr/>
          <p:nvPr/>
        </p:nvGrpSpPr>
        <p:grpSpPr>
          <a:xfrm>
            <a:off x="-1182335" y="296870"/>
            <a:ext cx="260350" cy="787400"/>
            <a:chOff x="508000" y="368300"/>
            <a:chExt cx="260350" cy="787400"/>
          </a:xfrm>
        </p:grpSpPr>
        <p:sp>
          <p:nvSpPr>
            <p:cNvPr id="89" name="Google Shape;89;p1"/>
            <p:cNvSpPr/>
            <p:nvPr/>
          </p:nvSpPr>
          <p:spPr>
            <a:xfrm>
              <a:off x="508000" y="368300"/>
              <a:ext cx="260350" cy="228600"/>
            </a:xfrm>
            <a:prstGeom prst="rect">
              <a:avLst/>
            </a:prstGeom>
            <a:solidFill>
              <a:srgbClr val="FFC5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1"/>
            <p:cNvSpPr/>
            <p:nvPr/>
          </p:nvSpPr>
          <p:spPr>
            <a:xfrm>
              <a:off x="508000" y="647700"/>
              <a:ext cx="260350" cy="228600"/>
            </a:xfrm>
            <a:prstGeom prst="rect">
              <a:avLst/>
            </a:prstGeom>
            <a:solidFill>
              <a:srgbClr val="FFE9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1" name="Google Shape;91;p1"/>
            <p:cNvSpPr/>
            <p:nvPr/>
          </p:nvSpPr>
          <p:spPr>
            <a:xfrm>
              <a:off x="508000" y="927100"/>
              <a:ext cx="260350" cy="228600"/>
            </a:xfrm>
            <a:prstGeom prst="rect">
              <a:avLst/>
            </a:prstGeom>
            <a:solidFill>
              <a:srgbClr val="F1CE4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92" name="Google Shape;92;p1"/>
          <p:cNvGrpSpPr/>
          <p:nvPr/>
        </p:nvGrpSpPr>
        <p:grpSpPr>
          <a:xfrm>
            <a:off x="-642608" y="298348"/>
            <a:ext cx="260350" cy="844550"/>
            <a:chOff x="508000" y="2247900"/>
            <a:chExt cx="260350" cy="844550"/>
          </a:xfrm>
        </p:grpSpPr>
        <p:sp>
          <p:nvSpPr>
            <p:cNvPr id="93" name="Google Shape;93;p1"/>
            <p:cNvSpPr/>
            <p:nvPr/>
          </p:nvSpPr>
          <p:spPr>
            <a:xfrm>
              <a:off x="508000" y="2247900"/>
              <a:ext cx="260350" cy="234950"/>
            </a:xfrm>
            <a:prstGeom prst="rect">
              <a:avLst/>
            </a:prstGeom>
            <a:solidFill>
              <a:srgbClr val="1DD6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p:nvPr/>
          </p:nvSpPr>
          <p:spPr>
            <a:xfrm>
              <a:off x="508000" y="2565400"/>
              <a:ext cx="260350" cy="234950"/>
            </a:xfrm>
            <a:prstGeom prst="rect">
              <a:avLst/>
            </a:prstGeom>
            <a:solidFill>
              <a:srgbClr val="8CF7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
            <p:cNvSpPr/>
            <p:nvPr/>
          </p:nvSpPr>
          <p:spPr>
            <a:xfrm>
              <a:off x="508000" y="2857500"/>
              <a:ext cx="260350" cy="234950"/>
            </a:xfrm>
            <a:prstGeom prst="rect">
              <a:avLst/>
            </a:prstGeom>
            <a:solidFill>
              <a:srgbClr val="3BB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96" name="Google Shape;96;p1"/>
          <p:cNvGrpSpPr/>
          <p:nvPr/>
        </p:nvGrpSpPr>
        <p:grpSpPr>
          <a:xfrm>
            <a:off x="-1182335" y="1420480"/>
            <a:ext cx="260350" cy="844550"/>
            <a:chOff x="1548807" y="4797062"/>
            <a:chExt cx="260350" cy="844550"/>
          </a:xfrm>
        </p:grpSpPr>
        <p:sp>
          <p:nvSpPr>
            <p:cNvPr id="97" name="Google Shape;97;p1"/>
            <p:cNvSpPr/>
            <p:nvPr/>
          </p:nvSpPr>
          <p:spPr>
            <a:xfrm>
              <a:off x="1548807" y="4797062"/>
              <a:ext cx="260350" cy="234950"/>
            </a:xfrm>
            <a:prstGeom prst="rect">
              <a:avLst/>
            </a:prstGeom>
            <a:solidFill>
              <a:srgbClr val="F6596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a:off x="1548807" y="5114562"/>
              <a:ext cx="260350" cy="234950"/>
            </a:xfrm>
            <a:prstGeom prst="rect">
              <a:avLst/>
            </a:prstGeom>
            <a:solidFill>
              <a:srgbClr val="FFA7B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9" name="Google Shape;99;p1"/>
            <p:cNvSpPr/>
            <p:nvPr/>
          </p:nvSpPr>
          <p:spPr>
            <a:xfrm>
              <a:off x="1548807" y="5406662"/>
              <a:ext cx="260350" cy="234950"/>
            </a:xfrm>
            <a:prstGeom prst="rect">
              <a:avLst/>
            </a:prstGeom>
            <a:solidFill>
              <a:srgbClr val="BB4A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00" name="Google Shape;100;p1"/>
          <p:cNvGrpSpPr/>
          <p:nvPr/>
        </p:nvGrpSpPr>
        <p:grpSpPr>
          <a:xfrm>
            <a:off x="2488744" y="3897358"/>
            <a:ext cx="1539705" cy="1539705"/>
            <a:chOff x="2490070" y="4234808"/>
            <a:chExt cx="1869742" cy="1869742"/>
          </a:xfrm>
        </p:grpSpPr>
        <p:grpSp>
          <p:nvGrpSpPr>
            <p:cNvPr id="101" name="Google Shape;101;p1"/>
            <p:cNvGrpSpPr/>
            <p:nvPr/>
          </p:nvGrpSpPr>
          <p:grpSpPr>
            <a:xfrm>
              <a:off x="2490070" y="4234808"/>
              <a:ext cx="1869742" cy="1869742"/>
              <a:chOff x="1385272" y="2618182"/>
              <a:chExt cx="1869742" cy="1869742"/>
            </a:xfrm>
          </p:grpSpPr>
          <p:grpSp>
            <p:nvGrpSpPr>
              <p:cNvPr id="102" name="Google Shape;102;p1"/>
              <p:cNvGrpSpPr/>
              <p:nvPr/>
            </p:nvGrpSpPr>
            <p:grpSpPr>
              <a:xfrm>
                <a:off x="1385272" y="2618182"/>
                <a:ext cx="1869742" cy="1869742"/>
                <a:chOff x="1105470" y="385244"/>
                <a:chExt cx="1869742" cy="1869742"/>
              </a:xfrm>
            </p:grpSpPr>
            <p:sp>
              <p:nvSpPr>
                <p:cNvPr id="103" name="Google Shape;103;p1"/>
                <p:cNvSpPr/>
                <p:nvPr/>
              </p:nvSpPr>
              <p:spPr>
                <a:xfrm>
                  <a:off x="1168093" y="447867"/>
                  <a:ext cx="1744496" cy="1744496"/>
                </a:xfrm>
                <a:prstGeom prst="ellipse">
                  <a:avLst/>
                </a:prstGeom>
                <a:solidFill>
                  <a:srgbClr val="F6596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
                <p:cNvSpPr/>
                <p:nvPr/>
              </p:nvSpPr>
              <p:spPr>
                <a:xfrm>
                  <a:off x="1105470" y="385244"/>
                  <a:ext cx="1869742" cy="1869742"/>
                </a:xfrm>
                <a:prstGeom prst="ellipse">
                  <a:avLst/>
                </a:prstGeom>
                <a:noFill/>
                <a:ln w="19050" cap="flat" cmpd="sng">
                  <a:solidFill>
                    <a:srgbClr val="F6596E"/>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
                <p:cNvSpPr/>
                <p:nvPr/>
              </p:nvSpPr>
              <p:spPr>
                <a:xfrm rot="-263928">
                  <a:off x="1322943" y="1026832"/>
                  <a:ext cx="1119357" cy="1132274"/>
                </a:xfrm>
                <a:prstGeom prst="teardrop">
                  <a:avLst>
                    <a:gd name="adj" fmla="val 88717"/>
                  </a:avLst>
                </a:prstGeom>
                <a:solidFill>
                  <a:srgbClr val="000000">
                    <a:alpha val="1058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06" name="Google Shape;106;p1"/>
                <p:cNvGrpSpPr/>
                <p:nvPr/>
              </p:nvGrpSpPr>
              <p:grpSpPr>
                <a:xfrm>
                  <a:off x="1392869" y="677439"/>
                  <a:ext cx="1285351" cy="1285351"/>
                  <a:chOff x="1282890" y="562664"/>
                  <a:chExt cx="1514902" cy="1514902"/>
                </a:xfrm>
              </p:grpSpPr>
              <p:sp>
                <p:nvSpPr>
                  <p:cNvPr id="107" name="Google Shape;107;p1"/>
                  <p:cNvSpPr/>
                  <p:nvPr/>
                </p:nvSpPr>
                <p:spPr>
                  <a:xfrm>
                    <a:off x="1282890" y="562664"/>
                    <a:ext cx="1514902" cy="1514902"/>
                  </a:xfrm>
                  <a:prstGeom prst="ellipse">
                    <a:avLst/>
                  </a:prstGeom>
                  <a:noFill/>
                  <a:ln w="57150" cap="flat" cmpd="sng">
                    <a:solidFill>
                      <a:srgbClr val="FFA7BC"/>
                    </a:solidFill>
                    <a:prstDash val="solid"/>
                    <a:miter lim="800000"/>
                    <a:headEnd type="none" w="sm" len="sm"/>
                    <a:tailEnd type="none" w="sm" len="sm"/>
                  </a:ln>
                  <a:effectLst>
                    <a:outerShdw blurRad="127000" dist="25400" dir="8100000" sx="104000" sy="104000" algn="tr" rotWithShape="0">
                      <a:srgbClr val="000000">
                        <a:alpha val="2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8" name="Google Shape;108;p1"/>
                  <p:cNvSpPr/>
                  <p:nvPr/>
                </p:nvSpPr>
                <p:spPr>
                  <a:xfrm>
                    <a:off x="1310269" y="585169"/>
                    <a:ext cx="1469894" cy="1469894"/>
                  </a:xfrm>
                  <a:prstGeom prst="ellipse">
                    <a:avLst/>
                  </a:prstGeom>
                  <a:solidFill>
                    <a:srgbClr val="F2F2F2"/>
                  </a:solidFill>
                  <a:ln w="19050" cap="flat" cmpd="sng">
                    <a:solidFill>
                      <a:srgbClr val="BB4A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cxnSp>
            <p:nvCxnSpPr>
              <p:cNvPr id="109" name="Google Shape;109;p1"/>
              <p:cNvCxnSpPr/>
              <p:nvPr/>
            </p:nvCxnSpPr>
            <p:spPr>
              <a:xfrm rot="10800000">
                <a:off x="2001061" y="3790036"/>
                <a:ext cx="88159" cy="0"/>
              </a:xfrm>
              <a:prstGeom prst="straightConnector1">
                <a:avLst/>
              </a:prstGeom>
              <a:noFill/>
              <a:ln w="19050" cap="flat" cmpd="sng">
                <a:solidFill>
                  <a:schemeClr val="dk1"/>
                </a:solidFill>
                <a:prstDash val="solid"/>
                <a:miter lim="800000"/>
                <a:headEnd type="none" w="sm" len="sm"/>
                <a:tailEnd type="none" w="sm" len="sm"/>
              </a:ln>
            </p:spPr>
          </p:cxnSp>
        </p:grpSp>
        <p:pic>
          <p:nvPicPr>
            <p:cNvPr id="110" name="Google Shape;110;p1"/>
            <p:cNvPicPr preferRelativeResize="0"/>
            <p:nvPr/>
          </p:nvPicPr>
          <p:blipFill rotWithShape="1">
            <a:blip r:embed="rId3">
              <a:alphaModFix/>
            </a:blip>
            <a:srcRect/>
            <a:stretch/>
          </p:blipFill>
          <p:spPr>
            <a:xfrm>
              <a:off x="3149939" y="4864318"/>
              <a:ext cx="580718" cy="580718"/>
            </a:xfrm>
            <a:prstGeom prst="rect">
              <a:avLst/>
            </a:prstGeom>
            <a:noFill/>
            <a:ln>
              <a:noFill/>
            </a:ln>
          </p:spPr>
        </p:pic>
        <p:sp>
          <p:nvSpPr>
            <p:cNvPr id="111" name="Google Shape;111;p1"/>
            <p:cNvSpPr/>
            <p:nvPr/>
          </p:nvSpPr>
          <p:spPr>
            <a:xfrm>
              <a:off x="3489325" y="5067468"/>
              <a:ext cx="63064" cy="65082"/>
            </a:xfrm>
            <a:prstGeom prst="ellipse">
              <a:avLst/>
            </a:prstGeom>
            <a:solidFill>
              <a:srgbClr val="FFA7B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2" name="Google Shape;112;p1"/>
            <p:cNvSpPr/>
            <p:nvPr/>
          </p:nvSpPr>
          <p:spPr>
            <a:xfrm>
              <a:off x="3329032" y="5150644"/>
              <a:ext cx="62623" cy="76444"/>
            </a:xfrm>
            <a:prstGeom prst="triangle">
              <a:avLst>
                <a:gd name="adj" fmla="val 50000"/>
              </a:avLst>
            </a:prstGeom>
            <a:solidFill>
              <a:srgbClr val="FFA7B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13" name="Google Shape;113;p1"/>
            <p:cNvCxnSpPr/>
            <p:nvPr/>
          </p:nvCxnSpPr>
          <p:spPr>
            <a:xfrm rot="10800000">
              <a:off x="2991546" y="5236241"/>
              <a:ext cx="88159" cy="0"/>
            </a:xfrm>
            <a:prstGeom prst="straightConnector1">
              <a:avLst/>
            </a:prstGeom>
            <a:noFill/>
            <a:ln w="19050" cap="flat" cmpd="sng">
              <a:solidFill>
                <a:schemeClr val="dk1"/>
              </a:solidFill>
              <a:prstDash val="solid"/>
              <a:miter lim="800000"/>
              <a:headEnd type="none" w="sm" len="sm"/>
              <a:tailEnd type="none" w="sm" len="sm"/>
            </a:ln>
          </p:spPr>
        </p:cxnSp>
        <p:cxnSp>
          <p:nvCxnSpPr>
            <p:cNvPr id="114" name="Google Shape;114;p1"/>
            <p:cNvCxnSpPr/>
            <p:nvPr/>
          </p:nvCxnSpPr>
          <p:spPr>
            <a:xfrm rot="10800000">
              <a:off x="3391656" y="5502809"/>
              <a:ext cx="48642" cy="0"/>
            </a:xfrm>
            <a:prstGeom prst="straightConnector1">
              <a:avLst/>
            </a:prstGeom>
            <a:noFill/>
            <a:ln w="19050" cap="flat" cmpd="sng">
              <a:solidFill>
                <a:schemeClr val="dk1"/>
              </a:solidFill>
              <a:prstDash val="solid"/>
              <a:miter lim="800000"/>
              <a:headEnd type="none" w="sm" len="sm"/>
              <a:tailEnd type="none" w="sm" len="sm"/>
            </a:ln>
          </p:spPr>
        </p:cxnSp>
        <p:cxnSp>
          <p:nvCxnSpPr>
            <p:cNvPr id="115" name="Google Shape;115;p1"/>
            <p:cNvCxnSpPr/>
            <p:nvPr/>
          </p:nvCxnSpPr>
          <p:spPr>
            <a:xfrm rot="10800000">
              <a:off x="3105859" y="4934077"/>
              <a:ext cx="88159" cy="0"/>
            </a:xfrm>
            <a:prstGeom prst="straightConnector1">
              <a:avLst/>
            </a:prstGeom>
            <a:noFill/>
            <a:ln w="19050" cap="flat" cmpd="sng">
              <a:solidFill>
                <a:schemeClr val="dk1"/>
              </a:solidFill>
              <a:prstDash val="solid"/>
              <a:miter lim="800000"/>
              <a:headEnd type="none" w="sm" len="sm"/>
              <a:tailEnd type="none" w="sm" len="sm"/>
            </a:ln>
          </p:spPr>
        </p:cxnSp>
        <p:cxnSp>
          <p:nvCxnSpPr>
            <p:cNvPr id="116" name="Google Shape;116;p1"/>
            <p:cNvCxnSpPr/>
            <p:nvPr/>
          </p:nvCxnSpPr>
          <p:spPr>
            <a:xfrm rot="10800000">
              <a:off x="3464230" y="4835137"/>
              <a:ext cx="88159" cy="0"/>
            </a:xfrm>
            <a:prstGeom prst="straightConnector1">
              <a:avLst/>
            </a:prstGeom>
            <a:noFill/>
            <a:ln w="19050" cap="flat" cmpd="sng">
              <a:solidFill>
                <a:schemeClr val="dk1"/>
              </a:solidFill>
              <a:prstDash val="solid"/>
              <a:miter lim="800000"/>
              <a:headEnd type="none" w="sm" len="sm"/>
              <a:tailEnd type="none" w="sm" len="sm"/>
            </a:ln>
          </p:spPr>
        </p:cxnSp>
        <p:cxnSp>
          <p:nvCxnSpPr>
            <p:cNvPr id="117" name="Google Shape;117;p1"/>
            <p:cNvCxnSpPr/>
            <p:nvPr/>
          </p:nvCxnSpPr>
          <p:spPr>
            <a:xfrm rot="10800000">
              <a:off x="3642498" y="5406662"/>
              <a:ext cx="88159" cy="0"/>
            </a:xfrm>
            <a:prstGeom prst="straightConnector1">
              <a:avLst/>
            </a:prstGeom>
            <a:noFill/>
            <a:ln w="19050" cap="flat" cmpd="sng">
              <a:solidFill>
                <a:schemeClr val="dk1"/>
              </a:solidFill>
              <a:prstDash val="solid"/>
              <a:miter lim="800000"/>
              <a:headEnd type="none" w="sm" len="sm"/>
              <a:tailEnd type="none" w="sm" len="sm"/>
            </a:ln>
          </p:spPr>
        </p:cxnSp>
        <p:cxnSp>
          <p:nvCxnSpPr>
            <p:cNvPr id="118" name="Google Shape;118;p1"/>
            <p:cNvCxnSpPr/>
            <p:nvPr/>
          </p:nvCxnSpPr>
          <p:spPr>
            <a:xfrm>
              <a:off x="3730657" y="5001906"/>
              <a:ext cx="88159" cy="0"/>
            </a:xfrm>
            <a:prstGeom prst="straightConnector1">
              <a:avLst/>
            </a:prstGeom>
            <a:noFill/>
            <a:ln w="19050" cap="flat" cmpd="sng">
              <a:solidFill>
                <a:schemeClr val="dk1"/>
              </a:solidFill>
              <a:prstDash val="solid"/>
              <a:miter lim="800000"/>
              <a:headEnd type="none" w="sm" len="sm"/>
              <a:tailEnd type="none" w="sm" len="sm"/>
            </a:ln>
          </p:spPr>
        </p:cxnSp>
        <p:cxnSp>
          <p:nvCxnSpPr>
            <p:cNvPr id="119" name="Google Shape;119;p1"/>
            <p:cNvCxnSpPr/>
            <p:nvPr/>
          </p:nvCxnSpPr>
          <p:spPr>
            <a:xfrm>
              <a:off x="3846862" y="5001906"/>
              <a:ext cx="43623" cy="0"/>
            </a:xfrm>
            <a:prstGeom prst="straightConnector1">
              <a:avLst/>
            </a:prstGeom>
            <a:noFill/>
            <a:ln w="19050" cap="flat" cmpd="sng">
              <a:solidFill>
                <a:schemeClr val="dk1"/>
              </a:solidFill>
              <a:prstDash val="solid"/>
              <a:miter lim="800000"/>
              <a:headEnd type="none" w="sm" len="sm"/>
              <a:tailEnd type="none" w="sm" len="sm"/>
            </a:ln>
          </p:spPr>
        </p:cxnSp>
      </p:grpSp>
      <p:grpSp>
        <p:nvGrpSpPr>
          <p:cNvPr id="120" name="Google Shape;120;p1"/>
          <p:cNvGrpSpPr/>
          <p:nvPr/>
        </p:nvGrpSpPr>
        <p:grpSpPr>
          <a:xfrm>
            <a:off x="3634485" y="1038201"/>
            <a:ext cx="319137" cy="319137"/>
            <a:chOff x="3577335" y="1053147"/>
            <a:chExt cx="319137" cy="319137"/>
          </a:xfrm>
        </p:grpSpPr>
        <p:sp>
          <p:nvSpPr>
            <p:cNvPr id="121" name="Google Shape;121;p1"/>
            <p:cNvSpPr/>
            <p:nvPr/>
          </p:nvSpPr>
          <p:spPr>
            <a:xfrm>
              <a:off x="3676269" y="1148406"/>
              <a:ext cx="128620" cy="128620"/>
            </a:xfrm>
            <a:prstGeom prst="ellipse">
              <a:avLst/>
            </a:prstGeom>
            <a:solidFill>
              <a:srgbClr val="FFC500"/>
            </a:solidFill>
            <a:ln w="19050" cap="flat" cmpd="sng">
              <a:solidFill>
                <a:srgbClr val="FFE97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2" name="Google Shape;122;p1"/>
            <p:cNvSpPr/>
            <p:nvPr/>
          </p:nvSpPr>
          <p:spPr>
            <a:xfrm>
              <a:off x="3577335" y="1053147"/>
              <a:ext cx="319137" cy="319137"/>
            </a:xfrm>
            <a:prstGeom prst="donut">
              <a:avLst>
                <a:gd name="adj" fmla="val 19304"/>
              </a:avLst>
            </a:prstGeom>
            <a:solidFill>
              <a:srgbClr val="FFC5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3" name="Google Shape;123;p1"/>
          <p:cNvGrpSpPr/>
          <p:nvPr/>
        </p:nvGrpSpPr>
        <p:grpSpPr>
          <a:xfrm>
            <a:off x="3431651" y="2506812"/>
            <a:ext cx="319137" cy="319137"/>
            <a:chOff x="3577335" y="1053147"/>
            <a:chExt cx="319137" cy="319137"/>
          </a:xfrm>
        </p:grpSpPr>
        <p:sp>
          <p:nvSpPr>
            <p:cNvPr id="124" name="Google Shape;124;p1"/>
            <p:cNvSpPr/>
            <p:nvPr/>
          </p:nvSpPr>
          <p:spPr>
            <a:xfrm>
              <a:off x="3676269" y="1148406"/>
              <a:ext cx="128620" cy="128620"/>
            </a:xfrm>
            <a:prstGeom prst="ellipse">
              <a:avLst/>
            </a:prstGeom>
            <a:solidFill>
              <a:srgbClr val="70E3D2"/>
            </a:solidFill>
            <a:ln w="19050" cap="flat" cmpd="sng">
              <a:solidFill>
                <a:srgbClr val="8CF7E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5" name="Google Shape;125;p1"/>
            <p:cNvSpPr/>
            <p:nvPr/>
          </p:nvSpPr>
          <p:spPr>
            <a:xfrm>
              <a:off x="3577335" y="1053147"/>
              <a:ext cx="319137" cy="319137"/>
            </a:xfrm>
            <a:prstGeom prst="donut">
              <a:avLst>
                <a:gd name="adj" fmla="val 19304"/>
              </a:avLst>
            </a:prstGeom>
            <a:solidFill>
              <a:srgbClr val="1DD6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6" name="Google Shape;126;p1"/>
          <p:cNvGrpSpPr/>
          <p:nvPr/>
        </p:nvGrpSpPr>
        <p:grpSpPr>
          <a:xfrm>
            <a:off x="7852331" y="1024396"/>
            <a:ext cx="319137" cy="319137"/>
            <a:chOff x="3577335" y="1053147"/>
            <a:chExt cx="319137" cy="319137"/>
          </a:xfrm>
        </p:grpSpPr>
        <p:sp>
          <p:nvSpPr>
            <p:cNvPr id="127" name="Google Shape;127;p1"/>
            <p:cNvSpPr/>
            <p:nvPr/>
          </p:nvSpPr>
          <p:spPr>
            <a:xfrm>
              <a:off x="3676269" y="1148406"/>
              <a:ext cx="128620" cy="128620"/>
            </a:xfrm>
            <a:prstGeom prst="ellipse">
              <a:avLst/>
            </a:prstGeom>
            <a:solidFill>
              <a:srgbClr val="A1CC1C"/>
            </a:solidFill>
            <a:ln w="19050" cap="flat" cmpd="sng">
              <a:solidFill>
                <a:srgbClr val="C6F74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8" name="Google Shape;128;p1"/>
            <p:cNvSpPr/>
            <p:nvPr/>
          </p:nvSpPr>
          <p:spPr>
            <a:xfrm>
              <a:off x="3577335" y="1053147"/>
              <a:ext cx="319137" cy="319137"/>
            </a:xfrm>
            <a:prstGeom prst="donut">
              <a:avLst>
                <a:gd name="adj" fmla="val 19304"/>
              </a:avLst>
            </a:prstGeom>
            <a:solidFill>
              <a:srgbClr val="A7D5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9" name="Google Shape;129;p1"/>
          <p:cNvGrpSpPr/>
          <p:nvPr/>
        </p:nvGrpSpPr>
        <p:grpSpPr>
          <a:xfrm>
            <a:off x="3998054" y="3658429"/>
            <a:ext cx="319137" cy="319137"/>
            <a:chOff x="3577335" y="1053147"/>
            <a:chExt cx="319137" cy="319137"/>
          </a:xfrm>
        </p:grpSpPr>
        <p:sp>
          <p:nvSpPr>
            <p:cNvPr id="130" name="Google Shape;130;p1"/>
            <p:cNvSpPr/>
            <p:nvPr/>
          </p:nvSpPr>
          <p:spPr>
            <a:xfrm>
              <a:off x="3676269" y="1148406"/>
              <a:ext cx="128620" cy="128620"/>
            </a:xfrm>
            <a:prstGeom prst="ellipse">
              <a:avLst/>
            </a:prstGeom>
            <a:solidFill>
              <a:srgbClr val="BB4A5D"/>
            </a:solidFill>
            <a:ln w="19050" cap="flat" cmpd="sng">
              <a:solidFill>
                <a:srgbClr val="FFA7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1" name="Google Shape;131;p1"/>
            <p:cNvSpPr/>
            <p:nvPr/>
          </p:nvSpPr>
          <p:spPr>
            <a:xfrm>
              <a:off x="3577335" y="1053147"/>
              <a:ext cx="319137" cy="319137"/>
            </a:xfrm>
            <a:prstGeom prst="donut">
              <a:avLst>
                <a:gd name="adj" fmla="val 19304"/>
              </a:avLst>
            </a:prstGeom>
            <a:solidFill>
              <a:srgbClr val="F6596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2" name="Google Shape;132;p1"/>
          <p:cNvGrpSpPr/>
          <p:nvPr/>
        </p:nvGrpSpPr>
        <p:grpSpPr>
          <a:xfrm>
            <a:off x="-640252" y="1438946"/>
            <a:ext cx="260350" cy="844550"/>
            <a:chOff x="1834524" y="4244125"/>
            <a:chExt cx="260350" cy="844550"/>
          </a:xfrm>
        </p:grpSpPr>
        <p:sp>
          <p:nvSpPr>
            <p:cNvPr id="133" name="Google Shape;133;p1"/>
            <p:cNvSpPr/>
            <p:nvPr/>
          </p:nvSpPr>
          <p:spPr>
            <a:xfrm>
              <a:off x="1834524" y="4244125"/>
              <a:ext cx="260350" cy="234950"/>
            </a:xfrm>
            <a:prstGeom prst="rect">
              <a:avLst/>
            </a:prstGeom>
            <a:solidFill>
              <a:srgbClr val="FD7C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4" name="Google Shape;134;p1"/>
            <p:cNvSpPr/>
            <p:nvPr/>
          </p:nvSpPr>
          <p:spPr>
            <a:xfrm>
              <a:off x="1834524" y="4561625"/>
              <a:ext cx="260350" cy="234950"/>
            </a:xfrm>
            <a:prstGeom prst="rect">
              <a:avLst/>
            </a:prstGeom>
            <a:solidFill>
              <a:srgbClr val="FBA9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5" name="Google Shape;135;p1"/>
            <p:cNvSpPr/>
            <p:nvPr/>
          </p:nvSpPr>
          <p:spPr>
            <a:xfrm>
              <a:off x="1834524" y="4853725"/>
              <a:ext cx="260350" cy="234950"/>
            </a:xfrm>
            <a:prstGeom prst="rect">
              <a:avLst/>
            </a:prstGeom>
            <a:solidFill>
              <a:srgbClr val="D882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36" name="Google Shape;136;p1"/>
          <p:cNvGrpSpPr/>
          <p:nvPr/>
        </p:nvGrpSpPr>
        <p:grpSpPr>
          <a:xfrm>
            <a:off x="4113292" y="4792308"/>
            <a:ext cx="1539705" cy="1539705"/>
            <a:chOff x="4056142" y="4807254"/>
            <a:chExt cx="1539705" cy="1539705"/>
          </a:xfrm>
        </p:grpSpPr>
        <p:grpSp>
          <p:nvGrpSpPr>
            <p:cNvPr id="137" name="Google Shape;137;p1"/>
            <p:cNvGrpSpPr/>
            <p:nvPr/>
          </p:nvGrpSpPr>
          <p:grpSpPr>
            <a:xfrm>
              <a:off x="4056142" y="4807254"/>
              <a:ext cx="1539705" cy="1539705"/>
              <a:chOff x="2490070" y="4234808"/>
              <a:chExt cx="1869742" cy="1869742"/>
            </a:xfrm>
          </p:grpSpPr>
          <p:grpSp>
            <p:nvGrpSpPr>
              <p:cNvPr id="138" name="Google Shape;138;p1"/>
              <p:cNvGrpSpPr/>
              <p:nvPr/>
            </p:nvGrpSpPr>
            <p:grpSpPr>
              <a:xfrm>
                <a:off x="2490070" y="4234808"/>
                <a:ext cx="1869742" cy="1869742"/>
                <a:chOff x="1385272" y="2618182"/>
                <a:chExt cx="1869742" cy="1869742"/>
              </a:xfrm>
            </p:grpSpPr>
            <p:grpSp>
              <p:nvGrpSpPr>
                <p:cNvPr id="139" name="Google Shape;139;p1"/>
                <p:cNvGrpSpPr/>
                <p:nvPr/>
              </p:nvGrpSpPr>
              <p:grpSpPr>
                <a:xfrm>
                  <a:off x="1385272" y="2618182"/>
                  <a:ext cx="1869742" cy="1869742"/>
                  <a:chOff x="1105470" y="385244"/>
                  <a:chExt cx="1869742" cy="1869742"/>
                </a:xfrm>
              </p:grpSpPr>
              <p:sp>
                <p:nvSpPr>
                  <p:cNvPr id="140" name="Google Shape;140;p1"/>
                  <p:cNvSpPr/>
                  <p:nvPr/>
                </p:nvSpPr>
                <p:spPr>
                  <a:xfrm>
                    <a:off x="1168093" y="447867"/>
                    <a:ext cx="1744496" cy="1744496"/>
                  </a:xfrm>
                  <a:prstGeom prst="ellipse">
                    <a:avLst/>
                  </a:prstGeom>
                  <a:solidFill>
                    <a:srgbClr val="FD7C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1" name="Google Shape;141;p1"/>
                  <p:cNvSpPr/>
                  <p:nvPr/>
                </p:nvSpPr>
                <p:spPr>
                  <a:xfrm>
                    <a:off x="1105470" y="385244"/>
                    <a:ext cx="1869742" cy="1869742"/>
                  </a:xfrm>
                  <a:prstGeom prst="ellipse">
                    <a:avLst/>
                  </a:prstGeom>
                  <a:noFill/>
                  <a:ln w="19050" cap="flat" cmpd="sng">
                    <a:solidFill>
                      <a:srgbClr val="FD7CD9"/>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2" name="Google Shape;142;p1"/>
                  <p:cNvSpPr/>
                  <p:nvPr/>
                </p:nvSpPr>
                <p:spPr>
                  <a:xfrm rot="-263928">
                    <a:off x="1322943" y="1026832"/>
                    <a:ext cx="1119357" cy="1132274"/>
                  </a:xfrm>
                  <a:prstGeom prst="teardrop">
                    <a:avLst>
                      <a:gd name="adj" fmla="val 88717"/>
                    </a:avLst>
                  </a:prstGeom>
                  <a:solidFill>
                    <a:srgbClr val="000000">
                      <a:alpha val="1058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43" name="Google Shape;143;p1"/>
                  <p:cNvGrpSpPr/>
                  <p:nvPr/>
                </p:nvGrpSpPr>
                <p:grpSpPr>
                  <a:xfrm>
                    <a:off x="1392869" y="677439"/>
                    <a:ext cx="1285351" cy="1285351"/>
                    <a:chOff x="1282890" y="562664"/>
                    <a:chExt cx="1514902" cy="1514902"/>
                  </a:xfrm>
                </p:grpSpPr>
                <p:sp>
                  <p:nvSpPr>
                    <p:cNvPr id="144" name="Google Shape;144;p1"/>
                    <p:cNvSpPr/>
                    <p:nvPr/>
                  </p:nvSpPr>
                  <p:spPr>
                    <a:xfrm>
                      <a:off x="1282890" y="562664"/>
                      <a:ext cx="1514902" cy="1514902"/>
                    </a:xfrm>
                    <a:prstGeom prst="ellipse">
                      <a:avLst/>
                    </a:prstGeom>
                    <a:noFill/>
                    <a:ln w="57150" cap="flat" cmpd="sng">
                      <a:solidFill>
                        <a:srgbClr val="FBA9EB"/>
                      </a:solidFill>
                      <a:prstDash val="solid"/>
                      <a:miter lim="800000"/>
                      <a:headEnd type="none" w="sm" len="sm"/>
                      <a:tailEnd type="none" w="sm" len="sm"/>
                    </a:ln>
                    <a:effectLst>
                      <a:outerShdw blurRad="127000" dist="25400" dir="8100000" sx="104000" sy="104000" algn="tr" rotWithShape="0">
                        <a:srgbClr val="000000">
                          <a:alpha val="2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5" name="Google Shape;145;p1"/>
                    <p:cNvSpPr/>
                    <p:nvPr/>
                  </p:nvSpPr>
                  <p:spPr>
                    <a:xfrm>
                      <a:off x="1310269" y="585169"/>
                      <a:ext cx="1469894" cy="1469894"/>
                    </a:xfrm>
                    <a:prstGeom prst="ellipse">
                      <a:avLst/>
                    </a:prstGeom>
                    <a:solidFill>
                      <a:srgbClr val="F2F2F2"/>
                    </a:solidFill>
                    <a:ln w="19050" cap="flat" cmpd="sng">
                      <a:solidFill>
                        <a:srgbClr val="D882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cxnSp>
              <p:nvCxnSpPr>
                <p:cNvPr id="146" name="Google Shape;146;p1"/>
                <p:cNvCxnSpPr/>
                <p:nvPr/>
              </p:nvCxnSpPr>
              <p:spPr>
                <a:xfrm rot="10800000">
                  <a:off x="2197695" y="3850066"/>
                  <a:ext cx="88159" cy="0"/>
                </a:xfrm>
                <a:prstGeom prst="straightConnector1">
                  <a:avLst/>
                </a:prstGeom>
                <a:noFill/>
                <a:ln w="19050" cap="flat" cmpd="sng">
                  <a:solidFill>
                    <a:schemeClr val="dk1"/>
                  </a:solidFill>
                  <a:prstDash val="solid"/>
                  <a:miter lim="800000"/>
                  <a:headEnd type="none" w="sm" len="sm"/>
                  <a:tailEnd type="none" w="sm" len="sm"/>
                </a:ln>
              </p:spPr>
            </p:cxnSp>
          </p:grpSp>
          <p:cxnSp>
            <p:nvCxnSpPr>
              <p:cNvPr id="147" name="Google Shape;147;p1"/>
              <p:cNvCxnSpPr/>
              <p:nvPr/>
            </p:nvCxnSpPr>
            <p:spPr>
              <a:xfrm rot="10800000">
                <a:off x="2991546" y="5236241"/>
                <a:ext cx="88159" cy="0"/>
              </a:xfrm>
              <a:prstGeom prst="straightConnector1">
                <a:avLst/>
              </a:prstGeom>
              <a:noFill/>
              <a:ln w="19050" cap="flat" cmpd="sng">
                <a:solidFill>
                  <a:schemeClr val="dk1"/>
                </a:solidFill>
                <a:prstDash val="solid"/>
                <a:miter lim="800000"/>
                <a:headEnd type="none" w="sm" len="sm"/>
                <a:tailEnd type="none" w="sm" len="sm"/>
              </a:ln>
            </p:spPr>
          </p:cxnSp>
        </p:grpSp>
        <p:grpSp>
          <p:nvGrpSpPr>
            <p:cNvPr id="148" name="Google Shape;148;p1"/>
            <p:cNvGrpSpPr/>
            <p:nvPr/>
          </p:nvGrpSpPr>
          <p:grpSpPr>
            <a:xfrm>
              <a:off x="4526680" y="5256636"/>
              <a:ext cx="575740" cy="565056"/>
              <a:chOff x="4526680" y="5256636"/>
              <a:chExt cx="575740" cy="565056"/>
            </a:xfrm>
          </p:grpSpPr>
          <p:pic>
            <p:nvPicPr>
              <p:cNvPr id="149" name="Google Shape;149;p1"/>
              <p:cNvPicPr preferRelativeResize="0"/>
              <p:nvPr/>
            </p:nvPicPr>
            <p:blipFill rotWithShape="1">
              <a:blip r:embed="rId4">
                <a:alphaModFix/>
              </a:blip>
              <a:srcRect/>
              <a:stretch/>
            </p:blipFill>
            <p:spPr>
              <a:xfrm>
                <a:off x="4562979" y="5256636"/>
                <a:ext cx="539441" cy="539441"/>
              </a:xfrm>
              <a:prstGeom prst="rect">
                <a:avLst/>
              </a:prstGeom>
              <a:noFill/>
              <a:ln>
                <a:noFill/>
              </a:ln>
            </p:spPr>
          </p:pic>
          <p:cxnSp>
            <p:nvCxnSpPr>
              <p:cNvPr id="150" name="Google Shape;150;p1"/>
              <p:cNvCxnSpPr/>
              <p:nvPr/>
            </p:nvCxnSpPr>
            <p:spPr>
              <a:xfrm rot="10800000">
                <a:off x="4526680" y="5821692"/>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151" name="Google Shape;151;p1"/>
              <p:cNvCxnSpPr/>
              <p:nvPr/>
            </p:nvCxnSpPr>
            <p:spPr>
              <a:xfrm rot="10800000">
                <a:off x="4599278" y="5492937"/>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152" name="Google Shape;152;p1"/>
              <p:cNvCxnSpPr/>
              <p:nvPr/>
            </p:nvCxnSpPr>
            <p:spPr>
              <a:xfrm rot="10800000">
                <a:off x="4562979" y="5346524"/>
                <a:ext cx="120086" cy="0"/>
              </a:xfrm>
              <a:prstGeom prst="straightConnector1">
                <a:avLst/>
              </a:prstGeom>
              <a:noFill/>
              <a:ln w="19050" cap="flat" cmpd="sng">
                <a:solidFill>
                  <a:schemeClr val="dk1"/>
                </a:solidFill>
                <a:prstDash val="solid"/>
                <a:miter lim="800000"/>
                <a:headEnd type="none" w="sm" len="sm"/>
                <a:tailEnd type="none" w="sm" len="sm"/>
              </a:ln>
            </p:spPr>
          </p:cxnSp>
          <p:cxnSp>
            <p:nvCxnSpPr>
              <p:cNvPr id="153" name="Google Shape;153;p1"/>
              <p:cNvCxnSpPr/>
              <p:nvPr/>
            </p:nvCxnSpPr>
            <p:spPr>
              <a:xfrm rot="10800000">
                <a:off x="4832699" y="5704217"/>
                <a:ext cx="72598" cy="0"/>
              </a:xfrm>
              <a:prstGeom prst="straightConnector1">
                <a:avLst/>
              </a:prstGeom>
              <a:noFill/>
              <a:ln w="19050" cap="flat" cmpd="sng">
                <a:solidFill>
                  <a:schemeClr val="dk1"/>
                </a:solidFill>
                <a:prstDash val="solid"/>
                <a:miter lim="800000"/>
                <a:headEnd type="none" w="sm" len="sm"/>
                <a:tailEnd type="none" w="sm" len="sm"/>
              </a:ln>
            </p:spPr>
          </p:cxnSp>
          <p:sp>
            <p:nvSpPr>
              <p:cNvPr id="154" name="Google Shape;154;p1"/>
              <p:cNvSpPr/>
              <p:nvPr/>
            </p:nvSpPr>
            <p:spPr>
              <a:xfrm>
                <a:off x="4811085" y="5370289"/>
                <a:ext cx="163439" cy="163439"/>
              </a:xfrm>
              <a:prstGeom prst="ellipse">
                <a:avLst/>
              </a:prstGeom>
              <a:solidFill>
                <a:srgbClr val="FBA9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5" name="Google Shape;155;p1"/>
              <p:cNvSpPr/>
              <p:nvPr/>
            </p:nvSpPr>
            <p:spPr>
              <a:xfrm>
                <a:off x="4763107" y="5309252"/>
                <a:ext cx="294158" cy="285511"/>
              </a:xfrm>
              <a:prstGeom prst="ellipse">
                <a:avLst/>
              </a:prstGeom>
              <a:noFill/>
              <a:ln w="12700" cap="flat" cmpd="sng">
                <a:solidFill>
                  <a:srgbClr val="FBA9E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grpSp>
        <p:nvGrpSpPr>
          <p:cNvPr id="156" name="Google Shape;156;p1"/>
          <p:cNvGrpSpPr/>
          <p:nvPr/>
        </p:nvGrpSpPr>
        <p:grpSpPr>
          <a:xfrm>
            <a:off x="-1177412" y="2517629"/>
            <a:ext cx="260350" cy="844550"/>
            <a:chOff x="1834524" y="4244125"/>
            <a:chExt cx="260350" cy="844550"/>
          </a:xfrm>
        </p:grpSpPr>
        <p:sp>
          <p:nvSpPr>
            <p:cNvPr id="157" name="Google Shape;157;p1"/>
            <p:cNvSpPr/>
            <p:nvPr/>
          </p:nvSpPr>
          <p:spPr>
            <a:xfrm>
              <a:off x="1834524" y="4244125"/>
              <a:ext cx="260350" cy="234950"/>
            </a:xfrm>
            <a:prstGeom prst="rect">
              <a:avLst/>
            </a:prstGeom>
            <a:solidFill>
              <a:srgbClr val="3ECE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8" name="Google Shape;158;p1"/>
            <p:cNvSpPr/>
            <p:nvPr/>
          </p:nvSpPr>
          <p:spPr>
            <a:xfrm>
              <a:off x="1834524" y="4561625"/>
              <a:ext cx="260350" cy="234950"/>
            </a:xfrm>
            <a:prstGeom prst="rect">
              <a:avLst/>
            </a:prstGeom>
            <a:solidFill>
              <a:srgbClr val="83E2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9" name="Google Shape;159;p1"/>
            <p:cNvSpPr/>
            <p:nvPr/>
          </p:nvSpPr>
          <p:spPr>
            <a:xfrm>
              <a:off x="1834524" y="4853725"/>
              <a:ext cx="260350" cy="234950"/>
            </a:xfrm>
            <a:prstGeom prst="rect">
              <a:avLst/>
            </a:prstGeom>
            <a:solidFill>
              <a:srgbClr val="42BD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60" name="Google Shape;160;p1"/>
          <p:cNvGrpSpPr/>
          <p:nvPr/>
        </p:nvGrpSpPr>
        <p:grpSpPr>
          <a:xfrm>
            <a:off x="6047178" y="4792308"/>
            <a:ext cx="1539705" cy="1539705"/>
            <a:chOff x="5990028" y="4807254"/>
            <a:chExt cx="1539705" cy="1539705"/>
          </a:xfrm>
        </p:grpSpPr>
        <p:grpSp>
          <p:nvGrpSpPr>
            <p:cNvPr id="161" name="Google Shape;161;p1"/>
            <p:cNvGrpSpPr/>
            <p:nvPr/>
          </p:nvGrpSpPr>
          <p:grpSpPr>
            <a:xfrm>
              <a:off x="5990028" y="4807254"/>
              <a:ext cx="1539705" cy="1539705"/>
              <a:chOff x="2490070" y="4234808"/>
              <a:chExt cx="1869742" cy="1869742"/>
            </a:xfrm>
          </p:grpSpPr>
          <p:grpSp>
            <p:nvGrpSpPr>
              <p:cNvPr id="162" name="Google Shape;162;p1"/>
              <p:cNvGrpSpPr/>
              <p:nvPr/>
            </p:nvGrpSpPr>
            <p:grpSpPr>
              <a:xfrm>
                <a:off x="2490070" y="4234808"/>
                <a:ext cx="1869742" cy="1869742"/>
                <a:chOff x="1385272" y="2618182"/>
                <a:chExt cx="1869742" cy="1869742"/>
              </a:xfrm>
            </p:grpSpPr>
            <p:grpSp>
              <p:nvGrpSpPr>
                <p:cNvPr id="163" name="Google Shape;163;p1"/>
                <p:cNvGrpSpPr/>
                <p:nvPr/>
              </p:nvGrpSpPr>
              <p:grpSpPr>
                <a:xfrm>
                  <a:off x="1385272" y="2618182"/>
                  <a:ext cx="1869742" cy="1869742"/>
                  <a:chOff x="1105470" y="385244"/>
                  <a:chExt cx="1869742" cy="1869742"/>
                </a:xfrm>
              </p:grpSpPr>
              <p:sp>
                <p:nvSpPr>
                  <p:cNvPr id="164" name="Google Shape;164;p1"/>
                  <p:cNvSpPr/>
                  <p:nvPr/>
                </p:nvSpPr>
                <p:spPr>
                  <a:xfrm>
                    <a:off x="1168093" y="447867"/>
                    <a:ext cx="1744496" cy="1744496"/>
                  </a:xfrm>
                  <a:prstGeom prst="ellipse">
                    <a:avLst/>
                  </a:prstGeom>
                  <a:solidFill>
                    <a:srgbClr val="3ECE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5" name="Google Shape;165;p1"/>
                  <p:cNvSpPr/>
                  <p:nvPr/>
                </p:nvSpPr>
                <p:spPr>
                  <a:xfrm>
                    <a:off x="1105470" y="385244"/>
                    <a:ext cx="1869742" cy="1869742"/>
                  </a:xfrm>
                  <a:prstGeom prst="ellipse">
                    <a:avLst/>
                  </a:prstGeom>
                  <a:noFill/>
                  <a:ln w="19050" cap="flat" cmpd="sng">
                    <a:solidFill>
                      <a:srgbClr val="3ECEFE"/>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6" name="Google Shape;166;p1"/>
                  <p:cNvSpPr/>
                  <p:nvPr/>
                </p:nvSpPr>
                <p:spPr>
                  <a:xfrm rot="-263928">
                    <a:off x="1322943" y="1026832"/>
                    <a:ext cx="1119357" cy="1132274"/>
                  </a:xfrm>
                  <a:prstGeom prst="teardrop">
                    <a:avLst>
                      <a:gd name="adj" fmla="val 88717"/>
                    </a:avLst>
                  </a:prstGeom>
                  <a:solidFill>
                    <a:srgbClr val="000000">
                      <a:alpha val="1058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67" name="Google Shape;167;p1"/>
                  <p:cNvGrpSpPr/>
                  <p:nvPr/>
                </p:nvGrpSpPr>
                <p:grpSpPr>
                  <a:xfrm>
                    <a:off x="1392869" y="677439"/>
                    <a:ext cx="1285351" cy="1285351"/>
                    <a:chOff x="1282890" y="562664"/>
                    <a:chExt cx="1514902" cy="1514902"/>
                  </a:xfrm>
                </p:grpSpPr>
                <p:sp>
                  <p:nvSpPr>
                    <p:cNvPr id="168" name="Google Shape;168;p1"/>
                    <p:cNvSpPr/>
                    <p:nvPr/>
                  </p:nvSpPr>
                  <p:spPr>
                    <a:xfrm>
                      <a:off x="1282890" y="562664"/>
                      <a:ext cx="1514902" cy="1514902"/>
                    </a:xfrm>
                    <a:prstGeom prst="ellipse">
                      <a:avLst/>
                    </a:prstGeom>
                    <a:noFill/>
                    <a:ln w="57150" cap="flat" cmpd="sng">
                      <a:solidFill>
                        <a:srgbClr val="83E2FA"/>
                      </a:solidFill>
                      <a:prstDash val="solid"/>
                      <a:miter lim="800000"/>
                      <a:headEnd type="none" w="sm" len="sm"/>
                      <a:tailEnd type="none" w="sm" len="sm"/>
                    </a:ln>
                    <a:effectLst>
                      <a:outerShdw blurRad="127000" dist="25400" dir="8100000" sx="104000" sy="104000" algn="tr" rotWithShape="0">
                        <a:srgbClr val="000000">
                          <a:alpha val="2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9" name="Google Shape;169;p1"/>
                    <p:cNvSpPr/>
                    <p:nvPr/>
                  </p:nvSpPr>
                  <p:spPr>
                    <a:xfrm>
                      <a:off x="1310269" y="585169"/>
                      <a:ext cx="1469894" cy="1469894"/>
                    </a:xfrm>
                    <a:prstGeom prst="ellipse">
                      <a:avLst/>
                    </a:prstGeom>
                    <a:solidFill>
                      <a:srgbClr val="F2F2F2"/>
                    </a:solidFill>
                    <a:ln w="19050" cap="flat" cmpd="sng">
                      <a:solidFill>
                        <a:srgbClr val="42BD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cxnSp>
              <p:nvCxnSpPr>
                <p:cNvPr id="170" name="Google Shape;170;p1"/>
                <p:cNvCxnSpPr/>
                <p:nvPr/>
              </p:nvCxnSpPr>
              <p:spPr>
                <a:xfrm rot="10800000">
                  <a:off x="2001061" y="3790036"/>
                  <a:ext cx="88159" cy="0"/>
                </a:xfrm>
                <a:prstGeom prst="straightConnector1">
                  <a:avLst/>
                </a:prstGeom>
                <a:noFill/>
                <a:ln w="19050" cap="flat" cmpd="sng">
                  <a:solidFill>
                    <a:schemeClr val="dk1"/>
                  </a:solidFill>
                  <a:prstDash val="solid"/>
                  <a:miter lim="800000"/>
                  <a:headEnd type="none" w="sm" len="sm"/>
                  <a:tailEnd type="none" w="sm" len="sm"/>
                </a:ln>
              </p:spPr>
            </p:cxnSp>
          </p:grpSp>
          <p:cxnSp>
            <p:nvCxnSpPr>
              <p:cNvPr id="171" name="Google Shape;171;p1"/>
              <p:cNvCxnSpPr/>
              <p:nvPr/>
            </p:nvCxnSpPr>
            <p:spPr>
              <a:xfrm rot="10800000">
                <a:off x="2991546" y="5236241"/>
                <a:ext cx="88159" cy="0"/>
              </a:xfrm>
              <a:prstGeom prst="straightConnector1">
                <a:avLst/>
              </a:prstGeom>
              <a:noFill/>
              <a:ln w="19050" cap="flat" cmpd="sng">
                <a:solidFill>
                  <a:schemeClr val="dk1"/>
                </a:solidFill>
                <a:prstDash val="solid"/>
                <a:miter lim="800000"/>
                <a:headEnd type="none" w="sm" len="sm"/>
                <a:tailEnd type="none" w="sm" len="sm"/>
              </a:ln>
            </p:spPr>
          </p:cxnSp>
          <p:cxnSp>
            <p:nvCxnSpPr>
              <p:cNvPr id="172" name="Google Shape;172;p1"/>
              <p:cNvCxnSpPr/>
              <p:nvPr/>
            </p:nvCxnSpPr>
            <p:spPr>
              <a:xfrm rot="10800000">
                <a:off x="3040895" y="4934077"/>
                <a:ext cx="153124" cy="0"/>
              </a:xfrm>
              <a:prstGeom prst="straightConnector1">
                <a:avLst/>
              </a:prstGeom>
              <a:noFill/>
              <a:ln w="19050" cap="flat" cmpd="sng">
                <a:solidFill>
                  <a:schemeClr val="dk1"/>
                </a:solidFill>
                <a:prstDash val="solid"/>
                <a:miter lim="800000"/>
                <a:headEnd type="none" w="sm" len="sm"/>
                <a:tailEnd type="none" w="sm" len="sm"/>
              </a:ln>
            </p:spPr>
          </p:cxnSp>
        </p:grpSp>
        <p:sp>
          <p:nvSpPr>
            <p:cNvPr id="174" name="Google Shape;174;p1"/>
            <p:cNvSpPr/>
            <p:nvPr/>
          </p:nvSpPr>
          <p:spPr>
            <a:xfrm>
              <a:off x="6719764" y="5370289"/>
              <a:ext cx="302648" cy="206817"/>
            </a:xfrm>
            <a:prstGeom prst="rect">
              <a:avLst/>
            </a:prstGeom>
            <a:noFill/>
            <a:ln w="19050" cap="flat" cmpd="sng">
              <a:solidFill>
                <a:srgbClr val="83E2F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5" name="Google Shape;175;p1"/>
            <p:cNvSpPr/>
            <p:nvPr/>
          </p:nvSpPr>
          <p:spPr>
            <a:xfrm>
              <a:off x="6603192" y="5524137"/>
              <a:ext cx="64310" cy="146413"/>
            </a:xfrm>
            <a:prstGeom prst="rect">
              <a:avLst/>
            </a:prstGeom>
            <a:solidFill>
              <a:srgbClr val="83E2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76" name="Google Shape;176;p1"/>
            <p:cNvCxnSpPr/>
            <p:nvPr/>
          </p:nvCxnSpPr>
          <p:spPr>
            <a:xfrm rot="10800000">
              <a:off x="6762761" y="5258103"/>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177" name="Google Shape;177;p1"/>
            <p:cNvCxnSpPr/>
            <p:nvPr/>
          </p:nvCxnSpPr>
          <p:spPr>
            <a:xfrm rot="10800000">
              <a:off x="7039147" y="5707695"/>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178" name="Google Shape;178;p1"/>
            <p:cNvCxnSpPr/>
            <p:nvPr/>
          </p:nvCxnSpPr>
          <p:spPr>
            <a:xfrm rot="10800000">
              <a:off x="6762761" y="5798297"/>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179" name="Google Shape;179;p1"/>
            <p:cNvCxnSpPr/>
            <p:nvPr/>
          </p:nvCxnSpPr>
          <p:spPr>
            <a:xfrm rot="10800000">
              <a:off x="7090374" y="5452009"/>
              <a:ext cx="34914" cy="0"/>
            </a:xfrm>
            <a:prstGeom prst="straightConnector1">
              <a:avLst/>
            </a:prstGeom>
            <a:noFill/>
            <a:ln w="19050" cap="flat" cmpd="sng">
              <a:solidFill>
                <a:schemeClr val="dk1"/>
              </a:solidFill>
              <a:prstDash val="solid"/>
              <a:miter lim="800000"/>
              <a:headEnd type="none" w="sm" len="sm"/>
              <a:tailEnd type="none" w="sm" len="sm"/>
            </a:ln>
          </p:spPr>
        </p:cxnSp>
      </p:grpSp>
      <p:grpSp>
        <p:nvGrpSpPr>
          <p:cNvPr id="180" name="Google Shape;180;p1"/>
          <p:cNvGrpSpPr/>
          <p:nvPr/>
        </p:nvGrpSpPr>
        <p:grpSpPr>
          <a:xfrm>
            <a:off x="-623483" y="2490796"/>
            <a:ext cx="260350" cy="844550"/>
            <a:chOff x="1834524" y="4244125"/>
            <a:chExt cx="260350" cy="844550"/>
          </a:xfrm>
        </p:grpSpPr>
        <p:sp>
          <p:nvSpPr>
            <p:cNvPr id="181" name="Google Shape;181;p1"/>
            <p:cNvSpPr/>
            <p:nvPr/>
          </p:nvSpPr>
          <p:spPr>
            <a:xfrm>
              <a:off x="1834524" y="4244125"/>
              <a:ext cx="260350" cy="234950"/>
            </a:xfrm>
            <a:prstGeom prst="rect">
              <a:avLst/>
            </a:prstGeom>
            <a:solidFill>
              <a:srgbClr val="A179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2" name="Google Shape;182;p1"/>
            <p:cNvSpPr/>
            <p:nvPr/>
          </p:nvSpPr>
          <p:spPr>
            <a:xfrm>
              <a:off x="1834524" y="4561625"/>
              <a:ext cx="260350" cy="234950"/>
            </a:xfrm>
            <a:prstGeom prst="rect">
              <a:avLst/>
            </a:prstGeom>
            <a:solidFill>
              <a:srgbClr val="A481D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3" name="Google Shape;183;p1"/>
            <p:cNvSpPr/>
            <p:nvPr/>
          </p:nvSpPr>
          <p:spPr>
            <a:xfrm>
              <a:off x="1834524" y="4853725"/>
              <a:ext cx="260350" cy="234950"/>
            </a:xfrm>
            <a:prstGeom prst="rect">
              <a:avLst/>
            </a:prstGeom>
            <a:solidFill>
              <a:srgbClr val="8469A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84" name="Google Shape;184;p1"/>
          <p:cNvGrpSpPr/>
          <p:nvPr/>
        </p:nvGrpSpPr>
        <p:grpSpPr>
          <a:xfrm>
            <a:off x="7708515" y="3839985"/>
            <a:ext cx="1539705" cy="1539705"/>
            <a:chOff x="7651365" y="3854931"/>
            <a:chExt cx="1539705" cy="1539705"/>
          </a:xfrm>
        </p:grpSpPr>
        <p:grpSp>
          <p:nvGrpSpPr>
            <p:cNvPr id="185" name="Google Shape;185;p1"/>
            <p:cNvGrpSpPr/>
            <p:nvPr/>
          </p:nvGrpSpPr>
          <p:grpSpPr>
            <a:xfrm>
              <a:off x="7651365" y="3854931"/>
              <a:ext cx="1539705" cy="1539705"/>
              <a:chOff x="7651365" y="3854931"/>
              <a:chExt cx="1539705" cy="1539705"/>
            </a:xfrm>
          </p:grpSpPr>
          <p:grpSp>
            <p:nvGrpSpPr>
              <p:cNvPr id="186" name="Google Shape;186;p1"/>
              <p:cNvGrpSpPr/>
              <p:nvPr/>
            </p:nvGrpSpPr>
            <p:grpSpPr>
              <a:xfrm>
                <a:off x="7651365" y="3854931"/>
                <a:ext cx="1539705" cy="1539705"/>
                <a:chOff x="1385272" y="2618182"/>
                <a:chExt cx="1869742" cy="1869742"/>
              </a:xfrm>
            </p:grpSpPr>
            <p:grpSp>
              <p:nvGrpSpPr>
                <p:cNvPr id="187" name="Google Shape;187;p1"/>
                <p:cNvGrpSpPr/>
                <p:nvPr/>
              </p:nvGrpSpPr>
              <p:grpSpPr>
                <a:xfrm>
                  <a:off x="1385272" y="2618182"/>
                  <a:ext cx="1869742" cy="1869742"/>
                  <a:chOff x="1105470" y="385244"/>
                  <a:chExt cx="1869742" cy="1869742"/>
                </a:xfrm>
              </p:grpSpPr>
              <p:sp>
                <p:nvSpPr>
                  <p:cNvPr id="188" name="Google Shape;188;p1"/>
                  <p:cNvSpPr/>
                  <p:nvPr/>
                </p:nvSpPr>
                <p:spPr>
                  <a:xfrm>
                    <a:off x="1168093" y="447867"/>
                    <a:ext cx="1744496" cy="1744496"/>
                  </a:xfrm>
                  <a:prstGeom prst="ellipse">
                    <a:avLst/>
                  </a:prstGeom>
                  <a:solidFill>
                    <a:srgbClr val="A179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9" name="Google Shape;189;p1"/>
                  <p:cNvSpPr/>
                  <p:nvPr/>
                </p:nvSpPr>
                <p:spPr>
                  <a:xfrm>
                    <a:off x="1105470" y="385244"/>
                    <a:ext cx="1869742" cy="1869742"/>
                  </a:xfrm>
                  <a:prstGeom prst="ellipse">
                    <a:avLst/>
                  </a:prstGeom>
                  <a:noFill/>
                  <a:ln w="19050" cap="flat" cmpd="sng">
                    <a:solidFill>
                      <a:srgbClr val="A179B7"/>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0" name="Google Shape;190;p1"/>
                  <p:cNvSpPr/>
                  <p:nvPr/>
                </p:nvSpPr>
                <p:spPr>
                  <a:xfrm rot="-263928">
                    <a:off x="1322943" y="1026832"/>
                    <a:ext cx="1119357" cy="1132274"/>
                  </a:xfrm>
                  <a:prstGeom prst="teardrop">
                    <a:avLst>
                      <a:gd name="adj" fmla="val 88717"/>
                    </a:avLst>
                  </a:prstGeom>
                  <a:solidFill>
                    <a:srgbClr val="000000">
                      <a:alpha val="1058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91" name="Google Shape;191;p1"/>
                  <p:cNvGrpSpPr/>
                  <p:nvPr/>
                </p:nvGrpSpPr>
                <p:grpSpPr>
                  <a:xfrm>
                    <a:off x="1392869" y="677439"/>
                    <a:ext cx="1285351" cy="1285351"/>
                    <a:chOff x="1282890" y="562664"/>
                    <a:chExt cx="1514902" cy="1514902"/>
                  </a:xfrm>
                </p:grpSpPr>
                <p:sp>
                  <p:nvSpPr>
                    <p:cNvPr id="192" name="Google Shape;192;p1"/>
                    <p:cNvSpPr/>
                    <p:nvPr/>
                  </p:nvSpPr>
                  <p:spPr>
                    <a:xfrm>
                      <a:off x="1282890" y="562664"/>
                      <a:ext cx="1514902" cy="1514902"/>
                    </a:xfrm>
                    <a:prstGeom prst="ellipse">
                      <a:avLst/>
                    </a:prstGeom>
                    <a:noFill/>
                    <a:ln w="57150" cap="flat" cmpd="sng">
                      <a:solidFill>
                        <a:srgbClr val="A481DA"/>
                      </a:solidFill>
                      <a:prstDash val="solid"/>
                      <a:miter lim="800000"/>
                      <a:headEnd type="none" w="sm" len="sm"/>
                      <a:tailEnd type="none" w="sm" len="sm"/>
                    </a:ln>
                    <a:effectLst>
                      <a:outerShdw blurRad="127000" dist="25400" dir="8100000" sx="104000" sy="104000" algn="tr" rotWithShape="0">
                        <a:srgbClr val="000000">
                          <a:alpha val="2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3" name="Google Shape;193;p1"/>
                    <p:cNvSpPr/>
                    <p:nvPr/>
                  </p:nvSpPr>
                  <p:spPr>
                    <a:xfrm>
                      <a:off x="1308456" y="585167"/>
                      <a:ext cx="1469894" cy="1469894"/>
                    </a:xfrm>
                    <a:prstGeom prst="ellipse">
                      <a:avLst/>
                    </a:prstGeom>
                    <a:solidFill>
                      <a:srgbClr val="F2F2F2"/>
                    </a:solidFill>
                    <a:ln w="19050" cap="flat" cmpd="sng">
                      <a:solidFill>
                        <a:srgbClr val="8469A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cxnSp>
              <p:nvCxnSpPr>
                <p:cNvPr id="194" name="Google Shape;194;p1"/>
                <p:cNvCxnSpPr/>
                <p:nvPr/>
              </p:nvCxnSpPr>
              <p:spPr>
                <a:xfrm rot="10800000">
                  <a:off x="2065349" y="3893033"/>
                  <a:ext cx="88159" cy="0"/>
                </a:xfrm>
                <a:prstGeom prst="straightConnector1">
                  <a:avLst/>
                </a:prstGeom>
                <a:noFill/>
                <a:ln w="19050" cap="flat" cmpd="sng">
                  <a:solidFill>
                    <a:schemeClr val="dk1"/>
                  </a:solidFill>
                  <a:prstDash val="solid"/>
                  <a:miter lim="800000"/>
                  <a:headEnd type="none" w="sm" len="sm"/>
                  <a:tailEnd type="none" w="sm" len="sm"/>
                </a:ln>
              </p:spPr>
            </p:cxnSp>
          </p:grpSp>
          <p:cxnSp>
            <p:nvCxnSpPr>
              <p:cNvPr id="196" name="Google Shape;196;p1"/>
              <p:cNvCxnSpPr/>
              <p:nvPr/>
            </p:nvCxnSpPr>
            <p:spPr>
              <a:xfrm rot="10800000">
                <a:off x="8133770" y="4699965"/>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197" name="Google Shape;197;p1"/>
              <p:cNvCxnSpPr/>
              <p:nvPr/>
            </p:nvCxnSpPr>
            <p:spPr>
              <a:xfrm rot="10800000">
                <a:off x="8317836" y="4858823"/>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198" name="Google Shape;198;p1"/>
              <p:cNvCxnSpPr/>
              <p:nvPr/>
            </p:nvCxnSpPr>
            <p:spPr>
              <a:xfrm rot="10800000">
                <a:off x="8667978" y="4647710"/>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199" name="Google Shape;199;p1"/>
              <p:cNvCxnSpPr/>
              <p:nvPr/>
            </p:nvCxnSpPr>
            <p:spPr>
              <a:xfrm rot="10800000">
                <a:off x="8153655" y="4454829"/>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200" name="Google Shape;200;p1"/>
              <p:cNvCxnSpPr/>
              <p:nvPr/>
            </p:nvCxnSpPr>
            <p:spPr>
              <a:xfrm rot="10800000">
                <a:off x="8639165" y="4349293"/>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201" name="Google Shape;201;p1"/>
              <p:cNvCxnSpPr/>
              <p:nvPr/>
            </p:nvCxnSpPr>
            <p:spPr>
              <a:xfrm rot="10800000">
                <a:off x="8634858" y="4858645"/>
                <a:ext cx="125989" cy="0"/>
              </a:xfrm>
              <a:prstGeom prst="straightConnector1">
                <a:avLst/>
              </a:prstGeom>
              <a:noFill/>
              <a:ln w="19050" cap="flat" cmpd="sng">
                <a:solidFill>
                  <a:schemeClr val="dk1"/>
                </a:solidFill>
                <a:prstDash val="solid"/>
                <a:miter lim="800000"/>
                <a:headEnd type="none" w="sm" len="sm"/>
                <a:tailEnd type="none" w="sm" len="sm"/>
              </a:ln>
            </p:spPr>
          </p:cxnSp>
          <p:cxnSp>
            <p:nvCxnSpPr>
              <p:cNvPr id="202" name="Google Shape;202;p1"/>
              <p:cNvCxnSpPr/>
              <p:nvPr/>
            </p:nvCxnSpPr>
            <p:spPr>
              <a:xfrm rot="10800000">
                <a:off x="8566567" y="4858823"/>
                <a:ext cx="44593" cy="0"/>
              </a:xfrm>
              <a:prstGeom prst="straightConnector1">
                <a:avLst/>
              </a:prstGeom>
              <a:noFill/>
              <a:ln w="19050" cap="flat" cmpd="sng">
                <a:solidFill>
                  <a:schemeClr val="dk1"/>
                </a:solidFill>
                <a:prstDash val="solid"/>
                <a:miter lim="800000"/>
                <a:headEnd type="none" w="sm" len="sm"/>
                <a:tailEnd type="none" w="sm" len="sm"/>
              </a:ln>
            </p:spPr>
          </p:cxnSp>
        </p:grpSp>
        <p:sp>
          <p:nvSpPr>
            <p:cNvPr id="203" name="Google Shape;203;p1"/>
            <p:cNvSpPr/>
            <p:nvPr/>
          </p:nvSpPr>
          <p:spPr>
            <a:xfrm>
              <a:off x="8316377" y="4587447"/>
              <a:ext cx="74057" cy="149522"/>
            </a:xfrm>
            <a:prstGeom prst="rect">
              <a:avLst/>
            </a:prstGeom>
            <a:solidFill>
              <a:srgbClr val="A481D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4" name="Google Shape;204;p1"/>
            <p:cNvSpPr/>
            <p:nvPr/>
          </p:nvSpPr>
          <p:spPr>
            <a:xfrm>
              <a:off x="8446627" y="4628776"/>
              <a:ext cx="99384" cy="80479"/>
            </a:xfrm>
            <a:prstGeom prst="star8">
              <a:avLst>
                <a:gd name="adj" fmla="val 37500"/>
              </a:avLst>
            </a:prstGeom>
            <a:solidFill>
              <a:srgbClr val="A481D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205" name="Google Shape;205;p1"/>
          <p:cNvGrpSpPr/>
          <p:nvPr/>
        </p:nvGrpSpPr>
        <p:grpSpPr>
          <a:xfrm>
            <a:off x="-1186118" y="3656537"/>
            <a:ext cx="260350" cy="844550"/>
            <a:chOff x="1834524" y="4244125"/>
            <a:chExt cx="260350" cy="844550"/>
          </a:xfrm>
        </p:grpSpPr>
        <p:sp>
          <p:nvSpPr>
            <p:cNvPr id="206" name="Google Shape;206;p1"/>
            <p:cNvSpPr/>
            <p:nvPr/>
          </p:nvSpPr>
          <p:spPr>
            <a:xfrm>
              <a:off x="1834524" y="4244125"/>
              <a:ext cx="260350" cy="234950"/>
            </a:xfrm>
            <a:prstGeom prst="rect">
              <a:avLst/>
            </a:prstGeom>
            <a:solidFill>
              <a:srgbClr val="FE9B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7" name="Google Shape;207;p1"/>
            <p:cNvSpPr/>
            <p:nvPr/>
          </p:nvSpPr>
          <p:spPr>
            <a:xfrm>
              <a:off x="1834524" y="4561625"/>
              <a:ext cx="260350" cy="234950"/>
            </a:xfrm>
            <a:prstGeom prst="rect">
              <a:avLst/>
            </a:prstGeom>
            <a:solidFill>
              <a:srgbClr val="FEB28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8" name="Google Shape;208;p1"/>
            <p:cNvSpPr/>
            <p:nvPr/>
          </p:nvSpPr>
          <p:spPr>
            <a:xfrm>
              <a:off x="1834524" y="4853725"/>
              <a:ext cx="260350" cy="234950"/>
            </a:xfrm>
            <a:prstGeom prst="rect">
              <a:avLst/>
            </a:prstGeom>
            <a:solidFill>
              <a:srgbClr val="E392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209" name="Google Shape;209;p1"/>
          <p:cNvGrpSpPr/>
          <p:nvPr/>
        </p:nvGrpSpPr>
        <p:grpSpPr>
          <a:xfrm>
            <a:off x="8616741" y="2070328"/>
            <a:ext cx="1539705" cy="1539705"/>
            <a:chOff x="8559591" y="2085274"/>
            <a:chExt cx="1539705" cy="1539705"/>
          </a:xfrm>
        </p:grpSpPr>
        <p:grpSp>
          <p:nvGrpSpPr>
            <p:cNvPr id="210" name="Google Shape;210;p1"/>
            <p:cNvGrpSpPr/>
            <p:nvPr/>
          </p:nvGrpSpPr>
          <p:grpSpPr>
            <a:xfrm>
              <a:off x="8559591" y="2085274"/>
              <a:ext cx="1539705" cy="1539705"/>
              <a:chOff x="1105470" y="385244"/>
              <a:chExt cx="1869742" cy="1869742"/>
            </a:xfrm>
          </p:grpSpPr>
          <p:sp>
            <p:nvSpPr>
              <p:cNvPr id="211" name="Google Shape;211;p1"/>
              <p:cNvSpPr/>
              <p:nvPr/>
            </p:nvSpPr>
            <p:spPr>
              <a:xfrm>
                <a:off x="1168093" y="447867"/>
                <a:ext cx="1744496" cy="1744496"/>
              </a:xfrm>
              <a:prstGeom prst="ellipse">
                <a:avLst/>
              </a:prstGeom>
              <a:solidFill>
                <a:srgbClr val="FE9B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2" name="Google Shape;212;p1"/>
              <p:cNvSpPr/>
              <p:nvPr/>
            </p:nvSpPr>
            <p:spPr>
              <a:xfrm>
                <a:off x="1105470" y="385244"/>
                <a:ext cx="1869742" cy="1869742"/>
              </a:xfrm>
              <a:prstGeom prst="ellipse">
                <a:avLst/>
              </a:prstGeom>
              <a:noFill/>
              <a:ln w="19050" cap="flat" cmpd="sng">
                <a:solidFill>
                  <a:srgbClr val="FE9B7E"/>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3" name="Google Shape;213;p1"/>
              <p:cNvSpPr/>
              <p:nvPr/>
            </p:nvSpPr>
            <p:spPr>
              <a:xfrm rot="-263928">
                <a:off x="1322943" y="1026832"/>
                <a:ext cx="1119357" cy="1132274"/>
              </a:xfrm>
              <a:prstGeom prst="teardrop">
                <a:avLst>
                  <a:gd name="adj" fmla="val 88717"/>
                </a:avLst>
              </a:prstGeom>
              <a:solidFill>
                <a:srgbClr val="000000">
                  <a:alpha val="1058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214" name="Google Shape;214;p1"/>
              <p:cNvGrpSpPr/>
              <p:nvPr/>
            </p:nvGrpSpPr>
            <p:grpSpPr>
              <a:xfrm>
                <a:off x="1392869" y="677439"/>
                <a:ext cx="1285351" cy="1285351"/>
                <a:chOff x="1282890" y="562664"/>
                <a:chExt cx="1514902" cy="1514902"/>
              </a:xfrm>
            </p:grpSpPr>
            <p:sp>
              <p:nvSpPr>
                <p:cNvPr id="215" name="Google Shape;215;p1"/>
                <p:cNvSpPr/>
                <p:nvPr/>
              </p:nvSpPr>
              <p:spPr>
                <a:xfrm>
                  <a:off x="1282890" y="562664"/>
                  <a:ext cx="1514902" cy="1514902"/>
                </a:xfrm>
                <a:prstGeom prst="ellipse">
                  <a:avLst/>
                </a:prstGeom>
                <a:noFill/>
                <a:ln w="57150" cap="flat" cmpd="sng">
                  <a:solidFill>
                    <a:srgbClr val="FEB283"/>
                  </a:solidFill>
                  <a:prstDash val="solid"/>
                  <a:miter lim="800000"/>
                  <a:headEnd type="none" w="sm" len="sm"/>
                  <a:tailEnd type="none" w="sm" len="sm"/>
                </a:ln>
                <a:effectLst>
                  <a:outerShdw blurRad="127000" dist="25400" dir="8100000" sx="104000" sy="104000" algn="tr" rotWithShape="0">
                    <a:srgbClr val="000000">
                      <a:alpha val="2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1"/>
                <p:cNvSpPr/>
                <p:nvPr/>
              </p:nvSpPr>
              <p:spPr>
                <a:xfrm>
                  <a:off x="1310269" y="585169"/>
                  <a:ext cx="1469894" cy="1469894"/>
                </a:xfrm>
                <a:prstGeom prst="ellipse">
                  <a:avLst/>
                </a:prstGeom>
                <a:solidFill>
                  <a:srgbClr val="F2F2F2"/>
                </a:solidFill>
                <a:ln w="19050" cap="flat" cmpd="sng">
                  <a:solidFill>
                    <a:srgbClr val="E3927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sp>
          <p:nvSpPr>
            <p:cNvPr id="218" name="Google Shape;218;p1"/>
            <p:cNvSpPr/>
            <p:nvPr/>
          </p:nvSpPr>
          <p:spPr>
            <a:xfrm rot="1736576">
              <a:off x="9429053" y="2701885"/>
              <a:ext cx="123521" cy="221994"/>
            </a:xfrm>
            <a:prstGeom prst="rtTriangle">
              <a:avLst/>
            </a:prstGeom>
            <a:solidFill>
              <a:srgbClr val="FEB28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9" name="Google Shape;219;p1"/>
            <p:cNvSpPr/>
            <p:nvPr/>
          </p:nvSpPr>
          <p:spPr>
            <a:xfrm rot="2322550" flipH="1">
              <a:off x="9222687" y="2690746"/>
              <a:ext cx="77824" cy="165313"/>
            </a:xfrm>
            <a:prstGeom prst="rtTriangle">
              <a:avLst/>
            </a:prstGeom>
            <a:solidFill>
              <a:srgbClr val="FEB28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220" name="Google Shape;220;p1"/>
          <p:cNvGrpSpPr/>
          <p:nvPr/>
        </p:nvGrpSpPr>
        <p:grpSpPr>
          <a:xfrm>
            <a:off x="-631239" y="3628954"/>
            <a:ext cx="260350" cy="844550"/>
            <a:chOff x="1834524" y="4244125"/>
            <a:chExt cx="260350" cy="844550"/>
          </a:xfrm>
        </p:grpSpPr>
        <p:sp>
          <p:nvSpPr>
            <p:cNvPr id="221" name="Google Shape;221;p1"/>
            <p:cNvSpPr/>
            <p:nvPr/>
          </p:nvSpPr>
          <p:spPr>
            <a:xfrm>
              <a:off x="1834524" y="4244125"/>
              <a:ext cx="260350" cy="234950"/>
            </a:xfrm>
            <a:prstGeom prst="rect">
              <a:avLst/>
            </a:prstGeom>
            <a:solidFill>
              <a:srgbClr val="A7D5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2" name="Google Shape;222;p1"/>
            <p:cNvSpPr/>
            <p:nvPr/>
          </p:nvSpPr>
          <p:spPr>
            <a:xfrm>
              <a:off x="1834524" y="4561625"/>
              <a:ext cx="260350" cy="234950"/>
            </a:xfrm>
            <a:prstGeom prst="rect">
              <a:avLst/>
            </a:prstGeom>
            <a:solidFill>
              <a:srgbClr val="C6F7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3" name="Google Shape;223;p1"/>
            <p:cNvSpPr/>
            <p:nvPr/>
          </p:nvSpPr>
          <p:spPr>
            <a:xfrm>
              <a:off x="1834524" y="4853725"/>
              <a:ext cx="260350" cy="234950"/>
            </a:xfrm>
            <a:prstGeom prst="rect">
              <a:avLst/>
            </a:prstGeom>
            <a:solidFill>
              <a:srgbClr val="A1CC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224" name="Google Shape;224;p1"/>
          <p:cNvGrpSpPr/>
          <p:nvPr/>
        </p:nvGrpSpPr>
        <p:grpSpPr>
          <a:xfrm>
            <a:off x="8476815" y="162947"/>
            <a:ext cx="1539705" cy="1539705"/>
            <a:chOff x="8476815" y="162947"/>
            <a:chExt cx="1539705" cy="1539705"/>
          </a:xfrm>
        </p:grpSpPr>
        <p:grpSp>
          <p:nvGrpSpPr>
            <p:cNvPr id="225" name="Google Shape;225;p1"/>
            <p:cNvGrpSpPr/>
            <p:nvPr/>
          </p:nvGrpSpPr>
          <p:grpSpPr>
            <a:xfrm>
              <a:off x="8476815" y="162947"/>
              <a:ext cx="1539705" cy="1539705"/>
              <a:chOff x="2490070" y="4234808"/>
              <a:chExt cx="1869742" cy="1869742"/>
            </a:xfrm>
          </p:grpSpPr>
          <p:grpSp>
            <p:nvGrpSpPr>
              <p:cNvPr id="226" name="Google Shape;226;p1"/>
              <p:cNvGrpSpPr/>
              <p:nvPr/>
            </p:nvGrpSpPr>
            <p:grpSpPr>
              <a:xfrm>
                <a:off x="2490070" y="4234808"/>
                <a:ext cx="1869742" cy="1869742"/>
                <a:chOff x="1385272" y="2618182"/>
                <a:chExt cx="1869742" cy="1869742"/>
              </a:xfrm>
            </p:grpSpPr>
            <p:grpSp>
              <p:nvGrpSpPr>
                <p:cNvPr id="227" name="Google Shape;227;p1"/>
                <p:cNvGrpSpPr/>
                <p:nvPr/>
              </p:nvGrpSpPr>
              <p:grpSpPr>
                <a:xfrm>
                  <a:off x="1385272" y="2618182"/>
                  <a:ext cx="1869742" cy="1869742"/>
                  <a:chOff x="1105470" y="385244"/>
                  <a:chExt cx="1869742" cy="1869742"/>
                </a:xfrm>
              </p:grpSpPr>
              <p:sp>
                <p:nvSpPr>
                  <p:cNvPr id="228" name="Google Shape;228;p1"/>
                  <p:cNvSpPr/>
                  <p:nvPr/>
                </p:nvSpPr>
                <p:spPr>
                  <a:xfrm>
                    <a:off x="1168093" y="447867"/>
                    <a:ext cx="1744496" cy="1744496"/>
                  </a:xfrm>
                  <a:prstGeom prst="ellipse">
                    <a:avLst/>
                  </a:prstGeom>
                  <a:solidFill>
                    <a:srgbClr val="A7D5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9" name="Google Shape;229;p1"/>
                  <p:cNvSpPr/>
                  <p:nvPr/>
                </p:nvSpPr>
                <p:spPr>
                  <a:xfrm>
                    <a:off x="1105470" y="385244"/>
                    <a:ext cx="1869742" cy="1869742"/>
                  </a:xfrm>
                  <a:prstGeom prst="ellipse">
                    <a:avLst/>
                  </a:prstGeom>
                  <a:noFill/>
                  <a:ln w="19050" cap="flat" cmpd="sng">
                    <a:solidFill>
                      <a:srgbClr val="A7D50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0" name="Google Shape;230;p1"/>
                  <p:cNvSpPr/>
                  <p:nvPr/>
                </p:nvSpPr>
                <p:spPr>
                  <a:xfrm rot="-263928">
                    <a:off x="1322943" y="1026832"/>
                    <a:ext cx="1119357" cy="1132274"/>
                  </a:xfrm>
                  <a:prstGeom prst="teardrop">
                    <a:avLst>
                      <a:gd name="adj" fmla="val 88717"/>
                    </a:avLst>
                  </a:prstGeom>
                  <a:solidFill>
                    <a:srgbClr val="000000">
                      <a:alpha val="1058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231" name="Google Shape;231;p1"/>
                  <p:cNvGrpSpPr/>
                  <p:nvPr/>
                </p:nvGrpSpPr>
                <p:grpSpPr>
                  <a:xfrm>
                    <a:off x="1392869" y="677439"/>
                    <a:ext cx="1285351" cy="1285351"/>
                    <a:chOff x="1282890" y="562664"/>
                    <a:chExt cx="1514902" cy="1514902"/>
                  </a:xfrm>
                </p:grpSpPr>
                <p:sp>
                  <p:nvSpPr>
                    <p:cNvPr id="232" name="Google Shape;232;p1"/>
                    <p:cNvSpPr/>
                    <p:nvPr/>
                  </p:nvSpPr>
                  <p:spPr>
                    <a:xfrm>
                      <a:off x="1282890" y="562664"/>
                      <a:ext cx="1514902" cy="1514902"/>
                    </a:xfrm>
                    <a:prstGeom prst="ellipse">
                      <a:avLst/>
                    </a:prstGeom>
                    <a:noFill/>
                    <a:ln w="57150" cap="flat" cmpd="sng">
                      <a:solidFill>
                        <a:srgbClr val="C6F74B"/>
                      </a:solidFill>
                      <a:prstDash val="solid"/>
                      <a:miter lim="800000"/>
                      <a:headEnd type="none" w="sm" len="sm"/>
                      <a:tailEnd type="none" w="sm" len="sm"/>
                    </a:ln>
                    <a:effectLst>
                      <a:outerShdw blurRad="127000" dist="25400" dir="8100000" sx="104000" sy="104000" algn="tr" rotWithShape="0">
                        <a:srgbClr val="000000">
                          <a:alpha val="2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3" name="Google Shape;233;p1"/>
                    <p:cNvSpPr/>
                    <p:nvPr/>
                  </p:nvSpPr>
                  <p:spPr>
                    <a:xfrm>
                      <a:off x="1310269" y="578774"/>
                      <a:ext cx="1469894" cy="1469894"/>
                    </a:xfrm>
                    <a:prstGeom prst="ellipse">
                      <a:avLst/>
                    </a:prstGeom>
                    <a:solidFill>
                      <a:srgbClr val="F2F2F2"/>
                    </a:solidFill>
                    <a:ln w="19050" cap="flat" cmpd="sng">
                      <a:solidFill>
                        <a:srgbClr val="A1CC1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cxnSp>
              <p:nvCxnSpPr>
                <p:cNvPr id="234" name="Google Shape;234;p1"/>
                <p:cNvCxnSpPr/>
                <p:nvPr/>
              </p:nvCxnSpPr>
              <p:spPr>
                <a:xfrm rot="10800000">
                  <a:off x="1983887" y="3765450"/>
                  <a:ext cx="88159" cy="0"/>
                </a:xfrm>
                <a:prstGeom prst="straightConnector1">
                  <a:avLst/>
                </a:prstGeom>
                <a:noFill/>
                <a:ln w="19050" cap="flat" cmpd="sng">
                  <a:solidFill>
                    <a:schemeClr val="dk1"/>
                  </a:solidFill>
                  <a:prstDash val="solid"/>
                  <a:miter lim="800000"/>
                  <a:headEnd type="none" w="sm" len="sm"/>
                  <a:tailEnd type="none" w="sm" len="sm"/>
                </a:ln>
              </p:spPr>
            </p:cxnSp>
          </p:grpSp>
          <p:cxnSp>
            <p:nvCxnSpPr>
              <p:cNvPr id="235" name="Google Shape;235;p1"/>
              <p:cNvCxnSpPr/>
              <p:nvPr/>
            </p:nvCxnSpPr>
            <p:spPr>
              <a:xfrm rot="10800000">
                <a:off x="2991546" y="5236241"/>
                <a:ext cx="88159" cy="0"/>
              </a:xfrm>
              <a:prstGeom prst="straightConnector1">
                <a:avLst/>
              </a:prstGeom>
              <a:noFill/>
              <a:ln w="19050" cap="flat" cmpd="sng">
                <a:solidFill>
                  <a:schemeClr val="dk1"/>
                </a:solidFill>
                <a:prstDash val="solid"/>
                <a:miter lim="800000"/>
                <a:headEnd type="none" w="sm" len="sm"/>
                <a:tailEnd type="none" w="sm" len="sm"/>
              </a:ln>
            </p:spPr>
          </p:cxnSp>
          <p:cxnSp>
            <p:nvCxnSpPr>
              <p:cNvPr id="236" name="Google Shape;236;p1"/>
              <p:cNvCxnSpPr/>
              <p:nvPr/>
            </p:nvCxnSpPr>
            <p:spPr>
              <a:xfrm rot="10800000">
                <a:off x="3400004" y="5525942"/>
                <a:ext cx="48642" cy="0"/>
              </a:xfrm>
              <a:prstGeom prst="straightConnector1">
                <a:avLst/>
              </a:prstGeom>
              <a:noFill/>
              <a:ln w="19050" cap="flat" cmpd="sng">
                <a:solidFill>
                  <a:schemeClr val="dk1"/>
                </a:solidFill>
                <a:prstDash val="solid"/>
                <a:miter lim="800000"/>
                <a:headEnd type="none" w="sm" len="sm"/>
                <a:tailEnd type="none" w="sm" len="sm"/>
              </a:ln>
            </p:spPr>
          </p:cxnSp>
          <p:cxnSp>
            <p:nvCxnSpPr>
              <p:cNvPr id="237" name="Google Shape;237;p1"/>
              <p:cNvCxnSpPr/>
              <p:nvPr/>
            </p:nvCxnSpPr>
            <p:spPr>
              <a:xfrm rot="10800000">
                <a:off x="3055906" y="5030879"/>
                <a:ext cx="88159" cy="0"/>
              </a:xfrm>
              <a:prstGeom prst="straightConnector1">
                <a:avLst/>
              </a:prstGeom>
              <a:noFill/>
              <a:ln w="19050" cap="flat" cmpd="sng">
                <a:solidFill>
                  <a:schemeClr val="dk1"/>
                </a:solidFill>
                <a:prstDash val="solid"/>
                <a:miter lim="800000"/>
                <a:headEnd type="none" w="sm" len="sm"/>
                <a:tailEnd type="none" w="sm" len="sm"/>
              </a:ln>
            </p:spPr>
          </p:cxnSp>
          <p:cxnSp>
            <p:nvCxnSpPr>
              <p:cNvPr id="238" name="Google Shape;238;p1"/>
              <p:cNvCxnSpPr/>
              <p:nvPr/>
            </p:nvCxnSpPr>
            <p:spPr>
              <a:xfrm rot="10800000">
                <a:off x="3464230" y="4835137"/>
                <a:ext cx="88159" cy="0"/>
              </a:xfrm>
              <a:prstGeom prst="straightConnector1">
                <a:avLst/>
              </a:prstGeom>
              <a:noFill/>
              <a:ln w="19050" cap="flat" cmpd="sng">
                <a:solidFill>
                  <a:schemeClr val="dk1"/>
                </a:solidFill>
                <a:prstDash val="solid"/>
                <a:miter lim="800000"/>
                <a:headEnd type="none" w="sm" len="sm"/>
                <a:tailEnd type="none" w="sm" len="sm"/>
              </a:ln>
            </p:spPr>
          </p:cxnSp>
          <p:cxnSp>
            <p:nvCxnSpPr>
              <p:cNvPr id="239" name="Google Shape;239;p1"/>
              <p:cNvCxnSpPr/>
              <p:nvPr/>
            </p:nvCxnSpPr>
            <p:spPr>
              <a:xfrm rot="10800000">
                <a:off x="3642498" y="5406662"/>
                <a:ext cx="88159" cy="0"/>
              </a:xfrm>
              <a:prstGeom prst="straightConnector1">
                <a:avLst/>
              </a:prstGeom>
              <a:noFill/>
              <a:ln w="19050" cap="flat" cmpd="sng">
                <a:solidFill>
                  <a:schemeClr val="dk1"/>
                </a:solidFill>
                <a:prstDash val="solid"/>
                <a:miter lim="800000"/>
                <a:headEnd type="none" w="sm" len="sm"/>
                <a:tailEnd type="none" w="sm" len="sm"/>
              </a:ln>
            </p:spPr>
          </p:cxnSp>
        </p:grpSp>
        <p:cxnSp>
          <p:nvCxnSpPr>
            <p:cNvPr id="241" name="Google Shape;241;p1"/>
            <p:cNvCxnSpPr/>
            <p:nvPr/>
          </p:nvCxnSpPr>
          <p:spPr>
            <a:xfrm rot="10800000">
              <a:off x="9415678" y="932799"/>
              <a:ext cx="72598" cy="0"/>
            </a:xfrm>
            <a:prstGeom prst="straightConnector1">
              <a:avLst/>
            </a:prstGeom>
            <a:noFill/>
            <a:ln w="19050" cap="flat" cmpd="sng">
              <a:solidFill>
                <a:schemeClr val="dk1"/>
              </a:solidFill>
              <a:prstDash val="solid"/>
              <a:miter lim="800000"/>
              <a:headEnd type="none" w="sm" len="sm"/>
              <a:tailEnd type="none" w="sm" len="sm"/>
            </a:ln>
          </p:spPr>
        </p:cxnSp>
        <p:cxnSp>
          <p:nvCxnSpPr>
            <p:cNvPr id="242" name="Google Shape;242;p1"/>
            <p:cNvCxnSpPr/>
            <p:nvPr/>
          </p:nvCxnSpPr>
          <p:spPr>
            <a:xfrm rot="10800000">
              <a:off x="8979072" y="675624"/>
              <a:ext cx="127338" cy="0"/>
            </a:xfrm>
            <a:prstGeom prst="straightConnector1">
              <a:avLst/>
            </a:prstGeom>
            <a:noFill/>
            <a:ln w="19050" cap="flat" cmpd="sng">
              <a:solidFill>
                <a:schemeClr val="dk1"/>
              </a:solidFill>
              <a:prstDash val="solid"/>
              <a:miter lim="800000"/>
              <a:headEnd type="none" w="sm" len="sm"/>
              <a:tailEnd type="none" w="sm" len="sm"/>
            </a:ln>
          </p:spPr>
        </p:cxnSp>
        <p:cxnSp>
          <p:nvCxnSpPr>
            <p:cNvPr id="243" name="Google Shape;243;p1"/>
            <p:cNvCxnSpPr/>
            <p:nvPr/>
          </p:nvCxnSpPr>
          <p:spPr>
            <a:xfrm rot="10800000">
              <a:off x="9362669" y="999526"/>
              <a:ext cx="127338" cy="0"/>
            </a:xfrm>
            <a:prstGeom prst="straightConnector1">
              <a:avLst/>
            </a:prstGeom>
            <a:noFill/>
            <a:ln w="19050" cap="flat" cmpd="sng">
              <a:solidFill>
                <a:schemeClr val="dk1"/>
              </a:solidFill>
              <a:prstDash val="solid"/>
              <a:miter lim="800000"/>
              <a:headEnd type="none" w="sm" len="sm"/>
              <a:tailEnd type="none" w="sm" len="sm"/>
            </a:ln>
          </p:spPr>
        </p:cxnSp>
        <p:cxnSp>
          <p:nvCxnSpPr>
            <p:cNvPr id="244" name="Google Shape;244;p1"/>
            <p:cNvCxnSpPr/>
            <p:nvPr/>
          </p:nvCxnSpPr>
          <p:spPr>
            <a:xfrm rot="10800000">
              <a:off x="9311563" y="1002399"/>
              <a:ext cx="40056" cy="0"/>
            </a:xfrm>
            <a:prstGeom prst="straightConnector1">
              <a:avLst/>
            </a:prstGeom>
            <a:noFill/>
            <a:ln w="19050" cap="flat" cmpd="sng">
              <a:solidFill>
                <a:schemeClr val="dk1"/>
              </a:solidFill>
              <a:prstDash val="solid"/>
              <a:miter lim="800000"/>
              <a:headEnd type="none" w="sm" len="sm"/>
              <a:tailEnd type="none" w="sm" len="sm"/>
            </a:ln>
          </p:spPr>
        </p:cxnSp>
        <p:sp>
          <p:nvSpPr>
            <p:cNvPr id="245" name="Google Shape;245;p1"/>
            <p:cNvSpPr/>
            <p:nvPr/>
          </p:nvSpPr>
          <p:spPr>
            <a:xfrm>
              <a:off x="9213834" y="818500"/>
              <a:ext cx="45719" cy="45719"/>
            </a:xfrm>
            <a:prstGeom prst="star5">
              <a:avLst>
                <a:gd name="adj" fmla="val 19098"/>
                <a:gd name="hf" fmla="val 105146"/>
                <a:gd name="vf" fmla="val 110557"/>
              </a:avLst>
            </a:prstGeom>
            <a:solidFill>
              <a:srgbClr val="A6D4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6" name="Google Shape;246;p1"/>
            <p:cNvSpPr/>
            <p:nvPr/>
          </p:nvSpPr>
          <p:spPr>
            <a:xfrm>
              <a:off x="9150932" y="746012"/>
              <a:ext cx="45719" cy="45719"/>
            </a:xfrm>
            <a:prstGeom prst="ellipse">
              <a:avLst/>
            </a:prstGeom>
            <a:solidFill>
              <a:srgbClr val="A6D4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247" name="Google Shape;247;p1"/>
          <p:cNvGrpSpPr/>
          <p:nvPr/>
        </p:nvGrpSpPr>
        <p:grpSpPr>
          <a:xfrm>
            <a:off x="4731773" y="1706711"/>
            <a:ext cx="2630810" cy="964024"/>
            <a:chOff x="4654355" y="1372284"/>
            <a:chExt cx="2630810" cy="964024"/>
          </a:xfrm>
        </p:grpSpPr>
        <p:sp>
          <p:nvSpPr>
            <p:cNvPr id="248" name="Google Shape;248;p1"/>
            <p:cNvSpPr txBox="1"/>
            <p:nvPr/>
          </p:nvSpPr>
          <p:spPr>
            <a:xfrm>
              <a:off x="4654355" y="1372284"/>
              <a:ext cx="263081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dirty="0">
                  <a:solidFill>
                    <a:schemeClr val="dk1"/>
                  </a:solidFill>
                  <a:latin typeface="Twentieth Century"/>
                  <a:ea typeface="Twentieth Century"/>
                  <a:cs typeface="Twentieth Century"/>
                  <a:sym typeface="Twentieth Century"/>
                </a:rPr>
                <a:t>BUILDING MVP</a:t>
              </a:r>
              <a:endParaRPr sz="2800" b="1" dirty="0">
                <a:solidFill>
                  <a:schemeClr val="dk1"/>
                </a:solidFill>
                <a:latin typeface="Twentieth Century"/>
                <a:ea typeface="Twentieth Century"/>
                <a:cs typeface="Twentieth Century"/>
                <a:sym typeface="Twentieth Century"/>
              </a:endParaRPr>
            </a:p>
          </p:txBody>
        </p:sp>
        <p:sp>
          <p:nvSpPr>
            <p:cNvPr id="249" name="Google Shape;249;p1"/>
            <p:cNvSpPr txBox="1"/>
            <p:nvPr/>
          </p:nvSpPr>
          <p:spPr>
            <a:xfrm>
              <a:off x="4715469" y="1813128"/>
              <a:ext cx="2439036"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chemeClr val="dk1"/>
                  </a:solidFill>
                  <a:latin typeface="Gulim"/>
                  <a:ea typeface="Gulim"/>
                  <a:cs typeface="Gulim"/>
                  <a:sym typeface="Gulim"/>
                </a:rPr>
                <a:t>VALIDATION </a:t>
              </a:r>
              <a:endParaRPr sz="2800" b="1" dirty="0">
                <a:solidFill>
                  <a:schemeClr val="dk1"/>
                </a:solidFill>
                <a:latin typeface="Gulim"/>
                <a:ea typeface="Gulim"/>
                <a:cs typeface="Gulim"/>
                <a:sym typeface="Gulim"/>
              </a:endParaRPr>
            </a:p>
          </p:txBody>
        </p:sp>
      </p:grpSp>
      <p:grpSp>
        <p:nvGrpSpPr>
          <p:cNvPr id="250" name="Google Shape;250;p1"/>
          <p:cNvGrpSpPr/>
          <p:nvPr/>
        </p:nvGrpSpPr>
        <p:grpSpPr>
          <a:xfrm>
            <a:off x="9717722" y="720804"/>
            <a:ext cx="2276760" cy="885354"/>
            <a:chOff x="10051353" y="993959"/>
            <a:chExt cx="1924431" cy="570188"/>
          </a:xfrm>
        </p:grpSpPr>
        <p:sp>
          <p:nvSpPr>
            <p:cNvPr id="251" name="Google Shape;251;p1"/>
            <p:cNvSpPr txBox="1"/>
            <p:nvPr/>
          </p:nvSpPr>
          <p:spPr>
            <a:xfrm>
              <a:off x="10051353" y="993959"/>
              <a:ext cx="1897665" cy="237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Twentieth Century"/>
                  <a:ea typeface="Twentieth Century"/>
                  <a:cs typeface="Twentieth Century"/>
                  <a:sym typeface="Twentieth Century"/>
                </a:rPr>
                <a:t>Make a business plan</a:t>
              </a:r>
              <a:endParaRPr sz="1800" b="1" dirty="0">
                <a:solidFill>
                  <a:schemeClr val="dk1"/>
                </a:solidFill>
                <a:latin typeface="Twentieth Century"/>
                <a:ea typeface="Twentieth Century"/>
                <a:cs typeface="Twentieth Century"/>
                <a:sym typeface="Twentieth Century"/>
              </a:endParaRPr>
            </a:p>
          </p:txBody>
        </p:sp>
        <p:sp>
          <p:nvSpPr>
            <p:cNvPr id="252" name="Google Shape;252;p1"/>
            <p:cNvSpPr txBox="1"/>
            <p:nvPr/>
          </p:nvSpPr>
          <p:spPr>
            <a:xfrm>
              <a:off x="10086591" y="1227207"/>
              <a:ext cx="1889193" cy="3369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3A3838"/>
                  </a:solidFill>
                  <a:latin typeface="Calibri"/>
                  <a:ea typeface="Calibri"/>
                  <a:cs typeface="Calibri"/>
                  <a:sym typeface="Calibri"/>
                </a:rPr>
                <a:t>Prepare a detailed business plan for pitching </a:t>
              </a:r>
              <a:endParaRPr sz="1400" dirty="0">
                <a:solidFill>
                  <a:srgbClr val="3A3838"/>
                </a:solidFill>
                <a:latin typeface="Calibri"/>
                <a:ea typeface="Calibri"/>
                <a:cs typeface="Calibri"/>
                <a:sym typeface="Calibri"/>
              </a:endParaRPr>
            </a:p>
          </p:txBody>
        </p:sp>
      </p:grpSp>
      <p:grpSp>
        <p:nvGrpSpPr>
          <p:cNvPr id="253" name="Google Shape;253;p1"/>
          <p:cNvGrpSpPr/>
          <p:nvPr/>
        </p:nvGrpSpPr>
        <p:grpSpPr>
          <a:xfrm>
            <a:off x="10047802" y="2393922"/>
            <a:ext cx="1970371" cy="2009291"/>
            <a:chOff x="9993008" y="993959"/>
            <a:chExt cx="1970371" cy="1200288"/>
          </a:xfrm>
        </p:grpSpPr>
        <p:sp>
          <p:nvSpPr>
            <p:cNvPr id="254" name="Google Shape;254;p1"/>
            <p:cNvSpPr txBox="1"/>
            <p:nvPr/>
          </p:nvSpPr>
          <p:spPr>
            <a:xfrm>
              <a:off x="10051353" y="993959"/>
              <a:ext cx="1912026" cy="1200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Twentieth Century"/>
                  <a:ea typeface="Twentieth Century"/>
                  <a:cs typeface="Twentieth Century"/>
                  <a:sym typeface="Twentieth Century"/>
                </a:rPr>
                <a:t>Register your company only when absolutely necessary</a:t>
              </a:r>
              <a:endParaRPr sz="1800" b="1" dirty="0">
                <a:solidFill>
                  <a:schemeClr val="dk1"/>
                </a:solidFill>
                <a:latin typeface="Twentieth Century"/>
                <a:ea typeface="Twentieth Century"/>
                <a:cs typeface="Twentieth Century"/>
                <a:sym typeface="Twentieth Century"/>
              </a:endParaRPr>
            </a:p>
          </p:txBody>
        </p:sp>
        <p:sp>
          <p:nvSpPr>
            <p:cNvPr id="255" name="Google Shape;255;p1"/>
            <p:cNvSpPr txBox="1"/>
            <p:nvPr/>
          </p:nvSpPr>
          <p:spPr>
            <a:xfrm>
              <a:off x="9993008" y="1708890"/>
              <a:ext cx="1889193" cy="4412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3A3838"/>
                  </a:solidFill>
                  <a:latin typeface="Calibri"/>
                  <a:ea typeface="Calibri"/>
                  <a:cs typeface="Calibri"/>
                  <a:sym typeface="Calibri"/>
                </a:rPr>
                <a:t>Register while approaching to investors</a:t>
              </a:r>
              <a:endParaRPr sz="1400" dirty="0">
                <a:solidFill>
                  <a:srgbClr val="3A3838"/>
                </a:solidFill>
                <a:latin typeface="Calibri"/>
                <a:ea typeface="Calibri"/>
                <a:cs typeface="Calibri"/>
                <a:sym typeface="Calibri"/>
              </a:endParaRPr>
            </a:p>
          </p:txBody>
        </p:sp>
      </p:grpSp>
      <p:grpSp>
        <p:nvGrpSpPr>
          <p:cNvPr id="256" name="Google Shape;256;p1"/>
          <p:cNvGrpSpPr/>
          <p:nvPr/>
        </p:nvGrpSpPr>
        <p:grpSpPr>
          <a:xfrm>
            <a:off x="9360125" y="4785357"/>
            <a:ext cx="2658048" cy="646598"/>
            <a:chOff x="10010939" y="993959"/>
            <a:chExt cx="1889193" cy="646598"/>
          </a:xfrm>
        </p:grpSpPr>
        <p:sp>
          <p:nvSpPr>
            <p:cNvPr id="257" name="Google Shape;257;p1"/>
            <p:cNvSpPr txBox="1"/>
            <p:nvPr/>
          </p:nvSpPr>
          <p:spPr>
            <a:xfrm>
              <a:off x="10051353" y="993959"/>
              <a:ext cx="180382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Twentieth Century"/>
                  <a:ea typeface="Twentieth Century"/>
                  <a:cs typeface="Twentieth Century"/>
                  <a:sym typeface="Twentieth Century"/>
                </a:rPr>
                <a:t>Examine financial model</a:t>
              </a:r>
              <a:endParaRPr sz="1800" b="1" dirty="0">
                <a:solidFill>
                  <a:schemeClr val="dk1"/>
                </a:solidFill>
                <a:latin typeface="Twentieth Century"/>
                <a:ea typeface="Twentieth Century"/>
                <a:cs typeface="Twentieth Century"/>
                <a:sym typeface="Twentieth Century"/>
              </a:endParaRPr>
            </a:p>
          </p:txBody>
        </p:sp>
        <p:sp>
          <p:nvSpPr>
            <p:cNvPr id="258" name="Google Shape;258;p1"/>
            <p:cNvSpPr txBox="1"/>
            <p:nvPr/>
          </p:nvSpPr>
          <p:spPr>
            <a:xfrm>
              <a:off x="10010939" y="1332821"/>
              <a:ext cx="1889193"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3A3838"/>
                  </a:solidFill>
                  <a:latin typeface="Calibri"/>
                  <a:ea typeface="Calibri"/>
                  <a:cs typeface="Calibri"/>
                  <a:sym typeface="Calibri"/>
                </a:rPr>
                <a:t>Revenue model and cost structure</a:t>
              </a:r>
              <a:endParaRPr sz="1400" dirty="0">
                <a:solidFill>
                  <a:srgbClr val="3A3838"/>
                </a:solidFill>
                <a:latin typeface="Calibri"/>
                <a:ea typeface="Calibri"/>
                <a:cs typeface="Calibri"/>
                <a:sym typeface="Calibri"/>
              </a:endParaRPr>
            </a:p>
          </p:txBody>
        </p:sp>
      </p:grpSp>
      <p:grpSp>
        <p:nvGrpSpPr>
          <p:cNvPr id="259" name="Google Shape;259;p1"/>
          <p:cNvGrpSpPr/>
          <p:nvPr/>
        </p:nvGrpSpPr>
        <p:grpSpPr>
          <a:xfrm>
            <a:off x="7582079" y="5369906"/>
            <a:ext cx="3328090" cy="1339188"/>
            <a:chOff x="10051353" y="993959"/>
            <a:chExt cx="1932436" cy="1339188"/>
          </a:xfrm>
        </p:grpSpPr>
        <p:sp>
          <p:nvSpPr>
            <p:cNvPr id="260" name="Google Shape;260;p1"/>
            <p:cNvSpPr txBox="1"/>
            <p:nvPr/>
          </p:nvSpPr>
          <p:spPr>
            <a:xfrm>
              <a:off x="10051353" y="993959"/>
              <a:ext cx="1932436"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Twentieth Century"/>
                  <a:ea typeface="Twentieth Century"/>
                  <a:cs typeface="Twentieth Century"/>
                  <a:sym typeface="Twentieth Century"/>
                </a:rPr>
                <a:t>Market discovery</a:t>
              </a:r>
              <a:endParaRPr sz="1800" b="1" dirty="0">
                <a:solidFill>
                  <a:schemeClr val="dk1"/>
                </a:solidFill>
                <a:latin typeface="Twentieth Century"/>
                <a:ea typeface="Twentieth Century"/>
                <a:cs typeface="Twentieth Century"/>
                <a:sym typeface="Twentieth Century"/>
              </a:endParaRPr>
            </a:p>
          </p:txBody>
        </p:sp>
        <p:sp>
          <p:nvSpPr>
            <p:cNvPr id="261" name="Google Shape;261;p1"/>
            <p:cNvSpPr txBox="1"/>
            <p:nvPr/>
          </p:nvSpPr>
          <p:spPr>
            <a:xfrm>
              <a:off x="10053621" y="1379080"/>
              <a:ext cx="1889193"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3A3838"/>
                  </a:solidFill>
                  <a:latin typeface="Calibri"/>
                  <a:ea typeface="Calibri"/>
                  <a:cs typeface="Calibri"/>
                  <a:sym typeface="Calibri"/>
                </a:rPr>
                <a:t>Identify your target market, assess the demand-supply dynamics, validate a product-market fit, and craft a compelling value proposition.</a:t>
              </a:r>
              <a:endParaRPr sz="1400" dirty="0">
                <a:solidFill>
                  <a:srgbClr val="3A3838"/>
                </a:solidFill>
                <a:latin typeface="Calibri"/>
                <a:ea typeface="Calibri"/>
                <a:cs typeface="Calibri"/>
                <a:sym typeface="Calibri"/>
              </a:endParaRPr>
            </a:p>
          </p:txBody>
        </p:sp>
      </p:grpSp>
      <p:grpSp>
        <p:nvGrpSpPr>
          <p:cNvPr id="262" name="Google Shape;262;p1"/>
          <p:cNvGrpSpPr/>
          <p:nvPr/>
        </p:nvGrpSpPr>
        <p:grpSpPr>
          <a:xfrm>
            <a:off x="1975831" y="5479822"/>
            <a:ext cx="3085292" cy="1368752"/>
            <a:chOff x="10010559" y="993959"/>
            <a:chExt cx="1889193" cy="1030869"/>
          </a:xfrm>
        </p:grpSpPr>
        <p:sp>
          <p:nvSpPr>
            <p:cNvPr id="263" name="Google Shape;263;p1"/>
            <p:cNvSpPr txBox="1"/>
            <p:nvPr/>
          </p:nvSpPr>
          <p:spPr>
            <a:xfrm>
              <a:off x="10051353" y="993959"/>
              <a:ext cx="1530327" cy="4867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Twentieth Century"/>
                  <a:ea typeface="Twentieth Century"/>
                  <a:cs typeface="Twentieth Century"/>
                  <a:sym typeface="Twentieth Century"/>
                </a:rPr>
                <a:t>Identify early adopter customers</a:t>
              </a:r>
              <a:endParaRPr sz="1800" b="1" dirty="0">
                <a:solidFill>
                  <a:schemeClr val="dk1"/>
                </a:solidFill>
                <a:latin typeface="Twentieth Century"/>
                <a:ea typeface="Twentieth Century"/>
                <a:cs typeface="Twentieth Century"/>
                <a:sym typeface="Twentieth Century"/>
              </a:endParaRPr>
            </a:p>
          </p:txBody>
        </p:sp>
        <p:sp>
          <p:nvSpPr>
            <p:cNvPr id="264" name="Google Shape;264;p1"/>
            <p:cNvSpPr txBox="1"/>
            <p:nvPr/>
          </p:nvSpPr>
          <p:spPr>
            <a:xfrm>
              <a:off x="10010559" y="1468538"/>
              <a:ext cx="1889193" cy="55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3A3838"/>
                  </a:solidFill>
                  <a:latin typeface="Calibri"/>
                  <a:ea typeface="Calibri"/>
                  <a:cs typeface="Calibri"/>
                  <a:sym typeface="Calibri"/>
                </a:rPr>
                <a:t>Customer validation of MVP at different stages of product development is a must.</a:t>
              </a:r>
              <a:endParaRPr sz="1400" dirty="0">
                <a:solidFill>
                  <a:srgbClr val="3A3838"/>
                </a:solidFill>
                <a:latin typeface="Calibri"/>
                <a:ea typeface="Calibri"/>
                <a:cs typeface="Calibri"/>
                <a:sym typeface="Calibri"/>
              </a:endParaRPr>
            </a:p>
          </p:txBody>
        </p:sp>
      </p:grpSp>
      <p:grpSp>
        <p:nvGrpSpPr>
          <p:cNvPr id="265" name="Google Shape;265;p1"/>
          <p:cNvGrpSpPr/>
          <p:nvPr/>
        </p:nvGrpSpPr>
        <p:grpSpPr>
          <a:xfrm>
            <a:off x="537183" y="4509887"/>
            <a:ext cx="2312903" cy="1077485"/>
            <a:chOff x="10010939" y="993959"/>
            <a:chExt cx="1889193" cy="1077485"/>
          </a:xfrm>
        </p:grpSpPr>
        <p:sp>
          <p:nvSpPr>
            <p:cNvPr id="266" name="Google Shape;266;p1"/>
            <p:cNvSpPr txBox="1"/>
            <p:nvPr/>
          </p:nvSpPr>
          <p:spPr>
            <a:xfrm>
              <a:off x="10051353" y="993959"/>
              <a:ext cx="1530327"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Twentieth Century"/>
                  <a:ea typeface="Twentieth Century"/>
                  <a:cs typeface="Twentieth Century"/>
                  <a:sym typeface="Twentieth Century"/>
                </a:rPr>
                <a:t>Prepare roadmap</a:t>
              </a:r>
              <a:endParaRPr sz="1800" b="1" dirty="0">
                <a:solidFill>
                  <a:schemeClr val="dk1"/>
                </a:solidFill>
                <a:latin typeface="Twentieth Century"/>
                <a:ea typeface="Twentieth Century"/>
                <a:cs typeface="Twentieth Century"/>
                <a:sym typeface="Twentieth Century"/>
              </a:endParaRPr>
            </a:p>
          </p:txBody>
        </p:sp>
        <p:sp>
          <p:nvSpPr>
            <p:cNvPr id="267" name="Google Shape;267;p1"/>
            <p:cNvSpPr txBox="1"/>
            <p:nvPr/>
          </p:nvSpPr>
          <p:spPr>
            <a:xfrm>
              <a:off x="10010939" y="1332821"/>
              <a:ext cx="1889193"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3A3838"/>
                  </a:solidFill>
                  <a:latin typeface="Calibri"/>
                  <a:ea typeface="Calibri"/>
                  <a:cs typeface="Calibri"/>
                  <a:sym typeface="Calibri"/>
                </a:rPr>
                <a:t>Finalize co-founders</a:t>
              </a:r>
            </a:p>
            <a:p>
              <a:pPr marL="0" marR="0" lvl="0" indent="0" algn="l" rtl="0">
                <a:spcBef>
                  <a:spcPts val="0"/>
                </a:spcBef>
                <a:spcAft>
                  <a:spcPts val="0"/>
                </a:spcAft>
                <a:buNone/>
              </a:pPr>
              <a:r>
                <a:rPr lang="en-US" sz="1400" dirty="0">
                  <a:solidFill>
                    <a:srgbClr val="3A3838"/>
                  </a:solidFill>
                  <a:latin typeface="Calibri"/>
                  <a:ea typeface="Calibri"/>
                  <a:cs typeface="Calibri"/>
                  <a:sym typeface="Calibri"/>
                </a:rPr>
                <a:t>Plan for hiring</a:t>
              </a:r>
            </a:p>
            <a:p>
              <a:pPr marL="0" marR="0" lvl="0" indent="0" algn="l" rtl="0">
                <a:spcBef>
                  <a:spcPts val="0"/>
                </a:spcBef>
                <a:spcAft>
                  <a:spcPts val="0"/>
                </a:spcAft>
                <a:buNone/>
              </a:pPr>
              <a:r>
                <a:rPr lang="en-US" sz="1400" dirty="0">
                  <a:solidFill>
                    <a:srgbClr val="3A3838"/>
                  </a:solidFill>
                  <a:latin typeface="Calibri"/>
                  <a:ea typeface="Calibri"/>
                  <a:cs typeface="Calibri"/>
                  <a:sym typeface="Calibri"/>
                </a:rPr>
                <a:t>Plan for early funding</a:t>
              </a:r>
            </a:p>
          </p:txBody>
        </p:sp>
      </p:grpSp>
      <p:grpSp>
        <p:nvGrpSpPr>
          <p:cNvPr id="268" name="Google Shape;268;p1"/>
          <p:cNvGrpSpPr/>
          <p:nvPr/>
        </p:nvGrpSpPr>
        <p:grpSpPr>
          <a:xfrm>
            <a:off x="227225" y="3099915"/>
            <a:ext cx="1889193" cy="1292929"/>
            <a:chOff x="10010939" y="993959"/>
            <a:chExt cx="1889193" cy="1292929"/>
          </a:xfrm>
        </p:grpSpPr>
        <p:sp>
          <p:nvSpPr>
            <p:cNvPr id="269" name="Google Shape;269;p1"/>
            <p:cNvSpPr txBox="1"/>
            <p:nvPr/>
          </p:nvSpPr>
          <p:spPr>
            <a:xfrm>
              <a:off x="10051353" y="993959"/>
              <a:ext cx="153032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Twentieth Century"/>
                  <a:ea typeface="Twentieth Century"/>
                  <a:cs typeface="Twentieth Century"/>
                  <a:sym typeface="Twentieth Century"/>
                </a:rPr>
                <a:t>Build MVP</a:t>
              </a:r>
              <a:endParaRPr sz="1800" b="1" dirty="0">
                <a:solidFill>
                  <a:schemeClr val="dk1"/>
                </a:solidFill>
                <a:latin typeface="Twentieth Century"/>
                <a:ea typeface="Twentieth Century"/>
                <a:cs typeface="Twentieth Century"/>
                <a:sym typeface="Twentieth Century"/>
              </a:endParaRPr>
            </a:p>
          </p:txBody>
        </p:sp>
        <p:sp>
          <p:nvSpPr>
            <p:cNvPr id="270" name="Google Shape;270;p1"/>
            <p:cNvSpPr txBox="1"/>
            <p:nvPr/>
          </p:nvSpPr>
          <p:spPr>
            <a:xfrm>
              <a:off x="10010939" y="1332821"/>
              <a:ext cx="1889193"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3A3838"/>
                  </a:solidFill>
                  <a:latin typeface="Calibri"/>
                  <a:ea typeface="Calibri"/>
                  <a:cs typeface="Calibri"/>
                  <a:sym typeface="Calibri"/>
                </a:rPr>
                <a:t>The inherent conflict of Ideas would be known when a prototype is built</a:t>
              </a:r>
              <a:endParaRPr sz="1400" dirty="0">
                <a:solidFill>
                  <a:srgbClr val="3A3838"/>
                </a:solidFill>
                <a:latin typeface="Calibri"/>
                <a:ea typeface="Calibri"/>
                <a:cs typeface="Calibri"/>
                <a:sym typeface="Calibri"/>
              </a:endParaRPr>
            </a:p>
          </p:txBody>
        </p:sp>
      </p:grpSp>
      <p:grpSp>
        <p:nvGrpSpPr>
          <p:cNvPr id="271" name="Google Shape;271;p1"/>
          <p:cNvGrpSpPr/>
          <p:nvPr/>
        </p:nvGrpSpPr>
        <p:grpSpPr>
          <a:xfrm>
            <a:off x="237803" y="1088306"/>
            <a:ext cx="2136589" cy="862042"/>
            <a:chOff x="10010939" y="993959"/>
            <a:chExt cx="1889193" cy="862042"/>
          </a:xfrm>
        </p:grpSpPr>
        <p:sp>
          <p:nvSpPr>
            <p:cNvPr id="272" name="Google Shape;272;p1"/>
            <p:cNvSpPr txBox="1"/>
            <p:nvPr/>
          </p:nvSpPr>
          <p:spPr>
            <a:xfrm>
              <a:off x="10051353" y="993959"/>
              <a:ext cx="153032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Twentieth Century"/>
                  <a:ea typeface="Twentieth Century"/>
                  <a:cs typeface="Twentieth Century"/>
                  <a:sym typeface="Twentieth Century"/>
                </a:rPr>
                <a:t>Idea Generation</a:t>
              </a:r>
              <a:endParaRPr sz="1600" b="1" dirty="0">
                <a:solidFill>
                  <a:schemeClr val="dk1"/>
                </a:solidFill>
                <a:latin typeface="Twentieth Century"/>
                <a:ea typeface="Twentieth Century"/>
                <a:cs typeface="Twentieth Century"/>
                <a:sym typeface="Twentieth Century"/>
              </a:endParaRPr>
            </a:p>
          </p:txBody>
        </p:sp>
        <p:sp>
          <p:nvSpPr>
            <p:cNvPr id="273" name="Google Shape;273;p1"/>
            <p:cNvSpPr txBox="1"/>
            <p:nvPr/>
          </p:nvSpPr>
          <p:spPr>
            <a:xfrm>
              <a:off x="10010939" y="1332821"/>
              <a:ext cx="1889193"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3A3838"/>
                  </a:solidFill>
                  <a:latin typeface="Calibri"/>
                  <a:ea typeface="Calibri"/>
                  <a:cs typeface="Calibri"/>
                  <a:sym typeface="Calibri"/>
                </a:rPr>
                <a:t>Innovate new ideas to solve the problem</a:t>
              </a:r>
              <a:endParaRPr sz="1400" dirty="0">
                <a:solidFill>
                  <a:srgbClr val="3A3838"/>
                </a:solidFill>
                <a:latin typeface="Calibri"/>
                <a:ea typeface="Calibri"/>
                <a:cs typeface="Calibri"/>
                <a:sym typeface="Calibri"/>
              </a:endParaRPr>
            </a:p>
          </p:txBody>
        </p:sp>
      </p:grpSp>
      <p:sp>
        <p:nvSpPr>
          <p:cNvPr id="274" name="Google Shape;274;p1"/>
          <p:cNvSpPr/>
          <p:nvPr/>
        </p:nvSpPr>
        <p:spPr>
          <a:xfrm>
            <a:off x="1853017" y="276400"/>
            <a:ext cx="1442175" cy="1442175"/>
          </a:xfrm>
          <a:prstGeom prst="ellipse">
            <a:avLst/>
          </a:prstGeom>
          <a:solidFill>
            <a:srgbClr val="FFC5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 name="Google Shape;275;p1"/>
          <p:cNvSpPr/>
          <p:nvPr/>
        </p:nvSpPr>
        <p:spPr>
          <a:xfrm>
            <a:off x="1801247" y="224629"/>
            <a:ext cx="1545600" cy="1545600"/>
          </a:xfrm>
          <a:prstGeom prst="ellipse">
            <a:avLst/>
          </a:prstGeom>
          <a:noFill/>
          <a:ln w="19050" cap="flat" cmpd="sng">
            <a:solidFill>
              <a:srgbClr val="FFC5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6" name="Google Shape;276;p1"/>
          <p:cNvSpPr/>
          <p:nvPr/>
        </p:nvSpPr>
        <p:spPr>
          <a:xfrm rot="-264435">
            <a:off x="1980980" y="754971"/>
            <a:ext cx="925236" cy="936050"/>
          </a:xfrm>
          <a:prstGeom prst="teardrop">
            <a:avLst>
              <a:gd name="adj" fmla="val 88717"/>
            </a:avLst>
          </a:prstGeom>
          <a:solidFill>
            <a:srgbClr val="000000">
              <a:alpha val="1058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77" name="Google Shape;277;p1"/>
          <p:cNvGrpSpPr/>
          <p:nvPr/>
        </p:nvGrpSpPr>
        <p:grpSpPr>
          <a:xfrm>
            <a:off x="2038840" y="466187"/>
            <a:ext cx="1062600" cy="1062600"/>
            <a:chOff x="1672238" y="2600066"/>
            <a:chExt cx="1285351" cy="1285351"/>
          </a:xfrm>
        </p:grpSpPr>
        <p:grpSp>
          <p:nvGrpSpPr>
            <p:cNvPr id="278" name="Google Shape;278;p1"/>
            <p:cNvGrpSpPr/>
            <p:nvPr/>
          </p:nvGrpSpPr>
          <p:grpSpPr>
            <a:xfrm>
              <a:off x="1672238" y="2600066"/>
              <a:ext cx="1285351" cy="1285351"/>
              <a:chOff x="1397665" y="665785"/>
              <a:chExt cx="1285351" cy="1285351"/>
            </a:xfrm>
          </p:grpSpPr>
          <p:grpSp>
            <p:nvGrpSpPr>
              <p:cNvPr id="279" name="Google Shape;279;p1"/>
              <p:cNvGrpSpPr/>
              <p:nvPr/>
            </p:nvGrpSpPr>
            <p:grpSpPr>
              <a:xfrm>
                <a:off x="1397665" y="665785"/>
                <a:ext cx="1285351" cy="1285351"/>
                <a:chOff x="1282890" y="562664"/>
                <a:chExt cx="1514902" cy="1514902"/>
              </a:xfrm>
            </p:grpSpPr>
            <p:sp>
              <p:nvSpPr>
                <p:cNvPr id="280" name="Google Shape;280;p1"/>
                <p:cNvSpPr/>
                <p:nvPr/>
              </p:nvSpPr>
              <p:spPr>
                <a:xfrm>
                  <a:off x="1282890" y="562664"/>
                  <a:ext cx="1514902" cy="1514902"/>
                </a:xfrm>
                <a:prstGeom prst="ellipse">
                  <a:avLst/>
                </a:prstGeom>
                <a:noFill/>
                <a:ln w="57150" cap="flat" cmpd="sng">
                  <a:solidFill>
                    <a:srgbClr val="FFE978"/>
                  </a:solidFill>
                  <a:prstDash val="solid"/>
                  <a:miter lim="800000"/>
                  <a:headEnd type="none" w="sm" len="sm"/>
                  <a:tailEnd type="none" w="sm" len="sm"/>
                </a:ln>
                <a:effectLst>
                  <a:outerShdw blurRad="127000" dist="25400" dir="8100000" sx="104000" sy="104000" algn="tr" rotWithShape="0">
                    <a:srgbClr val="000000">
                      <a:alpha val="2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 name="Google Shape;281;p1"/>
                <p:cNvSpPr/>
                <p:nvPr/>
              </p:nvSpPr>
              <p:spPr>
                <a:xfrm>
                  <a:off x="1310269" y="585168"/>
                  <a:ext cx="1469894" cy="1469894"/>
                </a:xfrm>
                <a:prstGeom prst="ellipse">
                  <a:avLst/>
                </a:prstGeom>
                <a:solidFill>
                  <a:srgbClr val="F2F2F2"/>
                </a:solidFill>
                <a:ln w="19050" cap="flat" cmpd="sng">
                  <a:solidFill>
                    <a:srgbClr val="F1CE4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282" name="Google Shape;282;p1"/>
              <p:cNvPicPr preferRelativeResize="0"/>
              <p:nvPr/>
            </p:nvPicPr>
            <p:blipFill rotWithShape="1">
              <a:blip r:embed="rId5">
                <a:alphaModFix/>
              </a:blip>
              <a:srcRect/>
              <a:stretch/>
            </p:blipFill>
            <p:spPr>
              <a:xfrm>
                <a:off x="1616109" y="876299"/>
                <a:ext cx="848461" cy="848462"/>
              </a:xfrm>
              <a:prstGeom prst="rect">
                <a:avLst/>
              </a:prstGeom>
              <a:noFill/>
              <a:ln>
                <a:noFill/>
              </a:ln>
            </p:spPr>
          </p:pic>
        </p:grpSp>
        <p:grpSp>
          <p:nvGrpSpPr>
            <p:cNvPr id="283" name="Google Shape;283;p1"/>
            <p:cNvGrpSpPr/>
            <p:nvPr/>
          </p:nvGrpSpPr>
          <p:grpSpPr>
            <a:xfrm>
              <a:off x="1841955" y="2844032"/>
              <a:ext cx="923360" cy="612434"/>
              <a:chOff x="1567382" y="927100"/>
              <a:chExt cx="923360" cy="612434"/>
            </a:xfrm>
          </p:grpSpPr>
          <p:sp>
            <p:nvSpPr>
              <p:cNvPr id="284" name="Google Shape;284;p1"/>
              <p:cNvSpPr/>
              <p:nvPr/>
            </p:nvSpPr>
            <p:spPr>
              <a:xfrm>
                <a:off x="1935565" y="1161365"/>
                <a:ext cx="209550" cy="222250"/>
              </a:xfrm>
              <a:prstGeom prst="ellipse">
                <a:avLst/>
              </a:prstGeom>
              <a:solidFill>
                <a:srgbClr val="FFE9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85" name="Google Shape;285;p1"/>
              <p:cNvCxnSpPr/>
              <p:nvPr/>
            </p:nvCxnSpPr>
            <p:spPr>
              <a:xfrm rot="10800000">
                <a:off x="2288743" y="993434"/>
                <a:ext cx="87914" cy="0"/>
              </a:xfrm>
              <a:prstGeom prst="straightConnector1">
                <a:avLst/>
              </a:prstGeom>
              <a:noFill/>
              <a:ln w="19050" cap="flat" cmpd="sng">
                <a:solidFill>
                  <a:schemeClr val="dk1"/>
                </a:solidFill>
                <a:prstDash val="solid"/>
                <a:miter lim="800000"/>
                <a:headEnd type="none" w="sm" len="sm"/>
                <a:tailEnd type="none" w="sm" len="sm"/>
              </a:ln>
            </p:spPr>
          </p:cxnSp>
          <p:cxnSp>
            <p:nvCxnSpPr>
              <p:cNvPr id="286" name="Google Shape;286;p1"/>
              <p:cNvCxnSpPr/>
              <p:nvPr/>
            </p:nvCxnSpPr>
            <p:spPr>
              <a:xfrm rot="10800000">
                <a:off x="2376657" y="1145834"/>
                <a:ext cx="87914" cy="0"/>
              </a:xfrm>
              <a:prstGeom prst="straightConnector1">
                <a:avLst/>
              </a:prstGeom>
              <a:noFill/>
              <a:ln w="19050" cap="flat" cmpd="sng">
                <a:solidFill>
                  <a:schemeClr val="dk1"/>
                </a:solidFill>
                <a:prstDash val="solid"/>
                <a:miter lim="800000"/>
                <a:headEnd type="none" w="sm" len="sm"/>
                <a:tailEnd type="none" w="sm" len="sm"/>
              </a:ln>
            </p:spPr>
          </p:cxnSp>
          <p:cxnSp>
            <p:nvCxnSpPr>
              <p:cNvPr id="287" name="Google Shape;287;p1"/>
              <p:cNvCxnSpPr/>
              <p:nvPr/>
            </p:nvCxnSpPr>
            <p:spPr>
              <a:xfrm rot="10800000">
                <a:off x="2352229" y="1310934"/>
                <a:ext cx="138513" cy="0"/>
              </a:xfrm>
              <a:prstGeom prst="straightConnector1">
                <a:avLst/>
              </a:prstGeom>
              <a:noFill/>
              <a:ln w="19050" cap="flat" cmpd="sng">
                <a:solidFill>
                  <a:schemeClr val="dk1"/>
                </a:solidFill>
                <a:prstDash val="solid"/>
                <a:miter lim="800000"/>
                <a:headEnd type="none" w="sm" len="sm"/>
                <a:tailEnd type="none" w="sm" len="sm"/>
              </a:ln>
            </p:spPr>
          </p:cxnSp>
          <p:cxnSp>
            <p:nvCxnSpPr>
              <p:cNvPr id="288" name="Google Shape;288;p1"/>
              <p:cNvCxnSpPr/>
              <p:nvPr/>
            </p:nvCxnSpPr>
            <p:spPr>
              <a:xfrm rot="10800000">
                <a:off x="2308272" y="1484435"/>
                <a:ext cx="87914" cy="0"/>
              </a:xfrm>
              <a:prstGeom prst="straightConnector1">
                <a:avLst/>
              </a:prstGeom>
              <a:noFill/>
              <a:ln w="19050" cap="flat" cmpd="sng">
                <a:solidFill>
                  <a:schemeClr val="dk1"/>
                </a:solidFill>
                <a:prstDash val="solid"/>
                <a:miter lim="800000"/>
                <a:headEnd type="none" w="sm" len="sm"/>
                <a:tailEnd type="none" w="sm" len="sm"/>
              </a:ln>
            </p:spPr>
          </p:cxnSp>
          <p:cxnSp>
            <p:nvCxnSpPr>
              <p:cNvPr id="289" name="Google Shape;289;p1"/>
              <p:cNvCxnSpPr/>
              <p:nvPr/>
            </p:nvCxnSpPr>
            <p:spPr>
              <a:xfrm rot="10800000">
                <a:off x="1616109" y="1313768"/>
                <a:ext cx="87914" cy="0"/>
              </a:xfrm>
              <a:prstGeom prst="straightConnector1">
                <a:avLst/>
              </a:prstGeom>
              <a:noFill/>
              <a:ln w="19050" cap="flat" cmpd="sng">
                <a:solidFill>
                  <a:schemeClr val="dk1"/>
                </a:solidFill>
                <a:prstDash val="solid"/>
                <a:miter lim="800000"/>
                <a:headEnd type="none" w="sm" len="sm"/>
                <a:tailEnd type="none" w="sm" len="sm"/>
              </a:ln>
            </p:spPr>
          </p:cxnSp>
          <p:cxnSp>
            <p:nvCxnSpPr>
              <p:cNvPr id="290" name="Google Shape;290;p1"/>
              <p:cNvCxnSpPr/>
              <p:nvPr/>
            </p:nvCxnSpPr>
            <p:spPr>
              <a:xfrm rot="10800000">
                <a:off x="1567382" y="1145152"/>
                <a:ext cx="136641" cy="0"/>
              </a:xfrm>
              <a:prstGeom prst="straightConnector1">
                <a:avLst/>
              </a:prstGeom>
              <a:noFill/>
              <a:ln w="19050" cap="flat" cmpd="sng">
                <a:solidFill>
                  <a:schemeClr val="dk1"/>
                </a:solidFill>
                <a:prstDash val="solid"/>
                <a:miter lim="800000"/>
                <a:headEnd type="none" w="sm" len="sm"/>
                <a:tailEnd type="none" w="sm" len="sm"/>
              </a:ln>
            </p:spPr>
          </p:cxnSp>
          <p:cxnSp>
            <p:nvCxnSpPr>
              <p:cNvPr id="291" name="Google Shape;291;p1"/>
              <p:cNvCxnSpPr/>
              <p:nvPr/>
            </p:nvCxnSpPr>
            <p:spPr>
              <a:xfrm rot="10800000">
                <a:off x="1704023" y="927100"/>
                <a:ext cx="103823" cy="0"/>
              </a:xfrm>
              <a:prstGeom prst="straightConnector1">
                <a:avLst/>
              </a:prstGeom>
              <a:noFill/>
              <a:ln w="19050" cap="flat" cmpd="sng">
                <a:solidFill>
                  <a:schemeClr val="dk1"/>
                </a:solidFill>
                <a:prstDash val="solid"/>
                <a:miter lim="800000"/>
                <a:headEnd type="none" w="sm" len="sm"/>
                <a:tailEnd type="none" w="sm" len="sm"/>
              </a:ln>
            </p:spPr>
          </p:cxnSp>
          <p:cxnSp>
            <p:nvCxnSpPr>
              <p:cNvPr id="292" name="Google Shape;292;p1"/>
              <p:cNvCxnSpPr/>
              <p:nvPr/>
            </p:nvCxnSpPr>
            <p:spPr>
              <a:xfrm rot="10800000">
                <a:off x="1671205" y="1481480"/>
                <a:ext cx="93143" cy="0"/>
              </a:xfrm>
              <a:prstGeom prst="straightConnector1">
                <a:avLst/>
              </a:prstGeom>
              <a:noFill/>
              <a:ln w="19050" cap="flat" cmpd="sng">
                <a:solidFill>
                  <a:schemeClr val="dk1"/>
                </a:solidFill>
                <a:prstDash val="solid"/>
                <a:miter lim="800000"/>
                <a:headEnd type="none" w="sm" len="sm"/>
                <a:tailEnd type="none" w="sm" len="sm"/>
              </a:ln>
            </p:spPr>
          </p:cxnSp>
          <p:cxnSp>
            <p:nvCxnSpPr>
              <p:cNvPr id="293" name="Google Shape;293;p1"/>
              <p:cNvCxnSpPr/>
              <p:nvPr/>
            </p:nvCxnSpPr>
            <p:spPr>
              <a:xfrm rot="10800000">
                <a:off x="1764348" y="1539534"/>
                <a:ext cx="86996" cy="0"/>
              </a:xfrm>
              <a:prstGeom prst="straightConnector1">
                <a:avLst/>
              </a:prstGeom>
              <a:noFill/>
              <a:ln w="19050" cap="flat" cmpd="sng">
                <a:solidFill>
                  <a:schemeClr val="dk1"/>
                </a:solidFill>
                <a:prstDash val="solid"/>
                <a:miter lim="800000"/>
                <a:headEnd type="none" w="sm" len="sm"/>
                <a:tailEnd type="none" w="sm" len="sm"/>
              </a:ln>
            </p:spPr>
          </p:cxnSp>
          <p:cxnSp>
            <p:nvCxnSpPr>
              <p:cNvPr id="294" name="Google Shape;294;p1"/>
              <p:cNvCxnSpPr/>
              <p:nvPr/>
            </p:nvCxnSpPr>
            <p:spPr>
              <a:xfrm rot="10800000">
                <a:off x="2246516" y="1482384"/>
                <a:ext cx="42227" cy="0"/>
              </a:xfrm>
              <a:prstGeom prst="straightConnector1">
                <a:avLst/>
              </a:prstGeom>
              <a:noFill/>
              <a:ln w="19050" cap="flat" cmpd="sng">
                <a:solidFill>
                  <a:schemeClr val="dk1"/>
                </a:solidFill>
                <a:prstDash val="solid"/>
                <a:miter lim="800000"/>
                <a:headEnd type="none" w="sm" len="sm"/>
                <a:tailEnd type="none" w="sm" len="sm"/>
              </a:ln>
            </p:spPr>
          </p:cxnSp>
        </p:grpSp>
      </p:grpSp>
      <p:grpSp>
        <p:nvGrpSpPr>
          <p:cNvPr id="295" name="Google Shape;295;p1"/>
          <p:cNvGrpSpPr/>
          <p:nvPr/>
        </p:nvGrpSpPr>
        <p:grpSpPr>
          <a:xfrm>
            <a:off x="1723206" y="2156288"/>
            <a:ext cx="1520607" cy="1520607"/>
            <a:chOff x="1385272" y="2618182"/>
            <a:chExt cx="1869742" cy="1869742"/>
          </a:xfrm>
        </p:grpSpPr>
        <p:grpSp>
          <p:nvGrpSpPr>
            <p:cNvPr id="296" name="Google Shape;296;p1"/>
            <p:cNvGrpSpPr/>
            <p:nvPr/>
          </p:nvGrpSpPr>
          <p:grpSpPr>
            <a:xfrm>
              <a:off x="1385272" y="2618182"/>
              <a:ext cx="1869742" cy="1869742"/>
              <a:chOff x="1105470" y="385244"/>
              <a:chExt cx="1869742" cy="1869742"/>
            </a:xfrm>
          </p:grpSpPr>
          <p:sp>
            <p:nvSpPr>
              <p:cNvPr id="297" name="Google Shape;297;p1"/>
              <p:cNvSpPr/>
              <p:nvPr/>
            </p:nvSpPr>
            <p:spPr>
              <a:xfrm>
                <a:off x="1168093" y="447867"/>
                <a:ext cx="1744496" cy="1744496"/>
              </a:xfrm>
              <a:prstGeom prst="ellipse">
                <a:avLst/>
              </a:prstGeom>
              <a:solidFill>
                <a:srgbClr val="1DD6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1"/>
              <p:cNvSpPr/>
              <p:nvPr/>
            </p:nvSpPr>
            <p:spPr>
              <a:xfrm>
                <a:off x="1105470" y="385244"/>
                <a:ext cx="1869742" cy="1869742"/>
              </a:xfrm>
              <a:prstGeom prst="ellipse">
                <a:avLst/>
              </a:prstGeom>
              <a:noFill/>
              <a:ln w="19050" cap="flat" cmpd="sng">
                <a:solidFill>
                  <a:srgbClr val="1DD6C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1"/>
              <p:cNvSpPr/>
              <p:nvPr/>
            </p:nvSpPr>
            <p:spPr>
              <a:xfrm rot="-263928">
                <a:off x="1322943" y="1026832"/>
                <a:ext cx="1119357" cy="1132274"/>
              </a:xfrm>
              <a:prstGeom prst="teardrop">
                <a:avLst>
                  <a:gd name="adj" fmla="val 88717"/>
                </a:avLst>
              </a:prstGeom>
              <a:solidFill>
                <a:srgbClr val="000000">
                  <a:alpha val="1058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00" name="Google Shape;300;p1"/>
              <p:cNvGrpSpPr/>
              <p:nvPr/>
            </p:nvGrpSpPr>
            <p:grpSpPr>
              <a:xfrm>
                <a:off x="1392869" y="677439"/>
                <a:ext cx="1285351" cy="1285351"/>
                <a:chOff x="1672238" y="2600066"/>
                <a:chExt cx="1285351" cy="1285351"/>
              </a:xfrm>
            </p:grpSpPr>
            <p:grpSp>
              <p:nvGrpSpPr>
                <p:cNvPr id="301" name="Google Shape;301;p1"/>
                <p:cNvGrpSpPr/>
                <p:nvPr/>
              </p:nvGrpSpPr>
              <p:grpSpPr>
                <a:xfrm>
                  <a:off x="1672238" y="2600066"/>
                  <a:ext cx="1285351" cy="1285351"/>
                  <a:chOff x="1282890" y="562664"/>
                  <a:chExt cx="1514902" cy="1514902"/>
                </a:xfrm>
              </p:grpSpPr>
              <p:sp>
                <p:nvSpPr>
                  <p:cNvPr id="302" name="Google Shape;302;p1"/>
                  <p:cNvSpPr/>
                  <p:nvPr/>
                </p:nvSpPr>
                <p:spPr>
                  <a:xfrm>
                    <a:off x="1282890" y="562664"/>
                    <a:ext cx="1514902" cy="1514902"/>
                  </a:xfrm>
                  <a:prstGeom prst="ellipse">
                    <a:avLst/>
                  </a:prstGeom>
                  <a:noFill/>
                  <a:ln w="57150" cap="flat" cmpd="sng">
                    <a:solidFill>
                      <a:srgbClr val="8CF7E7"/>
                    </a:solidFill>
                    <a:prstDash val="solid"/>
                    <a:miter lim="800000"/>
                    <a:headEnd type="none" w="sm" len="sm"/>
                    <a:tailEnd type="none" w="sm" len="sm"/>
                  </a:ln>
                  <a:effectLst>
                    <a:outerShdw blurRad="127000" dist="25400" dir="8100000" sx="104000" sy="104000" algn="tr" rotWithShape="0">
                      <a:srgbClr val="000000">
                        <a:alpha val="2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3" name="Google Shape;303;p1"/>
                  <p:cNvSpPr/>
                  <p:nvPr/>
                </p:nvSpPr>
                <p:spPr>
                  <a:xfrm>
                    <a:off x="1310270" y="585169"/>
                    <a:ext cx="1469894" cy="1469894"/>
                  </a:xfrm>
                  <a:prstGeom prst="ellipse">
                    <a:avLst/>
                  </a:prstGeom>
                  <a:solidFill>
                    <a:srgbClr val="F2F2F2"/>
                  </a:solidFill>
                  <a:ln w="19050" cap="flat" cmpd="sng">
                    <a:solidFill>
                      <a:srgbClr val="3BBCA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cxnSp>
              <p:nvCxnSpPr>
                <p:cNvPr id="304" name="Google Shape;304;p1"/>
                <p:cNvCxnSpPr/>
                <p:nvPr/>
              </p:nvCxnSpPr>
              <p:spPr>
                <a:xfrm rot="10800000">
                  <a:off x="2653986" y="2946085"/>
                  <a:ext cx="91941" cy="0"/>
                </a:xfrm>
                <a:prstGeom prst="straightConnector1">
                  <a:avLst/>
                </a:prstGeom>
                <a:noFill/>
                <a:ln w="19050" cap="flat" cmpd="sng">
                  <a:solidFill>
                    <a:schemeClr val="dk1"/>
                  </a:solidFill>
                  <a:prstDash val="solid"/>
                  <a:miter lim="800000"/>
                  <a:headEnd type="none" w="sm" len="sm"/>
                  <a:tailEnd type="none" w="sm" len="sm"/>
                </a:ln>
              </p:spPr>
            </p:cxnSp>
          </p:grpSp>
        </p:grpSp>
        <p:pic>
          <p:nvPicPr>
            <p:cNvPr id="305" name="Google Shape;305;p1"/>
            <p:cNvPicPr preferRelativeResize="0"/>
            <p:nvPr/>
          </p:nvPicPr>
          <p:blipFill rotWithShape="1">
            <a:blip r:embed="rId6">
              <a:alphaModFix/>
            </a:blip>
            <a:srcRect/>
            <a:stretch/>
          </p:blipFill>
          <p:spPr>
            <a:xfrm rot="528752">
              <a:off x="1933194" y="3147008"/>
              <a:ext cx="771706" cy="771706"/>
            </a:xfrm>
            <a:prstGeom prst="rect">
              <a:avLst/>
            </a:prstGeom>
            <a:noFill/>
            <a:ln>
              <a:noFill/>
            </a:ln>
          </p:spPr>
        </p:pic>
        <p:cxnSp>
          <p:nvCxnSpPr>
            <p:cNvPr id="306" name="Google Shape;306;p1"/>
            <p:cNvCxnSpPr/>
            <p:nvPr/>
          </p:nvCxnSpPr>
          <p:spPr>
            <a:xfrm rot="10800000">
              <a:off x="2371725" y="3824961"/>
              <a:ext cx="101309" cy="0"/>
            </a:xfrm>
            <a:prstGeom prst="straightConnector1">
              <a:avLst/>
            </a:prstGeom>
            <a:noFill/>
            <a:ln w="19050" cap="flat" cmpd="sng">
              <a:solidFill>
                <a:schemeClr val="dk1"/>
              </a:solidFill>
              <a:prstDash val="solid"/>
              <a:miter lim="800000"/>
              <a:headEnd type="none" w="sm" len="sm"/>
              <a:tailEnd type="none" w="sm" len="sm"/>
            </a:ln>
          </p:spPr>
        </p:cxnSp>
        <p:cxnSp>
          <p:nvCxnSpPr>
            <p:cNvPr id="307" name="Google Shape;307;p1"/>
            <p:cNvCxnSpPr/>
            <p:nvPr/>
          </p:nvCxnSpPr>
          <p:spPr>
            <a:xfrm rot="10800000">
              <a:off x="2556762" y="3774161"/>
              <a:ext cx="65368" cy="0"/>
            </a:xfrm>
            <a:prstGeom prst="straightConnector1">
              <a:avLst/>
            </a:prstGeom>
            <a:noFill/>
            <a:ln w="19050" cap="flat" cmpd="sng">
              <a:solidFill>
                <a:schemeClr val="dk1"/>
              </a:solidFill>
              <a:prstDash val="solid"/>
              <a:miter lim="800000"/>
              <a:headEnd type="none" w="sm" len="sm"/>
              <a:tailEnd type="none" w="sm" len="sm"/>
            </a:ln>
          </p:spPr>
        </p:cxnSp>
        <p:cxnSp>
          <p:nvCxnSpPr>
            <p:cNvPr id="308" name="Google Shape;308;p1"/>
            <p:cNvCxnSpPr/>
            <p:nvPr/>
          </p:nvCxnSpPr>
          <p:spPr>
            <a:xfrm rot="10800000">
              <a:off x="1962150" y="3863061"/>
              <a:ext cx="65607" cy="0"/>
            </a:xfrm>
            <a:prstGeom prst="straightConnector1">
              <a:avLst/>
            </a:prstGeom>
            <a:noFill/>
            <a:ln w="19050" cap="flat" cmpd="sng">
              <a:solidFill>
                <a:schemeClr val="dk1"/>
              </a:solidFill>
              <a:prstDash val="solid"/>
              <a:miter lim="800000"/>
              <a:headEnd type="none" w="sm" len="sm"/>
              <a:tailEnd type="none" w="sm" len="sm"/>
            </a:ln>
          </p:spPr>
        </p:cxnSp>
        <p:cxnSp>
          <p:nvCxnSpPr>
            <p:cNvPr id="309" name="Google Shape;309;p1"/>
            <p:cNvCxnSpPr/>
            <p:nvPr/>
          </p:nvCxnSpPr>
          <p:spPr>
            <a:xfrm rot="10800000">
              <a:off x="2057400" y="3415386"/>
              <a:ext cx="88159" cy="0"/>
            </a:xfrm>
            <a:prstGeom prst="straightConnector1">
              <a:avLst/>
            </a:prstGeom>
            <a:noFill/>
            <a:ln w="19050" cap="flat" cmpd="sng">
              <a:solidFill>
                <a:schemeClr val="dk1"/>
              </a:solidFill>
              <a:prstDash val="solid"/>
              <a:miter lim="800000"/>
              <a:headEnd type="none" w="sm" len="sm"/>
              <a:tailEnd type="none" w="sm" len="sm"/>
            </a:ln>
          </p:spPr>
        </p:cxnSp>
        <p:cxnSp>
          <p:nvCxnSpPr>
            <p:cNvPr id="310" name="Google Shape;310;p1"/>
            <p:cNvCxnSpPr/>
            <p:nvPr/>
          </p:nvCxnSpPr>
          <p:spPr>
            <a:xfrm rot="10800000">
              <a:off x="1834555" y="3801149"/>
              <a:ext cx="88159" cy="0"/>
            </a:xfrm>
            <a:prstGeom prst="straightConnector1">
              <a:avLst/>
            </a:prstGeom>
            <a:noFill/>
            <a:ln w="19050" cap="flat" cmpd="sng">
              <a:solidFill>
                <a:schemeClr val="dk1"/>
              </a:solidFill>
              <a:prstDash val="solid"/>
              <a:miter lim="800000"/>
              <a:headEnd type="none" w="sm" len="sm"/>
              <a:tailEnd type="none" w="sm" len="sm"/>
            </a:ln>
          </p:spPr>
        </p:cxnSp>
        <p:sp>
          <p:nvSpPr>
            <p:cNvPr id="311" name="Google Shape;311;p1"/>
            <p:cNvSpPr/>
            <p:nvPr/>
          </p:nvSpPr>
          <p:spPr>
            <a:xfrm>
              <a:off x="2329712" y="3371632"/>
              <a:ext cx="181420" cy="181420"/>
            </a:xfrm>
            <a:prstGeom prst="ellipse">
              <a:avLst/>
            </a:prstGeom>
            <a:solidFill>
              <a:srgbClr val="8CF7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2" name="Google Shape;312;p1"/>
            <p:cNvSpPr/>
            <p:nvPr/>
          </p:nvSpPr>
          <p:spPr>
            <a:xfrm>
              <a:off x="2347212" y="3256229"/>
              <a:ext cx="104775" cy="67829"/>
            </a:xfrm>
            <a:prstGeom prst="rect">
              <a:avLst/>
            </a:prstGeom>
            <a:solidFill>
              <a:srgbClr val="8CF7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13" name="Google Shape;313;p1"/>
          <p:cNvGrpSpPr/>
          <p:nvPr/>
        </p:nvGrpSpPr>
        <p:grpSpPr>
          <a:xfrm>
            <a:off x="-1174864" y="2536095"/>
            <a:ext cx="260350" cy="844550"/>
            <a:chOff x="1834524" y="4244125"/>
            <a:chExt cx="260350" cy="844550"/>
          </a:xfrm>
        </p:grpSpPr>
        <p:sp>
          <p:nvSpPr>
            <p:cNvPr id="314" name="Google Shape;314;p1"/>
            <p:cNvSpPr/>
            <p:nvPr/>
          </p:nvSpPr>
          <p:spPr>
            <a:xfrm>
              <a:off x="1834524" y="4244125"/>
              <a:ext cx="260350" cy="234950"/>
            </a:xfrm>
            <a:prstGeom prst="rect">
              <a:avLst/>
            </a:prstGeom>
            <a:solidFill>
              <a:srgbClr val="3ECE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 name="Google Shape;315;p1"/>
            <p:cNvSpPr/>
            <p:nvPr/>
          </p:nvSpPr>
          <p:spPr>
            <a:xfrm>
              <a:off x="1834524" y="4561625"/>
              <a:ext cx="260350" cy="234950"/>
            </a:xfrm>
            <a:prstGeom prst="rect">
              <a:avLst/>
            </a:prstGeom>
            <a:solidFill>
              <a:srgbClr val="83E2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6" name="Google Shape;316;p1"/>
            <p:cNvSpPr/>
            <p:nvPr/>
          </p:nvSpPr>
          <p:spPr>
            <a:xfrm>
              <a:off x="1834524" y="4853725"/>
              <a:ext cx="260350" cy="234950"/>
            </a:xfrm>
            <a:prstGeom prst="rect">
              <a:avLst/>
            </a:prstGeom>
            <a:solidFill>
              <a:srgbClr val="42BD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17" name="Google Shape;317;p1"/>
          <p:cNvGrpSpPr/>
          <p:nvPr/>
        </p:nvGrpSpPr>
        <p:grpSpPr>
          <a:xfrm>
            <a:off x="-620935" y="2509262"/>
            <a:ext cx="260350" cy="844550"/>
            <a:chOff x="1834524" y="4244125"/>
            <a:chExt cx="260350" cy="844550"/>
          </a:xfrm>
        </p:grpSpPr>
        <p:sp>
          <p:nvSpPr>
            <p:cNvPr id="318" name="Google Shape;318;p1"/>
            <p:cNvSpPr/>
            <p:nvPr/>
          </p:nvSpPr>
          <p:spPr>
            <a:xfrm>
              <a:off x="1834524" y="4244125"/>
              <a:ext cx="260350" cy="234950"/>
            </a:xfrm>
            <a:prstGeom prst="rect">
              <a:avLst/>
            </a:prstGeom>
            <a:solidFill>
              <a:srgbClr val="A179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9" name="Google Shape;319;p1"/>
            <p:cNvSpPr/>
            <p:nvPr/>
          </p:nvSpPr>
          <p:spPr>
            <a:xfrm>
              <a:off x="1834524" y="4561625"/>
              <a:ext cx="260350" cy="234950"/>
            </a:xfrm>
            <a:prstGeom prst="rect">
              <a:avLst/>
            </a:prstGeom>
            <a:solidFill>
              <a:srgbClr val="A481D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 name="Google Shape;320;p1"/>
            <p:cNvSpPr/>
            <p:nvPr/>
          </p:nvSpPr>
          <p:spPr>
            <a:xfrm>
              <a:off x="1834524" y="4853725"/>
              <a:ext cx="260350" cy="234950"/>
            </a:xfrm>
            <a:prstGeom prst="rect">
              <a:avLst/>
            </a:prstGeom>
            <a:solidFill>
              <a:srgbClr val="8469A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21" name="Google Shape;321;p1"/>
          <p:cNvGrpSpPr/>
          <p:nvPr/>
        </p:nvGrpSpPr>
        <p:grpSpPr>
          <a:xfrm>
            <a:off x="-1183570" y="3675003"/>
            <a:ext cx="260350" cy="844550"/>
            <a:chOff x="1834524" y="4244125"/>
            <a:chExt cx="260350" cy="844550"/>
          </a:xfrm>
        </p:grpSpPr>
        <p:sp>
          <p:nvSpPr>
            <p:cNvPr id="322" name="Google Shape;322;p1"/>
            <p:cNvSpPr/>
            <p:nvPr/>
          </p:nvSpPr>
          <p:spPr>
            <a:xfrm>
              <a:off x="1834524" y="4244125"/>
              <a:ext cx="260350" cy="234950"/>
            </a:xfrm>
            <a:prstGeom prst="rect">
              <a:avLst/>
            </a:prstGeom>
            <a:solidFill>
              <a:srgbClr val="FE9B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 name="Google Shape;323;p1"/>
            <p:cNvSpPr/>
            <p:nvPr/>
          </p:nvSpPr>
          <p:spPr>
            <a:xfrm>
              <a:off x="1834524" y="4561625"/>
              <a:ext cx="260350" cy="234950"/>
            </a:xfrm>
            <a:prstGeom prst="rect">
              <a:avLst/>
            </a:prstGeom>
            <a:solidFill>
              <a:srgbClr val="FEB28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1"/>
            <p:cNvSpPr/>
            <p:nvPr/>
          </p:nvSpPr>
          <p:spPr>
            <a:xfrm>
              <a:off x="1834524" y="4853725"/>
              <a:ext cx="260350" cy="234950"/>
            </a:xfrm>
            <a:prstGeom prst="rect">
              <a:avLst/>
            </a:prstGeom>
            <a:solidFill>
              <a:srgbClr val="E392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25" name="Google Shape;325;p1"/>
          <p:cNvGrpSpPr/>
          <p:nvPr/>
        </p:nvGrpSpPr>
        <p:grpSpPr>
          <a:xfrm>
            <a:off x="-628691" y="3647420"/>
            <a:ext cx="260350" cy="844550"/>
            <a:chOff x="1834524" y="4244125"/>
            <a:chExt cx="260350" cy="844550"/>
          </a:xfrm>
        </p:grpSpPr>
        <p:sp>
          <p:nvSpPr>
            <p:cNvPr id="326" name="Google Shape;326;p1"/>
            <p:cNvSpPr/>
            <p:nvPr/>
          </p:nvSpPr>
          <p:spPr>
            <a:xfrm>
              <a:off x="1834524" y="4244125"/>
              <a:ext cx="260350" cy="234950"/>
            </a:xfrm>
            <a:prstGeom prst="rect">
              <a:avLst/>
            </a:prstGeom>
            <a:solidFill>
              <a:srgbClr val="A7D5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 name="Google Shape;327;p1"/>
            <p:cNvSpPr/>
            <p:nvPr/>
          </p:nvSpPr>
          <p:spPr>
            <a:xfrm>
              <a:off x="1834524" y="4561625"/>
              <a:ext cx="260350" cy="234950"/>
            </a:xfrm>
            <a:prstGeom prst="rect">
              <a:avLst/>
            </a:prstGeom>
            <a:solidFill>
              <a:srgbClr val="C6F7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8" name="Google Shape;328;p1"/>
            <p:cNvSpPr/>
            <p:nvPr/>
          </p:nvSpPr>
          <p:spPr>
            <a:xfrm>
              <a:off x="1834524" y="4853725"/>
              <a:ext cx="260350" cy="234950"/>
            </a:xfrm>
            <a:prstGeom prst="rect">
              <a:avLst/>
            </a:prstGeom>
            <a:solidFill>
              <a:srgbClr val="A1CC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29" name="Google Shape;329;p1"/>
          <p:cNvGrpSpPr/>
          <p:nvPr/>
        </p:nvGrpSpPr>
        <p:grpSpPr>
          <a:xfrm>
            <a:off x="8055849" y="2506811"/>
            <a:ext cx="319137" cy="319137"/>
            <a:chOff x="3577335" y="1053147"/>
            <a:chExt cx="319137" cy="319137"/>
          </a:xfrm>
        </p:grpSpPr>
        <p:sp>
          <p:nvSpPr>
            <p:cNvPr id="330" name="Google Shape;330;p1"/>
            <p:cNvSpPr/>
            <p:nvPr/>
          </p:nvSpPr>
          <p:spPr>
            <a:xfrm>
              <a:off x="3676269" y="1148406"/>
              <a:ext cx="128620" cy="128620"/>
            </a:xfrm>
            <a:prstGeom prst="ellipse">
              <a:avLst/>
            </a:prstGeom>
            <a:solidFill>
              <a:srgbClr val="E39279"/>
            </a:solidFill>
            <a:ln w="19050" cap="flat" cmpd="sng">
              <a:solidFill>
                <a:srgbClr val="FEB28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 name="Google Shape;331;p1"/>
            <p:cNvSpPr/>
            <p:nvPr/>
          </p:nvSpPr>
          <p:spPr>
            <a:xfrm>
              <a:off x="3577335" y="1053147"/>
              <a:ext cx="319137" cy="319137"/>
            </a:xfrm>
            <a:prstGeom prst="donut">
              <a:avLst>
                <a:gd name="adj" fmla="val 19304"/>
              </a:avLst>
            </a:prstGeom>
            <a:solidFill>
              <a:srgbClr val="FE9B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332" name="Google Shape;332;p1"/>
          <p:cNvGrpSpPr/>
          <p:nvPr/>
        </p:nvGrpSpPr>
        <p:grpSpPr>
          <a:xfrm>
            <a:off x="7505648" y="3658429"/>
            <a:ext cx="319137" cy="319137"/>
            <a:chOff x="3577335" y="1053147"/>
            <a:chExt cx="319137" cy="319137"/>
          </a:xfrm>
        </p:grpSpPr>
        <p:sp>
          <p:nvSpPr>
            <p:cNvPr id="333" name="Google Shape;333;p1"/>
            <p:cNvSpPr/>
            <p:nvPr/>
          </p:nvSpPr>
          <p:spPr>
            <a:xfrm>
              <a:off x="3672593" y="1148405"/>
              <a:ext cx="128620" cy="128620"/>
            </a:xfrm>
            <a:prstGeom prst="ellipse">
              <a:avLst/>
            </a:prstGeom>
            <a:solidFill>
              <a:srgbClr val="8469A1"/>
            </a:solidFill>
            <a:ln w="19050" cap="flat" cmpd="sng">
              <a:solidFill>
                <a:srgbClr val="A481D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 name="Google Shape;334;p1"/>
            <p:cNvSpPr/>
            <p:nvPr/>
          </p:nvSpPr>
          <p:spPr>
            <a:xfrm>
              <a:off x="3577335" y="1053147"/>
              <a:ext cx="319137" cy="319137"/>
            </a:xfrm>
            <a:prstGeom prst="donut">
              <a:avLst>
                <a:gd name="adj" fmla="val 19304"/>
              </a:avLst>
            </a:prstGeom>
            <a:solidFill>
              <a:srgbClr val="A179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335" name="Google Shape;335;p1"/>
          <p:cNvGrpSpPr/>
          <p:nvPr/>
        </p:nvGrpSpPr>
        <p:grpSpPr>
          <a:xfrm>
            <a:off x="6500774" y="4315894"/>
            <a:ext cx="319137" cy="319137"/>
            <a:chOff x="3577335" y="1053147"/>
            <a:chExt cx="319137" cy="319137"/>
          </a:xfrm>
        </p:grpSpPr>
        <p:sp>
          <p:nvSpPr>
            <p:cNvPr id="336" name="Google Shape;336;p1"/>
            <p:cNvSpPr/>
            <p:nvPr/>
          </p:nvSpPr>
          <p:spPr>
            <a:xfrm>
              <a:off x="3672593" y="1139682"/>
              <a:ext cx="128620" cy="128620"/>
            </a:xfrm>
            <a:prstGeom prst="ellipse">
              <a:avLst/>
            </a:prstGeom>
            <a:solidFill>
              <a:srgbClr val="42BDE0"/>
            </a:solidFill>
            <a:ln w="19050" cap="flat" cmpd="sng">
              <a:solidFill>
                <a:srgbClr val="83E2F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 name="Google Shape;337;p1"/>
            <p:cNvSpPr/>
            <p:nvPr/>
          </p:nvSpPr>
          <p:spPr>
            <a:xfrm>
              <a:off x="3577335" y="1053147"/>
              <a:ext cx="319137" cy="319137"/>
            </a:xfrm>
            <a:prstGeom prst="donut">
              <a:avLst>
                <a:gd name="adj" fmla="val 19304"/>
              </a:avLst>
            </a:prstGeom>
            <a:solidFill>
              <a:srgbClr val="3ECE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338" name="Google Shape;338;p1"/>
          <p:cNvGrpSpPr/>
          <p:nvPr/>
        </p:nvGrpSpPr>
        <p:grpSpPr>
          <a:xfrm>
            <a:off x="5018295" y="4313627"/>
            <a:ext cx="319137" cy="319137"/>
            <a:chOff x="3577335" y="1053147"/>
            <a:chExt cx="319137" cy="319137"/>
          </a:xfrm>
        </p:grpSpPr>
        <p:sp>
          <p:nvSpPr>
            <p:cNvPr id="339" name="Google Shape;339;p1"/>
            <p:cNvSpPr/>
            <p:nvPr/>
          </p:nvSpPr>
          <p:spPr>
            <a:xfrm>
              <a:off x="3676269" y="1148406"/>
              <a:ext cx="128620" cy="128620"/>
            </a:xfrm>
            <a:prstGeom prst="ellipse">
              <a:avLst/>
            </a:prstGeom>
            <a:solidFill>
              <a:srgbClr val="D882DD"/>
            </a:solidFill>
            <a:ln w="19050" cap="flat" cmpd="sng">
              <a:solidFill>
                <a:srgbClr val="FBA9E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 name="Google Shape;340;p1"/>
            <p:cNvSpPr/>
            <p:nvPr/>
          </p:nvSpPr>
          <p:spPr>
            <a:xfrm>
              <a:off x="3577335" y="1053147"/>
              <a:ext cx="319137" cy="319137"/>
            </a:xfrm>
            <a:prstGeom prst="donut">
              <a:avLst>
                <a:gd name="adj" fmla="val 19304"/>
              </a:avLst>
            </a:prstGeom>
            <a:solidFill>
              <a:srgbClr val="F779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sp>
        <p:nvSpPr>
          <p:cNvPr id="4" name="Arc 3">
            <a:extLst>
              <a:ext uri="{FF2B5EF4-FFF2-40B4-BE49-F238E27FC236}">
                <a16:creationId xmlns:a16="http://schemas.microsoft.com/office/drawing/2014/main" id="{F1CB8E1C-700C-44FA-8940-BFE0E3D6AAF6}"/>
              </a:ext>
            </a:extLst>
          </p:cNvPr>
          <p:cNvSpPr/>
          <p:nvPr/>
        </p:nvSpPr>
        <p:spPr>
          <a:xfrm rot="5027818">
            <a:off x="4510546" y="803617"/>
            <a:ext cx="2880000" cy="2880000"/>
          </a:xfrm>
          <a:prstGeom prst="arc">
            <a:avLst>
              <a:gd name="adj1" fmla="val 16200000"/>
              <a:gd name="adj2" fmla="val 5743733"/>
            </a:avLst>
          </a:prstGeom>
          <a:ln w="69850">
            <a:gradFill>
              <a:gsLst>
                <a:gs pos="0">
                  <a:schemeClr val="accent6">
                    <a:lumMod val="60000"/>
                    <a:lumOff val="40000"/>
                  </a:schemeClr>
                </a:gs>
                <a:gs pos="51000">
                  <a:schemeClr val="accent1">
                    <a:lumMod val="45000"/>
                    <a:lumOff val="55000"/>
                  </a:schemeClr>
                </a:gs>
                <a:gs pos="73000">
                  <a:schemeClr val="accent1">
                    <a:lumMod val="45000"/>
                    <a:lumOff val="55000"/>
                  </a:schemeClr>
                </a:gs>
                <a:gs pos="100000">
                  <a:schemeClr val="accent2">
                    <a:lumMod val="50000"/>
                  </a:schemeClr>
                </a:gs>
              </a:gsLst>
              <a:lin ang="5400000" scaled="1"/>
            </a:gra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3" name="Picture 2">
            <a:extLst>
              <a:ext uri="{FF2B5EF4-FFF2-40B4-BE49-F238E27FC236}">
                <a16:creationId xmlns:a16="http://schemas.microsoft.com/office/drawing/2014/main" id="{86F237A8-7FF1-12E4-BAFD-2D482F811C6C}"/>
              </a:ext>
            </a:extLst>
          </p:cNvPr>
          <p:cNvPicPr>
            <a:picLocks noChangeAspect="1"/>
          </p:cNvPicPr>
          <p:nvPr/>
        </p:nvPicPr>
        <p:blipFill>
          <a:blip r:embed="rId7"/>
          <a:stretch>
            <a:fillRect/>
          </a:stretch>
        </p:blipFill>
        <p:spPr>
          <a:xfrm>
            <a:off x="6449708" y="5149773"/>
            <a:ext cx="782215" cy="782215"/>
          </a:xfrm>
          <a:prstGeom prst="rect">
            <a:avLst/>
          </a:prstGeom>
        </p:spPr>
      </p:pic>
      <p:pic>
        <p:nvPicPr>
          <p:cNvPr id="6" name="Picture 5">
            <a:extLst>
              <a:ext uri="{FF2B5EF4-FFF2-40B4-BE49-F238E27FC236}">
                <a16:creationId xmlns:a16="http://schemas.microsoft.com/office/drawing/2014/main" id="{5A032469-CE95-11E5-FA9C-A08ABCE88E38}"/>
              </a:ext>
            </a:extLst>
          </p:cNvPr>
          <p:cNvPicPr>
            <a:picLocks noChangeAspect="1"/>
          </p:cNvPicPr>
          <p:nvPr/>
        </p:nvPicPr>
        <p:blipFill>
          <a:blip r:embed="rId8"/>
          <a:stretch>
            <a:fillRect/>
          </a:stretch>
        </p:blipFill>
        <p:spPr>
          <a:xfrm>
            <a:off x="8019546" y="4154124"/>
            <a:ext cx="864818" cy="864818"/>
          </a:xfrm>
          <a:prstGeom prst="rect">
            <a:avLst/>
          </a:prstGeom>
        </p:spPr>
      </p:pic>
      <p:pic>
        <p:nvPicPr>
          <p:cNvPr id="8" name="Picture 7">
            <a:extLst>
              <a:ext uri="{FF2B5EF4-FFF2-40B4-BE49-F238E27FC236}">
                <a16:creationId xmlns:a16="http://schemas.microsoft.com/office/drawing/2014/main" id="{8AFD2278-2B8A-68E4-9CF6-D4DEDE51C41B}"/>
              </a:ext>
            </a:extLst>
          </p:cNvPr>
          <p:cNvPicPr>
            <a:picLocks noChangeAspect="1"/>
          </p:cNvPicPr>
          <p:nvPr/>
        </p:nvPicPr>
        <p:blipFill>
          <a:blip r:embed="rId9"/>
          <a:stretch>
            <a:fillRect/>
          </a:stretch>
        </p:blipFill>
        <p:spPr>
          <a:xfrm>
            <a:off x="9034849" y="2452579"/>
            <a:ext cx="746737" cy="746737"/>
          </a:xfrm>
          <a:prstGeom prst="rect">
            <a:avLst/>
          </a:prstGeom>
        </p:spPr>
      </p:pic>
      <p:pic>
        <p:nvPicPr>
          <p:cNvPr id="10" name="Picture 9">
            <a:extLst>
              <a:ext uri="{FF2B5EF4-FFF2-40B4-BE49-F238E27FC236}">
                <a16:creationId xmlns:a16="http://schemas.microsoft.com/office/drawing/2014/main" id="{5A8DD1E9-453C-D2B3-963E-7DF04DFDE9B0}"/>
              </a:ext>
            </a:extLst>
          </p:cNvPr>
          <p:cNvPicPr>
            <a:picLocks noChangeAspect="1"/>
          </p:cNvPicPr>
          <p:nvPr/>
        </p:nvPicPr>
        <p:blipFill>
          <a:blip r:embed="rId10"/>
          <a:stretch>
            <a:fillRect/>
          </a:stretch>
        </p:blipFill>
        <p:spPr>
          <a:xfrm>
            <a:off x="8916423" y="466754"/>
            <a:ext cx="800786" cy="800786"/>
          </a:xfrm>
          <a:prstGeom prst="rect">
            <a:avLst/>
          </a:prstGeom>
        </p:spPr>
      </p:pic>
      <p:grpSp>
        <p:nvGrpSpPr>
          <p:cNvPr id="9" name="Group 8">
            <a:extLst>
              <a:ext uri="{FF2B5EF4-FFF2-40B4-BE49-F238E27FC236}">
                <a16:creationId xmlns:a16="http://schemas.microsoft.com/office/drawing/2014/main" id="{2D3FA621-0EE6-EA2B-1D90-5A212C48AA1A}"/>
              </a:ext>
            </a:extLst>
          </p:cNvPr>
          <p:cNvGrpSpPr/>
          <p:nvPr/>
        </p:nvGrpSpPr>
        <p:grpSpPr>
          <a:xfrm>
            <a:off x="347052" y="338857"/>
            <a:ext cx="423338" cy="646331"/>
            <a:chOff x="227225" y="300787"/>
            <a:chExt cx="423338" cy="646331"/>
          </a:xfrm>
        </p:grpSpPr>
        <p:sp>
          <p:nvSpPr>
            <p:cNvPr id="2" name="Oval 1">
              <a:extLst>
                <a:ext uri="{FF2B5EF4-FFF2-40B4-BE49-F238E27FC236}">
                  <a16:creationId xmlns:a16="http://schemas.microsoft.com/office/drawing/2014/main" id="{B551FDBA-B145-A307-7E37-1F8E7278922D}"/>
                </a:ext>
              </a:extLst>
            </p:cNvPr>
            <p:cNvSpPr/>
            <p:nvPr/>
          </p:nvSpPr>
          <p:spPr>
            <a:xfrm>
              <a:off x="227225" y="424800"/>
              <a:ext cx="423338" cy="423338"/>
            </a:xfrm>
            <a:prstGeom prst="ellipse">
              <a:avLst/>
            </a:prstGeom>
            <a:solidFill>
              <a:schemeClr val="accent5">
                <a:lumMod val="60000"/>
                <a:lumOff val="40000"/>
              </a:schemeClr>
            </a:solidFill>
            <a:ln>
              <a:solidFill>
                <a:srgbClr val="002060"/>
              </a:solidFill>
            </a:ln>
            <a:scene3d>
              <a:camera prst="perspectiveLef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AA6EE534-1D9A-3577-EF05-A3074C8DDAF2}"/>
                </a:ext>
              </a:extLst>
            </p:cNvPr>
            <p:cNvSpPr txBox="1"/>
            <p:nvPr/>
          </p:nvSpPr>
          <p:spPr>
            <a:xfrm>
              <a:off x="234171" y="300787"/>
              <a:ext cx="263178" cy="646331"/>
            </a:xfrm>
            <a:prstGeom prst="rect">
              <a:avLst/>
            </a:prstGeom>
            <a:noFill/>
          </p:spPr>
          <p:txBody>
            <a:bodyPr wrap="square" rtlCol="0">
              <a:spAutoFit/>
            </a:bodyPr>
            <a:lstStyle/>
            <a:p>
              <a:r>
                <a:rPr lang="en-US" sz="3600" dirty="0">
                  <a:solidFill>
                    <a:schemeClr val="bg1"/>
                  </a:solidFill>
                </a:rPr>
                <a:t>1</a:t>
              </a:r>
              <a:endParaRPr lang="en-IN" sz="3600" dirty="0">
                <a:solidFill>
                  <a:schemeClr val="bg1"/>
                </a:solidFill>
              </a:endParaRPr>
            </a:p>
          </p:txBody>
        </p:sp>
      </p:grpSp>
      <p:grpSp>
        <p:nvGrpSpPr>
          <p:cNvPr id="11" name="Group 10">
            <a:extLst>
              <a:ext uri="{FF2B5EF4-FFF2-40B4-BE49-F238E27FC236}">
                <a16:creationId xmlns:a16="http://schemas.microsoft.com/office/drawing/2014/main" id="{EAC74595-3376-7F38-2C27-4D465BE56FB4}"/>
              </a:ext>
            </a:extLst>
          </p:cNvPr>
          <p:cNvGrpSpPr/>
          <p:nvPr/>
        </p:nvGrpSpPr>
        <p:grpSpPr>
          <a:xfrm>
            <a:off x="149484" y="2519653"/>
            <a:ext cx="423338" cy="646331"/>
            <a:chOff x="227225" y="300787"/>
            <a:chExt cx="423338" cy="646331"/>
          </a:xfrm>
        </p:grpSpPr>
        <p:sp>
          <p:nvSpPr>
            <p:cNvPr id="12" name="Oval 11">
              <a:extLst>
                <a:ext uri="{FF2B5EF4-FFF2-40B4-BE49-F238E27FC236}">
                  <a16:creationId xmlns:a16="http://schemas.microsoft.com/office/drawing/2014/main" id="{2735D804-E024-3786-BC80-FCA8A015F9EA}"/>
                </a:ext>
              </a:extLst>
            </p:cNvPr>
            <p:cNvSpPr/>
            <p:nvPr/>
          </p:nvSpPr>
          <p:spPr>
            <a:xfrm>
              <a:off x="227225" y="424800"/>
              <a:ext cx="423338" cy="423338"/>
            </a:xfrm>
            <a:prstGeom prst="ellipse">
              <a:avLst/>
            </a:prstGeom>
            <a:solidFill>
              <a:schemeClr val="accent5">
                <a:lumMod val="60000"/>
                <a:lumOff val="40000"/>
              </a:schemeClr>
            </a:solidFill>
            <a:ln>
              <a:solidFill>
                <a:srgbClr val="002060"/>
              </a:solidFill>
            </a:ln>
            <a:scene3d>
              <a:camera prst="perspectiveLef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63EBDFD0-D5D1-6093-65C3-5FB4A8C3AB88}"/>
                </a:ext>
              </a:extLst>
            </p:cNvPr>
            <p:cNvSpPr txBox="1"/>
            <p:nvPr/>
          </p:nvSpPr>
          <p:spPr>
            <a:xfrm>
              <a:off x="234171" y="300787"/>
              <a:ext cx="263178" cy="646331"/>
            </a:xfrm>
            <a:prstGeom prst="rect">
              <a:avLst/>
            </a:prstGeom>
            <a:noFill/>
          </p:spPr>
          <p:txBody>
            <a:bodyPr wrap="square" rtlCol="0">
              <a:spAutoFit/>
            </a:bodyPr>
            <a:lstStyle/>
            <a:p>
              <a:r>
                <a:rPr lang="en-US" sz="3600" dirty="0">
                  <a:solidFill>
                    <a:schemeClr val="bg1"/>
                  </a:solidFill>
                </a:rPr>
                <a:t>2</a:t>
              </a:r>
              <a:endParaRPr lang="en-IN" sz="3600" dirty="0">
                <a:solidFill>
                  <a:schemeClr val="bg1"/>
                </a:solidFill>
              </a:endParaRPr>
            </a:p>
          </p:txBody>
        </p:sp>
      </p:grpSp>
      <p:grpSp>
        <p:nvGrpSpPr>
          <p:cNvPr id="14" name="Group 13">
            <a:extLst>
              <a:ext uri="{FF2B5EF4-FFF2-40B4-BE49-F238E27FC236}">
                <a16:creationId xmlns:a16="http://schemas.microsoft.com/office/drawing/2014/main" id="{21288583-9AF6-B213-32A6-FED25F22E621}"/>
              </a:ext>
            </a:extLst>
          </p:cNvPr>
          <p:cNvGrpSpPr/>
          <p:nvPr/>
        </p:nvGrpSpPr>
        <p:grpSpPr>
          <a:xfrm>
            <a:off x="188829" y="4491970"/>
            <a:ext cx="423338" cy="646331"/>
            <a:chOff x="227225" y="300787"/>
            <a:chExt cx="423338" cy="646331"/>
          </a:xfrm>
        </p:grpSpPr>
        <p:sp>
          <p:nvSpPr>
            <p:cNvPr id="15" name="Oval 14">
              <a:extLst>
                <a:ext uri="{FF2B5EF4-FFF2-40B4-BE49-F238E27FC236}">
                  <a16:creationId xmlns:a16="http://schemas.microsoft.com/office/drawing/2014/main" id="{1F4FB7F2-ABA9-6691-015C-A96984B1F9CF}"/>
                </a:ext>
              </a:extLst>
            </p:cNvPr>
            <p:cNvSpPr/>
            <p:nvPr/>
          </p:nvSpPr>
          <p:spPr>
            <a:xfrm>
              <a:off x="227225" y="424800"/>
              <a:ext cx="423338" cy="423338"/>
            </a:xfrm>
            <a:prstGeom prst="ellipse">
              <a:avLst/>
            </a:prstGeom>
            <a:solidFill>
              <a:schemeClr val="accent5">
                <a:lumMod val="60000"/>
                <a:lumOff val="40000"/>
              </a:schemeClr>
            </a:solidFill>
            <a:ln>
              <a:solidFill>
                <a:srgbClr val="002060"/>
              </a:solidFill>
            </a:ln>
            <a:scene3d>
              <a:camera prst="perspectiveLef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78B62990-8AB3-8C93-3976-5D879AFD99C6}"/>
                </a:ext>
              </a:extLst>
            </p:cNvPr>
            <p:cNvSpPr txBox="1"/>
            <p:nvPr/>
          </p:nvSpPr>
          <p:spPr>
            <a:xfrm>
              <a:off x="234171" y="300787"/>
              <a:ext cx="263178" cy="646331"/>
            </a:xfrm>
            <a:prstGeom prst="rect">
              <a:avLst/>
            </a:prstGeom>
            <a:noFill/>
          </p:spPr>
          <p:txBody>
            <a:bodyPr wrap="square" rtlCol="0">
              <a:spAutoFit/>
            </a:bodyPr>
            <a:lstStyle/>
            <a:p>
              <a:r>
                <a:rPr lang="en-US" sz="3600" dirty="0">
                  <a:solidFill>
                    <a:schemeClr val="bg1"/>
                  </a:solidFill>
                </a:rPr>
                <a:t>3</a:t>
              </a:r>
              <a:endParaRPr lang="en-IN" sz="3600" dirty="0">
                <a:solidFill>
                  <a:schemeClr val="bg1"/>
                </a:solidFill>
              </a:endParaRPr>
            </a:p>
          </p:txBody>
        </p:sp>
      </p:grpSp>
      <p:grpSp>
        <p:nvGrpSpPr>
          <p:cNvPr id="17" name="Group 16">
            <a:extLst>
              <a:ext uri="{FF2B5EF4-FFF2-40B4-BE49-F238E27FC236}">
                <a16:creationId xmlns:a16="http://schemas.microsoft.com/office/drawing/2014/main" id="{0FDA1CEB-C209-E11A-0FA5-C0DCCE9BFCC9}"/>
              </a:ext>
            </a:extLst>
          </p:cNvPr>
          <p:cNvGrpSpPr/>
          <p:nvPr/>
        </p:nvGrpSpPr>
        <p:grpSpPr>
          <a:xfrm>
            <a:off x="1521040" y="5721235"/>
            <a:ext cx="423338" cy="646331"/>
            <a:chOff x="227225" y="300787"/>
            <a:chExt cx="423338" cy="646331"/>
          </a:xfrm>
        </p:grpSpPr>
        <p:sp>
          <p:nvSpPr>
            <p:cNvPr id="18" name="Oval 17">
              <a:extLst>
                <a:ext uri="{FF2B5EF4-FFF2-40B4-BE49-F238E27FC236}">
                  <a16:creationId xmlns:a16="http://schemas.microsoft.com/office/drawing/2014/main" id="{B6241783-2A10-3F8F-902F-E5D82C40195A}"/>
                </a:ext>
              </a:extLst>
            </p:cNvPr>
            <p:cNvSpPr/>
            <p:nvPr/>
          </p:nvSpPr>
          <p:spPr>
            <a:xfrm>
              <a:off x="227225" y="424800"/>
              <a:ext cx="423338" cy="423338"/>
            </a:xfrm>
            <a:prstGeom prst="ellipse">
              <a:avLst/>
            </a:prstGeom>
            <a:solidFill>
              <a:schemeClr val="accent5">
                <a:lumMod val="60000"/>
                <a:lumOff val="40000"/>
              </a:schemeClr>
            </a:solidFill>
            <a:ln>
              <a:solidFill>
                <a:srgbClr val="002060"/>
              </a:solidFill>
            </a:ln>
            <a:scene3d>
              <a:camera prst="perspectiveLef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0928482E-92F8-723C-45D6-D6A6B4DDB89C}"/>
                </a:ext>
              </a:extLst>
            </p:cNvPr>
            <p:cNvSpPr txBox="1"/>
            <p:nvPr/>
          </p:nvSpPr>
          <p:spPr>
            <a:xfrm>
              <a:off x="234171" y="300787"/>
              <a:ext cx="263178" cy="646331"/>
            </a:xfrm>
            <a:prstGeom prst="rect">
              <a:avLst/>
            </a:prstGeom>
            <a:noFill/>
          </p:spPr>
          <p:txBody>
            <a:bodyPr wrap="square" rtlCol="0">
              <a:spAutoFit/>
            </a:bodyPr>
            <a:lstStyle/>
            <a:p>
              <a:r>
                <a:rPr lang="en-US" sz="3600" dirty="0">
                  <a:solidFill>
                    <a:schemeClr val="bg1"/>
                  </a:solidFill>
                </a:rPr>
                <a:t>4</a:t>
              </a:r>
              <a:endParaRPr lang="en-IN" sz="3600" dirty="0">
                <a:solidFill>
                  <a:schemeClr val="bg1"/>
                </a:solidFill>
              </a:endParaRPr>
            </a:p>
          </p:txBody>
        </p:sp>
      </p:grpSp>
      <p:grpSp>
        <p:nvGrpSpPr>
          <p:cNvPr id="20" name="Group 19">
            <a:extLst>
              <a:ext uri="{FF2B5EF4-FFF2-40B4-BE49-F238E27FC236}">
                <a16:creationId xmlns:a16="http://schemas.microsoft.com/office/drawing/2014/main" id="{EDF28E26-6C1D-DF6F-E845-413B5EC96FA9}"/>
              </a:ext>
            </a:extLst>
          </p:cNvPr>
          <p:cNvGrpSpPr/>
          <p:nvPr/>
        </p:nvGrpSpPr>
        <p:grpSpPr>
          <a:xfrm>
            <a:off x="7142453" y="6108729"/>
            <a:ext cx="423338" cy="646331"/>
            <a:chOff x="227225" y="300787"/>
            <a:chExt cx="423338" cy="646331"/>
          </a:xfrm>
        </p:grpSpPr>
        <p:sp>
          <p:nvSpPr>
            <p:cNvPr id="21" name="Oval 20">
              <a:extLst>
                <a:ext uri="{FF2B5EF4-FFF2-40B4-BE49-F238E27FC236}">
                  <a16:creationId xmlns:a16="http://schemas.microsoft.com/office/drawing/2014/main" id="{752D5229-750F-132E-3199-6665977F1A25}"/>
                </a:ext>
              </a:extLst>
            </p:cNvPr>
            <p:cNvSpPr/>
            <p:nvPr/>
          </p:nvSpPr>
          <p:spPr>
            <a:xfrm>
              <a:off x="227225" y="424800"/>
              <a:ext cx="423338" cy="423338"/>
            </a:xfrm>
            <a:prstGeom prst="ellipse">
              <a:avLst/>
            </a:prstGeom>
            <a:solidFill>
              <a:schemeClr val="accent5">
                <a:lumMod val="60000"/>
                <a:lumOff val="40000"/>
              </a:schemeClr>
            </a:solidFill>
            <a:ln>
              <a:solidFill>
                <a:srgbClr val="002060"/>
              </a:solidFill>
            </a:ln>
            <a:scene3d>
              <a:camera prst="perspectiveLef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29926B96-EC74-E212-5AF6-C54A5A798073}"/>
                </a:ext>
              </a:extLst>
            </p:cNvPr>
            <p:cNvSpPr txBox="1"/>
            <p:nvPr/>
          </p:nvSpPr>
          <p:spPr>
            <a:xfrm>
              <a:off x="234171" y="300787"/>
              <a:ext cx="263178" cy="646331"/>
            </a:xfrm>
            <a:prstGeom prst="rect">
              <a:avLst/>
            </a:prstGeom>
            <a:noFill/>
          </p:spPr>
          <p:txBody>
            <a:bodyPr wrap="square" rtlCol="0">
              <a:spAutoFit/>
            </a:bodyPr>
            <a:lstStyle/>
            <a:p>
              <a:r>
                <a:rPr lang="en-US" sz="3600" dirty="0">
                  <a:solidFill>
                    <a:schemeClr val="bg1"/>
                  </a:solidFill>
                </a:rPr>
                <a:t>5</a:t>
              </a:r>
              <a:endParaRPr lang="en-IN" sz="3600" dirty="0">
                <a:solidFill>
                  <a:schemeClr val="bg1"/>
                </a:solidFill>
              </a:endParaRPr>
            </a:p>
          </p:txBody>
        </p:sp>
      </p:grpSp>
      <p:grpSp>
        <p:nvGrpSpPr>
          <p:cNvPr id="23" name="Group 22">
            <a:extLst>
              <a:ext uri="{FF2B5EF4-FFF2-40B4-BE49-F238E27FC236}">
                <a16:creationId xmlns:a16="http://schemas.microsoft.com/office/drawing/2014/main" id="{52F6854B-EA1D-1D39-A971-060A2918857C}"/>
              </a:ext>
            </a:extLst>
          </p:cNvPr>
          <p:cNvGrpSpPr/>
          <p:nvPr/>
        </p:nvGrpSpPr>
        <p:grpSpPr>
          <a:xfrm>
            <a:off x="9467892" y="4205849"/>
            <a:ext cx="423338" cy="646331"/>
            <a:chOff x="227225" y="300787"/>
            <a:chExt cx="423338" cy="646331"/>
          </a:xfrm>
        </p:grpSpPr>
        <p:sp>
          <p:nvSpPr>
            <p:cNvPr id="24" name="Oval 23">
              <a:extLst>
                <a:ext uri="{FF2B5EF4-FFF2-40B4-BE49-F238E27FC236}">
                  <a16:creationId xmlns:a16="http://schemas.microsoft.com/office/drawing/2014/main" id="{E3DF7A58-0AE3-0503-D11D-8421CC960EEF}"/>
                </a:ext>
              </a:extLst>
            </p:cNvPr>
            <p:cNvSpPr/>
            <p:nvPr/>
          </p:nvSpPr>
          <p:spPr>
            <a:xfrm>
              <a:off x="227225" y="424800"/>
              <a:ext cx="423338" cy="423338"/>
            </a:xfrm>
            <a:prstGeom prst="ellipse">
              <a:avLst/>
            </a:prstGeom>
            <a:solidFill>
              <a:schemeClr val="accent5">
                <a:lumMod val="60000"/>
                <a:lumOff val="40000"/>
              </a:schemeClr>
            </a:solidFill>
            <a:ln>
              <a:solidFill>
                <a:srgbClr val="002060"/>
              </a:solidFill>
            </a:ln>
            <a:scene3d>
              <a:camera prst="perspectiveLef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223458DD-AA63-C2BB-5434-AD7FFE8F3987}"/>
                </a:ext>
              </a:extLst>
            </p:cNvPr>
            <p:cNvSpPr txBox="1"/>
            <p:nvPr/>
          </p:nvSpPr>
          <p:spPr>
            <a:xfrm>
              <a:off x="234171" y="300787"/>
              <a:ext cx="263178" cy="646331"/>
            </a:xfrm>
            <a:prstGeom prst="rect">
              <a:avLst/>
            </a:prstGeom>
            <a:noFill/>
          </p:spPr>
          <p:txBody>
            <a:bodyPr wrap="square" rtlCol="0">
              <a:spAutoFit/>
            </a:bodyPr>
            <a:lstStyle/>
            <a:p>
              <a:r>
                <a:rPr lang="en-US" sz="3600" dirty="0">
                  <a:solidFill>
                    <a:schemeClr val="bg1"/>
                  </a:solidFill>
                </a:rPr>
                <a:t>6</a:t>
              </a:r>
              <a:endParaRPr lang="en-IN" sz="3600" dirty="0">
                <a:solidFill>
                  <a:schemeClr val="bg1"/>
                </a:solidFill>
              </a:endParaRPr>
            </a:p>
          </p:txBody>
        </p:sp>
      </p:grpSp>
      <p:grpSp>
        <p:nvGrpSpPr>
          <p:cNvPr id="26" name="Group 25">
            <a:extLst>
              <a:ext uri="{FF2B5EF4-FFF2-40B4-BE49-F238E27FC236}">
                <a16:creationId xmlns:a16="http://schemas.microsoft.com/office/drawing/2014/main" id="{327AF949-28FD-F600-F6C9-5E41A6F3A229}"/>
              </a:ext>
            </a:extLst>
          </p:cNvPr>
          <p:cNvGrpSpPr/>
          <p:nvPr/>
        </p:nvGrpSpPr>
        <p:grpSpPr>
          <a:xfrm>
            <a:off x="10163442" y="1812567"/>
            <a:ext cx="423338" cy="646331"/>
            <a:chOff x="227225" y="300787"/>
            <a:chExt cx="423338" cy="646331"/>
          </a:xfrm>
        </p:grpSpPr>
        <p:sp>
          <p:nvSpPr>
            <p:cNvPr id="27" name="Oval 26">
              <a:extLst>
                <a:ext uri="{FF2B5EF4-FFF2-40B4-BE49-F238E27FC236}">
                  <a16:creationId xmlns:a16="http://schemas.microsoft.com/office/drawing/2014/main" id="{891870EB-7936-CCAE-A5E6-5F10909F042E}"/>
                </a:ext>
              </a:extLst>
            </p:cNvPr>
            <p:cNvSpPr/>
            <p:nvPr/>
          </p:nvSpPr>
          <p:spPr>
            <a:xfrm>
              <a:off x="227225" y="424800"/>
              <a:ext cx="423338" cy="423338"/>
            </a:xfrm>
            <a:prstGeom prst="ellipse">
              <a:avLst/>
            </a:prstGeom>
            <a:solidFill>
              <a:schemeClr val="accent5">
                <a:lumMod val="60000"/>
                <a:lumOff val="40000"/>
              </a:schemeClr>
            </a:solidFill>
            <a:ln>
              <a:solidFill>
                <a:srgbClr val="002060"/>
              </a:solidFill>
            </a:ln>
            <a:scene3d>
              <a:camera prst="perspectiveLef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61149F2F-A4D7-CBA9-054D-AEE67156C37C}"/>
                </a:ext>
              </a:extLst>
            </p:cNvPr>
            <p:cNvSpPr txBox="1"/>
            <p:nvPr/>
          </p:nvSpPr>
          <p:spPr>
            <a:xfrm>
              <a:off x="234171" y="300787"/>
              <a:ext cx="263178" cy="646331"/>
            </a:xfrm>
            <a:prstGeom prst="rect">
              <a:avLst/>
            </a:prstGeom>
            <a:noFill/>
          </p:spPr>
          <p:txBody>
            <a:bodyPr wrap="square" rtlCol="0">
              <a:spAutoFit/>
            </a:bodyPr>
            <a:lstStyle/>
            <a:p>
              <a:r>
                <a:rPr lang="en-US" sz="3600" dirty="0">
                  <a:solidFill>
                    <a:schemeClr val="bg1"/>
                  </a:solidFill>
                </a:rPr>
                <a:t>7</a:t>
              </a:r>
              <a:endParaRPr lang="en-IN" sz="3600" dirty="0">
                <a:solidFill>
                  <a:schemeClr val="bg1"/>
                </a:solidFill>
              </a:endParaRPr>
            </a:p>
          </p:txBody>
        </p:sp>
      </p:grpSp>
      <p:grpSp>
        <p:nvGrpSpPr>
          <p:cNvPr id="29" name="Group 28">
            <a:extLst>
              <a:ext uri="{FF2B5EF4-FFF2-40B4-BE49-F238E27FC236}">
                <a16:creationId xmlns:a16="http://schemas.microsoft.com/office/drawing/2014/main" id="{40218AFD-BAB9-79EA-0545-B91E820B131D}"/>
              </a:ext>
            </a:extLst>
          </p:cNvPr>
          <p:cNvGrpSpPr/>
          <p:nvPr/>
        </p:nvGrpSpPr>
        <p:grpSpPr>
          <a:xfrm>
            <a:off x="10068089" y="191511"/>
            <a:ext cx="423338" cy="646331"/>
            <a:chOff x="227225" y="300787"/>
            <a:chExt cx="423338" cy="646331"/>
          </a:xfrm>
        </p:grpSpPr>
        <p:sp>
          <p:nvSpPr>
            <p:cNvPr id="30" name="Oval 29">
              <a:extLst>
                <a:ext uri="{FF2B5EF4-FFF2-40B4-BE49-F238E27FC236}">
                  <a16:creationId xmlns:a16="http://schemas.microsoft.com/office/drawing/2014/main" id="{02A9883B-704F-493E-E4C7-C3AD3AB117FF}"/>
                </a:ext>
              </a:extLst>
            </p:cNvPr>
            <p:cNvSpPr/>
            <p:nvPr/>
          </p:nvSpPr>
          <p:spPr>
            <a:xfrm>
              <a:off x="227225" y="424800"/>
              <a:ext cx="423338" cy="423338"/>
            </a:xfrm>
            <a:prstGeom prst="ellipse">
              <a:avLst/>
            </a:prstGeom>
            <a:solidFill>
              <a:schemeClr val="accent5">
                <a:lumMod val="60000"/>
                <a:lumOff val="40000"/>
              </a:schemeClr>
            </a:solidFill>
            <a:ln>
              <a:solidFill>
                <a:srgbClr val="002060"/>
              </a:solidFill>
            </a:ln>
            <a:scene3d>
              <a:camera prst="perspectiveLef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4F740FE7-AC68-C1FD-30B1-79AC8003C2BB}"/>
                </a:ext>
              </a:extLst>
            </p:cNvPr>
            <p:cNvSpPr txBox="1"/>
            <p:nvPr/>
          </p:nvSpPr>
          <p:spPr>
            <a:xfrm>
              <a:off x="234171" y="300787"/>
              <a:ext cx="263178" cy="646331"/>
            </a:xfrm>
            <a:prstGeom prst="rect">
              <a:avLst/>
            </a:prstGeom>
            <a:noFill/>
          </p:spPr>
          <p:txBody>
            <a:bodyPr wrap="square" rtlCol="0">
              <a:spAutoFit/>
            </a:bodyPr>
            <a:lstStyle/>
            <a:p>
              <a:r>
                <a:rPr lang="en-US" sz="3600" dirty="0">
                  <a:solidFill>
                    <a:schemeClr val="bg1"/>
                  </a:solidFill>
                </a:rPr>
                <a:t>8</a:t>
              </a:r>
              <a:endParaRPr lang="en-IN" sz="3600" dirty="0">
                <a:solidFill>
                  <a:schemeClr val="bg1"/>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51663922-81C3-44C6-8F97-44BF796950AB}"/>
              </a:ext>
            </a:extLst>
          </p:cNvPr>
          <p:cNvSpPr/>
          <p:nvPr/>
        </p:nvSpPr>
        <p:spPr>
          <a:xfrm>
            <a:off x="0" y="448935"/>
            <a:ext cx="5331658" cy="1799074"/>
          </a:xfrm>
          <a:custGeom>
            <a:avLst/>
            <a:gdLst>
              <a:gd name="connsiteX0" fmla="*/ 0 w 5331658"/>
              <a:gd name="connsiteY0" fmla="*/ 0 h 1799074"/>
              <a:gd name="connsiteX1" fmla="*/ 2982353 w 5331658"/>
              <a:gd name="connsiteY1" fmla="*/ 0 h 1799074"/>
              <a:gd name="connsiteX2" fmla="*/ 4717359 w 5331658"/>
              <a:gd name="connsiteY2" fmla="*/ 0 h 1799074"/>
              <a:gd name="connsiteX3" fmla="*/ 5273407 w 5331658"/>
              <a:gd name="connsiteY3" fmla="*/ 295648 h 1799074"/>
              <a:gd name="connsiteX4" fmla="*/ 5331658 w 5331658"/>
              <a:gd name="connsiteY4" fmla="*/ 402969 h 1799074"/>
              <a:gd name="connsiteX5" fmla="*/ 5331658 w 5331658"/>
              <a:gd name="connsiteY5" fmla="*/ 1799074 h 1799074"/>
              <a:gd name="connsiteX6" fmla="*/ 5273407 w 5331658"/>
              <a:gd name="connsiteY6" fmla="*/ 1691753 h 1799074"/>
              <a:gd name="connsiteX7" fmla="*/ 4717359 w 5331658"/>
              <a:gd name="connsiteY7" fmla="*/ 1396105 h 1799074"/>
              <a:gd name="connsiteX8" fmla="*/ 2982353 w 5331658"/>
              <a:gd name="connsiteY8" fmla="*/ 1396105 h 1799074"/>
              <a:gd name="connsiteX9" fmla="*/ 2982353 w 5331658"/>
              <a:gd name="connsiteY9" fmla="*/ 1396331 h 1799074"/>
              <a:gd name="connsiteX10" fmla="*/ 0 w 5331658"/>
              <a:gd name="connsiteY10" fmla="*/ 1396331 h 179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31658" h="1799074">
                <a:moveTo>
                  <a:pt x="0" y="0"/>
                </a:moveTo>
                <a:lnTo>
                  <a:pt x="2982353" y="0"/>
                </a:lnTo>
                <a:lnTo>
                  <a:pt x="4717359" y="0"/>
                </a:lnTo>
                <a:cubicBezTo>
                  <a:pt x="4948825" y="0"/>
                  <a:pt x="5152900" y="117275"/>
                  <a:pt x="5273407" y="295648"/>
                </a:cubicBezTo>
                <a:lnTo>
                  <a:pt x="5331658" y="402969"/>
                </a:lnTo>
                <a:lnTo>
                  <a:pt x="5331658" y="1799074"/>
                </a:lnTo>
                <a:lnTo>
                  <a:pt x="5273407" y="1691753"/>
                </a:lnTo>
                <a:cubicBezTo>
                  <a:pt x="5152900" y="1513380"/>
                  <a:pt x="4948825" y="1396105"/>
                  <a:pt x="4717359" y="1396105"/>
                </a:cubicBezTo>
                <a:lnTo>
                  <a:pt x="2982353" y="1396105"/>
                </a:lnTo>
                <a:lnTo>
                  <a:pt x="2982353" y="1396331"/>
                </a:lnTo>
                <a:lnTo>
                  <a:pt x="0" y="1396331"/>
                </a:lnTo>
                <a:close/>
              </a:path>
            </a:pathLst>
          </a:custGeom>
          <a:solidFill>
            <a:srgbClr val="072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8AB9B3A-8AA3-4E71-9C10-EE33FDE6B571}"/>
              </a:ext>
            </a:extLst>
          </p:cNvPr>
          <p:cNvSpPr/>
          <p:nvPr/>
        </p:nvSpPr>
        <p:spPr>
          <a:xfrm>
            <a:off x="0" y="1811156"/>
            <a:ext cx="5331658" cy="1799074"/>
          </a:xfrm>
          <a:custGeom>
            <a:avLst/>
            <a:gdLst>
              <a:gd name="connsiteX0" fmla="*/ 0 w 5331658"/>
              <a:gd name="connsiteY0" fmla="*/ 0 h 1799074"/>
              <a:gd name="connsiteX1" fmla="*/ 2982353 w 5331658"/>
              <a:gd name="connsiteY1" fmla="*/ 0 h 1799074"/>
              <a:gd name="connsiteX2" fmla="*/ 4717359 w 5331658"/>
              <a:gd name="connsiteY2" fmla="*/ 0 h 1799074"/>
              <a:gd name="connsiteX3" fmla="*/ 5273407 w 5331658"/>
              <a:gd name="connsiteY3" fmla="*/ 295648 h 1799074"/>
              <a:gd name="connsiteX4" fmla="*/ 5331658 w 5331658"/>
              <a:gd name="connsiteY4" fmla="*/ 402969 h 1799074"/>
              <a:gd name="connsiteX5" fmla="*/ 5331658 w 5331658"/>
              <a:gd name="connsiteY5" fmla="*/ 1799074 h 1799074"/>
              <a:gd name="connsiteX6" fmla="*/ 5273407 w 5331658"/>
              <a:gd name="connsiteY6" fmla="*/ 1691753 h 1799074"/>
              <a:gd name="connsiteX7" fmla="*/ 4717359 w 5331658"/>
              <a:gd name="connsiteY7" fmla="*/ 1396105 h 1799074"/>
              <a:gd name="connsiteX8" fmla="*/ 2982353 w 5331658"/>
              <a:gd name="connsiteY8" fmla="*/ 1396105 h 1799074"/>
              <a:gd name="connsiteX9" fmla="*/ 2982353 w 5331658"/>
              <a:gd name="connsiteY9" fmla="*/ 1396331 h 1799074"/>
              <a:gd name="connsiteX10" fmla="*/ 0 w 5331658"/>
              <a:gd name="connsiteY10" fmla="*/ 1396331 h 179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31658" h="1799074">
                <a:moveTo>
                  <a:pt x="0" y="0"/>
                </a:moveTo>
                <a:lnTo>
                  <a:pt x="2982353" y="0"/>
                </a:lnTo>
                <a:lnTo>
                  <a:pt x="4717359" y="0"/>
                </a:lnTo>
                <a:cubicBezTo>
                  <a:pt x="4948825" y="0"/>
                  <a:pt x="5152900" y="117275"/>
                  <a:pt x="5273407" y="295648"/>
                </a:cubicBezTo>
                <a:lnTo>
                  <a:pt x="5331658" y="402969"/>
                </a:lnTo>
                <a:lnTo>
                  <a:pt x="5331658" y="1799074"/>
                </a:lnTo>
                <a:lnTo>
                  <a:pt x="5273407" y="1691753"/>
                </a:lnTo>
                <a:cubicBezTo>
                  <a:pt x="5152900" y="1513380"/>
                  <a:pt x="4948825" y="1396105"/>
                  <a:pt x="4717359" y="1396105"/>
                </a:cubicBezTo>
                <a:lnTo>
                  <a:pt x="2982353" y="1396105"/>
                </a:lnTo>
                <a:lnTo>
                  <a:pt x="2982353" y="1396331"/>
                </a:lnTo>
                <a:lnTo>
                  <a:pt x="0" y="1396331"/>
                </a:lnTo>
                <a:close/>
              </a:path>
            </a:pathLst>
          </a:custGeom>
          <a:solidFill>
            <a:srgbClr val="1261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6CEF8A0-0C67-4ABE-99BD-573AAE6507C9}"/>
              </a:ext>
            </a:extLst>
          </p:cNvPr>
          <p:cNvSpPr/>
          <p:nvPr/>
        </p:nvSpPr>
        <p:spPr>
          <a:xfrm>
            <a:off x="0" y="3173377"/>
            <a:ext cx="5331658" cy="1799074"/>
          </a:xfrm>
          <a:custGeom>
            <a:avLst/>
            <a:gdLst>
              <a:gd name="connsiteX0" fmla="*/ 0 w 5331658"/>
              <a:gd name="connsiteY0" fmla="*/ 0 h 1799074"/>
              <a:gd name="connsiteX1" fmla="*/ 2982353 w 5331658"/>
              <a:gd name="connsiteY1" fmla="*/ 0 h 1799074"/>
              <a:gd name="connsiteX2" fmla="*/ 4717359 w 5331658"/>
              <a:gd name="connsiteY2" fmla="*/ 0 h 1799074"/>
              <a:gd name="connsiteX3" fmla="*/ 5273407 w 5331658"/>
              <a:gd name="connsiteY3" fmla="*/ 295648 h 1799074"/>
              <a:gd name="connsiteX4" fmla="*/ 5331658 w 5331658"/>
              <a:gd name="connsiteY4" fmla="*/ 402969 h 1799074"/>
              <a:gd name="connsiteX5" fmla="*/ 5331658 w 5331658"/>
              <a:gd name="connsiteY5" fmla="*/ 1799074 h 1799074"/>
              <a:gd name="connsiteX6" fmla="*/ 5273407 w 5331658"/>
              <a:gd name="connsiteY6" fmla="*/ 1691753 h 1799074"/>
              <a:gd name="connsiteX7" fmla="*/ 4717359 w 5331658"/>
              <a:gd name="connsiteY7" fmla="*/ 1396105 h 1799074"/>
              <a:gd name="connsiteX8" fmla="*/ 2982353 w 5331658"/>
              <a:gd name="connsiteY8" fmla="*/ 1396105 h 1799074"/>
              <a:gd name="connsiteX9" fmla="*/ 2982353 w 5331658"/>
              <a:gd name="connsiteY9" fmla="*/ 1396331 h 1799074"/>
              <a:gd name="connsiteX10" fmla="*/ 0 w 5331658"/>
              <a:gd name="connsiteY10" fmla="*/ 1396331 h 179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31658" h="1799074">
                <a:moveTo>
                  <a:pt x="0" y="0"/>
                </a:moveTo>
                <a:lnTo>
                  <a:pt x="2982353" y="0"/>
                </a:lnTo>
                <a:lnTo>
                  <a:pt x="4717359" y="0"/>
                </a:lnTo>
                <a:cubicBezTo>
                  <a:pt x="4948825" y="0"/>
                  <a:pt x="5152900" y="117275"/>
                  <a:pt x="5273407" y="295648"/>
                </a:cubicBezTo>
                <a:lnTo>
                  <a:pt x="5331658" y="402969"/>
                </a:lnTo>
                <a:lnTo>
                  <a:pt x="5331658" y="1799074"/>
                </a:lnTo>
                <a:lnTo>
                  <a:pt x="5273407" y="1691753"/>
                </a:lnTo>
                <a:cubicBezTo>
                  <a:pt x="5152900" y="1513380"/>
                  <a:pt x="4948825" y="1396105"/>
                  <a:pt x="4717359" y="1396105"/>
                </a:cubicBezTo>
                <a:lnTo>
                  <a:pt x="2982353" y="1396105"/>
                </a:lnTo>
                <a:lnTo>
                  <a:pt x="2982353" y="1396331"/>
                </a:lnTo>
                <a:lnTo>
                  <a:pt x="0" y="1396331"/>
                </a:lnTo>
                <a:close/>
              </a:path>
            </a:pathLst>
          </a:custGeom>
          <a:solidFill>
            <a:srgbClr val="3895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B883848-B1EE-44DA-A42E-1A5AEBA2879F}"/>
              </a:ext>
            </a:extLst>
          </p:cNvPr>
          <p:cNvSpPr/>
          <p:nvPr/>
        </p:nvSpPr>
        <p:spPr>
          <a:xfrm>
            <a:off x="0" y="4535598"/>
            <a:ext cx="5331658" cy="1799074"/>
          </a:xfrm>
          <a:custGeom>
            <a:avLst/>
            <a:gdLst>
              <a:gd name="connsiteX0" fmla="*/ 0 w 5331658"/>
              <a:gd name="connsiteY0" fmla="*/ 0 h 1799074"/>
              <a:gd name="connsiteX1" fmla="*/ 2982353 w 5331658"/>
              <a:gd name="connsiteY1" fmla="*/ 0 h 1799074"/>
              <a:gd name="connsiteX2" fmla="*/ 4717359 w 5331658"/>
              <a:gd name="connsiteY2" fmla="*/ 0 h 1799074"/>
              <a:gd name="connsiteX3" fmla="*/ 5273407 w 5331658"/>
              <a:gd name="connsiteY3" fmla="*/ 295648 h 1799074"/>
              <a:gd name="connsiteX4" fmla="*/ 5331658 w 5331658"/>
              <a:gd name="connsiteY4" fmla="*/ 402969 h 1799074"/>
              <a:gd name="connsiteX5" fmla="*/ 5331658 w 5331658"/>
              <a:gd name="connsiteY5" fmla="*/ 1799074 h 1799074"/>
              <a:gd name="connsiteX6" fmla="*/ 5273407 w 5331658"/>
              <a:gd name="connsiteY6" fmla="*/ 1691753 h 1799074"/>
              <a:gd name="connsiteX7" fmla="*/ 4717359 w 5331658"/>
              <a:gd name="connsiteY7" fmla="*/ 1396105 h 1799074"/>
              <a:gd name="connsiteX8" fmla="*/ 2982353 w 5331658"/>
              <a:gd name="connsiteY8" fmla="*/ 1396105 h 1799074"/>
              <a:gd name="connsiteX9" fmla="*/ 2982353 w 5331658"/>
              <a:gd name="connsiteY9" fmla="*/ 1396331 h 1799074"/>
              <a:gd name="connsiteX10" fmla="*/ 0 w 5331658"/>
              <a:gd name="connsiteY10" fmla="*/ 1396331 h 179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31658" h="1799074">
                <a:moveTo>
                  <a:pt x="0" y="0"/>
                </a:moveTo>
                <a:lnTo>
                  <a:pt x="2982353" y="0"/>
                </a:lnTo>
                <a:lnTo>
                  <a:pt x="4717359" y="0"/>
                </a:lnTo>
                <a:cubicBezTo>
                  <a:pt x="4948825" y="0"/>
                  <a:pt x="5152900" y="117275"/>
                  <a:pt x="5273407" y="295648"/>
                </a:cubicBezTo>
                <a:lnTo>
                  <a:pt x="5331658" y="402969"/>
                </a:lnTo>
                <a:lnTo>
                  <a:pt x="5331658" y="1799074"/>
                </a:lnTo>
                <a:lnTo>
                  <a:pt x="5273407" y="1691753"/>
                </a:lnTo>
                <a:cubicBezTo>
                  <a:pt x="5152900" y="1513380"/>
                  <a:pt x="4948825" y="1396105"/>
                  <a:pt x="4717359" y="1396105"/>
                </a:cubicBezTo>
                <a:lnTo>
                  <a:pt x="2982353" y="1396105"/>
                </a:lnTo>
                <a:lnTo>
                  <a:pt x="2982353" y="1396331"/>
                </a:lnTo>
                <a:lnTo>
                  <a:pt x="0" y="1396331"/>
                </a:lnTo>
                <a:close/>
              </a:path>
            </a:pathLst>
          </a:custGeom>
          <a:solidFill>
            <a:srgbClr val="58C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2DD8F23-ED1A-45B2-9C59-DE7D90F0C40E}"/>
              </a:ext>
            </a:extLst>
          </p:cNvPr>
          <p:cNvSpPr/>
          <p:nvPr/>
        </p:nvSpPr>
        <p:spPr>
          <a:xfrm>
            <a:off x="5331658" y="885788"/>
            <a:ext cx="6860342" cy="1362221"/>
          </a:xfrm>
          <a:prstGeom prst="rect">
            <a:avLst/>
          </a:prstGeom>
          <a:solidFill>
            <a:srgbClr val="072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8732C40-666E-4D1A-BD8F-015E020DFB1E}"/>
              </a:ext>
            </a:extLst>
          </p:cNvPr>
          <p:cNvSpPr/>
          <p:nvPr/>
        </p:nvSpPr>
        <p:spPr>
          <a:xfrm>
            <a:off x="5331658" y="2248009"/>
            <a:ext cx="6860342" cy="1362221"/>
          </a:xfrm>
          <a:prstGeom prst="rect">
            <a:avLst/>
          </a:prstGeom>
          <a:solidFill>
            <a:srgbClr val="1261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017ED9-7EDC-4A88-B804-1D0F977FBE29}"/>
              </a:ext>
            </a:extLst>
          </p:cNvPr>
          <p:cNvSpPr/>
          <p:nvPr/>
        </p:nvSpPr>
        <p:spPr>
          <a:xfrm>
            <a:off x="5331658" y="3610230"/>
            <a:ext cx="6860342" cy="1362221"/>
          </a:xfrm>
          <a:prstGeom prst="rect">
            <a:avLst/>
          </a:prstGeom>
          <a:solidFill>
            <a:srgbClr val="3895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288B71E-33A7-4E96-B6C7-931363E55907}"/>
              </a:ext>
            </a:extLst>
          </p:cNvPr>
          <p:cNvSpPr/>
          <p:nvPr/>
        </p:nvSpPr>
        <p:spPr>
          <a:xfrm>
            <a:off x="5331658" y="4972451"/>
            <a:ext cx="6860342" cy="1362221"/>
          </a:xfrm>
          <a:prstGeom prst="rect">
            <a:avLst/>
          </a:prstGeom>
          <a:solidFill>
            <a:srgbClr val="58C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41FD9D1-E05C-4884-B9FD-6F1B619CA1E7}"/>
              </a:ext>
            </a:extLst>
          </p:cNvPr>
          <p:cNvSpPr/>
          <p:nvPr/>
        </p:nvSpPr>
        <p:spPr>
          <a:xfrm>
            <a:off x="5331658" y="885788"/>
            <a:ext cx="1237954" cy="5448884"/>
          </a:xfrm>
          <a:prstGeom prst="rect">
            <a:avLst/>
          </a:prstGeom>
          <a:gradFill flip="none" rotWithShape="1">
            <a:gsLst>
              <a:gs pos="4000">
                <a:schemeClr val="tx1">
                  <a:alpha val="57000"/>
                </a:schemeClr>
              </a:gs>
              <a:gs pos="100000">
                <a:schemeClr val="tx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3D7F03D-7F1A-4106-AB8B-259699FC493A}"/>
              </a:ext>
            </a:extLst>
          </p:cNvPr>
          <p:cNvSpPr/>
          <p:nvPr/>
        </p:nvSpPr>
        <p:spPr>
          <a:xfrm>
            <a:off x="4012859" y="448456"/>
            <a:ext cx="1233216" cy="5603841"/>
          </a:xfrm>
          <a:custGeom>
            <a:avLst/>
            <a:gdLst>
              <a:gd name="connsiteX0" fmla="*/ 0 w 1237954"/>
              <a:gd name="connsiteY0" fmla="*/ 0 h 5439284"/>
              <a:gd name="connsiteX1" fmla="*/ 1237954 w 1237954"/>
              <a:gd name="connsiteY1" fmla="*/ 0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23439 w 1237954"/>
              <a:gd name="connsiteY1" fmla="*/ 72571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3471 h 5442755"/>
              <a:gd name="connsiteX1" fmla="*/ 1209226 w 1237954"/>
              <a:gd name="connsiteY1" fmla="*/ 104469 h 5442755"/>
              <a:gd name="connsiteX2" fmla="*/ 1237954 w 1237954"/>
              <a:gd name="connsiteY2" fmla="*/ 5442755 h 5442755"/>
              <a:gd name="connsiteX3" fmla="*/ 0 w 1237954"/>
              <a:gd name="connsiteY3" fmla="*/ 5442755 h 5442755"/>
              <a:gd name="connsiteX4" fmla="*/ 0 w 1237954"/>
              <a:gd name="connsiteY4" fmla="*/ 3471 h 5442755"/>
              <a:gd name="connsiteX0" fmla="*/ 4738 w 1242692"/>
              <a:gd name="connsiteY0" fmla="*/ 3471 h 5480658"/>
              <a:gd name="connsiteX1" fmla="*/ 1213964 w 1242692"/>
              <a:gd name="connsiteY1" fmla="*/ 104469 h 5480658"/>
              <a:gd name="connsiteX2" fmla="*/ 1242692 w 1242692"/>
              <a:gd name="connsiteY2" fmla="*/ 5442755 h 5480658"/>
              <a:gd name="connsiteX3" fmla="*/ 0 w 1242692"/>
              <a:gd name="connsiteY3" fmla="*/ 5480658 h 5480658"/>
              <a:gd name="connsiteX4" fmla="*/ 4738 w 1242692"/>
              <a:gd name="connsiteY4" fmla="*/ 3471 h 5480658"/>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3216" h="5603841">
                <a:moveTo>
                  <a:pt x="4738" y="3471"/>
                </a:moveTo>
                <a:cubicBezTo>
                  <a:pt x="393600" y="18186"/>
                  <a:pt x="971975" y="-52380"/>
                  <a:pt x="1213964" y="104469"/>
                </a:cubicBezTo>
                <a:cubicBezTo>
                  <a:pt x="1218802" y="1893373"/>
                  <a:pt x="1228378" y="3814937"/>
                  <a:pt x="1233216" y="5603841"/>
                </a:cubicBezTo>
                <a:cubicBezTo>
                  <a:pt x="931113" y="5406432"/>
                  <a:pt x="411072" y="5521719"/>
                  <a:pt x="0" y="5480658"/>
                </a:cubicBezTo>
                <a:cubicBezTo>
                  <a:pt x="1579" y="3654929"/>
                  <a:pt x="3159" y="1829200"/>
                  <a:pt x="4738" y="3471"/>
                </a:cubicBezTo>
                <a:close/>
              </a:path>
            </a:pathLst>
          </a:custGeom>
          <a:gradFill flip="none" rotWithShape="1">
            <a:gsLst>
              <a:gs pos="4000">
                <a:schemeClr val="bg1">
                  <a:alpha val="0"/>
                </a:schemeClr>
              </a:gs>
              <a:gs pos="49600">
                <a:schemeClr val="bg1">
                  <a:alpha val="44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DA08ED80-78FD-4F82-BC1A-AFD2A1403195}"/>
              </a:ext>
            </a:extLst>
          </p:cNvPr>
          <p:cNvGrpSpPr/>
          <p:nvPr/>
        </p:nvGrpSpPr>
        <p:grpSpPr>
          <a:xfrm>
            <a:off x="980275" y="544024"/>
            <a:ext cx="1188720" cy="1188720"/>
            <a:chOff x="980275" y="896948"/>
            <a:chExt cx="1188720" cy="1188720"/>
          </a:xfrm>
        </p:grpSpPr>
        <p:sp>
          <p:nvSpPr>
            <p:cNvPr id="29" name="Oval 28">
              <a:extLst>
                <a:ext uri="{FF2B5EF4-FFF2-40B4-BE49-F238E27FC236}">
                  <a16:creationId xmlns:a16="http://schemas.microsoft.com/office/drawing/2014/main" id="{20159D6F-F97A-4043-80FD-0C9FB14069D8}"/>
                </a:ext>
              </a:extLst>
            </p:cNvPr>
            <p:cNvSpPr/>
            <p:nvPr/>
          </p:nvSpPr>
          <p:spPr>
            <a:xfrm>
              <a:off x="980275" y="896948"/>
              <a:ext cx="1188720" cy="1188720"/>
            </a:xfrm>
            <a:prstGeom prst="ellipse">
              <a:avLst/>
            </a:prstGeom>
            <a:gradFill>
              <a:gsLst>
                <a:gs pos="4000">
                  <a:schemeClr val="bg1">
                    <a:alpha val="0"/>
                  </a:schemeClr>
                </a:gs>
                <a:gs pos="49600">
                  <a:schemeClr val="bg1">
                    <a:alpha val="74000"/>
                  </a:schemeClr>
                </a:gs>
                <a:gs pos="100000">
                  <a:schemeClr val="bg1">
                    <a:alpha val="0"/>
                  </a:schemeClr>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3" name="Oval 22">
              <a:extLst>
                <a:ext uri="{FF2B5EF4-FFF2-40B4-BE49-F238E27FC236}">
                  <a16:creationId xmlns:a16="http://schemas.microsoft.com/office/drawing/2014/main" id="{EBA78123-6D93-4E94-8B5F-DA4D20594BB4}"/>
                </a:ext>
              </a:extLst>
            </p:cNvPr>
            <p:cNvSpPr/>
            <p:nvPr/>
          </p:nvSpPr>
          <p:spPr>
            <a:xfrm>
              <a:off x="1117435" y="1034108"/>
              <a:ext cx="914400" cy="91440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 name="TextBox 1">
              <a:extLst>
                <a:ext uri="{FF2B5EF4-FFF2-40B4-BE49-F238E27FC236}">
                  <a16:creationId xmlns:a16="http://schemas.microsoft.com/office/drawing/2014/main" id="{59E569FD-F56C-4BD3-B706-7904FA79D9AF}"/>
                </a:ext>
              </a:extLst>
            </p:cNvPr>
            <p:cNvSpPr txBox="1"/>
            <p:nvPr/>
          </p:nvSpPr>
          <p:spPr>
            <a:xfrm>
              <a:off x="1032656" y="1104700"/>
              <a:ext cx="1130598" cy="769441"/>
            </a:xfrm>
            <a:prstGeom prst="rect">
              <a:avLst/>
            </a:prstGeom>
            <a:noFill/>
          </p:spPr>
          <p:txBody>
            <a:bodyPr wrap="square" rtlCol="0">
              <a:spAutoFit/>
            </a:bodyPr>
            <a:lstStyle/>
            <a:p>
              <a:pPr algn="ctr"/>
              <a:r>
                <a:rPr lang="en-US" sz="4400" dirty="0">
                  <a:solidFill>
                    <a:srgbClr val="072F5F"/>
                  </a:solidFill>
                  <a:latin typeface="Arial Black" panose="020B0A04020102020204" pitchFamily="34" charset="0"/>
                </a:rPr>
                <a:t>01</a:t>
              </a:r>
            </a:p>
          </p:txBody>
        </p:sp>
      </p:grpSp>
      <p:grpSp>
        <p:nvGrpSpPr>
          <p:cNvPr id="33" name="Group 32">
            <a:extLst>
              <a:ext uri="{FF2B5EF4-FFF2-40B4-BE49-F238E27FC236}">
                <a16:creationId xmlns:a16="http://schemas.microsoft.com/office/drawing/2014/main" id="{01EB3709-D463-44B5-920B-04D0BDAFD155}"/>
              </a:ext>
            </a:extLst>
          </p:cNvPr>
          <p:cNvGrpSpPr/>
          <p:nvPr/>
        </p:nvGrpSpPr>
        <p:grpSpPr>
          <a:xfrm>
            <a:off x="980275" y="1906245"/>
            <a:ext cx="1188720" cy="1188720"/>
            <a:chOff x="980275" y="896948"/>
            <a:chExt cx="1188720" cy="1188720"/>
          </a:xfrm>
        </p:grpSpPr>
        <p:sp>
          <p:nvSpPr>
            <p:cNvPr id="34" name="Oval 33">
              <a:extLst>
                <a:ext uri="{FF2B5EF4-FFF2-40B4-BE49-F238E27FC236}">
                  <a16:creationId xmlns:a16="http://schemas.microsoft.com/office/drawing/2014/main" id="{683471B5-9893-4D27-8678-BC66DEB1C125}"/>
                </a:ext>
              </a:extLst>
            </p:cNvPr>
            <p:cNvSpPr/>
            <p:nvPr/>
          </p:nvSpPr>
          <p:spPr>
            <a:xfrm>
              <a:off x="980275" y="896948"/>
              <a:ext cx="1188720" cy="1188720"/>
            </a:xfrm>
            <a:prstGeom prst="ellipse">
              <a:avLst/>
            </a:prstGeom>
            <a:gradFill>
              <a:gsLst>
                <a:gs pos="4000">
                  <a:schemeClr val="bg1">
                    <a:alpha val="0"/>
                  </a:schemeClr>
                </a:gs>
                <a:gs pos="49600">
                  <a:schemeClr val="bg1">
                    <a:alpha val="74000"/>
                  </a:schemeClr>
                </a:gs>
                <a:gs pos="100000">
                  <a:schemeClr val="bg1">
                    <a:alpha val="0"/>
                  </a:schemeClr>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35" name="Oval 34">
              <a:extLst>
                <a:ext uri="{FF2B5EF4-FFF2-40B4-BE49-F238E27FC236}">
                  <a16:creationId xmlns:a16="http://schemas.microsoft.com/office/drawing/2014/main" id="{4A494438-B19F-44F1-B388-57BE7471E5B9}"/>
                </a:ext>
              </a:extLst>
            </p:cNvPr>
            <p:cNvSpPr/>
            <p:nvPr/>
          </p:nvSpPr>
          <p:spPr>
            <a:xfrm>
              <a:off x="1117435" y="1034108"/>
              <a:ext cx="914400" cy="91440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36" name="TextBox 35">
              <a:extLst>
                <a:ext uri="{FF2B5EF4-FFF2-40B4-BE49-F238E27FC236}">
                  <a16:creationId xmlns:a16="http://schemas.microsoft.com/office/drawing/2014/main" id="{AC2F6226-66E0-477B-A704-EBC91EF56C19}"/>
                </a:ext>
              </a:extLst>
            </p:cNvPr>
            <p:cNvSpPr txBox="1"/>
            <p:nvPr/>
          </p:nvSpPr>
          <p:spPr>
            <a:xfrm>
              <a:off x="1032656" y="1104700"/>
              <a:ext cx="1130598" cy="769441"/>
            </a:xfrm>
            <a:prstGeom prst="rect">
              <a:avLst/>
            </a:prstGeom>
            <a:noFill/>
          </p:spPr>
          <p:txBody>
            <a:bodyPr wrap="square" rtlCol="0">
              <a:spAutoFit/>
            </a:bodyPr>
            <a:lstStyle/>
            <a:p>
              <a:pPr algn="ctr"/>
              <a:r>
                <a:rPr lang="en-US" sz="4400" dirty="0">
                  <a:solidFill>
                    <a:srgbClr val="072F5F"/>
                  </a:solidFill>
                  <a:latin typeface="Arial Black" panose="020B0A04020102020204" pitchFamily="34" charset="0"/>
                </a:rPr>
                <a:t>02</a:t>
              </a:r>
            </a:p>
          </p:txBody>
        </p:sp>
      </p:grpSp>
      <p:grpSp>
        <p:nvGrpSpPr>
          <p:cNvPr id="37" name="Group 36">
            <a:extLst>
              <a:ext uri="{FF2B5EF4-FFF2-40B4-BE49-F238E27FC236}">
                <a16:creationId xmlns:a16="http://schemas.microsoft.com/office/drawing/2014/main" id="{5ECEBEC5-60BB-4804-B53F-DE4609265BCB}"/>
              </a:ext>
            </a:extLst>
          </p:cNvPr>
          <p:cNvGrpSpPr/>
          <p:nvPr/>
        </p:nvGrpSpPr>
        <p:grpSpPr>
          <a:xfrm>
            <a:off x="980275" y="3268466"/>
            <a:ext cx="1188720" cy="1188720"/>
            <a:chOff x="980275" y="896948"/>
            <a:chExt cx="1188720" cy="1188720"/>
          </a:xfrm>
        </p:grpSpPr>
        <p:sp>
          <p:nvSpPr>
            <p:cNvPr id="38" name="Oval 37">
              <a:extLst>
                <a:ext uri="{FF2B5EF4-FFF2-40B4-BE49-F238E27FC236}">
                  <a16:creationId xmlns:a16="http://schemas.microsoft.com/office/drawing/2014/main" id="{0C194092-4BF6-4F34-A0BD-8F4C06942211}"/>
                </a:ext>
              </a:extLst>
            </p:cNvPr>
            <p:cNvSpPr/>
            <p:nvPr/>
          </p:nvSpPr>
          <p:spPr>
            <a:xfrm>
              <a:off x="980275" y="896948"/>
              <a:ext cx="1188720" cy="1188720"/>
            </a:xfrm>
            <a:prstGeom prst="ellipse">
              <a:avLst/>
            </a:prstGeom>
            <a:gradFill>
              <a:gsLst>
                <a:gs pos="4000">
                  <a:schemeClr val="bg1">
                    <a:alpha val="0"/>
                  </a:schemeClr>
                </a:gs>
                <a:gs pos="49600">
                  <a:schemeClr val="bg1">
                    <a:alpha val="74000"/>
                  </a:schemeClr>
                </a:gs>
                <a:gs pos="100000">
                  <a:schemeClr val="bg1">
                    <a:alpha val="0"/>
                  </a:schemeClr>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39" name="Oval 38">
              <a:extLst>
                <a:ext uri="{FF2B5EF4-FFF2-40B4-BE49-F238E27FC236}">
                  <a16:creationId xmlns:a16="http://schemas.microsoft.com/office/drawing/2014/main" id="{40ED61B2-6CB4-4161-B0DC-4D1C2EF62FC9}"/>
                </a:ext>
              </a:extLst>
            </p:cNvPr>
            <p:cNvSpPr/>
            <p:nvPr/>
          </p:nvSpPr>
          <p:spPr>
            <a:xfrm>
              <a:off x="1117435" y="1034108"/>
              <a:ext cx="914400" cy="91440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0" name="TextBox 39">
              <a:extLst>
                <a:ext uri="{FF2B5EF4-FFF2-40B4-BE49-F238E27FC236}">
                  <a16:creationId xmlns:a16="http://schemas.microsoft.com/office/drawing/2014/main" id="{D88AF9B2-5F3A-40B9-B870-B6AC5F6835B3}"/>
                </a:ext>
              </a:extLst>
            </p:cNvPr>
            <p:cNvSpPr txBox="1"/>
            <p:nvPr/>
          </p:nvSpPr>
          <p:spPr>
            <a:xfrm>
              <a:off x="1032656" y="1104700"/>
              <a:ext cx="1130598" cy="769441"/>
            </a:xfrm>
            <a:prstGeom prst="rect">
              <a:avLst/>
            </a:prstGeom>
            <a:noFill/>
          </p:spPr>
          <p:txBody>
            <a:bodyPr wrap="square" rtlCol="0">
              <a:spAutoFit/>
            </a:bodyPr>
            <a:lstStyle/>
            <a:p>
              <a:pPr algn="ctr"/>
              <a:r>
                <a:rPr lang="en-US" sz="4400" dirty="0">
                  <a:solidFill>
                    <a:srgbClr val="072F5F"/>
                  </a:solidFill>
                  <a:latin typeface="Arial Black" panose="020B0A04020102020204" pitchFamily="34" charset="0"/>
                </a:rPr>
                <a:t>03</a:t>
              </a:r>
            </a:p>
          </p:txBody>
        </p:sp>
      </p:grpSp>
      <p:grpSp>
        <p:nvGrpSpPr>
          <p:cNvPr id="41" name="Group 40">
            <a:extLst>
              <a:ext uri="{FF2B5EF4-FFF2-40B4-BE49-F238E27FC236}">
                <a16:creationId xmlns:a16="http://schemas.microsoft.com/office/drawing/2014/main" id="{8C5B88CA-7A89-406B-89C2-FDCE780175BE}"/>
              </a:ext>
            </a:extLst>
          </p:cNvPr>
          <p:cNvGrpSpPr/>
          <p:nvPr/>
        </p:nvGrpSpPr>
        <p:grpSpPr>
          <a:xfrm>
            <a:off x="980275" y="4630687"/>
            <a:ext cx="1188720" cy="1188720"/>
            <a:chOff x="980275" y="896948"/>
            <a:chExt cx="1188720" cy="1188720"/>
          </a:xfrm>
        </p:grpSpPr>
        <p:sp>
          <p:nvSpPr>
            <p:cNvPr id="42" name="Oval 41">
              <a:extLst>
                <a:ext uri="{FF2B5EF4-FFF2-40B4-BE49-F238E27FC236}">
                  <a16:creationId xmlns:a16="http://schemas.microsoft.com/office/drawing/2014/main" id="{FC65F0CF-BAEB-48B8-AAC1-CB5986CCFD1D}"/>
                </a:ext>
              </a:extLst>
            </p:cNvPr>
            <p:cNvSpPr/>
            <p:nvPr/>
          </p:nvSpPr>
          <p:spPr>
            <a:xfrm>
              <a:off x="980275" y="896948"/>
              <a:ext cx="1188720" cy="1188720"/>
            </a:xfrm>
            <a:prstGeom prst="ellipse">
              <a:avLst/>
            </a:prstGeom>
            <a:gradFill>
              <a:gsLst>
                <a:gs pos="4000">
                  <a:schemeClr val="bg1">
                    <a:alpha val="0"/>
                  </a:schemeClr>
                </a:gs>
                <a:gs pos="49600">
                  <a:schemeClr val="bg1">
                    <a:alpha val="74000"/>
                  </a:schemeClr>
                </a:gs>
                <a:gs pos="100000">
                  <a:schemeClr val="bg1">
                    <a:alpha val="0"/>
                  </a:schemeClr>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3" name="Oval 42">
              <a:extLst>
                <a:ext uri="{FF2B5EF4-FFF2-40B4-BE49-F238E27FC236}">
                  <a16:creationId xmlns:a16="http://schemas.microsoft.com/office/drawing/2014/main" id="{93FF324E-7EA1-49B7-B420-760B0AB2B835}"/>
                </a:ext>
              </a:extLst>
            </p:cNvPr>
            <p:cNvSpPr/>
            <p:nvPr/>
          </p:nvSpPr>
          <p:spPr>
            <a:xfrm>
              <a:off x="1117435" y="1034108"/>
              <a:ext cx="914400" cy="91440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4" name="TextBox 43">
              <a:extLst>
                <a:ext uri="{FF2B5EF4-FFF2-40B4-BE49-F238E27FC236}">
                  <a16:creationId xmlns:a16="http://schemas.microsoft.com/office/drawing/2014/main" id="{D92E44E4-8AFB-4912-B717-7992CCF4D037}"/>
                </a:ext>
              </a:extLst>
            </p:cNvPr>
            <p:cNvSpPr txBox="1"/>
            <p:nvPr/>
          </p:nvSpPr>
          <p:spPr>
            <a:xfrm>
              <a:off x="1032656" y="1104700"/>
              <a:ext cx="1130598" cy="769441"/>
            </a:xfrm>
            <a:prstGeom prst="rect">
              <a:avLst/>
            </a:prstGeom>
            <a:noFill/>
          </p:spPr>
          <p:txBody>
            <a:bodyPr wrap="square" rtlCol="0">
              <a:spAutoFit/>
            </a:bodyPr>
            <a:lstStyle/>
            <a:p>
              <a:pPr algn="ctr"/>
              <a:r>
                <a:rPr lang="en-US" sz="4400" dirty="0">
                  <a:solidFill>
                    <a:srgbClr val="072F5F"/>
                  </a:solidFill>
                  <a:latin typeface="Arial Black" panose="020B0A04020102020204" pitchFamily="34" charset="0"/>
                </a:rPr>
                <a:t>04</a:t>
              </a:r>
            </a:p>
          </p:txBody>
        </p:sp>
      </p:grpSp>
      <p:pic>
        <p:nvPicPr>
          <p:cNvPr id="5" name="Graphic 4" descr="Bullseye">
            <a:extLst>
              <a:ext uri="{FF2B5EF4-FFF2-40B4-BE49-F238E27FC236}">
                <a16:creationId xmlns:a16="http://schemas.microsoft.com/office/drawing/2014/main" id="{BB673B13-AE62-4892-8174-A72F0EB92BE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5717293" y="1246858"/>
            <a:ext cx="640080" cy="640080"/>
          </a:xfrm>
          <a:prstGeom prst="rect">
            <a:avLst/>
          </a:prstGeom>
        </p:spPr>
      </p:pic>
      <p:pic>
        <p:nvPicPr>
          <p:cNvPr id="7" name="Graphic 6" descr="Single gear">
            <a:extLst>
              <a:ext uri="{FF2B5EF4-FFF2-40B4-BE49-F238E27FC236}">
                <a16:creationId xmlns:a16="http://schemas.microsoft.com/office/drawing/2014/main" id="{9AB0FF49-3317-486E-88C1-6A3F19A12D2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5687895" y="2637765"/>
            <a:ext cx="640080" cy="640080"/>
          </a:xfrm>
          <a:prstGeom prst="rect">
            <a:avLst/>
          </a:prstGeom>
        </p:spPr>
      </p:pic>
      <p:pic>
        <p:nvPicPr>
          <p:cNvPr id="9" name="Graphic 8" descr="Bank">
            <a:extLst>
              <a:ext uri="{FF2B5EF4-FFF2-40B4-BE49-F238E27FC236}">
                <a16:creationId xmlns:a16="http://schemas.microsoft.com/office/drawing/2014/main" id="{35E03D7F-1F31-4D39-9A32-819058DC9DE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5721335" y="3925619"/>
            <a:ext cx="640080" cy="640080"/>
          </a:xfrm>
          <a:prstGeom prst="rect">
            <a:avLst/>
          </a:prstGeom>
        </p:spPr>
      </p:pic>
      <p:pic>
        <p:nvPicPr>
          <p:cNvPr id="45" name="Graphic 44" descr="Target Audience">
            <a:extLst>
              <a:ext uri="{FF2B5EF4-FFF2-40B4-BE49-F238E27FC236}">
                <a16:creationId xmlns:a16="http://schemas.microsoft.com/office/drawing/2014/main" id="{768E1553-587A-4424-BABF-592CAF9B138B}"/>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5707209" y="5333521"/>
            <a:ext cx="640080" cy="640080"/>
          </a:xfrm>
          <a:prstGeom prst="rect">
            <a:avLst/>
          </a:prstGeom>
        </p:spPr>
      </p:pic>
      <p:sp>
        <p:nvSpPr>
          <p:cNvPr id="46" name="TextBox 45">
            <a:extLst>
              <a:ext uri="{FF2B5EF4-FFF2-40B4-BE49-F238E27FC236}">
                <a16:creationId xmlns:a16="http://schemas.microsoft.com/office/drawing/2014/main" id="{8311E94D-ACDD-4103-BD78-572CE7C7C339}"/>
              </a:ext>
            </a:extLst>
          </p:cNvPr>
          <p:cNvSpPr txBox="1"/>
          <p:nvPr/>
        </p:nvSpPr>
        <p:spPr>
          <a:xfrm>
            <a:off x="6569612" y="1246858"/>
            <a:ext cx="4963441" cy="600164"/>
          </a:xfrm>
          <a:prstGeom prst="rect">
            <a:avLst/>
          </a:prstGeom>
          <a:noFill/>
        </p:spPr>
        <p:txBody>
          <a:bodyPr wrap="square" rtlCol="0">
            <a:spAutoFit/>
          </a:bodyPr>
          <a:lstStyle/>
          <a:p>
            <a:r>
              <a:rPr lang="en-US" sz="1100" dirty="0">
                <a:solidFill>
                  <a:srgbClr val="58CCED"/>
                </a:solidFill>
                <a:latin typeface="Arial" panose="020B0604020202020204" pitchFamily="34" charset="0"/>
                <a:cs typeface="Arial" panose="020B0604020202020204" pitchFamily="34" charset="0"/>
              </a:rPr>
              <a:t>Try delaying fundraising as long as possible.</a:t>
            </a:r>
          </a:p>
          <a:p>
            <a:r>
              <a:rPr lang="en-US" sz="1100" dirty="0">
                <a:solidFill>
                  <a:srgbClr val="58CCED"/>
                </a:solidFill>
                <a:latin typeface="Arial" panose="020B0604020202020204" pitchFamily="34" charset="0"/>
                <a:cs typeface="Arial" panose="020B0604020202020204" pitchFamily="34" charset="0"/>
              </a:rPr>
              <a:t>Bootstrap, approach friends and relatives. </a:t>
            </a:r>
          </a:p>
          <a:p>
            <a:r>
              <a:rPr lang="en-US" sz="1100" dirty="0">
                <a:solidFill>
                  <a:srgbClr val="58CCED"/>
                </a:solidFill>
                <a:latin typeface="Arial" panose="020B0604020202020204" pitchFamily="34" charset="0"/>
                <a:cs typeface="Arial" panose="020B0604020202020204" pitchFamily="34" charset="0"/>
              </a:rPr>
              <a:t>Approach angel investors once you have a validated model.</a:t>
            </a:r>
          </a:p>
        </p:txBody>
      </p:sp>
      <p:sp>
        <p:nvSpPr>
          <p:cNvPr id="47" name="TextBox 46">
            <a:extLst>
              <a:ext uri="{FF2B5EF4-FFF2-40B4-BE49-F238E27FC236}">
                <a16:creationId xmlns:a16="http://schemas.microsoft.com/office/drawing/2014/main" id="{BB0A4E37-7D8F-40AA-BDC3-61EC185F9E0A}"/>
              </a:ext>
            </a:extLst>
          </p:cNvPr>
          <p:cNvSpPr txBox="1"/>
          <p:nvPr/>
        </p:nvSpPr>
        <p:spPr>
          <a:xfrm>
            <a:off x="6569611" y="2514003"/>
            <a:ext cx="4963441" cy="769441"/>
          </a:xfrm>
          <a:prstGeom prst="rect">
            <a:avLst/>
          </a:prstGeom>
          <a:noFill/>
        </p:spPr>
        <p:txBody>
          <a:bodyPr wrap="square" rtlCol="0">
            <a:spAutoFit/>
          </a:bodyPr>
          <a:lstStyle/>
          <a:p>
            <a:r>
              <a:rPr lang="en-US" sz="1100" dirty="0" err="1">
                <a:solidFill>
                  <a:schemeClr val="bg1"/>
                </a:solidFill>
                <a:latin typeface="Arial" panose="020B0604020202020204" pitchFamily="34" charset="0"/>
                <a:cs typeface="Arial" panose="020B0604020202020204" pitchFamily="34" charset="0"/>
              </a:rPr>
              <a:t>DSIR</a:t>
            </a:r>
            <a:r>
              <a:rPr lang="en-US" sz="1100" dirty="0">
                <a:solidFill>
                  <a:schemeClr val="bg1"/>
                </a:solidFill>
                <a:latin typeface="Arial" panose="020B0604020202020204" pitchFamily="34" charset="0"/>
                <a:cs typeface="Arial" panose="020B0604020202020204" pitchFamily="34" charset="0"/>
              </a:rPr>
              <a:t> – Department of Scientific &amp; Industrial Research -PRISM</a:t>
            </a:r>
          </a:p>
          <a:p>
            <a:r>
              <a:rPr lang="en-US" sz="1100" dirty="0" err="1">
                <a:solidFill>
                  <a:schemeClr val="bg1"/>
                </a:solidFill>
                <a:latin typeface="Arial" panose="020B0604020202020204" pitchFamily="34" charset="0"/>
                <a:cs typeface="Arial" panose="020B0604020202020204" pitchFamily="34" charset="0"/>
              </a:rPr>
              <a:t>TIFAC</a:t>
            </a:r>
            <a:r>
              <a:rPr lang="en-US" sz="1100" dirty="0">
                <a:solidFill>
                  <a:schemeClr val="bg1"/>
                </a:solidFill>
                <a:latin typeface="Arial" panose="020B0604020202020204" pitchFamily="34" charset="0"/>
                <a:cs typeface="Arial" panose="020B0604020202020204" pitchFamily="34" charset="0"/>
              </a:rPr>
              <a:t> – SRIJAN seed money</a:t>
            </a:r>
          </a:p>
          <a:p>
            <a:r>
              <a:rPr lang="en-US" sz="1100" dirty="0" err="1">
                <a:solidFill>
                  <a:schemeClr val="bg1"/>
                </a:solidFill>
                <a:latin typeface="Arial" panose="020B0604020202020204" pitchFamily="34" charset="0"/>
                <a:cs typeface="Arial" panose="020B0604020202020204" pitchFamily="34" charset="0"/>
              </a:rPr>
              <a:t>SIDBI</a:t>
            </a:r>
            <a:r>
              <a:rPr lang="en-US" sz="1100" dirty="0">
                <a:solidFill>
                  <a:schemeClr val="bg1"/>
                </a:solidFill>
                <a:latin typeface="Arial" panose="020B0604020202020204" pitchFamily="34" charset="0"/>
                <a:cs typeface="Arial" panose="020B0604020202020204" pitchFamily="34" charset="0"/>
              </a:rPr>
              <a:t> – Equity funding by </a:t>
            </a:r>
            <a:r>
              <a:rPr lang="en-US" sz="1100" dirty="0" err="1">
                <a:solidFill>
                  <a:schemeClr val="bg1"/>
                </a:solidFill>
                <a:latin typeface="Arial" panose="020B0604020202020204" pitchFamily="34" charset="0"/>
                <a:cs typeface="Arial" panose="020B0604020202020204" pitchFamily="34" charset="0"/>
              </a:rPr>
              <a:t>SIDBI</a:t>
            </a:r>
            <a:r>
              <a:rPr lang="en-US" sz="1100" dirty="0">
                <a:solidFill>
                  <a:schemeClr val="bg1"/>
                </a:solidFill>
                <a:latin typeface="Arial" panose="020B0604020202020204" pitchFamily="34" charset="0"/>
                <a:cs typeface="Arial" panose="020B0604020202020204" pitchFamily="34" charset="0"/>
              </a:rPr>
              <a:t> Venture Capital Ltd.</a:t>
            </a:r>
          </a:p>
          <a:p>
            <a:r>
              <a:rPr lang="en-US" sz="1100" dirty="0">
                <a:solidFill>
                  <a:schemeClr val="bg1"/>
                </a:solidFill>
                <a:latin typeface="Arial" panose="020B0604020202020204" pitchFamily="34" charset="0"/>
                <a:cs typeface="Arial" panose="020B0604020202020204" pitchFamily="34" charset="0"/>
              </a:rPr>
              <a:t>MSME – Several schemes for startup</a:t>
            </a:r>
          </a:p>
        </p:txBody>
      </p:sp>
      <p:sp>
        <p:nvSpPr>
          <p:cNvPr id="48" name="TextBox 47">
            <a:extLst>
              <a:ext uri="{FF2B5EF4-FFF2-40B4-BE49-F238E27FC236}">
                <a16:creationId xmlns:a16="http://schemas.microsoft.com/office/drawing/2014/main" id="{4109701A-694B-4E9A-B53C-5A18BC655B71}"/>
              </a:ext>
            </a:extLst>
          </p:cNvPr>
          <p:cNvSpPr txBox="1"/>
          <p:nvPr/>
        </p:nvSpPr>
        <p:spPr>
          <a:xfrm>
            <a:off x="6569611" y="3857152"/>
            <a:ext cx="4963441" cy="600164"/>
          </a:xfrm>
          <a:prstGeom prst="rect">
            <a:avLst/>
          </a:prstGeom>
          <a:noFill/>
        </p:spPr>
        <p:txBody>
          <a:bodyPr wrap="square" rtlCol="0">
            <a:spAutoFit/>
          </a:bodyPr>
          <a:lstStyle/>
          <a:p>
            <a:r>
              <a:rPr lang="en-US" sz="1100" dirty="0">
                <a:solidFill>
                  <a:schemeClr val="bg1"/>
                </a:solidFill>
                <a:latin typeface="Arial" panose="020B0604020202020204" pitchFamily="34" charset="0"/>
                <a:cs typeface="Arial" panose="020B0604020202020204" pitchFamily="34" charset="0"/>
              </a:rPr>
              <a:t>Follow the Built-Measure-Learn cycle of the Lean Startup model.</a:t>
            </a:r>
          </a:p>
          <a:p>
            <a:endParaRPr lang="en-US" sz="1100" dirty="0">
              <a:solidFill>
                <a:schemeClr val="bg1"/>
              </a:solidFill>
              <a:latin typeface="Arial" panose="020B0604020202020204" pitchFamily="34" charset="0"/>
              <a:cs typeface="Arial" panose="020B0604020202020204" pitchFamily="34" charset="0"/>
            </a:endParaRPr>
          </a:p>
          <a:p>
            <a:endParaRPr lang="en-US" sz="1100" dirty="0">
              <a:solidFill>
                <a:schemeClr val="bg1"/>
              </a:solidFill>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594236D6-AC4E-4FEA-AB62-7C4F77855E1B}"/>
              </a:ext>
            </a:extLst>
          </p:cNvPr>
          <p:cNvSpPr txBox="1"/>
          <p:nvPr/>
        </p:nvSpPr>
        <p:spPr>
          <a:xfrm>
            <a:off x="6569612" y="5406728"/>
            <a:ext cx="4963441" cy="430887"/>
          </a:xfrm>
          <a:prstGeom prst="rect">
            <a:avLst/>
          </a:prstGeom>
          <a:noFill/>
        </p:spPr>
        <p:txBody>
          <a:bodyPr wrap="square" rtlCol="0">
            <a:spAutoFit/>
          </a:bodyPr>
          <a:lstStyle/>
          <a:p>
            <a:r>
              <a:rPr lang="en-US" sz="1100" dirty="0">
                <a:solidFill>
                  <a:srgbClr val="072F5F"/>
                </a:solidFill>
                <a:latin typeface="Arial" panose="020B0604020202020204" pitchFamily="34" charset="0"/>
                <a:cs typeface="Arial" panose="020B0604020202020204" pitchFamily="34" charset="0"/>
              </a:rPr>
              <a:t>Make a preemptive plan for execution, hire required manpower, and place proper business process management in operation.</a:t>
            </a:r>
          </a:p>
        </p:txBody>
      </p:sp>
      <p:sp>
        <p:nvSpPr>
          <p:cNvPr id="50" name="TextBox 49">
            <a:extLst>
              <a:ext uri="{FF2B5EF4-FFF2-40B4-BE49-F238E27FC236}">
                <a16:creationId xmlns:a16="http://schemas.microsoft.com/office/drawing/2014/main" id="{97047449-8B0F-4149-ACCC-C3855C667859}"/>
              </a:ext>
            </a:extLst>
          </p:cNvPr>
          <p:cNvSpPr txBox="1"/>
          <p:nvPr/>
        </p:nvSpPr>
        <p:spPr>
          <a:xfrm>
            <a:off x="2266348" y="948362"/>
            <a:ext cx="2165952" cy="707886"/>
          </a:xfrm>
          <a:prstGeom prst="rect">
            <a:avLst/>
          </a:prstGeom>
          <a:noFill/>
        </p:spPr>
        <p:txBody>
          <a:bodyPr wrap="square" rtlCol="0">
            <a:spAutoFit/>
          </a:bodyPr>
          <a:lstStyle/>
          <a:p>
            <a:r>
              <a:rPr lang="en-US" sz="2000" dirty="0">
                <a:solidFill>
                  <a:srgbClr val="58CCED"/>
                </a:solidFill>
                <a:latin typeface="Arial Black" panose="020B0A04020102020204" pitchFamily="34" charset="0"/>
              </a:rPr>
              <a:t>Try bootstrapping</a:t>
            </a:r>
          </a:p>
        </p:txBody>
      </p:sp>
      <p:sp>
        <p:nvSpPr>
          <p:cNvPr id="51" name="TextBox 50">
            <a:extLst>
              <a:ext uri="{FF2B5EF4-FFF2-40B4-BE49-F238E27FC236}">
                <a16:creationId xmlns:a16="http://schemas.microsoft.com/office/drawing/2014/main" id="{D4CD6A3C-16EB-488D-905C-E46D0922B954}"/>
              </a:ext>
            </a:extLst>
          </p:cNvPr>
          <p:cNvSpPr txBox="1"/>
          <p:nvPr/>
        </p:nvSpPr>
        <p:spPr>
          <a:xfrm>
            <a:off x="2233948" y="1972014"/>
            <a:ext cx="2006882" cy="1015663"/>
          </a:xfrm>
          <a:prstGeom prst="rect">
            <a:avLst/>
          </a:prstGeom>
          <a:noFill/>
        </p:spPr>
        <p:txBody>
          <a:bodyPr wrap="square" rtlCol="0">
            <a:spAutoFit/>
          </a:bodyPr>
          <a:lstStyle/>
          <a:p>
            <a:r>
              <a:rPr lang="en-US" sz="2000" dirty="0">
                <a:solidFill>
                  <a:schemeClr val="bg1"/>
                </a:solidFill>
                <a:latin typeface="Arial Black" panose="020B0A04020102020204" pitchFamily="34" charset="0"/>
              </a:rPr>
              <a:t>Apply for all government benefits </a:t>
            </a:r>
          </a:p>
        </p:txBody>
      </p:sp>
      <p:sp>
        <p:nvSpPr>
          <p:cNvPr id="52" name="TextBox 51">
            <a:extLst>
              <a:ext uri="{FF2B5EF4-FFF2-40B4-BE49-F238E27FC236}">
                <a16:creationId xmlns:a16="http://schemas.microsoft.com/office/drawing/2014/main" id="{65765151-E820-4469-9008-1B2950076D5A}"/>
              </a:ext>
            </a:extLst>
          </p:cNvPr>
          <p:cNvSpPr txBox="1"/>
          <p:nvPr/>
        </p:nvSpPr>
        <p:spPr>
          <a:xfrm>
            <a:off x="2300414" y="3374965"/>
            <a:ext cx="2006882" cy="707886"/>
          </a:xfrm>
          <a:prstGeom prst="rect">
            <a:avLst/>
          </a:prstGeom>
          <a:noFill/>
        </p:spPr>
        <p:txBody>
          <a:bodyPr wrap="square" rtlCol="0">
            <a:spAutoFit/>
          </a:bodyPr>
          <a:lstStyle/>
          <a:p>
            <a:r>
              <a:rPr lang="en-US" sz="2000" dirty="0">
                <a:solidFill>
                  <a:schemeClr val="bg1"/>
                </a:solidFill>
                <a:latin typeface="Arial Black" panose="020B0A04020102020204" pitchFamily="34" charset="0"/>
              </a:rPr>
              <a:t>Validate your product </a:t>
            </a:r>
          </a:p>
        </p:txBody>
      </p:sp>
      <p:sp>
        <p:nvSpPr>
          <p:cNvPr id="53" name="TextBox 52">
            <a:extLst>
              <a:ext uri="{FF2B5EF4-FFF2-40B4-BE49-F238E27FC236}">
                <a16:creationId xmlns:a16="http://schemas.microsoft.com/office/drawing/2014/main" id="{7E0CCC85-BA0F-4B78-ABDF-839C3ABF531D}"/>
              </a:ext>
            </a:extLst>
          </p:cNvPr>
          <p:cNvSpPr txBox="1"/>
          <p:nvPr/>
        </p:nvSpPr>
        <p:spPr>
          <a:xfrm>
            <a:off x="2254488" y="4754558"/>
            <a:ext cx="2006882" cy="1015663"/>
          </a:xfrm>
          <a:prstGeom prst="rect">
            <a:avLst/>
          </a:prstGeom>
          <a:noFill/>
        </p:spPr>
        <p:txBody>
          <a:bodyPr wrap="square" rtlCol="0">
            <a:spAutoFit/>
          </a:bodyPr>
          <a:lstStyle/>
          <a:p>
            <a:r>
              <a:rPr lang="en-US" sz="2000" dirty="0">
                <a:solidFill>
                  <a:srgbClr val="072F5F"/>
                </a:solidFill>
                <a:latin typeface="Arial Black" panose="020B0A04020102020204" pitchFamily="34" charset="0"/>
              </a:rPr>
              <a:t>Craft go-to-market strategies</a:t>
            </a:r>
          </a:p>
        </p:txBody>
      </p:sp>
      <p:sp>
        <p:nvSpPr>
          <p:cNvPr id="4" name="Rectangle 20">
            <a:extLst>
              <a:ext uri="{FF2B5EF4-FFF2-40B4-BE49-F238E27FC236}">
                <a16:creationId xmlns:a16="http://schemas.microsoft.com/office/drawing/2014/main" id="{41DCB925-063C-8774-B1C3-8F8C5BD6DCFA}"/>
              </a:ext>
            </a:extLst>
          </p:cNvPr>
          <p:cNvSpPr/>
          <p:nvPr/>
        </p:nvSpPr>
        <p:spPr>
          <a:xfrm>
            <a:off x="5755559" y="848787"/>
            <a:ext cx="1233216" cy="5603841"/>
          </a:xfrm>
          <a:custGeom>
            <a:avLst/>
            <a:gdLst>
              <a:gd name="connsiteX0" fmla="*/ 0 w 1237954"/>
              <a:gd name="connsiteY0" fmla="*/ 0 h 5439284"/>
              <a:gd name="connsiteX1" fmla="*/ 1237954 w 1237954"/>
              <a:gd name="connsiteY1" fmla="*/ 0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23439 w 1237954"/>
              <a:gd name="connsiteY1" fmla="*/ 72571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3471 h 5442755"/>
              <a:gd name="connsiteX1" fmla="*/ 1209226 w 1237954"/>
              <a:gd name="connsiteY1" fmla="*/ 104469 h 5442755"/>
              <a:gd name="connsiteX2" fmla="*/ 1237954 w 1237954"/>
              <a:gd name="connsiteY2" fmla="*/ 5442755 h 5442755"/>
              <a:gd name="connsiteX3" fmla="*/ 0 w 1237954"/>
              <a:gd name="connsiteY3" fmla="*/ 5442755 h 5442755"/>
              <a:gd name="connsiteX4" fmla="*/ 0 w 1237954"/>
              <a:gd name="connsiteY4" fmla="*/ 3471 h 5442755"/>
              <a:gd name="connsiteX0" fmla="*/ 4738 w 1242692"/>
              <a:gd name="connsiteY0" fmla="*/ 3471 h 5480658"/>
              <a:gd name="connsiteX1" fmla="*/ 1213964 w 1242692"/>
              <a:gd name="connsiteY1" fmla="*/ 104469 h 5480658"/>
              <a:gd name="connsiteX2" fmla="*/ 1242692 w 1242692"/>
              <a:gd name="connsiteY2" fmla="*/ 5442755 h 5480658"/>
              <a:gd name="connsiteX3" fmla="*/ 0 w 1242692"/>
              <a:gd name="connsiteY3" fmla="*/ 5480658 h 5480658"/>
              <a:gd name="connsiteX4" fmla="*/ 4738 w 1242692"/>
              <a:gd name="connsiteY4" fmla="*/ 3471 h 5480658"/>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3216" h="5603841">
                <a:moveTo>
                  <a:pt x="4738" y="3471"/>
                </a:moveTo>
                <a:cubicBezTo>
                  <a:pt x="393600" y="18186"/>
                  <a:pt x="971975" y="-52380"/>
                  <a:pt x="1213964" y="104469"/>
                </a:cubicBezTo>
                <a:cubicBezTo>
                  <a:pt x="1218802" y="1893373"/>
                  <a:pt x="1228378" y="3814937"/>
                  <a:pt x="1233216" y="5603841"/>
                </a:cubicBezTo>
                <a:cubicBezTo>
                  <a:pt x="931113" y="5406432"/>
                  <a:pt x="411072" y="5521719"/>
                  <a:pt x="0" y="5480658"/>
                </a:cubicBezTo>
                <a:cubicBezTo>
                  <a:pt x="1579" y="3654929"/>
                  <a:pt x="3159" y="1829200"/>
                  <a:pt x="4738" y="3471"/>
                </a:cubicBezTo>
                <a:close/>
              </a:path>
            </a:pathLst>
          </a:custGeom>
          <a:gradFill flip="none" rotWithShape="1">
            <a:gsLst>
              <a:gs pos="4000">
                <a:schemeClr val="bg1">
                  <a:alpha val="0"/>
                </a:schemeClr>
              </a:gs>
              <a:gs pos="49600">
                <a:schemeClr val="bg1">
                  <a:alpha val="44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0">
            <a:extLst>
              <a:ext uri="{FF2B5EF4-FFF2-40B4-BE49-F238E27FC236}">
                <a16:creationId xmlns:a16="http://schemas.microsoft.com/office/drawing/2014/main" id="{192B3B96-C2FF-401B-FF6E-DCCD617CF353}"/>
              </a:ext>
            </a:extLst>
          </p:cNvPr>
          <p:cNvSpPr/>
          <p:nvPr/>
        </p:nvSpPr>
        <p:spPr>
          <a:xfrm>
            <a:off x="-112624" y="448455"/>
            <a:ext cx="1233216" cy="5603841"/>
          </a:xfrm>
          <a:custGeom>
            <a:avLst/>
            <a:gdLst>
              <a:gd name="connsiteX0" fmla="*/ 0 w 1237954"/>
              <a:gd name="connsiteY0" fmla="*/ 0 h 5439284"/>
              <a:gd name="connsiteX1" fmla="*/ 1237954 w 1237954"/>
              <a:gd name="connsiteY1" fmla="*/ 0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23439 w 1237954"/>
              <a:gd name="connsiteY1" fmla="*/ 72571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3471 h 5442755"/>
              <a:gd name="connsiteX1" fmla="*/ 1209226 w 1237954"/>
              <a:gd name="connsiteY1" fmla="*/ 104469 h 5442755"/>
              <a:gd name="connsiteX2" fmla="*/ 1237954 w 1237954"/>
              <a:gd name="connsiteY2" fmla="*/ 5442755 h 5442755"/>
              <a:gd name="connsiteX3" fmla="*/ 0 w 1237954"/>
              <a:gd name="connsiteY3" fmla="*/ 5442755 h 5442755"/>
              <a:gd name="connsiteX4" fmla="*/ 0 w 1237954"/>
              <a:gd name="connsiteY4" fmla="*/ 3471 h 5442755"/>
              <a:gd name="connsiteX0" fmla="*/ 4738 w 1242692"/>
              <a:gd name="connsiteY0" fmla="*/ 3471 h 5480658"/>
              <a:gd name="connsiteX1" fmla="*/ 1213964 w 1242692"/>
              <a:gd name="connsiteY1" fmla="*/ 104469 h 5480658"/>
              <a:gd name="connsiteX2" fmla="*/ 1242692 w 1242692"/>
              <a:gd name="connsiteY2" fmla="*/ 5442755 h 5480658"/>
              <a:gd name="connsiteX3" fmla="*/ 0 w 1242692"/>
              <a:gd name="connsiteY3" fmla="*/ 5480658 h 5480658"/>
              <a:gd name="connsiteX4" fmla="*/ 4738 w 1242692"/>
              <a:gd name="connsiteY4" fmla="*/ 3471 h 5480658"/>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3216" h="5603841">
                <a:moveTo>
                  <a:pt x="4738" y="3471"/>
                </a:moveTo>
                <a:cubicBezTo>
                  <a:pt x="393600" y="18186"/>
                  <a:pt x="971975" y="-52380"/>
                  <a:pt x="1213964" y="104469"/>
                </a:cubicBezTo>
                <a:cubicBezTo>
                  <a:pt x="1218802" y="1893373"/>
                  <a:pt x="1228378" y="3814937"/>
                  <a:pt x="1233216" y="5603841"/>
                </a:cubicBezTo>
                <a:cubicBezTo>
                  <a:pt x="931113" y="5406432"/>
                  <a:pt x="411072" y="5521719"/>
                  <a:pt x="0" y="5480658"/>
                </a:cubicBezTo>
                <a:cubicBezTo>
                  <a:pt x="1579" y="3654929"/>
                  <a:pt x="3159" y="1829200"/>
                  <a:pt x="4738" y="3471"/>
                </a:cubicBezTo>
                <a:close/>
              </a:path>
            </a:pathLst>
          </a:custGeom>
          <a:gradFill flip="none" rotWithShape="1">
            <a:gsLst>
              <a:gs pos="4000">
                <a:schemeClr val="bg1">
                  <a:alpha val="0"/>
                </a:schemeClr>
              </a:gs>
              <a:gs pos="49600">
                <a:schemeClr val="bg1">
                  <a:alpha val="44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7027234-6497-6442-466E-9504AA9FC58A}"/>
              </a:ext>
            </a:extLst>
          </p:cNvPr>
          <p:cNvSpPr txBox="1"/>
          <p:nvPr/>
        </p:nvSpPr>
        <p:spPr>
          <a:xfrm>
            <a:off x="5476461" y="300838"/>
            <a:ext cx="6056591" cy="523220"/>
          </a:xfrm>
          <a:prstGeom prst="rect">
            <a:avLst/>
          </a:prstGeom>
          <a:noFill/>
        </p:spPr>
        <p:txBody>
          <a:bodyPr wrap="square" rtlCol="0">
            <a:spAutoFit/>
          </a:bodyPr>
          <a:lstStyle/>
          <a:p>
            <a:r>
              <a:rPr lang="en-US" sz="2800" b="1" dirty="0">
                <a:solidFill>
                  <a:schemeClr val="dk1"/>
                </a:solidFill>
                <a:latin typeface="Twentieth Century"/>
              </a:rPr>
              <a:t>MOVING AHEAD</a:t>
            </a:r>
            <a:endParaRPr lang="en-IN" sz="2800" b="1" dirty="0">
              <a:solidFill>
                <a:schemeClr val="dk1"/>
              </a:solidFill>
              <a:latin typeface="Twentieth Century"/>
            </a:endParaRPr>
          </a:p>
        </p:txBody>
      </p:sp>
      <p:pic>
        <p:nvPicPr>
          <p:cNvPr id="19" name="Picture 18">
            <a:extLst>
              <a:ext uri="{FF2B5EF4-FFF2-40B4-BE49-F238E27FC236}">
                <a16:creationId xmlns:a16="http://schemas.microsoft.com/office/drawing/2014/main" id="{AD62C723-EF57-2352-2CBB-629585A85A81}"/>
              </a:ext>
            </a:extLst>
          </p:cNvPr>
          <p:cNvPicPr>
            <a:picLocks noChangeAspect="1"/>
          </p:cNvPicPr>
          <p:nvPr/>
        </p:nvPicPr>
        <p:blipFill>
          <a:blip r:embed="rId11"/>
          <a:stretch>
            <a:fillRect/>
          </a:stretch>
        </p:blipFill>
        <p:spPr>
          <a:xfrm>
            <a:off x="8131381" y="234745"/>
            <a:ext cx="711870" cy="671307"/>
          </a:xfrm>
          <a:prstGeom prst="rect">
            <a:avLst/>
          </a:prstGeom>
        </p:spPr>
      </p:pic>
      <p:sp>
        <p:nvSpPr>
          <p:cNvPr id="10" name="Rectangle 20">
            <a:extLst>
              <a:ext uri="{FF2B5EF4-FFF2-40B4-BE49-F238E27FC236}">
                <a16:creationId xmlns:a16="http://schemas.microsoft.com/office/drawing/2014/main" id="{E5781D79-A318-D153-5EF6-E6352185BC08}"/>
              </a:ext>
            </a:extLst>
          </p:cNvPr>
          <p:cNvSpPr/>
          <p:nvPr/>
        </p:nvSpPr>
        <p:spPr>
          <a:xfrm>
            <a:off x="10916444" y="885788"/>
            <a:ext cx="1233216" cy="5603841"/>
          </a:xfrm>
          <a:custGeom>
            <a:avLst/>
            <a:gdLst>
              <a:gd name="connsiteX0" fmla="*/ 0 w 1237954"/>
              <a:gd name="connsiteY0" fmla="*/ 0 h 5439284"/>
              <a:gd name="connsiteX1" fmla="*/ 1237954 w 1237954"/>
              <a:gd name="connsiteY1" fmla="*/ 0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23439 w 1237954"/>
              <a:gd name="connsiteY1" fmla="*/ 72571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0 h 5439284"/>
              <a:gd name="connsiteX1" fmla="*/ 1209226 w 1237954"/>
              <a:gd name="connsiteY1" fmla="*/ 100998 h 5439284"/>
              <a:gd name="connsiteX2" fmla="*/ 1237954 w 1237954"/>
              <a:gd name="connsiteY2" fmla="*/ 5439284 h 5439284"/>
              <a:gd name="connsiteX3" fmla="*/ 0 w 1237954"/>
              <a:gd name="connsiteY3" fmla="*/ 5439284 h 5439284"/>
              <a:gd name="connsiteX4" fmla="*/ 0 w 1237954"/>
              <a:gd name="connsiteY4" fmla="*/ 0 h 5439284"/>
              <a:gd name="connsiteX0" fmla="*/ 0 w 1237954"/>
              <a:gd name="connsiteY0" fmla="*/ 3471 h 5442755"/>
              <a:gd name="connsiteX1" fmla="*/ 1209226 w 1237954"/>
              <a:gd name="connsiteY1" fmla="*/ 104469 h 5442755"/>
              <a:gd name="connsiteX2" fmla="*/ 1237954 w 1237954"/>
              <a:gd name="connsiteY2" fmla="*/ 5442755 h 5442755"/>
              <a:gd name="connsiteX3" fmla="*/ 0 w 1237954"/>
              <a:gd name="connsiteY3" fmla="*/ 5442755 h 5442755"/>
              <a:gd name="connsiteX4" fmla="*/ 0 w 1237954"/>
              <a:gd name="connsiteY4" fmla="*/ 3471 h 5442755"/>
              <a:gd name="connsiteX0" fmla="*/ 4738 w 1242692"/>
              <a:gd name="connsiteY0" fmla="*/ 3471 h 5480658"/>
              <a:gd name="connsiteX1" fmla="*/ 1213964 w 1242692"/>
              <a:gd name="connsiteY1" fmla="*/ 104469 h 5480658"/>
              <a:gd name="connsiteX2" fmla="*/ 1242692 w 1242692"/>
              <a:gd name="connsiteY2" fmla="*/ 5442755 h 5480658"/>
              <a:gd name="connsiteX3" fmla="*/ 0 w 1242692"/>
              <a:gd name="connsiteY3" fmla="*/ 5480658 h 5480658"/>
              <a:gd name="connsiteX4" fmla="*/ 4738 w 1242692"/>
              <a:gd name="connsiteY4" fmla="*/ 3471 h 5480658"/>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 name="connsiteX0" fmla="*/ 4738 w 1233216"/>
              <a:gd name="connsiteY0" fmla="*/ 3471 h 5603841"/>
              <a:gd name="connsiteX1" fmla="*/ 1213964 w 1233216"/>
              <a:gd name="connsiteY1" fmla="*/ 104469 h 5603841"/>
              <a:gd name="connsiteX2" fmla="*/ 1233216 w 1233216"/>
              <a:gd name="connsiteY2" fmla="*/ 5603841 h 5603841"/>
              <a:gd name="connsiteX3" fmla="*/ 0 w 1233216"/>
              <a:gd name="connsiteY3" fmla="*/ 5480658 h 5603841"/>
              <a:gd name="connsiteX4" fmla="*/ 4738 w 1233216"/>
              <a:gd name="connsiteY4" fmla="*/ 3471 h 5603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3216" h="5603841">
                <a:moveTo>
                  <a:pt x="4738" y="3471"/>
                </a:moveTo>
                <a:cubicBezTo>
                  <a:pt x="393600" y="18186"/>
                  <a:pt x="971975" y="-52380"/>
                  <a:pt x="1213964" y="104469"/>
                </a:cubicBezTo>
                <a:cubicBezTo>
                  <a:pt x="1218802" y="1893373"/>
                  <a:pt x="1228378" y="3814937"/>
                  <a:pt x="1233216" y="5603841"/>
                </a:cubicBezTo>
                <a:cubicBezTo>
                  <a:pt x="931113" y="5406432"/>
                  <a:pt x="411072" y="5521719"/>
                  <a:pt x="0" y="5480658"/>
                </a:cubicBezTo>
                <a:cubicBezTo>
                  <a:pt x="1579" y="3654929"/>
                  <a:pt x="3159" y="1829200"/>
                  <a:pt x="4738" y="3471"/>
                </a:cubicBezTo>
                <a:close/>
              </a:path>
            </a:pathLst>
          </a:custGeom>
          <a:gradFill flip="none" rotWithShape="1">
            <a:gsLst>
              <a:gs pos="4000">
                <a:schemeClr val="bg1">
                  <a:alpha val="0"/>
                </a:schemeClr>
              </a:gs>
              <a:gs pos="49600">
                <a:schemeClr val="bg1">
                  <a:alpha val="44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oogle Shape;266;p1">
            <a:extLst>
              <a:ext uri="{FF2B5EF4-FFF2-40B4-BE49-F238E27FC236}">
                <a16:creationId xmlns:a16="http://schemas.microsoft.com/office/drawing/2014/main" id="{215E10C9-DA38-5367-F5EF-A562E9B9FBA2}"/>
              </a:ext>
            </a:extLst>
          </p:cNvPr>
          <p:cNvSpPr txBox="1"/>
          <p:nvPr/>
        </p:nvSpPr>
        <p:spPr>
          <a:xfrm>
            <a:off x="8790751" y="233066"/>
            <a:ext cx="3619372"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accent5">
                    <a:lumMod val="50000"/>
                  </a:schemeClr>
                </a:solidFill>
                <a:latin typeface="Twentieth Century"/>
                <a:ea typeface="Twentieth Century"/>
                <a:cs typeface="Twentieth Century"/>
                <a:sym typeface="Twentieth Century"/>
              </a:rPr>
              <a:t>Prepare roadmap</a:t>
            </a:r>
            <a:endParaRPr sz="3200" b="1" dirty="0">
              <a:solidFill>
                <a:schemeClr val="accent5">
                  <a:lumMod val="50000"/>
                </a:schemeClr>
              </a:solidFill>
              <a:latin typeface="Twentieth Century"/>
              <a:ea typeface="Twentieth Century"/>
              <a:cs typeface="Twentieth Century"/>
              <a:sym typeface="Twentieth Century"/>
            </a:endParaRPr>
          </a:p>
        </p:txBody>
      </p:sp>
    </p:spTree>
    <p:extLst>
      <p:ext uri="{BB962C8B-B14F-4D97-AF65-F5344CB8AC3E}">
        <p14:creationId xmlns:p14="http://schemas.microsoft.com/office/powerpoint/2010/main" val="1479567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1">
            <a:extLst>
              <a:ext uri="{FF2B5EF4-FFF2-40B4-BE49-F238E27FC236}">
                <a16:creationId xmlns:a16="http://schemas.microsoft.com/office/drawing/2014/main" id="{3C020B60-FD46-8448-D427-2AB75424AD5F}"/>
              </a:ext>
            </a:extLst>
          </p:cNvPr>
          <p:cNvGraphicFramePr>
            <a:graphicFrameLocks noGrp="1"/>
          </p:cNvGraphicFramePr>
          <p:nvPr>
            <p:extLst>
              <p:ext uri="{D42A27DB-BD31-4B8C-83A1-F6EECF244321}">
                <p14:modId xmlns:p14="http://schemas.microsoft.com/office/powerpoint/2010/main" val="2005471784"/>
              </p:ext>
            </p:extLst>
          </p:nvPr>
        </p:nvGraphicFramePr>
        <p:xfrm>
          <a:off x="175098" y="234060"/>
          <a:ext cx="11828834" cy="6528288"/>
        </p:xfrm>
        <a:graphic>
          <a:graphicData uri="http://schemas.openxmlformats.org/drawingml/2006/table">
            <a:tbl>
              <a:tblPr firstRow="1" bandRow="1">
                <a:tableStyleId>{5C22544A-7EE6-4342-B048-85BDC9FD1C3A}</a:tableStyleId>
              </a:tblPr>
              <a:tblGrid>
                <a:gridCol w="2178032">
                  <a:extLst>
                    <a:ext uri="{9D8B030D-6E8A-4147-A177-3AD203B41FA5}">
                      <a16:colId xmlns:a16="http://schemas.microsoft.com/office/drawing/2014/main" val="1653013112"/>
                    </a:ext>
                  </a:extLst>
                </a:gridCol>
                <a:gridCol w="2766608">
                  <a:extLst>
                    <a:ext uri="{9D8B030D-6E8A-4147-A177-3AD203B41FA5}">
                      <a16:colId xmlns:a16="http://schemas.microsoft.com/office/drawing/2014/main" val="1192686293"/>
                    </a:ext>
                  </a:extLst>
                </a:gridCol>
                <a:gridCol w="2766608">
                  <a:extLst>
                    <a:ext uri="{9D8B030D-6E8A-4147-A177-3AD203B41FA5}">
                      <a16:colId xmlns:a16="http://schemas.microsoft.com/office/drawing/2014/main" val="2292042608"/>
                    </a:ext>
                  </a:extLst>
                </a:gridCol>
                <a:gridCol w="4117586">
                  <a:extLst>
                    <a:ext uri="{9D8B030D-6E8A-4147-A177-3AD203B41FA5}">
                      <a16:colId xmlns:a16="http://schemas.microsoft.com/office/drawing/2014/main" val="704584805"/>
                    </a:ext>
                  </a:extLst>
                </a:gridCol>
              </a:tblGrid>
              <a:tr h="4089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Phase</a:t>
                      </a:r>
                      <a:endParaRPr lang="en-IN" sz="2000" b="1" kern="1200" dirty="0">
                        <a:solidFill>
                          <a:srgbClr val="404F64"/>
                        </a:solidFill>
                        <a:latin typeface="+mn-lt"/>
                        <a:ea typeface="+mn-ea"/>
                        <a:cs typeface="+mn-cs"/>
                      </a:endParaRPr>
                    </a:p>
                  </a:txBody>
                  <a:tcPr>
                    <a:lnR w="38100" cap="flat" cmpd="sng" algn="ctr">
                      <a:solidFill>
                        <a:schemeClr val="bg1"/>
                      </a:solidFill>
                      <a:prstDash val="solid"/>
                      <a:round/>
                      <a:headEnd type="none" w="med" len="med"/>
                      <a:tailEnd type="none" w="med" len="med"/>
                    </a:lnR>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Activities</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Sources of funds</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Team and hire</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76200" cap="flat" cmpd="sng" algn="ctr">
                      <a:solidFill>
                        <a:schemeClr val="accent4"/>
                      </a:solidFill>
                      <a:prstDash val="solid"/>
                      <a:round/>
                      <a:headEnd type="none" w="med" len="med"/>
                      <a:tailEnd type="none" w="med" len="med"/>
                    </a:lnB>
                    <a:solidFill>
                      <a:srgbClr val="E9EBF5"/>
                    </a:solidFill>
                  </a:tcPr>
                </a:tc>
                <a:extLst>
                  <a:ext uri="{0D108BD9-81ED-4DB2-BD59-A6C34878D82A}">
                    <a16:rowId xmlns:a16="http://schemas.microsoft.com/office/drawing/2014/main" val="3907038162"/>
                  </a:ext>
                </a:extLst>
              </a:tr>
              <a:tr h="7810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Identify pain point</a:t>
                      </a:r>
                      <a:endParaRPr lang="en-IN" sz="2000" b="1" kern="1200" dirty="0">
                        <a:solidFill>
                          <a:srgbClr val="404F64"/>
                        </a:solidFill>
                        <a:latin typeface="+mn-lt"/>
                        <a:ea typeface="+mn-ea"/>
                        <a:cs typeface="+mn-cs"/>
                      </a:endParaRPr>
                    </a:p>
                  </a:txBody>
                  <a:tcPr>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Empathize</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Bootstrap, Own fund</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Optional</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extLst>
                  <a:ext uri="{0D108BD9-81ED-4DB2-BD59-A6C34878D82A}">
                    <a16:rowId xmlns:a16="http://schemas.microsoft.com/office/drawing/2014/main" val="492747734"/>
                  </a:ext>
                </a:extLst>
              </a:tr>
              <a:tr h="7810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Motivation</a:t>
                      </a:r>
                      <a:endParaRPr lang="en-IN" sz="2000" b="1" kern="1200" dirty="0">
                        <a:solidFill>
                          <a:srgbClr val="404F64"/>
                        </a:solidFill>
                        <a:latin typeface="+mn-lt"/>
                        <a:ea typeface="+mn-ea"/>
                        <a:cs typeface="+mn-cs"/>
                      </a:endParaRPr>
                    </a:p>
                  </a:txBody>
                  <a:tcPr>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Participate in idea generation events</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Bootstrap, Own funds</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Work in team</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extLst>
                  <a:ext uri="{0D108BD9-81ED-4DB2-BD59-A6C34878D82A}">
                    <a16:rowId xmlns:a16="http://schemas.microsoft.com/office/drawing/2014/main" val="2063520193"/>
                  </a:ext>
                </a:extLst>
              </a:tr>
              <a:tr h="7810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Build MVP</a:t>
                      </a:r>
                      <a:endParaRPr lang="en-IN" sz="2000" b="1" kern="1200" dirty="0">
                        <a:solidFill>
                          <a:srgbClr val="404F64"/>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2000" b="1" kern="1200" dirty="0">
                        <a:solidFill>
                          <a:srgbClr val="404F64"/>
                        </a:solidFill>
                        <a:latin typeface="+mn-lt"/>
                        <a:ea typeface="+mn-ea"/>
                        <a:cs typeface="+mn-cs"/>
                      </a:endParaRPr>
                    </a:p>
                  </a:txBody>
                  <a:tcPr>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Product/service innovation</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Bootstrap, friends, relatives </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Find cofounders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404F64"/>
                          </a:solidFill>
                          <a:latin typeface="+mn-lt"/>
                          <a:ea typeface="+mn-ea"/>
                          <a:cs typeface="+mn-cs"/>
                        </a:rPr>
                        <a:t>Prepare business plan</a:t>
                      </a:r>
                      <a:endParaRPr lang="en-IN" sz="2000" b="1" kern="1200" dirty="0">
                        <a:solidFill>
                          <a:srgbClr val="404F64"/>
                        </a:solidFill>
                        <a:latin typeface="+mn-lt"/>
                        <a:ea typeface="+mn-ea"/>
                        <a:cs typeface="+mn-cs"/>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solidFill>
                      <a:srgbClr val="E9EBF5"/>
                    </a:solidFill>
                  </a:tcPr>
                </a:tc>
                <a:extLst>
                  <a:ext uri="{0D108BD9-81ED-4DB2-BD59-A6C34878D82A}">
                    <a16:rowId xmlns:a16="http://schemas.microsoft.com/office/drawing/2014/main" val="1731059173"/>
                  </a:ext>
                </a:extLst>
              </a:tr>
              <a:tr h="720148">
                <a:tc>
                  <a:txBody>
                    <a:bodyPr/>
                    <a:lstStyle/>
                    <a:p>
                      <a:r>
                        <a:rPr lang="en-US" sz="2000" b="1" dirty="0">
                          <a:solidFill>
                            <a:srgbClr val="404F64"/>
                          </a:solidFill>
                        </a:rPr>
                        <a:t>Join incubation program</a:t>
                      </a:r>
                      <a:endParaRPr lang="en-IN" sz="2000" b="1" dirty="0">
                        <a:solidFill>
                          <a:srgbClr val="404F64"/>
                        </a:solidFill>
                      </a:endParaRPr>
                    </a:p>
                  </a:txBody>
                  <a:tcPr>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404F64"/>
                          </a:solidFill>
                        </a:rPr>
                        <a:t>Refine product through validated learning</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404F64"/>
                          </a:solidFill>
                        </a:rPr>
                        <a:t>Angel investors</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404F64"/>
                          </a:solidFill>
                        </a:rPr>
                        <a:t>Hire early employees with complementary skills, register company</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805960966"/>
                  </a:ext>
                </a:extLst>
              </a:tr>
              <a:tr h="713071">
                <a:tc>
                  <a:txBody>
                    <a:bodyPr/>
                    <a:lstStyle/>
                    <a:p>
                      <a:r>
                        <a:rPr lang="en-US" sz="2000" b="1" dirty="0">
                          <a:solidFill>
                            <a:srgbClr val="404F64"/>
                          </a:solidFill>
                        </a:rPr>
                        <a:t>Join acceleration program</a:t>
                      </a:r>
                      <a:endParaRPr lang="en-IN" sz="2000" b="1" dirty="0">
                        <a:solidFill>
                          <a:srgbClr val="404F64"/>
                        </a:solidFill>
                      </a:endParaRPr>
                    </a:p>
                  </a:txBody>
                  <a:tcPr>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404F64"/>
                          </a:solidFill>
                        </a:rPr>
                        <a:t>Business model innovation</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2000" b="1" dirty="0">
                          <a:solidFill>
                            <a:srgbClr val="404F64"/>
                          </a:solidFill>
                        </a:rPr>
                        <a:t>Angel investors</a:t>
                      </a:r>
                      <a:endParaRPr lang="en-IN" sz="20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1800" b="1" dirty="0">
                          <a:solidFill>
                            <a:srgbClr val="404F64"/>
                          </a:solidFill>
                        </a:rPr>
                        <a:t>Market discovery</a:t>
                      </a:r>
                    </a:p>
                    <a:p>
                      <a:r>
                        <a:rPr lang="en-US" sz="1800" b="1" dirty="0">
                          <a:solidFill>
                            <a:srgbClr val="404F64"/>
                          </a:solidFill>
                        </a:rPr>
                        <a:t>Network with suppliers and customers </a:t>
                      </a:r>
                      <a:endParaRPr lang="en-IN" sz="18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80596757"/>
                  </a:ext>
                </a:extLst>
              </a:tr>
              <a:tr h="7810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404F64"/>
                          </a:solidFill>
                        </a:rPr>
                        <a:t>Go-to-market strategies</a:t>
                      </a:r>
                    </a:p>
                  </a:txBody>
                  <a:tcPr>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2000" b="1" dirty="0">
                          <a:solidFill>
                            <a:srgbClr val="404F64"/>
                          </a:solidFill>
                        </a:rPr>
                        <a:t>Create your USP </a:t>
                      </a:r>
                      <a:endParaRPr lang="en-IN" sz="20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2000" b="1" dirty="0">
                          <a:solidFill>
                            <a:srgbClr val="404F64"/>
                          </a:solidFill>
                        </a:rPr>
                        <a:t>Angel investors/ Early stage venture capital</a:t>
                      </a:r>
                      <a:endParaRPr lang="en-IN" sz="20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2000" b="1" dirty="0">
                          <a:solidFill>
                            <a:srgbClr val="404F64"/>
                          </a:solidFill>
                        </a:rPr>
                        <a:t>Execution</a:t>
                      </a:r>
                      <a:endParaRPr lang="en-IN" sz="20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233993408"/>
                  </a:ext>
                </a:extLst>
              </a:tr>
              <a:tr h="7810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404F64"/>
                          </a:solidFill>
                        </a:rPr>
                        <a:t>Business process management</a:t>
                      </a:r>
                    </a:p>
                  </a:txBody>
                  <a:tcPr>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2000" b="1" dirty="0">
                          <a:solidFill>
                            <a:srgbClr val="404F64"/>
                          </a:solidFill>
                        </a:rPr>
                        <a:t>Business process innovation</a:t>
                      </a:r>
                      <a:endParaRPr lang="en-IN" sz="20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2000" b="1" dirty="0">
                          <a:solidFill>
                            <a:srgbClr val="404F64"/>
                          </a:solidFill>
                        </a:rPr>
                        <a:t>Venture capital</a:t>
                      </a:r>
                      <a:endParaRPr lang="en-IN" sz="20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2000" b="1" dirty="0">
                          <a:solidFill>
                            <a:srgbClr val="404F64"/>
                          </a:solidFill>
                        </a:rPr>
                        <a:t>Make proactive plan Hire </a:t>
                      </a:r>
                      <a:endParaRPr lang="en-IN" sz="20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571115606"/>
                  </a:ext>
                </a:extLst>
              </a:tr>
              <a:tr h="7810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404F64"/>
                          </a:solidFill>
                        </a:rPr>
                        <a:t>Growth strategies</a:t>
                      </a:r>
                    </a:p>
                  </a:txBody>
                  <a:tcPr>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2000" b="1" dirty="0">
                          <a:solidFill>
                            <a:srgbClr val="404F64"/>
                          </a:solidFill>
                        </a:rPr>
                        <a:t>Customer experience innovation</a:t>
                      </a:r>
                      <a:endParaRPr lang="en-IN" sz="20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2000" b="1" dirty="0">
                          <a:solidFill>
                            <a:srgbClr val="404F64"/>
                          </a:solidFill>
                        </a:rPr>
                        <a:t>VC rounds</a:t>
                      </a:r>
                      <a:endParaRPr lang="en-IN" sz="20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tc>
                  <a:txBody>
                    <a:bodyPr/>
                    <a:lstStyle/>
                    <a:p>
                      <a:r>
                        <a:rPr lang="en-US" sz="2000" b="1" dirty="0">
                          <a:solidFill>
                            <a:srgbClr val="404F64"/>
                          </a:solidFill>
                        </a:rPr>
                        <a:t>Hire a professional CEO</a:t>
                      </a:r>
                      <a:endParaRPr lang="en-IN" sz="2000" b="1" dirty="0">
                        <a:solidFill>
                          <a:srgbClr val="404F64"/>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76200" cap="flat" cmpd="sng" algn="ctr">
                      <a:solidFill>
                        <a:schemeClr val="accent4"/>
                      </a:solidFill>
                      <a:prstDash val="solid"/>
                      <a:round/>
                      <a:headEnd type="none" w="med" len="med"/>
                      <a:tailEnd type="none" w="med" len="med"/>
                    </a:lnT>
                    <a:lnB w="762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626152284"/>
                  </a:ext>
                </a:extLst>
              </a:tr>
            </a:tbl>
          </a:graphicData>
        </a:graphic>
      </p:graphicFrame>
    </p:spTree>
    <p:extLst>
      <p:ext uri="{BB962C8B-B14F-4D97-AF65-F5344CB8AC3E}">
        <p14:creationId xmlns:p14="http://schemas.microsoft.com/office/powerpoint/2010/main" val="3989100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Freeform: Shape 70">
            <a:extLst>
              <a:ext uri="{FF2B5EF4-FFF2-40B4-BE49-F238E27FC236}">
                <a16:creationId xmlns:a16="http://schemas.microsoft.com/office/drawing/2014/main" id="{98CE9AA6-99B4-095E-8E44-B9E780A3462E}"/>
              </a:ext>
            </a:extLst>
          </p:cNvPr>
          <p:cNvSpPr/>
          <p:nvPr/>
        </p:nvSpPr>
        <p:spPr>
          <a:xfrm>
            <a:off x="2824580" y="877611"/>
            <a:ext cx="1415731" cy="1300460"/>
          </a:xfrm>
          <a:custGeom>
            <a:avLst/>
            <a:gdLst>
              <a:gd name="connsiteX0" fmla="*/ 0 w 1415731"/>
              <a:gd name="connsiteY0" fmla="*/ 0 h 1300460"/>
              <a:gd name="connsiteX1" fmla="*/ 1376871 w 1415731"/>
              <a:gd name="connsiteY1" fmla="*/ 420576 h 1300460"/>
              <a:gd name="connsiteX2" fmla="*/ 1415731 w 1415731"/>
              <a:gd name="connsiteY2" fmla="*/ 449635 h 1300460"/>
              <a:gd name="connsiteX3" fmla="*/ 797571 w 1415731"/>
              <a:gd name="connsiteY3" fmla="*/ 1300460 h 1300460"/>
              <a:gd name="connsiteX4" fmla="*/ 788280 w 1415731"/>
              <a:gd name="connsiteY4" fmla="*/ 1293512 h 1300460"/>
              <a:gd name="connsiteX5" fmla="*/ 144152 w 1415731"/>
              <a:gd name="connsiteY5" fmla="*/ 1060004 h 1300460"/>
              <a:gd name="connsiteX6" fmla="*/ 0 w 1415731"/>
              <a:gd name="connsiteY6" fmla="*/ 1052725 h 1300460"/>
              <a:gd name="connsiteX7" fmla="*/ 0 w 1415731"/>
              <a:gd name="connsiteY7" fmla="*/ 0 h 1300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5731" h="1300460">
                <a:moveTo>
                  <a:pt x="0" y="0"/>
                </a:moveTo>
                <a:cubicBezTo>
                  <a:pt x="510024" y="0"/>
                  <a:pt x="983835" y="155046"/>
                  <a:pt x="1376871" y="420576"/>
                </a:cubicBezTo>
                <a:lnTo>
                  <a:pt x="1415731" y="449635"/>
                </a:lnTo>
                <a:lnTo>
                  <a:pt x="797571" y="1300460"/>
                </a:lnTo>
                <a:lnTo>
                  <a:pt x="788280" y="1293512"/>
                </a:lnTo>
                <a:cubicBezTo>
                  <a:pt x="600764" y="1166828"/>
                  <a:pt x="381133" y="1084071"/>
                  <a:pt x="144152" y="1060004"/>
                </a:cubicBezTo>
                <a:lnTo>
                  <a:pt x="0" y="1052725"/>
                </a:lnTo>
                <a:lnTo>
                  <a:pt x="0" y="0"/>
                </a:lnTo>
                <a:close/>
              </a:path>
            </a:pathLst>
          </a:custGeom>
          <a:gradFill flip="none" rotWithShape="1">
            <a:gsLst>
              <a:gs pos="17000">
                <a:schemeClr val="bg1">
                  <a:lumMod val="95000"/>
                </a:schemeClr>
              </a:gs>
              <a:gs pos="95000">
                <a:schemeClr val="bg1">
                  <a:lumMod val="85000"/>
                </a:schemeClr>
              </a:gs>
            </a:gsLst>
            <a:lin ang="2700000" scaled="1"/>
            <a:tileRect/>
          </a:gradFill>
          <a:ln>
            <a:gradFill flip="none" rotWithShape="1">
              <a:gsLst>
                <a:gs pos="0">
                  <a:schemeClr val="bg1">
                    <a:lumMod val="85000"/>
                  </a:schemeClr>
                </a:gs>
                <a:gs pos="10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0" name="Freeform: Shape 69">
            <a:extLst>
              <a:ext uri="{FF2B5EF4-FFF2-40B4-BE49-F238E27FC236}">
                <a16:creationId xmlns:a16="http://schemas.microsoft.com/office/drawing/2014/main" id="{3F983645-5FCD-FEED-3DF5-CCAE972C1D70}"/>
              </a:ext>
            </a:extLst>
          </p:cNvPr>
          <p:cNvSpPr/>
          <p:nvPr/>
        </p:nvSpPr>
        <p:spPr>
          <a:xfrm>
            <a:off x="3696742" y="1383024"/>
            <a:ext cx="1453474" cy="1478365"/>
          </a:xfrm>
          <a:custGeom>
            <a:avLst/>
            <a:gdLst>
              <a:gd name="connsiteX0" fmla="*/ 618161 w 1453474"/>
              <a:gd name="connsiteY0" fmla="*/ 0 h 1478365"/>
              <a:gd name="connsiteX1" fmla="*/ 694288 w 1453474"/>
              <a:gd name="connsiteY1" fmla="*/ 56927 h 1478365"/>
              <a:gd name="connsiteX2" fmla="*/ 1396926 w 1453474"/>
              <a:gd name="connsiteY2" fmla="*/ 998639 h 1478365"/>
              <a:gd name="connsiteX3" fmla="*/ 1453474 w 1453474"/>
              <a:gd name="connsiteY3" fmla="*/ 1153139 h 1478365"/>
              <a:gd name="connsiteX4" fmla="*/ 452532 w 1453474"/>
              <a:gd name="connsiteY4" fmla="*/ 1478365 h 1478365"/>
              <a:gd name="connsiteX5" fmla="*/ 426927 w 1453474"/>
              <a:gd name="connsiteY5" fmla="*/ 1408407 h 1478365"/>
              <a:gd name="connsiteX6" fmla="*/ 24655 w 1453474"/>
              <a:gd name="connsiteY6" fmla="*/ 869262 h 1478365"/>
              <a:gd name="connsiteX7" fmla="*/ 0 w 1453474"/>
              <a:gd name="connsiteY7" fmla="*/ 850826 h 1478365"/>
              <a:gd name="connsiteX8" fmla="*/ 618161 w 1453474"/>
              <a:gd name="connsiteY8" fmla="*/ 0 h 1478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3474" h="1478365">
                <a:moveTo>
                  <a:pt x="618161" y="0"/>
                </a:moveTo>
                <a:lnTo>
                  <a:pt x="694288" y="56927"/>
                </a:lnTo>
                <a:cubicBezTo>
                  <a:pt x="998348" y="307860"/>
                  <a:pt x="1241157" y="630360"/>
                  <a:pt x="1396926" y="998639"/>
                </a:cubicBezTo>
                <a:lnTo>
                  <a:pt x="1453474" y="1153139"/>
                </a:lnTo>
                <a:lnTo>
                  <a:pt x="452532" y="1478365"/>
                </a:lnTo>
                <a:lnTo>
                  <a:pt x="426927" y="1408407"/>
                </a:lnTo>
                <a:cubicBezTo>
                  <a:pt x="337747" y="1197562"/>
                  <a:pt x="198735" y="1012925"/>
                  <a:pt x="24655" y="869262"/>
                </a:cubicBezTo>
                <a:lnTo>
                  <a:pt x="0" y="850826"/>
                </a:lnTo>
                <a:lnTo>
                  <a:pt x="618161" y="0"/>
                </a:lnTo>
                <a:close/>
              </a:path>
            </a:pathLst>
          </a:custGeom>
          <a:gradFill flip="none" rotWithShape="1">
            <a:gsLst>
              <a:gs pos="17000">
                <a:schemeClr val="bg1">
                  <a:lumMod val="95000"/>
                </a:schemeClr>
              </a:gs>
              <a:gs pos="95000">
                <a:schemeClr val="bg1">
                  <a:lumMod val="85000"/>
                </a:schemeClr>
              </a:gs>
            </a:gsLst>
            <a:lin ang="2700000" scaled="1"/>
            <a:tileRect/>
          </a:gradFill>
          <a:ln>
            <a:gradFill flip="none" rotWithShape="1">
              <a:gsLst>
                <a:gs pos="0">
                  <a:schemeClr val="bg1">
                    <a:lumMod val="85000"/>
                  </a:schemeClr>
                </a:gs>
                <a:gs pos="10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8" name="Freeform: Shape 67">
            <a:extLst>
              <a:ext uri="{FF2B5EF4-FFF2-40B4-BE49-F238E27FC236}">
                <a16:creationId xmlns:a16="http://schemas.microsoft.com/office/drawing/2014/main" id="{452E2CC0-E2F6-895A-726B-0DE7452EE2B6}"/>
              </a:ext>
            </a:extLst>
          </p:cNvPr>
          <p:cNvSpPr/>
          <p:nvPr/>
        </p:nvSpPr>
        <p:spPr>
          <a:xfrm>
            <a:off x="4178499" y="2624195"/>
            <a:ext cx="1108693" cy="1430034"/>
          </a:xfrm>
          <a:custGeom>
            <a:avLst/>
            <a:gdLst>
              <a:gd name="connsiteX0" fmla="*/ 1002165 w 1108693"/>
              <a:gd name="connsiteY0" fmla="*/ 0 h 1430034"/>
              <a:gd name="connsiteX1" fmla="*/ 1058661 w 1108693"/>
              <a:gd name="connsiteY1" fmla="*/ 219725 h 1430034"/>
              <a:gd name="connsiteX2" fmla="*/ 1108693 w 1108693"/>
              <a:gd name="connsiteY2" fmla="*/ 716028 h 1430034"/>
              <a:gd name="connsiteX3" fmla="*/ 1058661 w 1108693"/>
              <a:gd name="connsiteY3" fmla="*/ 1212331 h 1430034"/>
              <a:gd name="connsiteX4" fmla="*/ 1002685 w 1108693"/>
              <a:gd name="connsiteY4" fmla="*/ 1430034 h 1430034"/>
              <a:gd name="connsiteX5" fmla="*/ 520 w 1108693"/>
              <a:gd name="connsiteY5" fmla="*/ 1104411 h 1430034"/>
              <a:gd name="connsiteX6" fmla="*/ 27323 w 1108693"/>
              <a:gd name="connsiteY6" fmla="*/ 1000169 h 1430034"/>
              <a:gd name="connsiteX7" fmla="*/ 55967 w 1108693"/>
              <a:gd name="connsiteY7" fmla="*/ 716028 h 1430034"/>
              <a:gd name="connsiteX8" fmla="*/ 27323 w 1108693"/>
              <a:gd name="connsiteY8" fmla="*/ 431887 h 1430034"/>
              <a:gd name="connsiteX9" fmla="*/ 0 w 1108693"/>
              <a:gd name="connsiteY9" fmla="*/ 325623 h 1430034"/>
              <a:gd name="connsiteX10" fmla="*/ 1002165 w 1108693"/>
              <a:gd name="connsiteY10" fmla="*/ 0 h 143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8693" h="1430034">
                <a:moveTo>
                  <a:pt x="1002165" y="0"/>
                </a:moveTo>
                <a:lnTo>
                  <a:pt x="1058661" y="219725"/>
                </a:lnTo>
                <a:cubicBezTo>
                  <a:pt x="1091466" y="380036"/>
                  <a:pt x="1108693" y="546020"/>
                  <a:pt x="1108693" y="716028"/>
                </a:cubicBezTo>
                <a:cubicBezTo>
                  <a:pt x="1108693" y="886036"/>
                  <a:pt x="1091466" y="1052020"/>
                  <a:pt x="1058661" y="1212331"/>
                </a:cubicBezTo>
                <a:lnTo>
                  <a:pt x="1002685" y="1430034"/>
                </a:lnTo>
                <a:lnTo>
                  <a:pt x="520" y="1104411"/>
                </a:lnTo>
                <a:lnTo>
                  <a:pt x="27323" y="1000169"/>
                </a:lnTo>
                <a:cubicBezTo>
                  <a:pt x="46104" y="908389"/>
                  <a:pt x="55967" y="813361"/>
                  <a:pt x="55967" y="716028"/>
                </a:cubicBezTo>
                <a:cubicBezTo>
                  <a:pt x="55967" y="618696"/>
                  <a:pt x="46104" y="523667"/>
                  <a:pt x="27323" y="431887"/>
                </a:cubicBezTo>
                <a:lnTo>
                  <a:pt x="0" y="325623"/>
                </a:lnTo>
                <a:lnTo>
                  <a:pt x="1002165" y="0"/>
                </a:lnTo>
                <a:close/>
              </a:path>
            </a:pathLst>
          </a:custGeom>
          <a:gradFill flip="none" rotWithShape="1">
            <a:gsLst>
              <a:gs pos="17000">
                <a:schemeClr val="bg1">
                  <a:lumMod val="95000"/>
                </a:schemeClr>
              </a:gs>
              <a:gs pos="95000">
                <a:schemeClr val="bg1">
                  <a:lumMod val="85000"/>
                </a:schemeClr>
              </a:gs>
            </a:gsLst>
            <a:lin ang="2700000" scaled="1"/>
            <a:tileRect/>
          </a:gradFill>
          <a:ln>
            <a:gradFill flip="none" rotWithShape="1">
              <a:gsLst>
                <a:gs pos="0">
                  <a:schemeClr val="bg1">
                    <a:lumMod val="85000"/>
                  </a:schemeClr>
                </a:gs>
                <a:gs pos="10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7" name="Freeform: Shape 66">
            <a:extLst>
              <a:ext uri="{FF2B5EF4-FFF2-40B4-BE49-F238E27FC236}">
                <a16:creationId xmlns:a16="http://schemas.microsoft.com/office/drawing/2014/main" id="{1E53DAD9-1E3F-5814-04BE-246C0D1B7FE8}"/>
              </a:ext>
            </a:extLst>
          </p:cNvPr>
          <p:cNvSpPr/>
          <p:nvPr/>
        </p:nvSpPr>
        <p:spPr>
          <a:xfrm>
            <a:off x="3690898" y="3817099"/>
            <a:ext cx="1460035" cy="1484694"/>
          </a:xfrm>
          <a:custGeom>
            <a:avLst/>
            <a:gdLst>
              <a:gd name="connsiteX0" fmla="*/ 459093 w 1460035"/>
              <a:gd name="connsiteY0" fmla="*/ 0 h 1484694"/>
              <a:gd name="connsiteX1" fmla="*/ 1460035 w 1460035"/>
              <a:gd name="connsiteY1" fmla="*/ 325226 h 1484694"/>
              <a:gd name="connsiteX2" fmla="*/ 1402770 w 1460035"/>
              <a:gd name="connsiteY2" fmla="*/ 481684 h 1484694"/>
              <a:gd name="connsiteX3" fmla="*/ 700132 w 1460035"/>
              <a:gd name="connsiteY3" fmla="*/ 1423396 h 1484694"/>
              <a:gd name="connsiteX4" fmla="*/ 618160 w 1460035"/>
              <a:gd name="connsiteY4" fmla="*/ 1484694 h 1484694"/>
              <a:gd name="connsiteX5" fmla="*/ 0 w 1460035"/>
              <a:gd name="connsiteY5" fmla="*/ 633869 h 1484694"/>
              <a:gd name="connsiteX6" fmla="*/ 30500 w 1460035"/>
              <a:gd name="connsiteY6" fmla="*/ 611061 h 1484694"/>
              <a:gd name="connsiteX7" fmla="*/ 432772 w 1460035"/>
              <a:gd name="connsiteY7" fmla="*/ 71916 h 1484694"/>
              <a:gd name="connsiteX8" fmla="*/ 459093 w 1460035"/>
              <a:gd name="connsiteY8" fmla="*/ 0 h 148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0035" h="1484694">
                <a:moveTo>
                  <a:pt x="459093" y="0"/>
                </a:moveTo>
                <a:lnTo>
                  <a:pt x="1460035" y="325226"/>
                </a:lnTo>
                <a:lnTo>
                  <a:pt x="1402770" y="481684"/>
                </a:lnTo>
                <a:cubicBezTo>
                  <a:pt x="1247001" y="849963"/>
                  <a:pt x="1004192" y="1172463"/>
                  <a:pt x="700132" y="1423396"/>
                </a:cubicBezTo>
                <a:lnTo>
                  <a:pt x="618160" y="1484694"/>
                </a:lnTo>
                <a:lnTo>
                  <a:pt x="0" y="633869"/>
                </a:lnTo>
                <a:lnTo>
                  <a:pt x="30500" y="611061"/>
                </a:lnTo>
                <a:cubicBezTo>
                  <a:pt x="204580" y="467398"/>
                  <a:pt x="343592" y="282761"/>
                  <a:pt x="432772" y="71916"/>
                </a:cubicBezTo>
                <a:lnTo>
                  <a:pt x="459093" y="0"/>
                </a:lnTo>
                <a:close/>
              </a:path>
            </a:pathLst>
          </a:custGeom>
          <a:gradFill flip="none" rotWithShape="1">
            <a:gsLst>
              <a:gs pos="17000">
                <a:schemeClr val="bg1">
                  <a:lumMod val="95000"/>
                </a:schemeClr>
              </a:gs>
              <a:gs pos="95000">
                <a:schemeClr val="bg1">
                  <a:lumMod val="85000"/>
                </a:schemeClr>
              </a:gs>
            </a:gsLst>
            <a:lin ang="2700000" scaled="1"/>
            <a:tileRect/>
          </a:gradFill>
          <a:ln>
            <a:gradFill flip="none" rotWithShape="1">
              <a:gsLst>
                <a:gs pos="0">
                  <a:schemeClr val="bg1">
                    <a:lumMod val="85000"/>
                  </a:schemeClr>
                </a:gs>
                <a:gs pos="10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6" name="Freeform: Shape 65">
            <a:extLst>
              <a:ext uri="{FF2B5EF4-FFF2-40B4-BE49-F238E27FC236}">
                <a16:creationId xmlns:a16="http://schemas.microsoft.com/office/drawing/2014/main" id="{55FB659C-960E-C8B6-6C99-97137CAC69F0}"/>
              </a:ext>
            </a:extLst>
          </p:cNvPr>
          <p:cNvSpPr/>
          <p:nvPr/>
        </p:nvSpPr>
        <p:spPr>
          <a:xfrm>
            <a:off x="2828919" y="4506748"/>
            <a:ext cx="1405547" cy="1295707"/>
          </a:xfrm>
          <a:custGeom>
            <a:avLst/>
            <a:gdLst>
              <a:gd name="connsiteX0" fmla="*/ 787386 w 1405547"/>
              <a:gd name="connsiteY0" fmla="*/ 0 h 1295707"/>
              <a:gd name="connsiteX1" fmla="*/ 1405547 w 1405547"/>
              <a:gd name="connsiteY1" fmla="*/ 850825 h 1295707"/>
              <a:gd name="connsiteX2" fmla="*/ 1372532 w 1405547"/>
              <a:gd name="connsiteY2" fmla="*/ 875513 h 1295707"/>
              <a:gd name="connsiteX3" fmla="*/ 247449 w 1405547"/>
              <a:gd name="connsiteY3" fmla="*/ 1283375 h 1295707"/>
              <a:gd name="connsiteX4" fmla="*/ 3240 w 1405547"/>
              <a:gd name="connsiteY4" fmla="*/ 1295707 h 1295707"/>
              <a:gd name="connsiteX5" fmla="*/ 0 w 1405547"/>
              <a:gd name="connsiteY5" fmla="*/ 243143 h 1295707"/>
              <a:gd name="connsiteX6" fmla="*/ 139813 w 1405547"/>
              <a:gd name="connsiteY6" fmla="*/ 236083 h 1295707"/>
              <a:gd name="connsiteX7" fmla="*/ 783941 w 1405547"/>
              <a:gd name="connsiteY7" fmla="*/ 2575 h 1295707"/>
              <a:gd name="connsiteX8" fmla="*/ 787386 w 1405547"/>
              <a:gd name="connsiteY8" fmla="*/ 0 h 1295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5547" h="1295707">
                <a:moveTo>
                  <a:pt x="787386" y="0"/>
                </a:moveTo>
                <a:lnTo>
                  <a:pt x="1405547" y="850825"/>
                </a:lnTo>
                <a:lnTo>
                  <a:pt x="1372532" y="875513"/>
                </a:lnTo>
                <a:cubicBezTo>
                  <a:pt x="1045002" y="1096788"/>
                  <a:pt x="661378" y="1241338"/>
                  <a:pt x="247449" y="1283375"/>
                </a:cubicBezTo>
                <a:lnTo>
                  <a:pt x="3240" y="1295707"/>
                </a:lnTo>
                <a:lnTo>
                  <a:pt x="0" y="243143"/>
                </a:lnTo>
                <a:lnTo>
                  <a:pt x="139813" y="236083"/>
                </a:lnTo>
                <a:cubicBezTo>
                  <a:pt x="376794" y="212016"/>
                  <a:pt x="596425" y="129259"/>
                  <a:pt x="783941" y="2575"/>
                </a:cubicBezTo>
                <a:lnTo>
                  <a:pt x="787386" y="0"/>
                </a:lnTo>
                <a:close/>
              </a:path>
            </a:pathLst>
          </a:custGeom>
          <a:gradFill flip="none" rotWithShape="1">
            <a:gsLst>
              <a:gs pos="17000">
                <a:schemeClr val="bg1">
                  <a:lumMod val="95000"/>
                </a:schemeClr>
              </a:gs>
              <a:gs pos="95000">
                <a:schemeClr val="bg1">
                  <a:lumMod val="85000"/>
                </a:schemeClr>
              </a:gs>
            </a:gsLst>
            <a:lin ang="2700000" scaled="1"/>
            <a:tileRect/>
          </a:gradFill>
          <a:ln>
            <a:gradFill flip="none" rotWithShape="1">
              <a:gsLst>
                <a:gs pos="0">
                  <a:schemeClr val="bg1">
                    <a:lumMod val="85000"/>
                  </a:schemeClr>
                </a:gs>
                <a:gs pos="10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0" name="Freeform: Shape 59">
            <a:extLst>
              <a:ext uri="{FF2B5EF4-FFF2-40B4-BE49-F238E27FC236}">
                <a16:creationId xmlns:a16="http://schemas.microsoft.com/office/drawing/2014/main" id="{C837AB89-3250-C6A9-DCDD-37405156F605}"/>
              </a:ext>
            </a:extLst>
          </p:cNvPr>
          <p:cNvSpPr/>
          <p:nvPr/>
        </p:nvSpPr>
        <p:spPr>
          <a:xfrm>
            <a:off x="2824580" y="419225"/>
            <a:ext cx="1684869" cy="908021"/>
          </a:xfrm>
          <a:custGeom>
            <a:avLst/>
            <a:gdLst>
              <a:gd name="connsiteX0" fmla="*/ 0 w 1684869"/>
              <a:gd name="connsiteY0" fmla="*/ 0 h 908021"/>
              <a:gd name="connsiteX1" fmla="*/ 1631732 w 1684869"/>
              <a:gd name="connsiteY1" fmla="*/ 497902 h 908021"/>
              <a:gd name="connsiteX2" fmla="*/ 1684869 w 1684869"/>
              <a:gd name="connsiteY2" fmla="*/ 537584 h 908021"/>
              <a:gd name="connsiteX3" fmla="*/ 1415731 w 1684869"/>
              <a:gd name="connsiteY3" fmla="*/ 908021 h 908021"/>
              <a:gd name="connsiteX4" fmla="*/ 1376871 w 1684869"/>
              <a:gd name="connsiteY4" fmla="*/ 878962 h 908021"/>
              <a:gd name="connsiteX5" fmla="*/ 0 w 1684869"/>
              <a:gd name="connsiteY5" fmla="*/ 458386 h 908021"/>
              <a:gd name="connsiteX6" fmla="*/ 0 w 1684869"/>
              <a:gd name="connsiteY6" fmla="*/ 0 h 9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4869" h="908021">
                <a:moveTo>
                  <a:pt x="0" y="0"/>
                </a:moveTo>
                <a:cubicBezTo>
                  <a:pt x="604301" y="0"/>
                  <a:pt x="1165792" y="183521"/>
                  <a:pt x="1631732" y="497902"/>
                </a:cubicBezTo>
                <a:lnTo>
                  <a:pt x="1684869" y="537584"/>
                </a:lnTo>
                <a:lnTo>
                  <a:pt x="1415731" y="908021"/>
                </a:lnTo>
                <a:lnTo>
                  <a:pt x="1376871" y="878962"/>
                </a:lnTo>
                <a:cubicBezTo>
                  <a:pt x="983835" y="613432"/>
                  <a:pt x="510024" y="458386"/>
                  <a:pt x="0" y="458386"/>
                </a:cubicBezTo>
                <a:lnTo>
                  <a:pt x="0" y="0"/>
                </a:lnTo>
                <a:close/>
              </a:path>
            </a:pathLst>
          </a:custGeom>
          <a:solidFill>
            <a:srgbClr val="C69C6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58" name="Freeform: Shape 57">
            <a:extLst>
              <a:ext uri="{FF2B5EF4-FFF2-40B4-BE49-F238E27FC236}">
                <a16:creationId xmlns:a16="http://schemas.microsoft.com/office/drawing/2014/main" id="{93EA335B-9F1D-6F15-6FE9-502E7EDBFBC7}"/>
              </a:ext>
            </a:extLst>
          </p:cNvPr>
          <p:cNvSpPr/>
          <p:nvPr/>
        </p:nvSpPr>
        <p:spPr>
          <a:xfrm>
            <a:off x="4314904" y="1012539"/>
            <a:ext cx="1271223" cy="1523624"/>
          </a:xfrm>
          <a:custGeom>
            <a:avLst/>
            <a:gdLst>
              <a:gd name="connsiteX0" fmla="*/ 269173 w 1271223"/>
              <a:gd name="connsiteY0" fmla="*/ 0 h 1523624"/>
              <a:gd name="connsiteX1" fmla="*/ 366172 w 1271223"/>
              <a:gd name="connsiteY1" fmla="*/ 72438 h 1523624"/>
              <a:gd name="connsiteX2" fmla="*/ 1199833 w 1271223"/>
              <a:gd name="connsiteY2" fmla="*/ 1187648 h 1523624"/>
              <a:gd name="connsiteX3" fmla="*/ 1271223 w 1271223"/>
              <a:gd name="connsiteY3" fmla="*/ 1381988 h 1523624"/>
              <a:gd name="connsiteX4" fmla="*/ 835313 w 1271223"/>
              <a:gd name="connsiteY4" fmla="*/ 1523624 h 1523624"/>
              <a:gd name="connsiteX5" fmla="*/ 778765 w 1271223"/>
              <a:gd name="connsiteY5" fmla="*/ 1369124 h 1523624"/>
              <a:gd name="connsiteX6" fmla="*/ 76127 w 1271223"/>
              <a:gd name="connsiteY6" fmla="*/ 427412 h 1523624"/>
              <a:gd name="connsiteX7" fmla="*/ 0 w 1271223"/>
              <a:gd name="connsiteY7" fmla="*/ 370485 h 1523624"/>
              <a:gd name="connsiteX8" fmla="*/ 269173 w 1271223"/>
              <a:gd name="connsiteY8" fmla="*/ 0 h 1523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1223" h="1523624">
                <a:moveTo>
                  <a:pt x="269173" y="0"/>
                </a:moveTo>
                <a:lnTo>
                  <a:pt x="366172" y="72438"/>
                </a:lnTo>
                <a:cubicBezTo>
                  <a:pt x="726692" y="369554"/>
                  <a:pt x="1014754" y="751448"/>
                  <a:pt x="1199833" y="1187648"/>
                </a:cubicBezTo>
                <a:lnTo>
                  <a:pt x="1271223" y="1381988"/>
                </a:lnTo>
                <a:lnTo>
                  <a:pt x="835313" y="1523624"/>
                </a:lnTo>
                <a:lnTo>
                  <a:pt x="778765" y="1369124"/>
                </a:lnTo>
                <a:cubicBezTo>
                  <a:pt x="622996" y="1000845"/>
                  <a:pt x="380187" y="678345"/>
                  <a:pt x="76127" y="427412"/>
                </a:cubicBezTo>
                <a:lnTo>
                  <a:pt x="0" y="370485"/>
                </a:lnTo>
                <a:lnTo>
                  <a:pt x="269173" y="0"/>
                </a:lnTo>
                <a:close/>
              </a:path>
            </a:pathLst>
          </a:custGeom>
          <a:solidFill>
            <a:srgbClr val="A67C5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57" name="Freeform: Shape 56">
            <a:extLst>
              <a:ext uri="{FF2B5EF4-FFF2-40B4-BE49-F238E27FC236}">
                <a16:creationId xmlns:a16="http://schemas.microsoft.com/office/drawing/2014/main" id="{7C24424E-6358-ECAA-95FA-64849A13C27F}"/>
              </a:ext>
            </a:extLst>
          </p:cNvPr>
          <p:cNvSpPr/>
          <p:nvPr/>
        </p:nvSpPr>
        <p:spPr>
          <a:xfrm>
            <a:off x="5180664" y="2482463"/>
            <a:ext cx="564914" cy="1713629"/>
          </a:xfrm>
          <a:custGeom>
            <a:avLst/>
            <a:gdLst>
              <a:gd name="connsiteX0" fmla="*/ 436209 w 564914"/>
              <a:gd name="connsiteY0" fmla="*/ 0 h 1713629"/>
              <a:gd name="connsiteX1" fmla="*/ 504782 w 564914"/>
              <a:gd name="connsiteY1" fmla="*/ 265280 h 1713629"/>
              <a:gd name="connsiteX2" fmla="*/ 564911 w 564914"/>
              <a:gd name="connsiteY2" fmla="*/ 853266 h 1713629"/>
              <a:gd name="connsiteX3" fmla="*/ 506593 w 564914"/>
              <a:gd name="connsiteY3" fmla="*/ 1441434 h 1713629"/>
              <a:gd name="connsiteX4" fmla="*/ 437126 w 564914"/>
              <a:gd name="connsiteY4" fmla="*/ 1713629 h 1713629"/>
              <a:gd name="connsiteX5" fmla="*/ 520 w 564914"/>
              <a:gd name="connsiteY5" fmla="*/ 1571767 h 1713629"/>
              <a:gd name="connsiteX6" fmla="*/ 56496 w 564914"/>
              <a:gd name="connsiteY6" fmla="*/ 1354064 h 1713629"/>
              <a:gd name="connsiteX7" fmla="*/ 106528 w 564914"/>
              <a:gd name="connsiteY7" fmla="*/ 857761 h 1713629"/>
              <a:gd name="connsiteX8" fmla="*/ 56496 w 564914"/>
              <a:gd name="connsiteY8" fmla="*/ 361458 h 1713629"/>
              <a:gd name="connsiteX9" fmla="*/ 0 w 564914"/>
              <a:gd name="connsiteY9" fmla="*/ 141733 h 1713629"/>
              <a:gd name="connsiteX10" fmla="*/ 436209 w 564914"/>
              <a:gd name="connsiteY10" fmla="*/ 0 h 171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4914" h="1713629">
                <a:moveTo>
                  <a:pt x="436209" y="0"/>
                </a:moveTo>
                <a:lnTo>
                  <a:pt x="504782" y="265280"/>
                </a:lnTo>
                <a:cubicBezTo>
                  <a:pt x="543907" y="455188"/>
                  <a:pt x="564601" y="651833"/>
                  <a:pt x="564911" y="853266"/>
                </a:cubicBezTo>
                <a:cubicBezTo>
                  <a:pt x="565221" y="1054699"/>
                  <a:pt x="545133" y="1251407"/>
                  <a:pt x="506593" y="1441434"/>
                </a:cubicBezTo>
                <a:lnTo>
                  <a:pt x="437126" y="1713629"/>
                </a:lnTo>
                <a:lnTo>
                  <a:pt x="520" y="1571767"/>
                </a:lnTo>
                <a:lnTo>
                  <a:pt x="56496" y="1354064"/>
                </a:lnTo>
                <a:cubicBezTo>
                  <a:pt x="89301" y="1193753"/>
                  <a:pt x="106528" y="1027769"/>
                  <a:pt x="106528" y="857761"/>
                </a:cubicBezTo>
                <a:cubicBezTo>
                  <a:pt x="106528" y="687753"/>
                  <a:pt x="89301" y="521769"/>
                  <a:pt x="56496" y="361458"/>
                </a:cubicBezTo>
                <a:lnTo>
                  <a:pt x="0" y="141733"/>
                </a:lnTo>
                <a:lnTo>
                  <a:pt x="436209" y="0"/>
                </a:lnTo>
                <a:close/>
              </a:path>
            </a:pathLst>
          </a:custGeom>
          <a:solidFill>
            <a:srgbClr val="754C2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56" name="Freeform: Shape 55">
            <a:extLst>
              <a:ext uri="{FF2B5EF4-FFF2-40B4-BE49-F238E27FC236}">
                <a16:creationId xmlns:a16="http://schemas.microsoft.com/office/drawing/2014/main" id="{06B0C629-AB0B-C40D-9173-56C2EDA8417F}"/>
              </a:ext>
            </a:extLst>
          </p:cNvPr>
          <p:cNvSpPr/>
          <p:nvPr/>
        </p:nvSpPr>
        <p:spPr>
          <a:xfrm>
            <a:off x="4309059" y="4142325"/>
            <a:ext cx="1277605" cy="1529936"/>
          </a:xfrm>
          <a:custGeom>
            <a:avLst/>
            <a:gdLst>
              <a:gd name="connsiteX0" fmla="*/ 841875 w 1277605"/>
              <a:gd name="connsiteY0" fmla="*/ 0 h 1529936"/>
              <a:gd name="connsiteX1" fmla="*/ 1277605 w 1277605"/>
              <a:gd name="connsiteY1" fmla="*/ 141577 h 1529936"/>
              <a:gd name="connsiteX2" fmla="*/ 1209174 w 1277605"/>
              <a:gd name="connsiteY2" fmla="*/ 329648 h 1529936"/>
              <a:gd name="connsiteX3" fmla="*/ 378950 w 1277605"/>
              <a:gd name="connsiteY3" fmla="*/ 1447419 h 1529936"/>
              <a:gd name="connsiteX4" fmla="*/ 269161 w 1277605"/>
              <a:gd name="connsiteY4" fmla="*/ 1529936 h 1529936"/>
              <a:gd name="connsiteX5" fmla="*/ 0 w 1277605"/>
              <a:gd name="connsiteY5" fmla="*/ 1159468 h 1529936"/>
              <a:gd name="connsiteX6" fmla="*/ 81972 w 1277605"/>
              <a:gd name="connsiteY6" fmla="*/ 1098170 h 1529936"/>
              <a:gd name="connsiteX7" fmla="*/ 784610 w 1277605"/>
              <a:gd name="connsiteY7" fmla="*/ 156458 h 1529936"/>
              <a:gd name="connsiteX8" fmla="*/ 841875 w 1277605"/>
              <a:gd name="connsiteY8" fmla="*/ 0 h 152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7605" h="1529936">
                <a:moveTo>
                  <a:pt x="841875" y="0"/>
                </a:moveTo>
                <a:lnTo>
                  <a:pt x="1277605" y="141577"/>
                </a:lnTo>
                <a:lnTo>
                  <a:pt x="1209174" y="329648"/>
                </a:lnTo>
                <a:cubicBezTo>
                  <a:pt x="1025438" y="766416"/>
                  <a:pt x="738554" y="1149195"/>
                  <a:pt x="378950" y="1447419"/>
                </a:cubicBezTo>
                <a:lnTo>
                  <a:pt x="269161" y="1529936"/>
                </a:lnTo>
                <a:lnTo>
                  <a:pt x="0" y="1159468"/>
                </a:lnTo>
                <a:lnTo>
                  <a:pt x="81972" y="1098170"/>
                </a:lnTo>
                <a:cubicBezTo>
                  <a:pt x="386032" y="847237"/>
                  <a:pt x="628841" y="524737"/>
                  <a:pt x="784610" y="156458"/>
                </a:cubicBezTo>
                <a:lnTo>
                  <a:pt x="841875" y="0"/>
                </a:lnTo>
                <a:close/>
              </a:path>
            </a:pathLst>
          </a:custGeom>
          <a:solidFill>
            <a:srgbClr val="60381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55" name="Freeform: Shape 54">
            <a:extLst>
              <a:ext uri="{FF2B5EF4-FFF2-40B4-BE49-F238E27FC236}">
                <a16:creationId xmlns:a16="http://schemas.microsoft.com/office/drawing/2014/main" id="{1B66C411-2DB6-0CB5-E1AE-57D2347EA9D8}"/>
              </a:ext>
            </a:extLst>
          </p:cNvPr>
          <p:cNvSpPr/>
          <p:nvPr/>
        </p:nvSpPr>
        <p:spPr>
          <a:xfrm>
            <a:off x="2832158" y="5357572"/>
            <a:ext cx="1671602" cy="903638"/>
          </a:xfrm>
          <a:custGeom>
            <a:avLst/>
            <a:gdLst>
              <a:gd name="connsiteX0" fmla="*/ 1402307 w 1671602"/>
              <a:gd name="connsiteY0" fmla="*/ 0 h 903638"/>
              <a:gd name="connsiteX1" fmla="*/ 1671602 w 1671602"/>
              <a:gd name="connsiteY1" fmla="*/ 370653 h 903638"/>
              <a:gd name="connsiteX2" fmla="*/ 1631604 w 1671602"/>
              <a:gd name="connsiteY2" fmla="*/ 400715 h 903638"/>
              <a:gd name="connsiteX3" fmla="*/ 1412 w 1671602"/>
              <a:gd name="connsiteY3" fmla="*/ 903638 h 903638"/>
              <a:gd name="connsiteX4" fmla="*/ 0 w 1671602"/>
              <a:gd name="connsiteY4" fmla="*/ 444882 h 903638"/>
              <a:gd name="connsiteX5" fmla="*/ 244209 w 1671602"/>
              <a:gd name="connsiteY5" fmla="*/ 432550 h 903638"/>
              <a:gd name="connsiteX6" fmla="*/ 1369292 w 1671602"/>
              <a:gd name="connsiteY6" fmla="*/ 24688 h 903638"/>
              <a:gd name="connsiteX7" fmla="*/ 1402307 w 1671602"/>
              <a:gd name="connsiteY7" fmla="*/ 0 h 9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1602" h="903638">
                <a:moveTo>
                  <a:pt x="1402307" y="0"/>
                </a:moveTo>
                <a:lnTo>
                  <a:pt x="1671602" y="370653"/>
                </a:lnTo>
                <a:lnTo>
                  <a:pt x="1631604" y="400715"/>
                </a:lnTo>
                <a:cubicBezTo>
                  <a:pt x="1166634" y="716529"/>
                  <a:pt x="605710" y="901778"/>
                  <a:pt x="1412" y="903638"/>
                </a:cubicBezTo>
                <a:lnTo>
                  <a:pt x="0" y="444882"/>
                </a:lnTo>
                <a:lnTo>
                  <a:pt x="244209" y="432550"/>
                </a:lnTo>
                <a:cubicBezTo>
                  <a:pt x="658138" y="390513"/>
                  <a:pt x="1041762" y="245963"/>
                  <a:pt x="1369292" y="24688"/>
                </a:cubicBezTo>
                <a:lnTo>
                  <a:pt x="1402307" y="0"/>
                </a:lnTo>
                <a:close/>
              </a:path>
            </a:pathLst>
          </a:custGeom>
          <a:solidFill>
            <a:srgbClr val="4221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7" name="Oval 76">
            <a:extLst>
              <a:ext uri="{FF2B5EF4-FFF2-40B4-BE49-F238E27FC236}">
                <a16:creationId xmlns:a16="http://schemas.microsoft.com/office/drawing/2014/main" id="{2E4D71AA-E761-7F06-920D-D8FEF6FF974F}"/>
              </a:ext>
            </a:extLst>
          </p:cNvPr>
          <p:cNvSpPr/>
          <p:nvPr/>
        </p:nvSpPr>
        <p:spPr>
          <a:xfrm>
            <a:off x="1501109" y="2015741"/>
            <a:ext cx="2646942" cy="2646942"/>
          </a:xfrm>
          <a:prstGeom prst="ellipse">
            <a:avLst/>
          </a:prstGeom>
          <a:gradFill flip="none" rotWithShape="1">
            <a:gsLst>
              <a:gs pos="17000">
                <a:schemeClr val="bg1">
                  <a:lumMod val="95000"/>
                </a:schemeClr>
              </a:gs>
              <a:gs pos="95000">
                <a:schemeClr val="bg1">
                  <a:lumMod val="85000"/>
                </a:schemeClr>
              </a:gs>
            </a:gsLst>
            <a:lin ang="2700000" scaled="1"/>
            <a:tileRect/>
          </a:gradFill>
          <a:ln>
            <a:gradFill flip="none" rotWithShape="1">
              <a:gsLst>
                <a:gs pos="0">
                  <a:schemeClr val="bg1">
                    <a:lumMod val="85000"/>
                  </a:schemeClr>
                </a:gs>
                <a:gs pos="100000">
                  <a:schemeClr val="bg1"/>
                </a:gs>
              </a:gsLst>
              <a:lin ang="2700000" scaled="1"/>
              <a:tileRect/>
            </a:gradFill>
          </a:ln>
          <a:effectLst>
            <a:outerShdw blurRad="139700" dist="762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5FD79E9E-5062-8375-9158-360D71E5DAF6}"/>
              </a:ext>
            </a:extLst>
          </p:cNvPr>
          <p:cNvSpPr/>
          <p:nvPr/>
        </p:nvSpPr>
        <p:spPr>
          <a:xfrm>
            <a:off x="2003866" y="2510920"/>
            <a:ext cx="1656584" cy="1656584"/>
          </a:xfrm>
          <a:prstGeom prst="ellipse">
            <a:avLst/>
          </a:prstGeom>
          <a:solidFill>
            <a:schemeClr val="bg1"/>
          </a:solidFill>
          <a:ln>
            <a:solidFill>
              <a:schemeClr val="accent1"/>
            </a:solidFill>
          </a:ln>
          <a:effectLst>
            <a:outerShdw blurRad="152400" sx="102000" sy="102000" algn="ctr" rotWithShape="0">
              <a:prstClr val="black">
                <a:alpha val="5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3" name="Connector: Elbow 82">
            <a:extLst>
              <a:ext uri="{FF2B5EF4-FFF2-40B4-BE49-F238E27FC236}">
                <a16:creationId xmlns:a16="http://schemas.microsoft.com/office/drawing/2014/main" id="{A681760B-0E36-C6C4-D58B-FACA9A7E2D73}"/>
              </a:ext>
            </a:extLst>
          </p:cNvPr>
          <p:cNvCxnSpPr>
            <a:cxnSpLocks/>
          </p:cNvCxnSpPr>
          <p:nvPr/>
        </p:nvCxnSpPr>
        <p:spPr>
          <a:xfrm>
            <a:off x="5124583" y="5089945"/>
            <a:ext cx="1392856" cy="307120"/>
          </a:xfrm>
          <a:prstGeom prst="bentConnector3">
            <a:avLst/>
          </a:prstGeom>
          <a:ln w="19050">
            <a:solidFill>
              <a:srgbClr val="603813"/>
            </a:solidFill>
            <a:prstDash val="dash"/>
            <a:headEnd type="oval"/>
            <a:tailEnd type="oval"/>
          </a:ln>
          <a:effectLst>
            <a:outerShdw blurRad="63500" sx="102000" sy="102000" algn="ctr" rotWithShape="0">
              <a:prstClr val="black">
                <a:alpha val="57000"/>
              </a:prstClr>
            </a:outerShdw>
          </a:effectLst>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6ED5FDD-2A54-18AC-762C-901662C7CC45}"/>
              </a:ext>
            </a:extLst>
          </p:cNvPr>
          <p:cNvCxnSpPr>
            <a:cxnSpLocks/>
            <a:stCxn id="57" idx="2"/>
          </p:cNvCxnSpPr>
          <p:nvPr/>
        </p:nvCxnSpPr>
        <p:spPr>
          <a:xfrm>
            <a:off x="5745575" y="3335729"/>
            <a:ext cx="1139456" cy="1301"/>
          </a:xfrm>
          <a:prstGeom prst="line">
            <a:avLst/>
          </a:prstGeom>
          <a:ln w="19050">
            <a:solidFill>
              <a:srgbClr val="754C24"/>
            </a:solidFill>
            <a:prstDash val="dash"/>
            <a:headEnd type="oval"/>
            <a:tailEnd type="oval"/>
          </a:ln>
          <a:effectLst>
            <a:outerShdw blurRad="63500" sx="102000" sy="102000" algn="ctr" rotWithShape="0">
              <a:prstClr val="black">
                <a:alpha val="57000"/>
              </a:prstClr>
            </a:outerShdw>
          </a:effectLst>
        </p:spPr>
        <p:style>
          <a:lnRef idx="1">
            <a:schemeClr val="accent1"/>
          </a:lnRef>
          <a:fillRef idx="0">
            <a:schemeClr val="accent1"/>
          </a:fillRef>
          <a:effectRef idx="0">
            <a:schemeClr val="accent1"/>
          </a:effectRef>
          <a:fontRef idx="minor">
            <a:schemeClr val="tx1"/>
          </a:fontRef>
        </p:style>
      </p:cxnSp>
      <p:grpSp>
        <p:nvGrpSpPr>
          <p:cNvPr id="86" name="Gear">
            <a:extLst>
              <a:ext uri="{FF2B5EF4-FFF2-40B4-BE49-F238E27FC236}">
                <a16:creationId xmlns:a16="http://schemas.microsoft.com/office/drawing/2014/main" id="{D52926A1-688E-4E30-BE61-B4B26E86E656}"/>
              </a:ext>
            </a:extLst>
          </p:cNvPr>
          <p:cNvGrpSpPr>
            <a:grpSpLocks noChangeAspect="1"/>
          </p:cNvGrpSpPr>
          <p:nvPr>
            <p:custDataLst>
              <p:tags r:id="rId1"/>
            </p:custDataLst>
          </p:nvPr>
        </p:nvGrpSpPr>
        <p:grpSpPr bwMode="auto">
          <a:xfrm>
            <a:off x="548087" y="211083"/>
            <a:ext cx="820880" cy="822602"/>
            <a:chOff x="8" y="8"/>
            <a:chExt cx="477" cy="478"/>
          </a:xfrm>
          <a:solidFill>
            <a:srgbClr val="C69C6D"/>
          </a:solidFill>
        </p:grpSpPr>
        <p:sp>
          <p:nvSpPr>
            <p:cNvPr id="87" name="Gear">
              <a:extLst>
                <a:ext uri="{FF2B5EF4-FFF2-40B4-BE49-F238E27FC236}">
                  <a16:creationId xmlns:a16="http://schemas.microsoft.com/office/drawing/2014/main" id="{1F47E9D9-1A6A-8D67-22D0-D2EF20E39C22}"/>
                </a:ext>
              </a:extLst>
            </p:cNvPr>
            <p:cNvSpPr>
              <a:spLocks noEditPoints="1"/>
            </p:cNvSpPr>
            <p:nvPr>
              <p:custDataLst>
                <p:tags r:id="rId2"/>
              </p:custDataLst>
            </p:nvPr>
          </p:nvSpPr>
          <p:spPr bwMode="auto">
            <a:xfrm>
              <a:off x="8" y="8"/>
              <a:ext cx="477" cy="478"/>
            </a:xfrm>
            <a:custGeom>
              <a:avLst/>
              <a:gdLst>
                <a:gd name="T0" fmla="*/ 1103 w 1223"/>
                <a:gd name="T1" fmla="*/ 249 h 1223"/>
                <a:gd name="T2" fmla="*/ 973 w 1223"/>
                <a:gd name="T3" fmla="*/ 119 h 1223"/>
                <a:gd name="T4" fmla="*/ 853 w 1223"/>
                <a:gd name="T5" fmla="*/ 220 h 1223"/>
                <a:gd name="T6" fmla="*/ 745 w 1223"/>
                <a:gd name="T7" fmla="*/ 171 h 1223"/>
                <a:gd name="T8" fmla="*/ 708 w 1223"/>
                <a:gd name="T9" fmla="*/ 8 h 1223"/>
                <a:gd name="T10" fmla="*/ 611 w 1223"/>
                <a:gd name="T11" fmla="*/ 0 h 1223"/>
                <a:gd name="T12" fmla="*/ 524 w 1223"/>
                <a:gd name="T13" fmla="*/ 6 h 1223"/>
                <a:gd name="T14" fmla="*/ 484 w 1223"/>
                <a:gd name="T15" fmla="*/ 170 h 1223"/>
                <a:gd name="T16" fmla="*/ 417 w 1223"/>
                <a:gd name="T17" fmla="*/ 195 h 1223"/>
                <a:gd name="T18" fmla="*/ 250 w 1223"/>
                <a:gd name="T19" fmla="*/ 121 h 1223"/>
                <a:gd name="T20" fmla="*/ 220 w 1223"/>
                <a:gd name="T21" fmla="*/ 141 h 1223"/>
                <a:gd name="T22" fmla="*/ 120 w 1223"/>
                <a:gd name="T23" fmla="*/ 249 h 1223"/>
                <a:gd name="T24" fmla="*/ 220 w 1223"/>
                <a:gd name="T25" fmla="*/ 370 h 1223"/>
                <a:gd name="T26" fmla="*/ 172 w 1223"/>
                <a:gd name="T27" fmla="*/ 478 h 1223"/>
                <a:gd name="T28" fmla="*/ 165 w 1223"/>
                <a:gd name="T29" fmla="*/ 505 h 1223"/>
                <a:gd name="T30" fmla="*/ 0 w 1223"/>
                <a:gd name="T31" fmla="*/ 594 h 1223"/>
                <a:gd name="T32" fmla="*/ 165 w 1223"/>
                <a:gd name="T33" fmla="*/ 717 h 1223"/>
                <a:gd name="T34" fmla="*/ 195 w 1223"/>
                <a:gd name="T35" fmla="*/ 806 h 1223"/>
                <a:gd name="T36" fmla="*/ 125 w 1223"/>
                <a:gd name="T37" fmla="*/ 978 h 1223"/>
                <a:gd name="T38" fmla="*/ 255 w 1223"/>
                <a:gd name="T39" fmla="*/ 1106 h 1223"/>
                <a:gd name="T40" fmla="*/ 375 w 1223"/>
                <a:gd name="T41" fmla="*/ 1005 h 1223"/>
                <a:gd name="T42" fmla="*/ 484 w 1223"/>
                <a:gd name="T43" fmla="*/ 1053 h 1223"/>
                <a:gd name="T44" fmla="*/ 524 w 1223"/>
                <a:gd name="T45" fmla="*/ 1216 h 1223"/>
                <a:gd name="T46" fmla="*/ 629 w 1223"/>
                <a:gd name="T47" fmla="*/ 1223 h 1223"/>
                <a:gd name="T48" fmla="*/ 723 w 1223"/>
                <a:gd name="T49" fmla="*/ 1056 h 1223"/>
                <a:gd name="T50" fmla="*/ 806 w 1223"/>
                <a:gd name="T51" fmla="*/ 1028 h 1223"/>
                <a:gd name="T52" fmla="*/ 859 w 1223"/>
                <a:gd name="T53" fmla="*/ 1001 h 1223"/>
                <a:gd name="T54" fmla="*/ 1003 w 1223"/>
                <a:gd name="T55" fmla="*/ 1084 h 1223"/>
                <a:gd name="T56" fmla="*/ 1107 w 1223"/>
                <a:gd name="T57" fmla="*/ 969 h 1223"/>
                <a:gd name="T58" fmla="*/ 1006 w 1223"/>
                <a:gd name="T59" fmla="*/ 846 h 1223"/>
                <a:gd name="T60" fmla="*/ 1051 w 1223"/>
                <a:gd name="T61" fmla="*/ 746 h 1223"/>
                <a:gd name="T62" fmla="*/ 1059 w 1223"/>
                <a:gd name="T63" fmla="*/ 719 h 1223"/>
                <a:gd name="T64" fmla="*/ 1223 w 1223"/>
                <a:gd name="T65" fmla="*/ 630 h 1223"/>
                <a:gd name="T66" fmla="*/ 1223 w 1223"/>
                <a:gd name="T67" fmla="*/ 593 h 1223"/>
                <a:gd name="T68" fmla="*/ 1059 w 1223"/>
                <a:gd name="T69" fmla="*/ 504 h 1223"/>
                <a:gd name="T70" fmla="*/ 1029 w 1223"/>
                <a:gd name="T71" fmla="*/ 418 h 1223"/>
                <a:gd name="T72" fmla="*/ 615 w 1223"/>
                <a:gd name="T73" fmla="*/ 385 h 1223"/>
                <a:gd name="T74" fmla="*/ 839 w 1223"/>
                <a:gd name="T75" fmla="*/ 609 h 1223"/>
                <a:gd name="T76" fmla="*/ 615 w 1223"/>
                <a:gd name="T77" fmla="*/ 833 h 1223"/>
                <a:gd name="T78" fmla="*/ 390 w 1223"/>
                <a:gd name="T79" fmla="*/ 609 h 1223"/>
                <a:gd name="T80" fmla="*/ 615 w 1223"/>
                <a:gd name="T81" fmla="*/ 385 h 1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23" h="1223">
                  <a:moveTo>
                    <a:pt x="1004" y="373"/>
                  </a:moveTo>
                  <a:cubicBezTo>
                    <a:pt x="1036" y="331"/>
                    <a:pt x="1070" y="291"/>
                    <a:pt x="1103" y="249"/>
                  </a:cubicBezTo>
                  <a:lnTo>
                    <a:pt x="1104" y="247"/>
                  </a:lnTo>
                  <a:cubicBezTo>
                    <a:pt x="1068" y="199"/>
                    <a:pt x="1024" y="156"/>
                    <a:pt x="973" y="119"/>
                  </a:cubicBezTo>
                  <a:lnTo>
                    <a:pt x="973" y="120"/>
                  </a:lnTo>
                  <a:cubicBezTo>
                    <a:pt x="931" y="153"/>
                    <a:pt x="891" y="186"/>
                    <a:pt x="853" y="220"/>
                  </a:cubicBezTo>
                  <a:cubicBezTo>
                    <a:pt x="836" y="210"/>
                    <a:pt x="821" y="201"/>
                    <a:pt x="805" y="195"/>
                  </a:cubicBezTo>
                  <a:cubicBezTo>
                    <a:pt x="786" y="185"/>
                    <a:pt x="766" y="178"/>
                    <a:pt x="745" y="171"/>
                  </a:cubicBezTo>
                  <a:cubicBezTo>
                    <a:pt x="737" y="169"/>
                    <a:pt x="730" y="168"/>
                    <a:pt x="722" y="165"/>
                  </a:cubicBezTo>
                  <a:cubicBezTo>
                    <a:pt x="719" y="113"/>
                    <a:pt x="713" y="60"/>
                    <a:pt x="708" y="8"/>
                  </a:cubicBezTo>
                  <a:cubicBezTo>
                    <a:pt x="683" y="4"/>
                    <a:pt x="656" y="1"/>
                    <a:pt x="631" y="0"/>
                  </a:cubicBezTo>
                  <a:lnTo>
                    <a:pt x="611" y="0"/>
                  </a:lnTo>
                  <a:lnTo>
                    <a:pt x="591" y="0"/>
                  </a:lnTo>
                  <a:cubicBezTo>
                    <a:pt x="569" y="1"/>
                    <a:pt x="546" y="3"/>
                    <a:pt x="524" y="6"/>
                  </a:cubicBezTo>
                  <a:lnTo>
                    <a:pt x="509" y="164"/>
                  </a:lnTo>
                  <a:cubicBezTo>
                    <a:pt x="500" y="165"/>
                    <a:pt x="491" y="168"/>
                    <a:pt x="484" y="170"/>
                  </a:cubicBezTo>
                  <a:cubicBezTo>
                    <a:pt x="481" y="170"/>
                    <a:pt x="479" y="171"/>
                    <a:pt x="476" y="171"/>
                  </a:cubicBezTo>
                  <a:cubicBezTo>
                    <a:pt x="456" y="178"/>
                    <a:pt x="436" y="185"/>
                    <a:pt x="417" y="195"/>
                  </a:cubicBezTo>
                  <a:cubicBezTo>
                    <a:pt x="401" y="201"/>
                    <a:pt x="386" y="210"/>
                    <a:pt x="371" y="220"/>
                  </a:cubicBezTo>
                  <a:cubicBezTo>
                    <a:pt x="331" y="186"/>
                    <a:pt x="291" y="154"/>
                    <a:pt x="250" y="121"/>
                  </a:cubicBezTo>
                  <a:lnTo>
                    <a:pt x="247" y="119"/>
                  </a:lnTo>
                  <a:cubicBezTo>
                    <a:pt x="239" y="126"/>
                    <a:pt x="229" y="134"/>
                    <a:pt x="220" y="141"/>
                  </a:cubicBezTo>
                  <a:cubicBezTo>
                    <a:pt x="205" y="154"/>
                    <a:pt x="191" y="166"/>
                    <a:pt x="177" y="181"/>
                  </a:cubicBezTo>
                  <a:cubicBezTo>
                    <a:pt x="156" y="201"/>
                    <a:pt x="137" y="225"/>
                    <a:pt x="120" y="249"/>
                  </a:cubicBezTo>
                  <a:cubicBezTo>
                    <a:pt x="120" y="250"/>
                    <a:pt x="120" y="250"/>
                    <a:pt x="121" y="250"/>
                  </a:cubicBezTo>
                  <a:cubicBezTo>
                    <a:pt x="154" y="291"/>
                    <a:pt x="186" y="331"/>
                    <a:pt x="220" y="370"/>
                  </a:cubicBezTo>
                  <a:cubicBezTo>
                    <a:pt x="211" y="385"/>
                    <a:pt x="202" y="401"/>
                    <a:pt x="195" y="416"/>
                  </a:cubicBezTo>
                  <a:cubicBezTo>
                    <a:pt x="186" y="436"/>
                    <a:pt x="177" y="456"/>
                    <a:pt x="172" y="478"/>
                  </a:cubicBezTo>
                  <a:cubicBezTo>
                    <a:pt x="171" y="478"/>
                    <a:pt x="171" y="478"/>
                    <a:pt x="171" y="479"/>
                  </a:cubicBezTo>
                  <a:cubicBezTo>
                    <a:pt x="169" y="486"/>
                    <a:pt x="166" y="495"/>
                    <a:pt x="165" y="505"/>
                  </a:cubicBezTo>
                  <a:cubicBezTo>
                    <a:pt x="111" y="509"/>
                    <a:pt x="59" y="514"/>
                    <a:pt x="6" y="520"/>
                  </a:cubicBezTo>
                  <a:cubicBezTo>
                    <a:pt x="4" y="544"/>
                    <a:pt x="1" y="569"/>
                    <a:pt x="0" y="594"/>
                  </a:cubicBezTo>
                  <a:cubicBezTo>
                    <a:pt x="1" y="631"/>
                    <a:pt x="4" y="667"/>
                    <a:pt x="10" y="703"/>
                  </a:cubicBezTo>
                  <a:cubicBezTo>
                    <a:pt x="61" y="709"/>
                    <a:pt x="113" y="714"/>
                    <a:pt x="165" y="717"/>
                  </a:cubicBezTo>
                  <a:cubicBezTo>
                    <a:pt x="166" y="726"/>
                    <a:pt x="169" y="735"/>
                    <a:pt x="171" y="744"/>
                  </a:cubicBezTo>
                  <a:cubicBezTo>
                    <a:pt x="178" y="765"/>
                    <a:pt x="186" y="786"/>
                    <a:pt x="195" y="806"/>
                  </a:cubicBezTo>
                  <a:cubicBezTo>
                    <a:pt x="204" y="823"/>
                    <a:pt x="211" y="840"/>
                    <a:pt x="223" y="856"/>
                  </a:cubicBezTo>
                  <a:cubicBezTo>
                    <a:pt x="190" y="896"/>
                    <a:pt x="156" y="936"/>
                    <a:pt x="125" y="978"/>
                  </a:cubicBezTo>
                  <a:cubicBezTo>
                    <a:pt x="161" y="1028"/>
                    <a:pt x="204" y="1071"/>
                    <a:pt x="254" y="1106"/>
                  </a:cubicBezTo>
                  <a:lnTo>
                    <a:pt x="255" y="1106"/>
                  </a:lnTo>
                  <a:cubicBezTo>
                    <a:pt x="295" y="1073"/>
                    <a:pt x="335" y="1040"/>
                    <a:pt x="375" y="1006"/>
                  </a:cubicBezTo>
                  <a:lnTo>
                    <a:pt x="375" y="1005"/>
                  </a:lnTo>
                  <a:cubicBezTo>
                    <a:pt x="389" y="1014"/>
                    <a:pt x="401" y="1021"/>
                    <a:pt x="416" y="1028"/>
                  </a:cubicBezTo>
                  <a:cubicBezTo>
                    <a:pt x="439" y="1038"/>
                    <a:pt x="461" y="1046"/>
                    <a:pt x="484" y="1053"/>
                  </a:cubicBezTo>
                  <a:cubicBezTo>
                    <a:pt x="493" y="1055"/>
                    <a:pt x="500" y="1057"/>
                    <a:pt x="509" y="1059"/>
                  </a:cubicBezTo>
                  <a:cubicBezTo>
                    <a:pt x="513" y="1113"/>
                    <a:pt x="519" y="1164"/>
                    <a:pt x="524" y="1216"/>
                  </a:cubicBezTo>
                  <a:cubicBezTo>
                    <a:pt x="546" y="1220"/>
                    <a:pt x="569" y="1221"/>
                    <a:pt x="593" y="1223"/>
                  </a:cubicBezTo>
                  <a:lnTo>
                    <a:pt x="629" y="1223"/>
                  </a:lnTo>
                  <a:cubicBezTo>
                    <a:pt x="655" y="1221"/>
                    <a:pt x="681" y="1219"/>
                    <a:pt x="707" y="1215"/>
                  </a:cubicBezTo>
                  <a:cubicBezTo>
                    <a:pt x="712" y="1163"/>
                    <a:pt x="719" y="1110"/>
                    <a:pt x="723" y="1056"/>
                  </a:cubicBezTo>
                  <a:cubicBezTo>
                    <a:pt x="730" y="1055"/>
                    <a:pt x="738" y="1053"/>
                    <a:pt x="745" y="1051"/>
                  </a:cubicBezTo>
                  <a:cubicBezTo>
                    <a:pt x="766" y="1045"/>
                    <a:pt x="786" y="1038"/>
                    <a:pt x="806" y="1028"/>
                  </a:cubicBezTo>
                  <a:cubicBezTo>
                    <a:pt x="823" y="1020"/>
                    <a:pt x="840" y="1011"/>
                    <a:pt x="856" y="1000"/>
                  </a:cubicBezTo>
                  <a:cubicBezTo>
                    <a:pt x="856" y="1000"/>
                    <a:pt x="857" y="1000"/>
                    <a:pt x="859" y="1001"/>
                  </a:cubicBezTo>
                  <a:cubicBezTo>
                    <a:pt x="899" y="1035"/>
                    <a:pt x="939" y="1068"/>
                    <a:pt x="981" y="1101"/>
                  </a:cubicBezTo>
                  <a:cubicBezTo>
                    <a:pt x="989" y="1095"/>
                    <a:pt x="996" y="1089"/>
                    <a:pt x="1003" y="1084"/>
                  </a:cubicBezTo>
                  <a:cubicBezTo>
                    <a:pt x="1018" y="1070"/>
                    <a:pt x="1032" y="1058"/>
                    <a:pt x="1046" y="1043"/>
                  </a:cubicBezTo>
                  <a:cubicBezTo>
                    <a:pt x="1068" y="1020"/>
                    <a:pt x="1089" y="995"/>
                    <a:pt x="1107" y="969"/>
                  </a:cubicBezTo>
                  <a:cubicBezTo>
                    <a:pt x="1075" y="928"/>
                    <a:pt x="1041" y="888"/>
                    <a:pt x="1007" y="848"/>
                  </a:cubicBezTo>
                  <a:cubicBezTo>
                    <a:pt x="1006" y="848"/>
                    <a:pt x="1006" y="846"/>
                    <a:pt x="1006" y="846"/>
                  </a:cubicBezTo>
                  <a:cubicBezTo>
                    <a:pt x="1015" y="833"/>
                    <a:pt x="1021" y="819"/>
                    <a:pt x="1029" y="805"/>
                  </a:cubicBezTo>
                  <a:cubicBezTo>
                    <a:pt x="1037" y="786"/>
                    <a:pt x="1045" y="766"/>
                    <a:pt x="1051" y="746"/>
                  </a:cubicBezTo>
                  <a:cubicBezTo>
                    <a:pt x="1051" y="744"/>
                    <a:pt x="1053" y="741"/>
                    <a:pt x="1053" y="740"/>
                  </a:cubicBezTo>
                  <a:cubicBezTo>
                    <a:pt x="1055" y="733"/>
                    <a:pt x="1056" y="725"/>
                    <a:pt x="1059" y="719"/>
                  </a:cubicBezTo>
                  <a:cubicBezTo>
                    <a:pt x="1111" y="714"/>
                    <a:pt x="1164" y="709"/>
                    <a:pt x="1216" y="704"/>
                  </a:cubicBezTo>
                  <a:cubicBezTo>
                    <a:pt x="1220" y="680"/>
                    <a:pt x="1221" y="655"/>
                    <a:pt x="1223" y="630"/>
                  </a:cubicBezTo>
                  <a:lnTo>
                    <a:pt x="1223" y="611"/>
                  </a:lnTo>
                  <a:lnTo>
                    <a:pt x="1223" y="593"/>
                  </a:lnTo>
                  <a:cubicBezTo>
                    <a:pt x="1221" y="568"/>
                    <a:pt x="1220" y="543"/>
                    <a:pt x="1216" y="519"/>
                  </a:cubicBezTo>
                  <a:cubicBezTo>
                    <a:pt x="1164" y="514"/>
                    <a:pt x="1111" y="509"/>
                    <a:pt x="1059" y="504"/>
                  </a:cubicBezTo>
                  <a:cubicBezTo>
                    <a:pt x="1056" y="498"/>
                    <a:pt x="1055" y="490"/>
                    <a:pt x="1053" y="483"/>
                  </a:cubicBezTo>
                  <a:cubicBezTo>
                    <a:pt x="1046" y="460"/>
                    <a:pt x="1038" y="439"/>
                    <a:pt x="1029" y="418"/>
                  </a:cubicBezTo>
                  <a:cubicBezTo>
                    <a:pt x="1021" y="401"/>
                    <a:pt x="1013" y="386"/>
                    <a:pt x="1004" y="373"/>
                  </a:cubicBezTo>
                  <a:close/>
                  <a:moveTo>
                    <a:pt x="615" y="385"/>
                  </a:moveTo>
                  <a:cubicBezTo>
                    <a:pt x="676" y="385"/>
                    <a:pt x="729" y="406"/>
                    <a:pt x="774" y="450"/>
                  </a:cubicBezTo>
                  <a:cubicBezTo>
                    <a:pt x="818" y="494"/>
                    <a:pt x="839" y="546"/>
                    <a:pt x="839" y="609"/>
                  </a:cubicBezTo>
                  <a:cubicBezTo>
                    <a:pt x="839" y="670"/>
                    <a:pt x="818" y="723"/>
                    <a:pt x="774" y="768"/>
                  </a:cubicBezTo>
                  <a:cubicBezTo>
                    <a:pt x="729" y="811"/>
                    <a:pt x="676" y="833"/>
                    <a:pt x="615" y="833"/>
                  </a:cubicBezTo>
                  <a:cubicBezTo>
                    <a:pt x="553" y="833"/>
                    <a:pt x="500" y="811"/>
                    <a:pt x="456" y="768"/>
                  </a:cubicBezTo>
                  <a:cubicBezTo>
                    <a:pt x="413" y="723"/>
                    <a:pt x="390" y="670"/>
                    <a:pt x="390" y="609"/>
                  </a:cubicBezTo>
                  <a:cubicBezTo>
                    <a:pt x="390" y="546"/>
                    <a:pt x="413" y="494"/>
                    <a:pt x="456" y="450"/>
                  </a:cubicBezTo>
                  <a:cubicBezTo>
                    <a:pt x="500" y="406"/>
                    <a:pt x="553" y="385"/>
                    <a:pt x="615" y="38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 name="Gear">
              <a:extLst>
                <a:ext uri="{FF2B5EF4-FFF2-40B4-BE49-F238E27FC236}">
                  <a16:creationId xmlns:a16="http://schemas.microsoft.com/office/drawing/2014/main" id="{1EEC4A71-9B74-A1E2-825A-E016BA5863C2}"/>
                </a:ext>
              </a:extLst>
            </p:cNvPr>
            <p:cNvSpPr>
              <a:spLocks noEditPoints="1"/>
            </p:cNvSpPr>
            <p:nvPr>
              <p:custDataLst>
                <p:tags r:id="rId3"/>
              </p:custDataLst>
            </p:nvPr>
          </p:nvSpPr>
          <p:spPr bwMode="auto">
            <a:xfrm>
              <a:off x="174" y="171"/>
              <a:ext cx="150" cy="150"/>
            </a:xfrm>
            <a:custGeom>
              <a:avLst/>
              <a:gdLst>
                <a:gd name="T0" fmla="*/ 328 w 384"/>
                <a:gd name="T1" fmla="*/ 56 h 384"/>
                <a:gd name="T2" fmla="*/ 191 w 384"/>
                <a:gd name="T3" fmla="*/ 0 h 384"/>
                <a:gd name="T4" fmla="*/ 55 w 384"/>
                <a:gd name="T5" fmla="*/ 56 h 384"/>
                <a:gd name="T6" fmla="*/ 0 w 384"/>
                <a:gd name="T7" fmla="*/ 193 h 384"/>
                <a:gd name="T8" fmla="*/ 55 w 384"/>
                <a:gd name="T9" fmla="*/ 328 h 384"/>
                <a:gd name="T10" fmla="*/ 56 w 384"/>
                <a:gd name="T11" fmla="*/ 328 h 384"/>
                <a:gd name="T12" fmla="*/ 191 w 384"/>
                <a:gd name="T13" fmla="*/ 384 h 384"/>
                <a:gd name="T14" fmla="*/ 328 w 384"/>
                <a:gd name="T15" fmla="*/ 328 h 384"/>
                <a:gd name="T16" fmla="*/ 328 w 384"/>
                <a:gd name="T17" fmla="*/ 328 h 384"/>
                <a:gd name="T18" fmla="*/ 384 w 384"/>
                <a:gd name="T19" fmla="*/ 193 h 384"/>
                <a:gd name="T20" fmla="*/ 384 w 384"/>
                <a:gd name="T21" fmla="*/ 193 h 384"/>
                <a:gd name="T22" fmla="*/ 328 w 384"/>
                <a:gd name="T23" fmla="*/ 56 h 384"/>
                <a:gd name="T24" fmla="*/ 191 w 384"/>
                <a:gd name="T25" fmla="*/ 49 h 384"/>
                <a:gd name="T26" fmla="*/ 294 w 384"/>
                <a:gd name="T27" fmla="*/ 92 h 384"/>
                <a:gd name="T28" fmla="*/ 335 w 384"/>
                <a:gd name="T29" fmla="*/ 193 h 384"/>
                <a:gd name="T30" fmla="*/ 335 w 384"/>
                <a:gd name="T31" fmla="*/ 193 h 384"/>
                <a:gd name="T32" fmla="*/ 294 w 384"/>
                <a:gd name="T33" fmla="*/ 294 h 384"/>
                <a:gd name="T34" fmla="*/ 294 w 384"/>
                <a:gd name="T35" fmla="*/ 294 h 384"/>
                <a:gd name="T36" fmla="*/ 191 w 384"/>
                <a:gd name="T37" fmla="*/ 337 h 384"/>
                <a:gd name="T38" fmla="*/ 90 w 384"/>
                <a:gd name="T39" fmla="*/ 294 h 384"/>
                <a:gd name="T40" fmla="*/ 90 w 384"/>
                <a:gd name="T41" fmla="*/ 294 h 384"/>
                <a:gd name="T42" fmla="*/ 47 w 384"/>
                <a:gd name="T43" fmla="*/ 193 h 384"/>
                <a:gd name="T44" fmla="*/ 90 w 384"/>
                <a:gd name="T45" fmla="*/ 92 h 384"/>
                <a:gd name="T46" fmla="*/ 191 w 384"/>
                <a:gd name="T47" fmla="*/ 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4" h="384">
                  <a:moveTo>
                    <a:pt x="328" y="56"/>
                  </a:moveTo>
                  <a:cubicBezTo>
                    <a:pt x="290" y="19"/>
                    <a:pt x="245" y="0"/>
                    <a:pt x="191" y="0"/>
                  </a:cubicBezTo>
                  <a:cubicBezTo>
                    <a:pt x="139" y="0"/>
                    <a:pt x="93" y="19"/>
                    <a:pt x="55" y="56"/>
                  </a:cubicBezTo>
                  <a:cubicBezTo>
                    <a:pt x="19" y="94"/>
                    <a:pt x="0" y="139"/>
                    <a:pt x="0" y="193"/>
                  </a:cubicBezTo>
                  <a:cubicBezTo>
                    <a:pt x="0" y="245"/>
                    <a:pt x="19" y="290"/>
                    <a:pt x="55" y="328"/>
                  </a:cubicBezTo>
                  <a:lnTo>
                    <a:pt x="56" y="328"/>
                  </a:lnTo>
                  <a:cubicBezTo>
                    <a:pt x="94" y="365"/>
                    <a:pt x="139" y="384"/>
                    <a:pt x="191" y="384"/>
                  </a:cubicBezTo>
                  <a:cubicBezTo>
                    <a:pt x="245" y="384"/>
                    <a:pt x="290" y="365"/>
                    <a:pt x="328" y="328"/>
                  </a:cubicBezTo>
                  <a:lnTo>
                    <a:pt x="328" y="328"/>
                  </a:lnTo>
                  <a:cubicBezTo>
                    <a:pt x="365" y="290"/>
                    <a:pt x="384" y="245"/>
                    <a:pt x="384" y="193"/>
                  </a:cubicBezTo>
                  <a:lnTo>
                    <a:pt x="384" y="193"/>
                  </a:lnTo>
                  <a:cubicBezTo>
                    <a:pt x="384" y="139"/>
                    <a:pt x="365" y="94"/>
                    <a:pt x="328" y="56"/>
                  </a:cubicBezTo>
                  <a:close/>
                  <a:moveTo>
                    <a:pt x="191" y="49"/>
                  </a:moveTo>
                  <a:cubicBezTo>
                    <a:pt x="231" y="49"/>
                    <a:pt x="265" y="63"/>
                    <a:pt x="294" y="92"/>
                  </a:cubicBezTo>
                  <a:cubicBezTo>
                    <a:pt x="321" y="119"/>
                    <a:pt x="335" y="153"/>
                    <a:pt x="335" y="193"/>
                  </a:cubicBezTo>
                  <a:lnTo>
                    <a:pt x="335" y="193"/>
                  </a:lnTo>
                  <a:cubicBezTo>
                    <a:pt x="335" y="233"/>
                    <a:pt x="321" y="265"/>
                    <a:pt x="294" y="294"/>
                  </a:cubicBezTo>
                  <a:lnTo>
                    <a:pt x="294" y="294"/>
                  </a:lnTo>
                  <a:cubicBezTo>
                    <a:pt x="265" y="322"/>
                    <a:pt x="231" y="337"/>
                    <a:pt x="191" y="337"/>
                  </a:cubicBezTo>
                  <a:cubicBezTo>
                    <a:pt x="153" y="337"/>
                    <a:pt x="118" y="322"/>
                    <a:pt x="90" y="294"/>
                  </a:cubicBezTo>
                  <a:lnTo>
                    <a:pt x="90" y="294"/>
                  </a:lnTo>
                  <a:cubicBezTo>
                    <a:pt x="61" y="265"/>
                    <a:pt x="47" y="232"/>
                    <a:pt x="47" y="193"/>
                  </a:cubicBezTo>
                  <a:cubicBezTo>
                    <a:pt x="47" y="153"/>
                    <a:pt x="61" y="119"/>
                    <a:pt x="90" y="92"/>
                  </a:cubicBezTo>
                  <a:cubicBezTo>
                    <a:pt x="118" y="63"/>
                    <a:pt x="153" y="49"/>
                    <a:pt x="191" y="4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90" name="TextBox 89">
            <a:extLst>
              <a:ext uri="{FF2B5EF4-FFF2-40B4-BE49-F238E27FC236}">
                <a16:creationId xmlns:a16="http://schemas.microsoft.com/office/drawing/2014/main" id="{D2CE0E7B-A30A-71EA-74B8-D9473951E9A7}"/>
              </a:ext>
            </a:extLst>
          </p:cNvPr>
          <p:cNvSpPr txBox="1"/>
          <p:nvPr/>
        </p:nvSpPr>
        <p:spPr>
          <a:xfrm>
            <a:off x="1889053" y="2288542"/>
            <a:ext cx="1875127" cy="1404458"/>
          </a:xfrm>
          <a:prstGeom prst="rect">
            <a:avLst/>
          </a:prstGeom>
          <a:noFill/>
        </p:spPr>
        <p:txBody>
          <a:bodyPr wrap="square" rtlCol="0">
            <a:prstTxWarp prst="textArchUp">
              <a:avLst/>
            </a:prstTxWarp>
            <a:spAutoFit/>
          </a:bodyPr>
          <a:lstStyle/>
          <a:p>
            <a:pPr algn="ctr"/>
            <a:r>
              <a:rPr lang="en-US" b="1" dirty="0">
                <a:solidFill>
                  <a:schemeClr val="tx1">
                    <a:lumMod val="75000"/>
                    <a:lumOff val="25000"/>
                  </a:schemeClr>
                </a:solidFill>
                <a:latin typeface="Rajdhani bold" panose="02000000000000000000" pitchFamily="2" charset="0"/>
                <a:ea typeface="Open Sans" pitchFamily="2" charset="0"/>
                <a:cs typeface="Rajdhani bold" panose="02000000000000000000" pitchFamily="2" charset="0"/>
              </a:rPr>
              <a:t>PROMOTION OF ENTREPRENEURSHIP</a:t>
            </a:r>
            <a:endParaRPr lang="en-IN" b="1" dirty="0">
              <a:solidFill>
                <a:schemeClr val="tx1">
                  <a:lumMod val="75000"/>
                  <a:lumOff val="25000"/>
                </a:schemeClr>
              </a:solidFill>
              <a:latin typeface="Rajdhani bold" panose="02000000000000000000" pitchFamily="2" charset="0"/>
              <a:ea typeface="Open Sans" pitchFamily="2" charset="0"/>
              <a:cs typeface="Rajdhani bold" panose="02000000000000000000" pitchFamily="2" charset="0"/>
            </a:endParaRPr>
          </a:p>
        </p:txBody>
      </p:sp>
      <p:sp>
        <p:nvSpPr>
          <p:cNvPr id="92" name="TextBox 91">
            <a:extLst>
              <a:ext uri="{FF2B5EF4-FFF2-40B4-BE49-F238E27FC236}">
                <a16:creationId xmlns:a16="http://schemas.microsoft.com/office/drawing/2014/main" id="{DDE3665E-9672-A537-6029-0E0109597418}"/>
              </a:ext>
            </a:extLst>
          </p:cNvPr>
          <p:cNvSpPr txBox="1"/>
          <p:nvPr/>
        </p:nvSpPr>
        <p:spPr>
          <a:xfrm rot="1180003">
            <a:off x="2621230" y="823207"/>
            <a:ext cx="1800000" cy="720000"/>
          </a:xfrm>
          <a:prstGeom prst="rect">
            <a:avLst/>
          </a:prstGeom>
          <a:noFill/>
        </p:spPr>
        <p:txBody>
          <a:bodyPr wrap="square" rtlCol="0">
            <a:prstTxWarp prst="textArchUp">
              <a:avLst/>
            </a:prstTxWarp>
            <a:spAutoFit/>
          </a:bodyPr>
          <a:lstStyle/>
          <a:p>
            <a:pPr algn="ctr"/>
            <a:r>
              <a:rPr lang="en-US" sz="1700" b="1" dirty="0">
                <a:solidFill>
                  <a:schemeClr val="bg1"/>
                </a:solidFill>
                <a:latin typeface="Rajdhani bold" panose="02000000000000000000" pitchFamily="2" charset="0"/>
                <a:ea typeface="Open Sans" pitchFamily="2" charset="0"/>
                <a:cs typeface="Rajdhani bold" panose="02000000000000000000" pitchFamily="2" charset="0"/>
              </a:rPr>
              <a:t>SEEDING IDEA</a:t>
            </a:r>
            <a:endParaRPr lang="en-IN" sz="1700" b="1" dirty="0">
              <a:solidFill>
                <a:schemeClr val="bg1"/>
              </a:solidFill>
              <a:latin typeface="Rajdhani bold" panose="02000000000000000000" pitchFamily="2" charset="0"/>
              <a:ea typeface="Open Sans" pitchFamily="2" charset="0"/>
              <a:cs typeface="Rajdhani bold" panose="02000000000000000000" pitchFamily="2" charset="0"/>
            </a:endParaRPr>
          </a:p>
        </p:txBody>
      </p:sp>
      <p:sp>
        <p:nvSpPr>
          <p:cNvPr id="94" name="TextBox 93">
            <a:extLst>
              <a:ext uri="{FF2B5EF4-FFF2-40B4-BE49-F238E27FC236}">
                <a16:creationId xmlns:a16="http://schemas.microsoft.com/office/drawing/2014/main" id="{BC0C813D-C93A-2A66-0F8C-FC1695ACD4C1}"/>
              </a:ext>
            </a:extLst>
          </p:cNvPr>
          <p:cNvSpPr txBox="1"/>
          <p:nvPr/>
        </p:nvSpPr>
        <p:spPr>
          <a:xfrm rot="3257959">
            <a:off x="3808039" y="1662988"/>
            <a:ext cx="1800000" cy="622501"/>
          </a:xfrm>
          <a:prstGeom prst="rect">
            <a:avLst/>
          </a:prstGeom>
          <a:noFill/>
        </p:spPr>
        <p:txBody>
          <a:bodyPr wrap="square" rtlCol="0">
            <a:prstTxWarp prst="textArchUp">
              <a:avLst/>
            </a:prstTxWarp>
            <a:spAutoFit/>
          </a:bodyPr>
          <a:lstStyle/>
          <a:p>
            <a:pPr algn="ctr"/>
            <a:r>
              <a:rPr lang="en-US" sz="1700" b="1" dirty="0">
                <a:solidFill>
                  <a:schemeClr val="bg1"/>
                </a:solidFill>
                <a:latin typeface="Rajdhani bold" panose="02000000000000000000" pitchFamily="2" charset="0"/>
                <a:ea typeface="Open Sans" pitchFamily="2" charset="0"/>
                <a:cs typeface="Rajdhani bold" panose="02000000000000000000" pitchFamily="2" charset="0"/>
              </a:rPr>
              <a:t>IDEA SCREENING</a:t>
            </a:r>
            <a:endParaRPr lang="en-IN" sz="1700" b="1" dirty="0">
              <a:solidFill>
                <a:schemeClr val="bg1"/>
              </a:solidFill>
              <a:latin typeface="Rajdhani bold" panose="02000000000000000000" pitchFamily="2" charset="0"/>
              <a:ea typeface="Open Sans" pitchFamily="2" charset="0"/>
              <a:cs typeface="Rajdhani bold" panose="02000000000000000000" pitchFamily="2" charset="0"/>
            </a:endParaRPr>
          </a:p>
        </p:txBody>
      </p:sp>
      <p:sp>
        <p:nvSpPr>
          <p:cNvPr id="96" name="TextBox 95">
            <a:extLst>
              <a:ext uri="{FF2B5EF4-FFF2-40B4-BE49-F238E27FC236}">
                <a16:creationId xmlns:a16="http://schemas.microsoft.com/office/drawing/2014/main" id="{439B3FD5-99DF-B7A9-0A81-125B567EE6DD}"/>
              </a:ext>
            </a:extLst>
          </p:cNvPr>
          <p:cNvSpPr txBox="1"/>
          <p:nvPr/>
        </p:nvSpPr>
        <p:spPr>
          <a:xfrm rot="5400000">
            <a:off x="4314811" y="3098307"/>
            <a:ext cx="1814733" cy="481879"/>
          </a:xfrm>
          <a:prstGeom prst="rect">
            <a:avLst/>
          </a:prstGeom>
          <a:noFill/>
        </p:spPr>
        <p:txBody>
          <a:bodyPr wrap="square" rtlCol="0">
            <a:prstTxWarp prst="textArchUp">
              <a:avLst/>
            </a:prstTxWarp>
            <a:spAutoFit/>
          </a:bodyPr>
          <a:lstStyle/>
          <a:p>
            <a:pPr algn="ctr"/>
            <a:r>
              <a:rPr lang="en-US" sz="1700" b="1" dirty="0">
                <a:solidFill>
                  <a:schemeClr val="bg1"/>
                </a:solidFill>
                <a:latin typeface="Rajdhani bold" panose="02000000000000000000" pitchFamily="2" charset="0"/>
                <a:ea typeface="Open Sans" pitchFamily="2" charset="0"/>
                <a:cs typeface="Rajdhani bold" panose="02000000000000000000" pitchFamily="2" charset="0"/>
              </a:rPr>
              <a:t>DESIGN-DEVELOP</a:t>
            </a:r>
            <a:endParaRPr lang="en-IN" sz="1700" b="1" dirty="0">
              <a:solidFill>
                <a:schemeClr val="bg1"/>
              </a:solidFill>
              <a:latin typeface="Rajdhani bold" panose="02000000000000000000" pitchFamily="2" charset="0"/>
              <a:ea typeface="Open Sans" pitchFamily="2" charset="0"/>
              <a:cs typeface="Rajdhani bold" panose="02000000000000000000" pitchFamily="2" charset="0"/>
            </a:endParaRPr>
          </a:p>
        </p:txBody>
      </p:sp>
      <p:sp>
        <p:nvSpPr>
          <p:cNvPr id="98" name="TextBox 97">
            <a:extLst>
              <a:ext uri="{FF2B5EF4-FFF2-40B4-BE49-F238E27FC236}">
                <a16:creationId xmlns:a16="http://schemas.microsoft.com/office/drawing/2014/main" id="{493D87AA-3631-5175-C67B-14FB21B4010D}"/>
              </a:ext>
            </a:extLst>
          </p:cNvPr>
          <p:cNvSpPr txBox="1"/>
          <p:nvPr/>
        </p:nvSpPr>
        <p:spPr>
          <a:xfrm rot="9708164">
            <a:off x="2540093" y="4745971"/>
            <a:ext cx="1814733" cy="1136191"/>
          </a:xfrm>
          <a:prstGeom prst="rect">
            <a:avLst/>
          </a:prstGeom>
          <a:noFill/>
        </p:spPr>
        <p:txBody>
          <a:bodyPr wrap="square" rtlCol="0">
            <a:prstTxWarp prst="textArchUp">
              <a:avLst/>
            </a:prstTxWarp>
            <a:spAutoFit/>
          </a:bodyPr>
          <a:lstStyle/>
          <a:p>
            <a:pPr algn="ctr"/>
            <a:r>
              <a:rPr lang="en-US" sz="1700" b="1" dirty="0">
                <a:solidFill>
                  <a:schemeClr val="bg1"/>
                </a:solidFill>
                <a:latin typeface="Rajdhani bold" panose="02000000000000000000" pitchFamily="2" charset="0"/>
                <a:ea typeface="Open Sans" pitchFamily="2" charset="0"/>
                <a:cs typeface="Rajdhani bold" panose="02000000000000000000" pitchFamily="2" charset="0"/>
              </a:rPr>
              <a:t>LAUNCH</a:t>
            </a:r>
            <a:endParaRPr lang="en-IN" sz="1700" b="1" dirty="0">
              <a:solidFill>
                <a:schemeClr val="bg1"/>
              </a:solidFill>
              <a:latin typeface="Rajdhani bold" panose="02000000000000000000" pitchFamily="2" charset="0"/>
              <a:ea typeface="Open Sans" pitchFamily="2" charset="0"/>
              <a:cs typeface="Rajdhani bold" panose="02000000000000000000" pitchFamily="2" charset="0"/>
            </a:endParaRPr>
          </a:p>
        </p:txBody>
      </p:sp>
      <p:sp>
        <p:nvSpPr>
          <p:cNvPr id="100" name="TextBox 99">
            <a:extLst>
              <a:ext uri="{FF2B5EF4-FFF2-40B4-BE49-F238E27FC236}">
                <a16:creationId xmlns:a16="http://schemas.microsoft.com/office/drawing/2014/main" id="{F404D69E-71D0-DBDF-96F4-9F6BD183BADA}"/>
              </a:ext>
            </a:extLst>
          </p:cNvPr>
          <p:cNvSpPr txBox="1"/>
          <p:nvPr/>
        </p:nvSpPr>
        <p:spPr>
          <a:xfrm rot="7652792">
            <a:off x="3627699" y="3967240"/>
            <a:ext cx="1814733" cy="1136191"/>
          </a:xfrm>
          <a:prstGeom prst="rect">
            <a:avLst/>
          </a:prstGeom>
          <a:noFill/>
        </p:spPr>
        <p:txBody>
          <a:bodyPr wrap="square" rtlCol="0">
            <a:prstTxWarp prst="textArchUp">
              <a:avLst/>
            </a:prstTxWarp>
            <a:spAutoFit/>
          </a:bodyPr>
          <a:lstStyle/>
          <a:p>
            <a:pPr algn="ctr"/>
            <a:r>
              <a:rPr lang="en-US" sz="1700" b="1" dirty="0">
                <a:solidFill>
                  <a:schemeClr val="bg1"/>
                </a:solidFill>
                <a:latin typeface="Rajdhani bold" panose="02000000000000000000" pitchFamily="2" charset="0"/>
                <a:ea typeface="Open Sans" pitchFamily="2" charset="0"/>
                <a:cs typeface="Rajdhani bold" panose="02000000000000000000" pitchFamily="2" charset="0"/>
              </a:rPr>
              <a:t>VALIDATION</a:t>
            </a:r>
            <a:endParaRPr lang="en-IN" sz="1700" b="1" dirty="0">
              <a:solidFill>
                <a:schemeClr val="bg1"/>
              </a:solidFill>
              <a:latin typeface="Rajdhani bold" panose="02000000000000000000" pitchFamily="2" charset="0"/>
              <a:ea typeface="Open Sans" pitchFamily="2" charset="0"/>
              <a:cs typeface="Rajdhani bold" panose="02000000000000000000" pitchFamily="2" charset="0"/>
            </a:endParaRPr>
          </a:p>
        </p:txBody>
      </p:sp>
      <p:sp>
        <p:nvSpPr>
          <p:cNvPr id="112" name="TextBox 111">
            <a:extLst>
              <a:ext uri="{FF2B5EF4-FFF2-40B4-BE49-F238E27FC236}">
                <a16:creationId xmlns:a16="http://schemas.microsoft.com/office/drawing/2014/main" id="{CAE31DC4-DB31-5898-35DE-7BB201F3977A}"/>
              </a:ext>
            </a:extLst>
          </p:cNvPr>
          <p:cNvSpPr txBox="1"/>
          <p:nvPr/>
        </p:nvSpPr>
        <p:spPr>
          <a:xfrm>
            <a:off x="2515371" y="1242112"/>
            <a:ext cx="1879709" cy="738664"/>
          </a:xfrm>
          <a:prstGeom prst="rect">
            <a:avLst/>
          </a:prstGeom>
          <a:noFill/>
        </p:spPr>
        <p:txBody>
          <a:bodyPr wrap="square">
            <a:spAutoFit/>
          </a:bodyPr>
          <a:lstStyle/>
          <a:p>
            <a:pPr algn="ctr"/>
            <a:r>
              <a:rPr lang="en-US" sz="1400" b="1" spc="100" dirty="0">
                <a:solidFill>
                  <a:schemeClr val="tx1">
                    <a:lumMod val="75000"/>
                    <a:lumOff val="25000"/>
                  </a:schemeClr>
                </a:solidFill>
                <a:latin typeface="Rajdhani bold" panose="02000000000000000000" pitchFamily="2" charset="0"/>
                <a:cs typeface="Rajdhani bold" panose="02000000000000000000" pitchFamily="2" charset="0"/>
              </a:rPr>
              <a:t>Partnership with government agencies</a:t>
            </a:r>
          </a:p>
        </p:txBody>
      </p:sp>
      <p:sp>
        <p:nvSpPr>
          <p:cNvPr id="113" name="TextBox 112">
            <a:extLst>
              <a:ext uri="{FF2B5EF4-FFF2-40B4-BE49-F238E27FC236}">
                <a16:creationId xmlns:a16="http://schemas.microsoft.com/office/drawing/2014/main" id="{02F989E3-1B22-318E-17FD-910C9E33331C}"/>
              </a:ext>
            </a:extLst>
          </p:cNvPr>
          <p:cNvSpPr txBox="1"/>
          <p:nvPr/>
        </p:nvSpPr>
        <p:spPr>
          <a:xfrm>
            <a:off x="3662935" y="2193797"/>
            <a:ext cx="1430405" cy="523220"/>
          </a:xfrm>
          <a:prstGeom prst="rect">
            <a:avLst/>
          </a:prstGeom>
          <a:noFill/>
        </p:spPr>
        <p:txBody>
          <a:bodyPr wrap="square">
            <a:spAutoFit/>
          </a:bodyPr>
          <a:lstStyle/>
          <a:p>
            <a:pPr algn="ctr"/>
            <a:r>
              <a:rPr lang="en-US" sz="1400" b="1" spc="100" dirty="0">
                <a:solidFill>
                  <a:schemeClr val="tx1">
                    <a:lumMod val="75000"/>
                    <a:lumOff val="25000"/>
                  </a:schemeClr>
                </a:solidFill>
                <a:latin typeface="Rajdhani bold" panose="02000000000000000000" pitchFamily="2" charset="0"/>
                <a:cs typeface="Rajdhani bold" panose="02000000000000000000" pitchFamily="2" charset="0"/>
              </a:rPr>
              <a:t>Curriculum integration</a:t>
            </a:r>
          </a:p>
        </p:txBody>
      </p:sp>
      <p:sp>
        <p:nvSpPr>
          <p:cNvPr id="114" name="TextBox 113">
            <a:extLst>
              <a:ext uri="{FF2B5EF4-FFF2-40B4-BE49-F238E27FC236}">
                <a16:creationId xmlns:a16="http://schemas.microsoft.com/office/drawing/2014/main" id="{DBB18D04-D639-6AE3-E4C3-AEEB1C081FBD}"/>
              </a:ext>
            </a:extLst>
          </p:cNvPr>
          <p:cNvSpPr txBox="1"/>
          <p:nvPr/>
        </p:nvSpPr>
        <p:spPr>
          <a:xfrm>
            <a:off x="3928080" y="3202267"/>
            <a:ext cx="1507354" cy="523220"/>
          </a:xfrm>
          <a:prstGeom prst="rect">
            <a:avLst/>
          </a:prstGeom>
          <a:noFill/>
        </p:spPr>
        <p:txBody>
          <a:bodyPr wrap="square">
            <a:spAutoFit/>
          </a:bodyPr>
          <a:lstStyle/>
          <a:p>
            <a:pPr algn="ctr"/>
            <a:r>
              <a:rPr lang="en-US" sz="1400" b="1" spc="100" dirty="0">
                <a:solidFill>
                  <a:schemeClr val="tx1">
                    <a:lumMod val="75000"/>
                    <a:lumOff val="25000"/>
                  </a:schemeClr>
                </a:solidFill>
                <a:latin typeface="Rajdhani bold" panose="02000000000000000000" pitchFamily="2" charset="0"/>
                <a:cs typeface="Rajdhani bold" panose="02000000000000000000" pitchFamily="2" charset="0"/>
              </a:rPr>
              <a:t>Faculty engagement</a:t>
            </a:r>
          </a:p>
        </p:txBody>
      </p:sp>
      <p:sp>
        <p:nvSpPr>
          <p:cNvPr id="115" name="TextBox 114">
            <a:extLst>
              <a:ext uri="{FF2B5EF4-FFF2-40B4-BE49-F238E27FC236}">
                <a16:creationId xmlns:a16="http://schemas.microsoft.com/office/drawing/2014/main" id="{08A07F7E-3580-20C0-14A1-8BAEE2521E13}"/>
              </a:ext>
            </a:extLst>
          </p:cNvPr>
          <p:cNvSpPr txBox="1"/>
          <p:nvPr/>
        </p:nvSpPr>
        <p:spPr>
          <a:xfrm>
            <a:off x="3617670" y="4339610"/>
            <a:ext cx="1602224" cy="523220"/>
          </a:xfrm>
          <a:prstGeom prst="rect">
            <a:avLst/>
          </a:prstGeom>
          <a:noFill/>
        </p:spPr>
        <p:txBody>
          <a:bodyPr wrap="square">
            <a:spAutoFit/>
          </a:bodyPr>
          <a:lstStyle/>
          <a:p>
            <a:pPr algn="ctr"/>
            <a:r>
              <a:rPr lang="en-US" sz="1400" b="1" spc="100" dirty="0">
                <a:solidFill>
                  <a:schemeClr val="tx1">
                    <a:lumMod val="75000"/>
                    <a:lumOff val="25000"/>
                  </a:schemeClr>
                </a:solidFill>
                <a:latin typeface="Rajdhani bold" panose="02000000000000000000" pitchFamily="2" charset="0"/>
                <a:cs typeface="Rajdhani bold" panose="02000000000000000000" pitchFamily="2" charset="0"/>
              </a:rPr>
              <a:t>Incubation</a:t>
            </a:r>
          </a:p>
          <a:p>
            <a:pPr algn="ctr"/>
            <a:r>
              <a:rPr lang="en-US" sz="1400" b="1" spc="100" dirty="0">
                <a:solidFill>
                  <a:schemeClr val="tx1">
                    <a:lumMod val="75000"/>
                    <a:lumOff val="25000"/>
                  </a:schemeClr>
                </a:solidFill>
                <a:latin typeface="Rajdhani bold" panose="02000000000000000000" pitchFamily="2" charset="0"/>
                <a:cs typeface="Rajdhani bold" panose="02000000000000000000" pitchFamily="2" charset="0"/>
              </a:rPr>
              <a:t>Acceleration</a:t>
            </a:r>
          </a:p>
        </p:txBody>
      </p:sp>
      <p:sp>
        <p:nvSpPr>
          <p:cNvPr id="116" name="TextBox 115">
            <a:extLst>
              <a:ext uri="{FF2B5EF4-FFF2-40B4-BE49-F238E27FC236}">
                <a16:creationId xmlns:a16="http://schemas.microsoft.com/office/drawing/2014/main" id="{00BD7798-3755-0C6D-E206-7B30BC58B76A}"/>
              </a:ext>
            </a:extLst>
          </p:cNvPr>
          <p:cNvSpPr txBox="1"/>
          <p:nvPr/>
        </p:nvSpPr>
        <p:spPr>
          <a:xfrm>
            <a:off x="2724311" y="5048919"/>
            <a:ext cx="1582258" cy="523220"/>
          </a:xfrm>
          <a:prstGeom prst="rect">
            <a:avLst/>
          </a:prstGeom>
          <a:noFill/>
        </p:spPr>
        <p:txBody>
          <a:bodyPr wrap="square">
            <a:spAutoFit/>
          </a:bodyPr>
          <a:lstStyle/>
          <a:p>
            <a:pPr algn="ctr"/>
            <a:r>
              <a:rPr lang="en-US" sz="1400" b="1" spc="100" dirty="0">
                <a:solidFill>
                  <a:schemeClr val="tx1">
                    <a:lumMod val="75000"/>
                    <a:lumOff val="25000"/>
                  </a:schemeClr>
                </a:solidFill>
                <a:latin typeface="Rajdhani bold" panose="02000000000000000000" pitchFamily="2" charset="0"/>
                <a:cs typeface="Rajdhani bold" panose="02000000000000000000" pitchFamily="2" charset="0"/>
              </a:rPr>
              <a:t>Industry partnership</a:t>
            </a:r>
          </a:p>
        </p:txBody>
      </p:sp>
      <p:sp>
        <p:nvSpPr>
          <p:cNvPr id="118" name="TextBox 117">
            <a:extLst>
              <a:ext uri="{FF2B5EF4-FFF2-40B4-BE49-F238E27FC236}">
                <a16:creationId xmlns:a16="http://schemas.microsoft.com/office/drawing/2014/main" id="{CA5F5795-536C-A8B6-80CC-21823C921CCA}"/>
              </a:ext>
            </a:extLst>
          </p:cNvPr>
          <p:cNvSpPr txBox="1"/>
          <p:nvPr/>
        </p:nvSpPr>
        <p:spPr>
          <a:xfrm>
            <a:off x="5282056" y="63267"/>
            <a:ext cx="4480592" cy="830997"/>
          </a:xfrm>
          <a:prstGeom prst="rect">
            <a:avLst/>
          </a:prstGeom>
          <a:noFill/>
        </p:spPr>
        <p:txBody>
          <a:bodyPr wrap="square" rtlCol="0">
            <a:spAutoFit/>
          </a:bodyPr>
          <a:lstStyle/>
          <a:p>
            <a:r>
              <a:rPr lang="en-US" sz="2000" b="1" spc="300" dirty="0">
                <a:solidFill>
                  <a:schemeClr val="tx1">
                    <a:lumMod val="65000"/>
                    <a:lumOff val="35000"/>
                  </a:schemeClr>
                </a:solidFill>
                <a:latin typeface="Rajdhani bold" panose="02000000000000000000" pitchFamily="2" charset="0"/>
                <a:cs typeface="Rajdhani bold" panose="02000000000000000000" pitchFamily="2" charset="0"/>
              </a:rPr>
              <a:t>Hackathon</a:t>
            </a:r>
            <a:endParaRPr lang="en-US" sz="2000" b="1" dirty="0">
              <a:solidFill>
                <a:schemeClr val="tx1">
                  <a:lumMod val="65000"/>
                  <a:lumOff val="35000"/>
                </a:schemeClr>
              </a:solidFill>
              <a:latin typeface="Rajdhani bold" panose="02000000000000000000" pitchFamily="2" charset="0"/>
              <a:cs typeface="Rajdhani bold" panose="02000000000000000000" pitchFamily="2" charset="0"/>
            </a:endParaRPr>
          </a:p>
          <a:p>
            <a:r>
              <a:rPr lang="en-US" sz="1400" dirty="0">
                <a:solidFill>
                  <a:schemeClr val="tx1">
                    <a:lumMod val="65000"/>
                    <a:lumOff val="35000"/>
                  </a:schemeClr>
                </a:solidFill>
                <a:latin typeface="Economica" panose="02000506040000020004" pitchFamily="2" charset="0"/>
              </a:rPr>
              <a:t>Engaging students to identify pain point and produce ideas, fund for proof-of-concept model building</a:t>
            </a:r>
            <a:endParaRPr lang="en-IN" sz="1400" dirty="0">
              <a:solidFill>
                <a:schemeClr val="tx1">
                  <a:lumMod val="65000"/>
                  <a:lumOff val="35000"/>
                </a:schemeClr>
              </a:solidFill>
              <a:latin typeface="Economica" panose="02000506040000020004" pitchFamily="2" charset="0"/>
            </a:endParaRPr>
          </a:p>
        </p:txBody>
      </p:sp>
      <p:sp>
        <p:nvSpPr>
          <p:cNvPr id="119" name="TextBox 118">
            <a:extLst>
              <a:ext uri="{FF2B5EF4-FFF2-40B4-BE49-F238E27FC236}">
                <a16:creationId xmlns:a16="http://schemas.microsoft.com/office/drawing/2014/main" id="{8522CA42-2A6C-0611-4E37-24CF9741EF68}"/>
              </a:ext>
            </a:extLst>
          </p:cNvPr>
          <p:cNvSpPr txBox="1"/>
          <p:nvPr/>
        </p:nvSpPr>
        <p:spPr>
          <a:xfrm>
            <a:off x="6599795" y="891212"/>
            <a:ext cx="4463508" cy="830997"/>
          </a:xfrm>
          <a:prstGeom prst="rect">
            <a:avLst/>
          </a:prstGeom>
          <a:noFill/>
        </p:spPr>
        <p:txBody>
          <a:bodyPr wrap="square" rtlCol="0">
            <a:spAutoFit/>
          </a:bodyPr>
          <a:lstStyle/>
          <a:p>
            <a:r>
              <a:rPr lang="en-US" sz="2000" b="1" spc="300" dirty="0">
                <a:solidFill>
                  <a:schemeClr val="tx1">
                    <a:lumMod val="65000"/>
                    <a:lumOff val="35000"/>
                  </a:schemeClr>
                </a:solidFill>
                <a:latin typeface="Rajdhani bold" panose="02000000000000000000" pitchFamily="2" charset="0"/>
                <a:cs typeface="Rajdhani bold" panose="02000000000000000000" pitchFamily="2" charset="0"/>
              </a:rPr>
              <a:t>Motivation</a:t>
            </a:r>
            <a:endParaRPr lang="en-US" sz="2000" b="1" dirty="0">
              <a:solidFill>
                <a:schemeClr val="tx1">
                  <a:lumMod val="65000"/>
                  <a:lumOff val="35000"/>
                </a:schemeClr>
              </a:solidFill>
              <a:latin typeface="Rajdhani bold" panose="02000000000000000000" pitchFamily="2" charset="0"/>
              <a:cs typeface="Rajdhani bold" panose="02000000000000000000" pitchFamily="2" charset="0"/>
            </a:endParaRPr>
          </a:p>
          <a:p>
            <a:r>
              <a:rPr lang="en-US" sz="1400" dirty="0">
                <a:solidFill>
                  <a:schemeClr val="tx1">
                    <a:lumMod val="65000"/>
                    <a:lumOff val="35000"/>
                  </a:schemeClr>
                </a:solidFill>
                <a:latin typeface="Economica" panose="02000506040000020004" pitchFamily="2" charset="0"/>
              </a:rPr>
              <a:t>. Educate students on myths and realities. Impart foundational knowledge through classroom teaching</a:t>
            </a:r>
            <a:endParaRPr lang="en-IN" sz="1400" dirty="0">
              <a:solidFill>
                <a:schemeClr val="tx1">
                  <a:lumMod val="65000"/>
                  <a:lumOff val="35000"/>
                </a:schemeClr>
              </a:solidFill>
              <a:latin typeface="Economica" panose="02000506040000020004" pitchFamily="2" charset="0"/>
            </a:endParaRPr>
          </a:p>
        </p:txBody>
      </p:sp>
      <p:sp>
        <p:nvSpPr>
          <p:cNvPr id="120" name="TextBox 119">
            <a:extLst>
              <a:ext uri="{FF2B5EF4-FFF2-40B4-BE49-F238E27FC236}">
                <a16:creationId xmlns:a16="http://schemas.microsoft.com/office/drawing/2014/main" id="{2D161CB3-1CF5-EB2F-5512-566D440F2784}"/>
              </a:ext>
            </a:extLst>
          </p:cNvPr>
          <p:cNvSpPr txBox="1"/>
          <p:nvPr/>
        </p:nvSpPr>
        <p:spPr>
          <a:xfrm>
            <a:off x="6885031" y="2704787"/>
            <a:ext cx="4442711" cy="1261884"/>
          </a:xfrm>
          <a:prstGeom prst="rect">
            <a:avLst/>
          </a:prstGeom>
          <a:noFill/>
        </p:spPr>
        <p:txBody>
          <a:bodyPr wrap="square" rtlCol="0">
            <a:spAutoFit/>
          </a:bodyPr>
          <a:lstStyle/>
          <a:p>
            <a:r>
              <a:rPr lang="en-US" sz="2000" b="1" spc="300" dirty="0">
                <a:solidFill>
                  <a:schemeClr val="tx1">
                    <a:lumMod val="65000"/>
                    <a:lumOff val="35000"/>
                  </a:schemeClr>
                </a:solidFill>
                <a:latin typeface="Rajdhani bold" panose="02000000000000000000" pitchFamily="2" charset="0"/>
                <a:cs typeface="Rajdhani bold" panose="02000000000000000000" pitchFamily="2" charset="0"/>
              </a:rPr>
              <a:t>Mentoring</a:t>
            </a:r>
            <a:endParaRPr lang="en-US" sz="2000" b="1" dirty="0">
              <a:solidFill>
                <a:schemeClr val="tx1">
                  <a:lumMod val="65000"/>
                  <a:lumOff val="35000"/>
                </a:schemeClr>
              </a:solidFill>
              <a:latin typeface="Rajdhani bold" panose="02000000000000000000" pitchFamily="2" charset="0"/>
              <a:cs typeface="Rajdhani bold" panose="02000000000000000000" pitchFamily="2" charset="0"/>
            </a:endParaRPr>
          </a:p>
          <a:p>
            <a:r>
              <a:rPr lang="en-US" sz="1400" dirty="0">
                <a:solidFill>
                  <a:schemeClr val="tx1">
                    <a:lumMod val="65000"/>
                    <a:lumOff val="35000"/>
                  </a:schemeClr>
                </a:solidFill>
                <a:latin typeface="Economica" panose="02000506040000020004" pitchFamily="2" charset="0"/>
              </a:rPr>
              <a:t>Integrate academics with venture creation.  Mentor students with early ideas, assess techno-commercial feasibility, help them pivot early, frame business plan. Provide funds.</a:t>
            </a:r>
            <a:endParaRPr lang="en-IN" sz="1400" dirty="0">
              <a:solidFill>
                <a:schemeClr val="tx1">
                  <a:lumMod val="65000"/>
                  <a:lumOff val="35000"/>
                </a:schemeClr>
              </a:solidFill>
              <a:latin typeface="Economica" panose="02000506040000020004" pitchFamily="2" charset="0"/>
            </a:endParaRPr>
          </a:p>
        </p:txBody>
      </p:sp>
      <p:sp>
        <p:nvSpPr>
          <p:cNvPr id="121" name="TextBox 120">
            <a:extLst>
              <a:ext uri="{FF2B5EF4-FFF2-40B4-BE49-F238E27FC236}">
                <a16:creationId xmlns:a16="http://schemas.microsoft.com/office/drawing/2014/main" id="{D4133CC1-5D60-6AF5-02C0-CD3475207F0A}"/>
              </a:ext>
            </a:extLst>
          </p:cNvPr>
          <p:cNvSpPr txBox="1"/>
          <p:nvPr/>
        </p:nvSpPr>
        <p:spPr>
          <a:xfrm>
            <a:off x="6569918" y="4862830"/>
            <a:ext cx="4472805" cy="1046440"/>
          </a:xfrm>
          <a:prstGeom prst="rect">
            <a:avLst/>
          </a:prstGeom>
          <a:noFill/>
        </p:spPr>
        <p:txBody>
          <a:bodyPr wrap="square" rtlCol="0">
            <a:spAutoFit/>
          </a:bodyPr>
          <a:lstStyle/>
          <a:p>
            <a:r>
              <a:rPr lang="en-US" sz="2000" b="1" spc="300" dirty="0">
                <a:solidFill>
                  <a:schemeClr val="tx1">
                    <a:lumMod val="65000"/>
                    <a:lumOff val="35000"/>
                  </a:schemeClr>
                </a:solidFill>
                <a:latin typeface="Rajdhani bold" panose="02000000000000000000" pitchFamily="2" charset="0"/>
                <a:cs typeface="Rajdhani bold" panose="02000000000000000000" pitchFamily="2" charset="0"/>
              </a:rPr>
              <a:t>Incubation</a:t>
            </a:r>
            <a:endParaRPr lang="en-US" sz="2000" b="1" dirty="0">
              <a:solidFill>
                <a:schemeClr val="tx1">
                  <a:lumMod val="65000"/>
                  <a:lumOff val="35000"/>
                </a:schemeClr>
              </a:solidFill>
              <a:latin typeface="Rajdhani bold" panose="02000000000000000000" pitchFamily="2" charset="0"/>
              <a:cs typeface="Rajdhani bold" panose="02000000000000000000" pitchFamily="2" charset="0"/>
            </a:endParaRPr>
          </a:p>
          <a:p>
            <a:r>
              <a:rPr lang="en-US" sz="1400" dirty="0">
                <a:solidFill>
                  <a:schemeClr val="tx1">
                    <a:lumMod val="65000"/>
                    <a:lumOff val="35000"/>
                  </a:schemeClr>
                </a:solidFill>
                <a:latin typeface="Economica" panose="02000506040000020004" pitchFamily="2" charset="0"/>
              </a:rPr>
              <a:t>Provide basic infrastructure for converting ideas into MVPs, hiring interns, validation, and filing for IP. </a:t>
            </a:r>
          </a:p>
          <a:p>
            <a:r>
              <a:rPr lang="en-US" sz="1400" dirty="0">
                <a:solidFill>
                  <a:schemeClr val="tx1">
                    <a:lumMod val="65000"/>
                    <a:lumOff val="35000"/>
                  </a:schemeClr>
                </a:solidFill>
                <a:latin typeface="Economica" panose="02000506040000020004" pitchFamily="2" charset="0"/>
              </a:rPr>
              <a:t>Provide seed funds.</a:t>
            </a:r>
            <a:endParaRPr lang="en-IN" sz="1400" dirty="0">
              <a:solidFill>
                <a:schemeClr val="tx1">
                  <a:lumMod val="65000"/>
                  <a:lumOff val="35000"/>
                </a:schemeClr>
              </a:solidFill>
              <a:latin typeface="Economica" panose="02000506040000020004" pitchFamily="2" charset="0"/>
            </a:endParaRPr>
          </a:p>
        </p:txBody>
      </p:sp>
      <p:sp>
        <p:nvSpPr>
          <p:cNvPr id="122" name="TextBox 121">
            <a:extLst>
              <a:ext uri="{FF2B5EF4-FFF2-40B4-BE49-F238E27FC236}">
                <a16:creationId xmlns:a16="http://schemas.microsoft.com/office/drawing/2014/main" id="{15743B82-8A04-E360-F251-7BF20C21E1FA}"/>
              </a:ext>
            </a:extLst>
          </p:cNvPr>
          <p:cNvSpPr txBox="1"/>
          <p:nvPr/>
        </p:nvSpPr>
        <p:spPr>
          <a:xfrm>
            <a:off x="5270915" y="5958890"/>
            <a:ext cx="4442711" cy="830997"/>
          </a:xfrm>
          <a:prstGeom prst="rect">
            <a:avLst/>
          </a:prstGeom>
          <a:noFill/>
        </p:spPr>
        <p:txBody>
          <a:bodyPr wrap="square" rtlCol="0">
            <a:spAutoFit/>
          </a:bodyPr>
          <a:lstStyle/>
          <a:p>
            <a:r>
              <a:rPr lang="en-US" sz="2000" b="1" spc="300" dirty="0">
                <a:solidFill>
                  <a:schemeClr val="tx1">
                    <a:lumMod val="65000"/>
                    <a:lumOff val="35000"/>
                  </a:schemeClr>
                </a:solidFill>
                <a:latin typeface="Rajdhani bold" panose="02000000000000000000" pitchFamily="2" charset="0"/>
                <a:cs typeface="Rajdhani bold" panose="02000000000000000000" pitchFamily="2" charset="0"/>
              </a:rPr>
              <a:t>Acceleration</a:t>
            </a:r>
            <a:endParaRPr lang="en-US" sz="2000" b="1" dirty="0">
              <a:solidFill>
                <a:schemeClr val="tx1">
                  <a:lumMod val="65000"/>
                  <a:lumOff val="35000"/>
                </a:schemeClr>
              </a:solidFill>
              <a:latin typeface="Rajdhani bold" panose="02000000000000000000" pitchFamily="2" charset="0"/>
              <a:cs typeface="Rajdhani bold" panose="02000000000000000000" pitchFamily="2" charset="0"/>
            </a:endParaRPr>
          </a:p>
          <a:p>
            <a:r>
              <a:rPr lang="en-US" sz="1400" dirty="0">
                <a:solidFill>
                  <a:schemeClr val="tx1">
                    <a:lumMod val="65000"/>
                    <a:lumOff val="35000"/>
                  </a:schemeClr>
                </a:solidFill>
                <a:latin typeface="Economica" panose="02000506040000020004" pitchFamily="2" charset="0"/>
              </a:rPr>
              <a:t>Refine product, refine business model, discover customers, connect investors. Engage alumnae</a:t>
            </a:r>
            <a:endParaRPr lang="en-IN" sz="1400" dirty="0">
              <a:solidFill>
                <a:schemeClr val="tx1">
                  <a:lumMod val="65000"/>
                  <a:lumOff val="35000"/>
                </a:schemeClr>
              </a:solidFill>
              <a:latin typeface="Economica" panose="02000506040000020004" pitchFamily="2" charset="0"/>
            </a:endParaRPr>
          </a:p>
        </p:txBody>
      </p:sp>
      <p:sp>
        <p:nvSpPr>
          <p:cNvPr id="124" name="TextBox 123">
            <a:extLst>
              <a:ext uri="{FF2B5EF4-FFF2-40B4-BE49-F238E27FC236}">
                <a16:creationId xmlns:a16="http://schemas.microsoft.com/office/drawing/2014/main" id="{475F436D-5336-67CD-A8A8-E9D856FEB0B9}"/>
              </a:ext>
            </a:extLst>
          </p:cNvPr>
          <p:cNvSpPr txBox="1"/>
          <p:nvPr/>
        </p:nvSpPr>
        <p:spPr>
          <a:xfrm>
            <a:off x="391977" y="500291"/>
            <a:ext cx="1046440" cy="6181874"/>
          </a:xfrm>
          <a:prstGeom prst="rect">
            <a:avLst/>
          </a:prstGeom>
          <a:noFill/>
        </p:spPr>
        <p:txBody>
          <a:bodyPr vert="vert270" wrap="square">
            <a:spAutoFit/>
          </a:bodyPr>
          <a:lstStyle/>
          <a:p>
            <a:pPr algn="ctr"/>
            <a:r>
              <a:rPr lang="en-US" sz="2800" b="1" spc="300" dirty="0">
                <a:solidFill>
                  <a:schemeClr val="tx1">
                    <a:lumMod val="75000"/>
                    <a:lumOff val="25000"/>
                  </a:schemeClr>
                </a:solidFill>
                <a:latin typeface="Rajdhani bold" panose="02000000000000000000" pitchFamily="2" charset="0"/>
                <a:cs typeface="Rajdhani bold" panose="02000000000000000000" pitchFamily="2" charset="0"/>
              </a:rPr>
              <a:t>The Roles of IIT Kharagpur in Promoting Entrepreneurship</a:t>
            </a:r>
            <a:endParaRPr lang="en-US" sz="2800" b="1" dirty="0">
              <a:solidFill>
                <a:schemeClr val="tx1">
                  <a:lumMod val="75000"/>
                  <a:lumOff val="25000"/>
                </a:schemeClr>
              </a:solidFill>
              <a:latin typeface="Rajdhani bold" panose="02000000000000000000" pitchFamily="2" charset="0"/>
              <a:cs typeface="Rajdhani bold" panose="02000000000000000000" pitchFamily="2" charset="0"/>
            </a:endParaRPr>
          </a:p>
        </p:txBody>
      </p:sp>
      <p:cxnSp>
        <p:nvCxnSpPr>
          <p:cNvPr id="128" name="Connector: Elbow 127">
            <a:extLst>
              <a:ext uri="{FF2B5EF4-FFF2-40B4-BE49-F238E27FC236}">
                <a16:creationId xmlns:a16="http://schemas.microsoft.com/office/drawing/2014/main" id="{0D21B26E-EB6E-2C53-40CC-9A51076BF25F}"/>
              </a:ext>
            </a:extLst>
          </p:cNvPr>
          <p:cNvCxnSpPr>
            <a:cxnSpLocks/>
          </p:cNvCxnSpPr>
          <p:nvPr/>
        </p:nvCxnSpPr>
        <p:spPr>
          <a:xfrm>
            <a:off x="3838637" y="6067214"/>
            <a:ext cx="1392856" cy="307120"/>
          </a:xfrm>
          <a:prstGeom prst="bentConnector3">
            <a:avLst/>
          </a:prstGeom>
          <a:ln w="19050">
            <a:solidFill>
              <a:srgbClr val="42210B"/>
            </a:solidFill>
            <a:prstDash val="dash"/>
            <a:headEnd type="oval"/>
            <a:tailEnd type="oval"/>
          </a:ln>
          <a:effectLst>
            <a:outerShdw blurRad="63500" sx="102000" sy="102000" algn="ctr" rotWithShape="0">
              <a:prstClr val="black">
                <a:alpha val="57000"/>
              </a:prstClr>
            </a:outerShdw>
          </a:effectLst>
        </p:spPr>
        <p:style>
          <a:lnRef idx="1">
            <a:schemeClr val="accent1"/>
          </a:lnRef>
          <a:fillRef idx="0">
            <a:schemeClr val="accent1"/>
          </a:fillRef>
          <a:effectRef idx="0">
            <a:schemeClr val="accent1"/>
          </a:effectRef>
          <a:fontRef idx="minor">
            <a:schemeClr val="tx1"/>
          </a:fontRef>
        </p:style>
      </p:cxnSp>
      <p:cxnSp>
        <p:nvCxnSpPr>
          <p:cNvPr id="129" name="Connector: Elbow 128">
            <a:extLst>
              <a:ext uri="{FF2B5EF4-FFF2-40B4-BE49-F238E27FC236}">
                <a16:creationId xmlns:a16="http://schemas.microsoft.com/office/drawing/2014/main" id="{C35CAA1A-72A4-8646-9EA6-347A16796290}"/>
              </a:ext>
            </a:extLst>
          </p:cNvPr>
          <p:cNvCxnSpPr>
            <a:cxnSpLocks/>
          </p:cNvCxnSpPr>
          <p:nvPr/>
        </p:nvCxnSpPr>
        <p:spPr>
          <a:xfrm flipV="1">
            <a:off x="5177062" y="1321677"/>
            <a:ext cx="1392856" cy="307120"/>
          </a:xfrm>
          <a:prstGeom prst="bentConnector3">
            <a:avLst/>
          </a:prstGeom>
          <a:ln w="19050">
            <a:solidFill>
              <a:srgbClr val="A67C52"/>
            </a:solidFill>
            <a:prstDash val="dash"/>
            <a:headEnd type="oval"/>
            <a:tailEnd type="oval"/>
          </a:ln>
          <a:effectLst>
            <a:outerShdw blurRad="63500" sx="102000" sy="102000" algn="ctr" rotWithShape="0">
              <a:prstClr val="black">
                <a:alpha val="57000"/>
              </a:prstClr>
            </a:outerShdw>
          </a:effectLst>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91AC4D86-A443-DCE2-7418-129BB1A024C6}"/>
              </a:ext>
            </a:extLst>
          </p:cNvPr>
          <p:cNvCxnSpPr>
            <a:cxnSpLocks/>
          </p:cNvCxnSpPr>
          <p:nvPr/>
        </p:nvCxnSpPr>
        <p:spPr>
          <a:xfrm flipV="1">
            <a:off x="3840418" y="288009"/>
            <a:ext cx="1392856" cy="307120"/>
          </a:xfrm>
          <a:prstGeom prst="bentConnector3">
            <a:avLst/>
          </a:prstGeom>
          <a:ln w="19050">
            <a:solidFill>
              <a:srgbClr val="A67C52"/>
            </a:solidFill>
            <a:prstDash val="dash"/>
            <a:headEnd type="oval"/>
            <a:tailEnd type="oval"/>
          </a:ln>
          <a:effectLst>
            <a:outerShdw blurRad="63500" sx="102000" sy="102000" algn="ctr" rotWithShape="0">
              <a:prstClr val="black">
                <a:alpha val="57000"/>
              </a:prstClr>
            </a:outerShdw>
          </a:effectLst>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B2F9FDA2-9F03-BA3A-31AB-5C06F383623C}"/>
              </a:ext>
            </a:extLst>
          </p:cNvPr>
          <p:cNvPicPr>
            <a:picLocks noChangeAspect="1"/>
          </p:cNvPicPr>
          <p:nvPr/>
        </p:nvPicPr>
        <p:blipFill>
          <a:blip r:embed="rId5"/>
          <a:stretch>
            <a:fillRect/>
          </a:stretch>
        </p:blipFill>
        <p:spPr>
          <a:xfrm>
            <a:off x="3137619" y="4494599"/>
            <a:ext cx="609600" cy="609600"/>
          </a:xfrm>
          <a:prstGeom prst="rect">
            <a:avLst/>
          </a:prstGeom>
        </p:spPr>
      </p:pic>
      <p:pic>
        <p:nvPicPr>
          <p:cNvPr id="7" name="Picture 6">
            <a:extLst>
              <a:ext uri="{FF2B5EF4-FFF2-40B4-BE49-F238E27FC236}">
                <a16:creationId xmlns:a16="http://schemas.microsoft.com/office/drawing/2014/main" id="{2AF6475F-4CA1-547E-57E0-A137AD4E61E2}"/>
              </a:ext>
            </a:extLst>
          </p:cNvPr>
          <p:cNvPicPr>
            <a:picLocks noChangeAspect="1"/>
          </p:cNvPicPr>
          <p:nvPr/>
        </p:nvPicPr>
        <p:blipFill>
          <a:blip r:embed="rId6"/>
          <a:stretch>
            <a:fillRect/>
          </a:stretch>
        </p:blipFill>
        <p:spPr>
          <a:xfrm>
            <a:off x="4542292" y="2723733"/>
            <a:ext cx="610263" cy="610263"/>
          </a:xfrm>
          <a:prstGeom prst="rect">
            <a:avLst/>
          </a:prstGeom>
        </p:spPr>
      </p:pic>
      <p:pic>
        <p:nvPicPr>
          <p:cNvPr id="9" name="Picture 8">
            <a:extLst>
              <a:ext uri="{FF2B5EF4-FFF2-40B4-BE49-F238E27FC236}">
                <a16:creationId xmlns:a16="http://schemas.microsoft.com/office/drawing/2014/main" id="{AD56184B-2F07-B107-44D7-65EF936B1453}"/>
              </a:ext>
            </a:extLst>
          </p:cNvPr>
          <p:cNvPicPr>
            <a:picLocks noChangeAspect="1"/>
          </p:cNvPicPr>
          <p:nvPr/>
        </p:nvPicPr>
        <p:blipFill>
          <a:blip r:embed="rId7"/>
          <a:stretch>
            <a:fillRect/>
          </a:stretch>
        </p:blipFill>
        <p:spPr>
          <a:xfrm>
            <a:off x="3971361" y="3808373"/>
            <a:ext cx="667255" cy="667255"/>
          </a:xfrm>
          <a:prstGeom prst="rect">
            <a:avLst/>
          </a:prstGeom>
        </p:spPr>
      </p:pic>
      <p:pic>
        <p:nvPicPr>
          <p:cNvPr id="11" name="Picture 10">
            <a:extLst>
              <a:ext uri="{FF2B5EF4-FFF2-40B4-BE49-F238E27FC236}">
                <a16:creationId xmlns:a16="http://schemas.microsoft.com/office/drawing/2014/main" id="{3EF91348-B5CC-4812-54AC-4DFB4B2D65C5}"/>
              </a:ext>
            </a:extLst>
          </p:cNvPr>
          <p:cNvPicPr>
            <a:picLocks noChangeAspect="1"/>
          </p:cNvPicPr>
          <p:nvPr/>
        </p:nvPicPr>
        <p:blipFill>
          <a:blip r:embed="rId8"/>
          <a:stretch>
            <a:fillRect/>
          </a:stretch>
        </p:blipFill>
        <p:spPr>
          <a:xfrm>
            <a:off x="4022199" y="1562654"/>
            <a:ext cx="685800" cy="685800"/>
          </a:xfrm>
          <a:prstGeom prst="rect">
            <a:avLst/>
          </a:prstGeom>
        </p:spPr>
      </p:pic>
      <p:pic>
        <p:nvPicPr>
          <p:cNvPr id="13" name="Picture 12">
            <a:extLst>
              <a:ext uri="{FF2B5EF4-FFF2-40B4-BE49-F238E27FC236}">
                <a16:creationId xmlns:a16="http://schemas.microsoft.com/office/drawing/2014/main" id="{C4851E5F-D25F-42BC-5493-0308A9839BE6}"/>
              </a:ext>
            </a:extLst>
          </p:cNvPr>
          <p:cNvPicPr>
            <a:picLocks noChangeAspect="1"/>
          </p:cNvPicPr>
          <p:nvPr/>
        </p:nvPicPr>
        <p:blipFill>
          <a:blip r:embed="rId9"/>
          <a:stretch>
            <a:fillRect/>
          </a:stretch>
        </p:blipFill>
        <p:spPr>
          <a:xfrm>
            <a:off x="2950532" y="824694"/>
            <a:ext cx="470335" cy="470335"/>
          </a:xfrm>
          <a:prstGeom prst="rect">
            <a:avLst/>
          </a:prstGeom>
        </p:spPr>
      </p:pic>
      <p:pic>
        <p:nvPicPr>
          <p:cNvPr id="14" name="Picture 2" descr="IIT Kharagpur - Wikipedia">
            <a:extLst>
              <a:ext uri="{FF2B5EF4-FFF2-40B4-BE49-F238E27FC236}">
                <a16:creationId xmlns:a16="http://schemas.microsoft.com/office/drawing/2014/main" id="{BA2F0F6E-6098-FD1C-A119-416FBBA44FC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269086" y="2646126"/>
            <a:ext cx="1154059" cy="1291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365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668735466"/>
              </p:ext>
            </p:extLst>
          </p:nvPr>
        </p:nvGraphicFramePr>
        <p:xfrm>
          <a:off x="234175" y="-468351"/>
          <a:ext cx="10223810" cy="754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234175" y="196579"/>
            <a:ext cx="8839200" cy="1143000"/>
          </a:xfrm>
        </p:spPr>
        <p:txBody>
          <a:bodyPr vert="horz" lIns="91440" tIns="45720" rIns="91440" bIns="45720" rtlCol="0" anchor="ctr">
            <a:normAutofit/>
          </a:bodyPr>
          <a:lstStyle/>
          <a:p>
            <a:r>
              <a:rPr lang="en-IN" sz="3600" b="1" dirty="0">
                <a:solidFill>
                  <a:srgbClr val="002060"/>
                </a:solidFill>
                <a:latin typeface="Georgia" panose="02040502050405020303" pitchFamily="18" charset="0"/>
              </a:rPr>
              <a:t>   Steps to Start a Start-up</a:t>
            </a:r>
            <a:endParaRPr lang="en-US" sz="3600" b="1" dirty="0">
              <a:solidFill>
                <a:srgbClr val="002060"/>
              </a:solidFill>
              <a:latin typeface="Georgia" panose="02040502050405020303" pitchFamily="18" charset="0"/>
            </a:endParaRPr>
          </a:p>
        </p:txBody>
      </p:sp>
      <p:sp>
        <p:nvSpPr>
          <p:cNvPr id="5" name="Striped Right Arrow 4"/>
          <p:cNvSpPr/>
          <p:nvPr/>
        </p:nvSpPr>
        <p:spPr>
          <a:xfrm>
            <a:off x="10509991" y="1806499"/>
            <a:ext cx="1682009" cy="2497873"/>
          </a:xfrm>
          <a:prstGeom prst="striped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0395950" y="2813784"/>
            <a:ext cx="1661531" cy="523220"/>
          </a:xfrm>
          <a:prstGeom prst="rect">
            <a:avLst/>
          </a:prstGeom>
          <a:noFill/>
        </p:spPr>
        <p:txBody>
          <a:bodyPr wrap="square" rtlCol="0">
            <a:spAutoFit/>
          </a:bodyPr>
          <a:lstStyle/>
          <a:p>
            <a:r>
              <a:rPr lang="en-IN" sz="2800" dirty="0">
                <a:solidFill>
                  <a:schemeClr val="bg1"/>
                </a:solidFill>
              </a:rPr>
              <a:t>Prototype</a:t>
            </a:r>
            <a:endParaRPr lang="en-US" sz="2800" dirty="0">
              <a:solidFill>
                <a:schemeClr val="bg1"/>
              </a:solidFill>
            </a:endParaRPr>
          </a:p>
        </p:txBody>
      </p:sp>
      <p:sp>
        <p:nvSpPr>
          <p:cNvPr id="3" name="Slide Number Placeholder 2"/>
          <p:cNvSpPr>
            <a:spLocks noGrp="1"/>
          </p:cNvSpPr>
          <p:nvPr>
            <p:ph type="sldNum" sz="quarter" idx="12"/>
          </p:nvPr>
        </p:nvSpPr>
        <p:spPr/>
        <p:txBody>
          <a:bodyPr/>
          <a:lstStyle/>
          <a:p>
            <a:fld id="{2CBC2861-336E-43D8-A467-ABE779BBF5C1}" type="slidenum">
              <a:rPr lang="en-US" smtClean="0"/>
              <a:pPr/>
              <a:t>8</a:t>
            </a:fld>
            <a:endParaRPr lang="en-US"/>
          </a:p>
        </p:txBody>
      </p:sp>
      <p:sp>
        <p:nvSpPr>
          <p:cNvPr id="11" name="Freeform: Shape 10">
            <a:extLst>
              <a:ext uri="{FF2B5EF4-FFF2-40B4-BE49-F238E27FC236}">
                <a16:creationId xmlns:a16="http://schemas.microsoft.com/office/drawing/2014/main" id="{D1E0D35A-F85D-8B40-C395-62A41504D582}"/>
              </a:ext>
            </a:extLst>
          </p:cNvPr>
          <p:cNvSpPr/>
          <p:nvPr/>
        </p:nvSpPr>
        <p:spPr>
          <a:xfrm>
            <a:off x="243903" y="1340408"/>
            <a:ext cx="2079819" cy="2375560"/>
          </a:xfrm>
          <a:custGeom>
            <a:avLst/>
            <a:gdLst>
              <a:gd name="connsiteX0" fmla="*/ 346643 w 2079819"/>
              <a:gd name="connsiteY0" fmla="*/ 0 h 2375560"/>
              <a:gd name="connsiteX1" fmla="*/ 1733176 w 2079819"/>
              <a:gd name="connsiteY1" fmla="*/ 0 h 2375560"/>
              <a:gd name="connsiteX2" fmla="*/ 2079819 w 2079819"/>
              <a:gd name="connsiteY2" fmla="*/ 346643 h 2375560"/>
              <a:gd name="connsiteX3" fmla="*/ 2079819 w 2079819"/>
              <a:gd name="connsiteY3" fmla="*/ 2028917 h 2375560"/>
              <a:gd name="connsiteX4" fmla="*/ 1733176 w 2079819"/>
              <a:gd name="connsiteY4" fmla="*/ 2375560 h 2375560"/>
              <a:gd name="connsiteX5" fmla="*/ 1733175 w 2079819"/>
              <a:gd name="connsiteY5" fmla="*/ 2375560 h 2375560"/>
              <a:gd name="connsiteX6" fmla="*/ 2079818 w 2079819"/>
              <a:gd name="connsiteY6" fmla="*/ 2028917 h 2375560"/>
              <a:gd name="connsiteX7" fmla="*/ 2079818 w 2079819"/>
              <a:gd name="connsiteY7" fmla="*/ 557408 h 2375560"/>
              <a:gd name="connsiteX8" fmla="*/ 1733175 w 2079819"/>
              <a:gd name="connsiteY8" fmla="*/ 210765 h 2375560"/>
              <a:gd name="connsiteX9" fmla="*/ 346642 w 2079819"/>
              <a:gd name="connsiteY9" fmla="*/ 210765 h 2375560"/>
              <a:gd name="connsiteX10" fmla="*/ 7042 w 2079819"/>
              <a:gd name="connsiteY10" fmla="*/ 487547 h 2375560"/>
              <a:gd name="connsiteX11" fmla="*/ 0 w 2079819"/>
              <a:gd name="connsiteY11" fmla="*/ 557398 h 2375560"/>
              <a:gd name="connsiteX12" fmla="*/ 0 w 2079819"/>
              <a:gd name="connsiteY12" fmla="*/ 346643 h 2375560"/>
              <a:gd name="connsiteX13" fmla="*/ 346643 w 2079819"/>
              <a:gd name="connsiteY13" fmla="*/ 0 h 237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819" h="2375560">
                <a:moveTo>
                  <a:pt x="346643" y="0"/>
                </a:moveTo>
                <a:lnTo>
                  <a:pt x="1733176" y="0"/>
                </a:lnTo>
                <a:cubicBezTo>
                  <a:pt x="1924622" y="0"/>
                  <a:pt x="2079819" y="155197"/>
                  <a:pt x="2079819" y="346643"/>
                </a:cubicBezTo>
                <a:lnTo>
                  <a:pt x="2079819" y="2028917"/>
                </a:lnTo>
                <a:cubicBezTo>
                  <a:pt x="2079819" y="2220363"/>
                  <a:pt x="1924622" y="2375560"/>
                  <a:pt x="1733176" y="2375560"/>
                </a:cubicBezTo>
                <a:lnTo>
                  <a:pt x="1733175" y="2375560"/>
                </a:lnTo>
                <a:cubicBezTo>
                  <a:pt x="1924621" y="2375560"/>
                  <a:pt x="2079818" y="2220363"/>
                  <a:pt x="2079818" y="2028917"/>
                </a:cubicBezTo>
                <a:lnTo>
                  <a:pt x="2079818" y="557408"/>
                </a:lnTo>
                <a:cubicBezTo>
                  <a:pt x="2079818" y="365962"/>
                  <a:pt x="1924621" y="210765"/>
                  <a:pt x="1733175" y="210765"/>
                </a:cubicBezTo>
                <a:lnTo>
                  <a:pt x="346642" y="210765"/>
                </a:lnTo>
                <a:cubicBezTo>
                  <a:pt x="179127" y="210765"/>
                  <a:pt x="39365" y="329588"/>
                  <a:pt x="7042" y="487547"/>
                </a:cubicBezTo>
                <a:lnTo>
                  <a:pt x="0" y="557398"/>
                </a:lnTo>
                <a:lnTo>
                  <a:pt x="0" y="346643"/>
                </a:lnTo>
                <a:cubicBezTo>
                  <a:pt x="0" y="155197"/>
                  <a:pt x="155197" y="0"/>
                  <a:pt x="346643"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reeform: Shape 11">
            <a:extLst>
              <a:ext uri="{FF2B5EF4-FFF2-40B4-BE49-F238E27FC236}">
                <a16:creationId xmlns:a16="http://schemas.microsoft.com/office/drawing/2014/main" id="{F41E9B0E-1A6D-83A2-3987-4FB024A278E3}"/>
              </a:ext>
            </a:extLst>
          </p:cNvPr>
          <p:cNvSpPr/>
          <p:nvPr/>
        </p:nvSpPr>
        <p:spPr>
          <a:xfrm>
            <a:off x="2643393" y="1339579"/>
            <a:ext cx="2079819" cy="2375560"/>
          </a:xfrm>
          <a:custGeom>
            <a:avLst/>
            <a:gdLst>
              <a:gd name="connsiteX0" fmla="*/ 346643 w 2079819"/>
              <a:gd name="connsiteY0" fmla="*/ 0 h 2375560"/>
              <a:gd name="connsiteX1" fmla="*/ 1733176 w 2079819"/>
              <a:gd name="connsiteY1" fmla="*/ 0 h 2375560"/>
              <a:gd name="connsiteX2" fmla="*/ 2079819 w 2079819"/>
              <a:gd name="connsiteY2" fmla="*/ 346643 h 2375560"/>
              <a:gd name="connsiteX3" fmla="*/ 2079819 w 2079819"/>
              <a:gd name="connsiteY3" fmla="*/ 2028917 h 2375560"/>
              <a:gd name="connsiteX4" fmla="*/ 1733176 w 2079819"/>
              <a:gd name="connsiteY4" fmla="*/ 2375560 h 2375560"/>
              <a:gd name="connsiteX5" fmla="*/ 1733175 w 2079819"/>
              <a:gd name="connsiteY5" fmla="*/ 2375560 h 2375560"/>
              <a:gd name="connsiteX6" fmla="*/ 2079818 w 2079819"/>
              <a:gd name="connsiteY6" fmla="*/ 2028917 h 2375560"/>
              <a:gd name="connsiteX7" fmla="*/ 2079818 w 2079819"/>
              <a:gd name="connsiteY7" fmla="*/ 557408 h 2375560"/>
              <a:gd name="connsiteX8" fmla="*/ 1733175 w 2079819"/>
              <a:gd name="connsiteY8" fmla="*/ 210765 h 2375560"/>
              <a:gd name="connsiteX9" fmla="*/ 346642 w 2079819"/>
              <a:gd name="connsiteY9" fmla="*/ 210765 h 2375560"/>
              <a:gd name="connsiteX10" fmla="*/ 7042 w 2079819"/>
              <a:gd name="connsiteY10" fmla="*/ 487547 h 2375560"/>
              <a:gd name="connsiteX11" fmla="*/ 0 w 2079819"/>
              <a:gd name="connsiteY11" fmla="*/ 557398 h 2375560"/>
              <a:gd name="connsiteX12" fmla="*/ 0 w 2079819"/>
              <a:gd name="connsiteY12" fmla="*/ 346643 h 2375560"/>
              <a:gd name="connsiteX13" fmla="*/ 346643 w 2079819"/>
              <a:gd name="connsiteY13" fmla="*/ 0 h 237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819" h="2375560">
                <a:moveTo>
                  <a:pt x="346643" y="0"/>
                </a:moveTo>
                <a:lnTo>
                  <a:pt x="1733176" y="0"/>
                </a:lnTo>
                <a:cubicBezTo>
                  <a:pt x="1924622" y="0"/>
                  <a:pt x="2079819" y="155197"/>
                  <a:pt x="2079819" y="346643"/>
                </a:cubicBezTo>
                <a:lnTo>
                  <a:pt x="2079819" y="2028917"/>
                </a:lnTo>
                <a:cubicBezTo>
                  <a:pt x="2079819" y="2220363"/>
                  <a:pt x="1924622" y="2375560"/>
                  <a:pt x="1733176" y="2375560"/>
                </a:cubicBezTo>
                <a:lnTo>
                  <a:pt x="1733175" y="2375560"/>
                </a:lnTo>
                <a:cubicBezTo>
                  <a:pt x="1924621" y="2375560"/>
                  <a:pt x="2079818" y="2220363"/>
                  <a:pt x="2079818" y="2028917"/>
                </a:cubicBezTo>
                <a:lnTo>
                  <a:pt x="2079818" y="557408"/>
                </a:lnTo>
                <a:cubicBezTo>
                  <a:pt x="2079818" y="365962"/>
                  <a:pt x="1924621" y="210765"/>
                  <a:pt x="1733175" y="210765"/>
                </a:cubicBezTo>
                <a:lnTo>
                  <a:pt x="346642" y="210765"/>
                </a:lnTo>
                <a:cubicBezTo>
                  <a:pt x="179127" y="210765"/>
                  <a:pt x="39365" y="329588"/>
                  <a:pt x="7042" y="487547"/>
                </a:cubicBezTo>
                <a:lnTo>
                  <a:pt x="0" y="557398"/>
                </a:lnTo>
                <a:lnTo>
                  <a:pt x="0" y="346643"/>
                </a:lnTo>
                <a:cubicBezTo>
                  <a:pt x="0" y="155197"/>
                  <a:pt x="155197" y="0"/>
                  <a:pt x="346643"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reeform: Shape 12">
            <a:extLst>
              <a:ext uri="{FF2B5EF4-FFF2-40B4-BE49-F238E27FC236}">
                <a16:creationId xmlns:a16="http://schemas.microsoft.com/office/drawing/2014/main" id="{3952EC0C-4E0B-948E-7740-F9A2D3C2EE4A}"/>
              </a:ext>
            </a:extLst>
          </p:cNvPr>
          <p:cNvSpPr/>
          <p:nvPr/>
        </p:nvSpPr>
        <p:spPr>
          <a:xfrm>
            <a:off x="5062339" y="1213119"/>
            <a:ext cx="2340410" cy="2375560"/>
          </a:xfrm>
          <a:custGeom>
            <a:avLst/>
            <a:gdLst>
              <a:gd name="connsiteX0" fmla="*/ 346643 w 2079819"/>
              <a:gd name="connsiteY0" fmla="*/ 0 h 2375560"/>
              <a:gd name="connsiteX1" fmla="*/ 1733176 w 2079819"/>
              <a:gd name="connsiteY1" fmla="*/ 0 h 2375560"/>
              <a:gd name="connsiteX2" fmla="*/ 2079819 w 2079819"/>
              <a:gd name="connsiteY2" fmla="*/ 346643 h 2375560"/>
              <a:gd name="connsiteX3" fmla="*/ 2079819 w 2079819"/>
              <a:gd name="connsiteY3" fmla="*/ 2028917 h 2375560"/>
              <a:gd name="connsiteX4" fmla="*/ 1733176 w 2079819"/>
              <a:gd name="connsiteY4" fmla="*/ 2375560 h 2375560"/>
              <a:gd name="connsiteX5" fmla="*/ 1733175 w 2079819"/>
              <a:gd name="connsiteY5" fmla="*/ 2375560 h 2375560"/>
              <a:gd name="connsiteX6" fmla="*/ 2079818 w 2079819"/>
              <a:gd name="connsiteY6" fmla="*/ 2028917 h 2375560"/>
              <a:gd name="connsiteX7" fmla="*/ 2079818 w 2079819"/>
              <a:gd name="connsiteY7" fmla="*/ 557408 h 2375560"/>
              <a:gd name="connsiteX8" fmla="*/ 1733175 w 2079819"/>
              <a:gd name="connsiteY8" fmla="*/ 210765 h 2375560"/>
              <a:gd name="connsiteX9" fmla="*/ 346642 w 2079819"/>
              <a:gd name="connsiteY9" fmla="*/ 210765 h 2375560"/>
              <a:gd name="connsiteX10" fmla="*/ 7042 w 2079819"/>
              <a:gd name="connsiteY10" fmla="*/ 487547 h 2375560"/>
              <a:gd name="connsiteX11" fmla="*/ 0 w 2079819"/>
              <a:gd name="connsiteY11" fmla="*/ 557398 h 2375560"/>
              <a:gd name="connsiteX12" fmla="*/ 0 w 2079819"/>
              <a:gd name="connsiteY12" fmla="*/ 346643 h 2375560"/>
              <a:gd name="connsiteX13" fmla="*/ 346643 w 2079819"/>
              <a:gd name="connsiteY13" fmla="*/ 0 h 237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819" h="2375560">
                <a:moveTo>
                  <a:pt x="346643" y="0"/>
                </a:moveTo>
                <a:lnTo>
                  <a:pt x="1733176" y="0"/>
                </a:lnTo>
                <a:cubicBezTo>
                  <a:pt x="1924622" y="0"/>
                  <a:pt x="2079819" y="155197"/>
                  <a:pt x="2079819" y="346643"/>
                </a:cubicBezTo>
                <a:lnTo>
                  <a:pt x="2079819" y="2028917"/>
                </a:lnTo>
                <a:cubicBezTo>
                  <a:pt x="2079819" y="2220363"/>
                  <a:pt x="1924622" y="2375560"/>
                  <a:pt x="1733176" y="2375560"/>
                </a:cubicBezTo>
                <a:lnTo>
                  <a:pt x="1733175" y="2375560"/>
                </a:lnTo>
                <a:cubicBezTo>
                  <a:pt x="1924621" y="2375560"/>
                  <a:pt x="2079818" y="2220363"/>
                  <a:pt x="2079818" y="2028917"/>
                </a:cubicBezTo>
                <a:lnTo>
                  <a:pt x="2079818" y="557408"/>
                </a:lnTo>
                <a:cubicBezTo>
                  <a:pt x="2079818" y="365962"/>
                  <a:pt x="1924621" y="210765"/>
                  <a:pt x="1733175" y="210765"/>
                </a:cubicBezTo>
                <a:lnTo>
                  <a:pt x="346642" y="210765"/>
                </a:lnTo>
                <a:cubicBezTo>
                  <a:pt x="179127" y="210765"/>
                  <a:pt x="39365" y="329588"/>
                  <a:pt x="7042" y="487547"/>
                </a:cubicBezTo>
                <a:lnTo>
                  <a:pt x="0" y="557398"/>
                </a:lnTo>
                <a:lnTo>
                  <a:pt x="0" y="346643"/>
                </a:lnTo>
                <a:cubicBezTo>
                  <a:pt x="0" y="155197"/>
                  <a:pt x="155197" y="0"/>
                  <a:pt x="346643"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reeform: Shape 13">
            <a:extLst>
              <a:ext uri="{FF2B5EF4-FFF2-40B4-BE49-F238E27FC236}">
                <a16:creationId xmlns:a16="http://schemas.microsoft.com/office/drawing/2014/main" id="{813127CB-63F7-7840-9280-2F3DE823516F}"/>
              </a:ext>
            </a:extLst>
          </p:cNvPr>
          <p:cNvSpPr/>
          <p:nvPr/>
        </p:nvSpPr>
        <p:spPr>
          <a:xfrm>
            <a:off x="7735867" y="1035453"/>
            <a:ext cx="2712389" cy="2375560"/>
          </a:xfrm>
          <a:custGeom>
            <a:avLst/>
            <a:gdLst>
              <a:gd name="connsiteX0" fmla="*/ 346643 w 2079819"/>
              <a:gd name="connsiteY0" fmla="*/ 0 h 2375560"/>
              <a:gd name="connsiteX1" fmla="*/ 1733176 w 2079819"/>
              <a:gd name="connsiteY1" fmla="*/ 0 h 2375560"/>
              <a:gd name="connsiteX2" fmla="*/ 2079819 w 2079819"/>
              <a:gd name="connsiteY2" fmla="*/ 346643 h 2375560"/>
              <a:gd name="connsiteX3" fmla="*/ 2079819 w 2079819"/>
              <a:gd name="connsiteY3" fmla="*/ 2028917 h 2375560"/>
              <a:gd name="connsiteX4" fmla="*/ 1733176 w 2079819"/>
              <a:gd name="connsiteY4" fmla="*/ 2375560 h 2375560"/>
              <a:gd name="connsiteX5" fmla="*/ 1733175 w 2079819"/>
              <a:gd name="connsiteY5" fmla="*/ 2375560 h 2375560"/>
              <a:gd name="connsiteX6" fmla="*/ 2079818 w 2079819"/>
              <a:gd name="connsiteY6" fmla="*/ 2028917 h 2375560"/>
              <a:gd name="connsiteX7" fmla="*/ 2079818 w 2079819"/>
              <a:gd name="connsiteY7" fmla="*/ 557408 h 2375560"/>
              <a:gd name="connsiteX8" fmla="*/ 1733175 w 2079819"/>
              <a:gd name="connsiteY8" fmla="*/ 210765 h 2375560"/>
              <a:gd name="connsiteX9" fmla="*/ 346642 w 2079819"/>
              <a:gd name="connsiteY9" fmla="*/ 210765 h 2375560"/>
              <a:gd name="connsiteX10" fmla="*/ 7042 w 2079819"/>
              <a:gd name="connsiteY10" fmla="*/ 487547 h 2375560"/>
              <a:gd name="connsiteX11" fmla="*/ 0 w 2079819"/>
              <a:gd name="connsiteY11" fmla="*/ 557398 h 2375560"/>
              <a:gd name="connsiteX12" fmla="*/ 0 w 2079819"/>
              <a:gd name="connsiteY12" fmla="*/ 346643 h 2375560"/>
              <a:gd name="connsiteX13" fmla="*/ 346643 w 2079819"/>
              <a:gd name="connsiteY13" fmla="*/ 0 h 237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819" h="2375560">
                <a:moveTo>
                  <a:pt x="346643" y="0"/>
                </a:moveTo>
                <a:lnTo>
                  <a:pt x="1733176" y="0"/>
                </a:lnTo>
                <a:cubicBezTo>
                  <a:pt x="1924622" y="0"/>
                  <a:pt x="2079819" y="155197"/>
                  <a:pt x="2079819" y="346643"/>
                </a:cubicBezTo>
                <a:lnTo>
                  <a:pt x="2079819" y="2028917"/>
                </a:lnTo>
                <a:cubicBezTo>
                  <a:pt x="2079819" y="2220363"/>
                  <a:pt x="1924622" y="2375560"/>
                  <a:pt x="1733176" y="2375560"/>
                </a:cubicBezTo>
                <a:lnTo>
                  <a:pt x="1733175" y="2375560"/>
                </a:lnTo>
                <a:cubicBezTo>
                  <a:pt x="1924621" y="2375560"/>
                  <a:pt x="2079818" y="2220363"/>
                  <a:pt x="2079818" y="2028917"/>
                </a:cubicBezTo>
                <a:lnTo>
                  <a:pt x="2079818" y="557408"/>
                </a:lnTo>
                <a:cubicBezTo>
                  <a:pt x="2079818" y="365962"/>
                  <a:pt x="1924621" y="210765"/>
                  <a:pt x="1733175" y="210765"/>
                </a:cubicBezTo>
                <a:lnTo>
                  <a:pt x="346642" y="210765"/>
                </a:lnTo>
                <a:cubicBezTo>
                  <a:pt x="179127" y="210765"/>
                  <a:pt x="39365" y="329588"/>
                  <a:pt x="7042" y="487547"/>
                </a:cubicBezTo>
                <a:lnTo>
                  <a:pt x="0" y="557398"/>
                </a:lnTo>
                <a:lnTo>
                  <a:pt x="0" y="346643"/>
                </a:lnTo>
                <a:cubicBezTo>
                  <a:pt x="0" y="155197"/>
                  <a:pt x="155197" y="0"/>
                  <a:pt x="346643"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reeform: Shape 14">
            <a:extLst>
              <a:ext uri="{FF2B5EF4-FFF2-40B4-BE49-F238E27FC236}">
                <a16:creationId xmlns:a16="http://schemas.microsoft.com/office/drawing/2014/main" id="{5B9BA2D6-76EB-3523-94B0-1A7E735DFEA2}"/>
              </a:ext>
            </a:extLst>
          </p:cNvPr>
          <p:cNvSpPr/>
          <p:nvPr/>
        </p:nvSpPr>
        <p:spPr>
          <a:xfrm rot="10800000">
            <a:off x="239347" y="2903318"/>
            <a:ext cx="2079819" cy="2375560"/>
          </a:xfrm>
          <a:custGeom>
            <a:avLst/>
            <a:gdLst>
              <a:gd name="connsiteX0" fmla="*/ 346643 w 2079819"/>
              <a:gd name="connsiteY0" fmla="*/ 0 h 2375560"/>
              <a:gd name="connsiteX1" fmla="*/ 1733176 w 2079819"/>
              <a:gd name="connsiteY1" fmla="*/ 0 h 2375560"/>
              <a:gd name="connsiteX2" fmla="*/ 2079819 w 2079819"/>
              <a:gd name="connsiteY2" fmla="*/ 346643 h 2375560"/>
              <a:gd name="connsiteX3" fmla="*/ 2079819 w 2079819"/>
              <a:gd name="connsiteY3" fmla="*/ 2028917 h 2375560"/>
              <a:gd name="connsiteX4" fmla="*/ 1733176 w 2079819"/>
              <a:gd name="connsiteY4" fmla="*/ 2375560 h 2375560"/>
              <a:gd name="connsiteX5" fmla="*/ 1733175 w 2079819"/>
              <a:gd name="connsiteY5" fmla="*/ 2375560 h 2375560"/>
              <a:gd name="connsiteX6" fmla="*/ 2079818 w 2079819"/>
              <a:gd name="connsiteY6" fmla="*/ 2028917 h 2375560"/>
              <a:gd name="connsiteX7" fmla="*/ 2079818 w 2079819"/>
              <a:gd name="connsiteY7" fmla="*/ 557408 h 2375560"/>
              <a:gd name="connsiteX8" fmla="*/ 1733175 w 2079819"/>
              <a:gd name="connsiteY8" fmla="*/ 210765 h 2375560"/>
              <a:gd name="connsiteX9" fmla="*/ 346642 w 2079819"/>
              <a:gd name="connsiteY9" fmla="*/ 210765 h 2375560"/>
              <a:gd name="connsiteX10" fmla="*/ 7042 w 2079819"/>
              <a:gd name="connsiteY10" fmla="*/ 487547 h 2375560"/>
              <a:gd name="connsiteX11" fmla="*/ 0 w 2079819"/>
              <a:gd name="connsiteY11" fmla="*/ 557398 h 2375560"/>
              <a:gd name="connsiteX12" fmla="*/ 0 w 2079819"/>
              <a:gd name="connsiteY12" fmla="*/ 346643 h 2375560"/>
              <a:gd name="connsiteX13" fmla="*/ 346643 w 2079819"/>
              <a:gd name="connsiteY13" fmla="*/ 0 h 237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819" h="2375560">
                <a:moveTo>
                  <a:pt x="346643" y="0"/>
                </a:moveTo>
                <a:lnTo>
                  <a:pt x="1733176" y="0"/>
                </a:lnTo>
                <a:cubicBezTo>
                  <a:pt x="1924622" y="0"/>
                  <a:pt x="2079819" y="155197"/>
                  <a:pt x="2079819" y="346643"/>
                </a:cubicBezTo>
                <a:lnTo>
                  <a:pt x="2079819" y="2028917"/>
                </a:lnTo>
                <a:cubicBezTo>
                  <a:pt x="2079819" y="2220363"/>
                  <a:pt x="1924622" y="2375560"/>
                  <a:pt x="1733176" y="2375560"/>
                </a:cubicBezTo>
                <a:lnTo>
                  <a:pt x="1733175" y="2375560"/>
                </a:lnTo>
                <a:cubicBezTo>
                  <a:pt x="1924621" y="2375560"/>
                  <a:pt x="2079818" y="2220363"/>
                  <a:pt x="2079818" y="2028917"/>
                </a:cubicBezTo>
                <a:lnTo>
                  <a:pt x="2079818" y="557408"/>
                </a:lnTo>
                <a:cubicBezTo>
                  <a:pt x="2079818" y="365962"/>
                  <a:pt x="1924621" y="210765"/>
                  <a:pt x="1733175" y="210765"/>
                </a:cubicBezTo>
                <a:lnTo>
                  <a:pt x="346642" y="210765"/>
                </a:lnTo>
                <a:cubicBezTo>
                  <a:pt x="179127" y="210765"/>
                  <a:pt x="39365" y="329588"/>
                  <a:pt x="7042" y="487547"/>
                </a:cubicBezTo>
                <a:lnTo>
                  <a:pt x="0" y="557398"/>
                </a:lnTo>
                <a:lnTo>
                  <a:pt x="0" y="346643"/>
                </a:lnTo>
                <a:cubicBezTo>
                  <a:pt x="0" y="155197"/>
                  <a:pt x="155197" y="0"/>
                  <a:pt x="346643" y="0"/>
                </a:cubicBezTo>
                <a:close/>
              </a:path>
            </a:pathLst>
          </a:custGeom>
          <a:solidFill>
            <a:srgbClr val="E2A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Freeform: Shape 15">
            <a:extLst>
              <a:ext uri="{FF2B5EF4-FFF2-40B4-BE49-F238E27FC236}">
                <a16:creationId xmlns:a16="http://schemas.microsoft.com/office/drawing/2014/main" id="{F71D99F3-65D0-1612-58E7-971EB996D230}"/>
              </a:ext>
            </a:extLst>
          </p:cNvPr>
          <p:cNvSpPr/>
          <p:nvPr/>
        </p:nvSpPr>
        <p:spPr>
          <a:xfrm rot="10800000">
            <a:off x="2659668" y="2903318"/>
            <a:ext cx="2079819" cy="2375560"/>
          </a:xfrm>
          <a:custGeom>
            <a:avLst/>
            <a:gdLst>
              <a:gd name="connsiteX0" fmla="*/ 346643 w 2079819"/>
              <a:gd name="connsiteY0" fmla="*/ 0 h 2375560"/>
              <a:gd name="connsiteX1" fmla="*/ 1733176 w 2079819"/>
              <a:gd name="connsiteY1" fmla="*/ 0 h 2375560"/>
              <a:gd name="connsiteX2" fmla="*/ 2079819 w 2079819"/>
              <a:gd name="connsiteY2" fmla="*/ 346643 h 2375560"/>
              <a:gd name="connsiteX3" fmla="*/ 2079819 w 2079819"/>
              <a:gd name="connsiteY3" fmla="*/ 2028917 h 2375560"/>
              <a:gd name="connsiteX4" fmla="*/ 1733176 w 2079819"/>
              <a:gd name="connsiteY4" fmla="*/ 2375560 h 2375560"/>
              <a:gd name="connsiteX5" fmla="*/ 1733175 w 2079819"/>
              <a:gd name="connsiteY5" fmla="*/ 2375560 h 2375560"/>
              <a:gd name="connsiteX6" fmla="*/ 2079818 w 2079819"/>
              <a:gd name="connsiteY6" fmla="*/ 2028917 h 2375560"/>
              <a:gd name="connsiteX7" fmla="*/ 2079818 w 2079819"/>
              <a:gd name="connsiteY7" fmla="*/ 557408 h 2375560"/>
              <a:gd name="connsiteX8" fmla="*/ 1733175 w 2079819"/>
              <a:gd name="connsiteY8" fmla="*/ 210765 h 2375560"/>
              <a:gd name="connsiteX9" fmla="*/ 346642 w 2079819"/>
              <a:gd name="connsiteY9" fmla="*/ 210765 h 2375560"/>
              <a:gd name="connsiteX10" fmla="*/ 7042 w 2079819"/>
              <a:gd name="connsiteY10" fmla="*/ 487547 h 2375560"/>
              <a:gd name="connsiteX11" fmla="*/ 0 w 2079819"/>
              <a:gd name="connsiteY11" fmla="*/ 557398 h 2375560"/>
              <a:gd name="connsiteX12" fmla="*/ 0 w 2079819"/>
              <a:gd name="connsiteY12" fmla="*/ 346643 h 2375560"/>
              <a:gd name="connsiteX13" fmla="*/ 346643 w 2079819"/>
              <a:gd name="connsiteY13" fmla="*/ 0 h 237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819" h="2375560">
                <a:moveTo>
                  <a:pt x="346643" y="0"/>
                </a:moveTo>
                <a:lnTo>
                  <a:pt x="1733176" y="0"/>
                </a:lnTo>
                <a:cubicBezTo>
                  <a:pt x="1924622" y="0"/>
                  <a:pt x="2079819" y="155197"/>
                  <a:pt x="2079819" y="346643"/>
                </a:cubicBezTo>
                <a:lnTo>
                  <a:pt x="2079819" y="2028917"/>
                </a:lnTo>
                <a:cubicBezTo>
                  <a:pt x="2079819" y="2220363"/>
                  <a:pt x="1924622" y="2375560"/>
                  <a:pt x="1733176" y="2375560"/>
                </a:cubicBezTo>
                <a:lnTo>
                  <a:pt x="1733175" y="2375560"/>
                </a:lnTo>
                <a:cubicBezTo>
                  <a:pt x="1924621" y="2375560"/>
                  <a:pt x="2079818" y="2220363"/>
                  <a:pt x="2079818" y="2028917"/>
                </a:cubicBezTo>
                <a:lnTo>
                  <a:pt x="2079818" y="557408"/>
                </a:lnTo>
                <a:cubicBezTo>
                  <a:pt x="2079818" y="365962"/>
                  <a:pt x="1924621" y="210765"/>
                  <a:pt x="1733175" y="210765"/>
                </a:cubicBezTo>
                <a:lnTo>
                  <a:pt x="346642" y="210765"/>
                </a:lnTo>
                <a:cubicBezTo>
                  <a:pt x="179127" y="210765"/>
                  <a:pt x="39365" y="329588"/>
                  <a:pt x="7042" y="487547"/>
                </a:cubicBezTo>
                <a:lnTo>
                  <a:pt x="0" y="557398"/>
                </a:lnTo>
                <a:lnTo>
                  <a:pt x="0" y="346643"/>
                </a:lnTo>
                <a:cubicBezTo>
                  <a:pt x="0" y="155197"/>
                  <a:pt x="155197" y="0"/>
                  <a:pt x="346643" y="0"/>
                </a:cubicBezTo>
                <a:close/>
              </a:path>
            </a:pathLst>
          </a:custGeom>
          <a:solidFill>
            <a:srgbClr val="E2A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Shape 16">
            <a:extLst>
              <a:ext uri="{FF2B5EF4-FFF2-40B4-BE49-F238E27FC236}">
                <a16:creationId xmlns:a16="http://schemas.microsoft.com/office/drawing/2014/main" id="{6D233793-359E-4823-B056-A6A942DB2A2F}"/>
              </a:ext>
            </a:extLst>
          </p:cNvPr>
          <p:cNvSpPr/>
          <p:nvPr/>
        </p:nvSpPr>
        <p:spPr>
          <a:xfrm rot="10800000">
            <a:off x="5052611" y="3019734"/>
            <a:ext cx="2340410" cy="2375560"/>
          </a:xfrm>
          <a:custGeom>
            <a:avLst/>
            <a:gdLst>
              <a:gd name="connsiteX0" fmla="*/ 346643 w 2079819"/>
              <a:gd name="connsiteY0" fmla="*/ 0 h 2375560"/>
              <a:gd name="connsiteX1" fmla="*/ 1733176 w 2079819"/>
              <a:gd name="connsiteY1" fmla="*/ 0 h 2375560"/>
              <a:gd name="connsiteX2" fmla="*/ 2079819 w 2079819"/>
              <a:gd name="connsiteY2" fmla="*/ 346643 h 2375560"/>
              <a:gd name="connsiteX3" fmla="*/ 2079819 w 2079819"/>
              <a:gd name="connsiteY3" fmla="*/ 2028917 h 2375560"/>
              <a:gd name="connsiteX4" fmla="*/ 1733176 w 2079819"/>
              <a:gd name="connsiteY4" fmla="*/ 2375560 h 2375560"/>
              <a:gd name="connsiteX5" fmla="*/ 1733175 w 2079819"/>
              <a:gd name="connsiteY5" fmla="*/ 2375560 h 2375560"/>
              <a:gd name="connsiteX6" fmla="*/ 2079818 w 2079819"/>
              <a:gd name="connsiteY6" fmla="*/ 2028917 h 2375560"/>
              <a:gd name="connsiteX7" fmla="*/ 2079818 w 2079819"/>
              <a:gd name="connsiteY7" fmla="*/ 557408 h 2375560"/>
              <a:gd name="connsiteX8" fmla="*/ 1733175 w 2079819"/>
              <a:gd name="connsiteY8" fmla="*/ 210765 h 2375560"/>
              <a:gd name="connsiteX9" fmla="*/ 346642 w 2079819"/>
              <a:gd name="connsiteY9" fmla="*/ 210765 h 2375560"/>
              <a:gd name="connsiteX10" fmla="*/ 7042 w 2079819"/>
              <a:gd name="connsiteY10" fmla="*/ 487547 h 2375560"/>
              <a:gd name="connsiteX11" fmla="*/ 0 w 2079819"/>
              <a:gd name="connsiteY11" fmla="*/ 557398 h 2375560"/>
              <a:gd name="connsiteX12" fmla="*/ 0 w 2079819"/>
              <a:gd name="connsiteY12" fmla="*/ 346643 h 2375560"/>
              <a:gd name="connsiteX13" fmla="*/ 346643 w 2079819"/>
              <a:gd name="connsiteY13" fmla="*/ 0 h 237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819" h="2375560">
                <a:moveTo>
                  <a:pt x="346643" y="0"/>
                </a:moveTo>
                <a:lnTo>
                  <a:pt x="1733176" y="0"/>
                </a:lnTo>
                <a:cubicBezTo>
                  <a:pt x="1924622" y="0"/>
                  <a:pt x="2079819" y="155197"/>
                  <a:pt x="2079819" y="346643"/>
                </a:cubicBezTo>
                <a:lnTo>
                  <a:pt x="2079819" y="2028917"/>
                </a:lnTo>
                <a:cubicBezTo>
                  <a:pt x="2079819" y="2220363"/>
                  <a:pt x="1924622" y="2375560"/>
                  <a:pt x="1733176" y="2375560"/>
                </a:cubicBezTo>
                <a:lnTo>
                  <a:pt x="1733175" y="2375560"/>
                </a:lnTo>
                <a:cubicBezTo>
                  <a:pt x="1924621" y="2375560"/>
                  <a:pt x="2079818" y="2220363"/>
                  <a:pt x="2079818" y="2028917"/>
                </a:cubicBezTo>
                <a:lnTo>
                  <a:pt x="2079818" y="557408"/>
                </a:lnTo>
                <a:cubicBezTo>
                  <a:pt x="2079818" y="365962"/>
                  <a:pt x="1924621" y="210765"/>
                  <a:pt x="1733175" y="210765"/>
                </a:cubicBezTo>
                <a:lnTo>
                  <a:pt x="346642" y="210765"/>
                </a:lnTo>
                <a:cubicBezTo>
                  <a:pt x="179127" y="210765"/>
                  <a:pt x="39365" y="329588"/>
                  <a:pt x="7042" y="487547"/>
                </a:cubicBezTo>
                <a:lnTo>
                  <a:pt x="0" y="557398"/>
                </a:lnTo>
                <a:lnTo>
                  <a:pt x="0" y="346643"/>
                </a:lnTo>
                <a:cubicBezTo>
                  <a:pt x="0" y="155197"/>
                  <a:pt x="155197" y="0"/>
                  <a:pt x="346643" y="0"/>
                </a:cubicBezTo>
                <a:close/>
              </a:path>
            </a:pathLst>
          </a:custGeom>
          <a:solidFill>
            <a:srgbClr val="E2A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Freeform: Shape 17">
            <a:extLst>
              <a:ext uri="{FF2B5EF4-FFF2-40B4-BE49-F238E27FC236}">
                <a16:creationId xmlns:a16="http://schemas.microsoft.com/office/drawing/2014/main" id="{A5CB706D-825B-1FDC-F74E-A6E4AF492D45}"/>
              </a:ext>
            </a:extLst>
          </p:cNvPr>
          <p:cNvSpPr/>
          <p:nvPr/>
        </p:nvSpPr>
        <p:spPr>
          <a:xfrm rot="10800000">
            <a:off x="7734308" y="3230518"/>
            <a:ext cx="2712389" cy="2375560"/>
          </a:xfrm>
          <a:custGeom>
            <a:avLst/>
            <a:gdLst>
              <a:gd name="connsiteX0" fmla="*/ 346643 w 2079819"/>
              <a:gd name="connsiteY0" fmla="*/ 0 h 2375560"/>
              <a:gd name="connsiteX1" fmla="*/ 1733176 w 2079819"/>
              <a:gd name="connsiteY1" fmla="*/ 0 h 2375560"/>
              <a:gd name="connsiteX2" fmla="*/ 2079819 w 2079819"/>
              <a:gd name="connsiteY2" fmla="*/ 346643 h 2375560"/>
              <a:gd name="connsiteX3" fmla="*/ 2079819 w 2079819"/>
              <a:gd name="connsiteY3" fmla="*/ 2028917 h 2375560"/>
              <a:gd name="connsiteX4" fmla="*/ 1733176 w 2079819"/>
              <a:gd name="connsiteY4" fmla="*/ 2375560 h 2375560"/>
              <a:gd name="connsiteX5" fmla="*/ 1733175 w 2079819"/>
              <a:gd name="connsiteY5" fmla="*/ 2375560 h 2375560"/>
              <a:gd name="connsiteX6" fmla="*/ 2079818 w 2079819"/>
              <a:gd name="connsiteY6" fmla="*/ 2028917 h 2375560"/>
              <a:gd name="connsiteX7" fmla="*/ 2079818 w 2079819"/>
              <a:gd name="connsiteY7" fmla="*/ 557408 h 2375560"/>
              <a:gd name="connsiteX8" fmla="*/ 1733175 w 2079819"/>
              <a:gd name="connsiteY8" fmla="*/ 210765 h 2375560"/>
              <a:gd name="connsiteX9" fmla="*/ 346642 w 2079819"/>
              <a:gd name="connsiteY9" fmla="*/ 210765 h 2375560"/>
              <a:gd name="connsiteX10" fmla="*/ 7042 w 2079819"/>
              <a:gd name="connsiteY10" fmla="*/ 487547 h 2375560"/>
              <a:gd name="connsiteX11" fmla="*/ 0 w 2079819"/>
              <a:gd name="connsiteY11" fmla="*/ 557398 h 2375560"/>
              <a:gd name="connsiteX12" fmla="*/ 0 w 2079819"/>
              <a:gd name="connsiteY12" fmla="*/ 346643 h 2375560"/>
              <a:gd name="connsiteX13" fmla="*/ 346643 w 2079819"/>
              <a:gd name="connsiteY13" fmla="*/ 0 h 237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819" h="2375560">
                <a:moveTo>
                  <a:pt x="346643" y="0"/>
                </a:moveTo>
                <a:lnTo>
                  <a:pt x="1733176" y="0"/>
                </a:lnTo>
                <a:cubicBezTo>
                  <a:pt x="1924622" y="0"/>
                  <a:pt x="2079819" y="155197"/>
                  <a:pt x="2079819" y="346643"/>
                </a:cubicBezTo>
                <a:lnTo>
                  <a:pt x="2079819" y="2028917"/>
                </a:lnTo>
                <a:cubicBezTo>
                  <a:pt x="2079819" y="2220363"/>
                  <a:pt x="1924622" y="2375560"/>
                  <a:pt x="1733176" y="2375560"/>
                </a:cubicBezTo>
                <a:lnTo>
                  <a:pt x="1733175" y="2375560"/>
                </a:lnTo>
                <a:cubicBezTo>
                  <a:pt x="1924621" y="2375560"/>
                  <a:pt x="2079818" y="2220363"/>
                  <a:pt x="2079818" y="2028917"/>
                </a:cubicBezTo>
                <a:lnTo>
                  <a:pt x="2079818" y="557408"/>
                </a:lnTo>
                <a:cubicBezTo>
                  <a:pt x="2079818" y="365962"/>
                  <a:pt x="1924621" y="210765"/>
                  <a:pt x="1733175" y="210765"/>
                </a:cubicBezTo>
                <a:lnTo>
                  <a:pt x="346642" y="210765"/>
                </a:lnTo>
                <a:cubicBezTo>
                  <a:pt x="179127" y="210765"/>
                  <a:pt x="39365" y="329588"/>
                  <a:pt x="7042" y="487547"/>
                </a:cubicBezTo>
                <a:lnTo>
                  <a:pt x="0" y="557398"/>
                </a:lnTo>
                <a:lnTo>
                  <a:pt x="0" y="346643"/>
                </a:lnTo>
                <a:cubicBezTo>
                  <a:pt x="0" y="155197"/>
                  <a:pt x="155197" y="0"/>
                  <a:pt x="346643" y="0"/>
                </a:cubicBezTo>
                <a:close/>
              </a:path>
            </a:pathLst>
          </a:custGeom>
          <a:solidFill>
            <a:srgbClr val="E2A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8284852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827" y="-363273"/>
            <a:ext cx="10515600" cy="1325563"/>
          </a:xfrm>
        </p:spPr>
        <p:txBody>
          <a:bodyPr/>
          <a:lstStyle/>
          <a:p>
            <a:r>
              <a:rPr lang="en-US" b="1" dirty="0">
                <a:solidFill>
                  <a:schemeClr val="bg1"/>
                </a:solidFill>
              </a:rPr>
              <a:t>Build the Business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83397223"/>
              </p:ext>
            </p:extLst>
          </p:nvPr>
        </p:nvGraphicFramePr>
        <p:xfrm>
          <a:off x="715230" y="51303"/>
          <a:ext cx="9749883" cy="7543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triped Right Arrow 5"/>
          <p:cNvSpPr/>
          <p:nvPr/>
        </p:nvSpPr>
        <p:spPr>
          <a:xfrm>
            <a:off x="10266556" y="2118733"/>
            <a:ext cx="1739591" cy="2497873"/>
          </a:xfrm>
          <a:prstGeom prst="striped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0333844" y="3167614"/>
            <a:ext cx="1803900" cy="400110"/>
          </a:xfrm>
          <a:prstGeom prst="rect">
            <a:avLst/>
          </a:prstGeom>
          <a:noFill/>
        </p:spPr>
        <p:txBody>
          <a:bodyPr wrap="square" rtlCol="0">
            <a:spAutoFit/>
          </a:bodyPr>
          <a:lstStyle/>
          <a:p>
            <a:r>
              <a:rPr lang="en-IN" sz="2000" dirty="0">
                <a:solidFill>
                  <a:schemeClr val="bg1"/>
                </a:solidFill>
              </a:rPr>
              <a:t>Infrastructure</a:t>
            </a:r>
            <a:endParaRPr lang="en-US" sz="2000" dirty="0">
              <a:solidFill>
                <a:schemeClr val="bg1"/>
              </a:solidFill>
            </a:endParaRPr>
          </a:p>
        </p:txBody>
      </p:sp>
      <p:sp>
        <p:nvSpPr>
          <p:cNvPr id="3" name="Slide Number Placeholder 2"/>
          <p:cNvSpPr>
            <a:spLocks noGrp="1"/>
          </p:cNvSpPr>
          <p:nvPr>
            <p:ph type="sldNum" sz="quarter" idx="12"/>
          </p:nvPr>
        </p:nvSpPr>
        <p:spPr/>
        <p:txBody>
          <a:bodyPr/>
          <a:lstStyle/>
          <a:p>
            <a:fld id="{2CBC2861-336E-43D8-A467-ABE779BBF5C1}" type="slidenum">
              <a:rPr lang="en-US" smtClean="0"/>
              <a:pPr/>
              <a:t>9</a:t>
            </a:fld>
            <a:endParaRPr lang="en-US"/>
          </a:p>
        </p:txBody>
      </p:sp>
      <p:sp>
        <p:nvSpPr>
          <p:cNvPr id="5" name="Title 1">
            <a:extLst>
              <a:ext uri="{FF2B5EF4-FFF2-40B4-BE49-F238E27FC236}">
                <a16:creationId xmlns:a16="http://schemas.microsoft.com/office/drawing/2014/main" id="{BCE0DB8F-863C-F4A2-18B7-9ABD53046093}"/>
              </a:ext>
            </a:extLst>
          </p:cNvPr>
          <p:cNvSpPr txBox="1">
            <a:spLocks/>
          </p:cNvSpPr>
          <p:nvPr/>
        </p:nvSpPr>
        <p:spPr>
          <a:xfrm>
            <a:off x="360847" y="299508"/>
            <a:ext cx="8839200" cy="566531"/>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1" dirty="0">
                <a:solidFill>
                  <a:srgbClr val="002060"/>
                </a:solidFill>
                <a:latin typeface="Georgia" panose="02040502050405020303" pitchFamily="18" charset="0"/>
              </a:rPr>
              <a:t>   Steps to Start a Start-up</a:t>
            </a:r>
            <a:endParaRPr lang="en-US" sz="3600" b="1" dirty="0">
              <a:solidFill>
                <a:srgbClr val="002060"/>
              </a:solidFill>
              <a:latin typeface="Georgia" panose="02040502050405020303" pitchFamily="18" charset="0"/>
            </a:endParaRPr>
          </a:p>
        </p:txBody>
      </p:sp>
    </p:spTree>
    <p:extLst>
      <p:ext uri="{BB962C8B-B14F-4D97-AF65-F5344CB8AC3E}">
        <p14:creationId xmlns:p14="http://schemas.microsoft.com/office/powerpoint/2010/main" val="116643032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496AF4BA-4FF7-DDA3-312F-0B22B0A22A69}"/>
              </a:ext>
            </a:extLst>
          </p:cNvPr>
          <p:cNvSpPr/>
          <p:nvPr/>
        </p:nvSpPr>
        <p:spPr>
          <a:xfrm>
            <a:off x="1136374" y="871127"/>
            <a:ext cx="2305455" cy="5625995"/>
          </a:xfrm>
          <a:prstGeom prst="roundRect">
            <a:avLst/>
          </a:prstGeom>
          <a:solidFill>
            <a:srgbClr val="0070C0">
              <a:alpha val="4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C395A7BF-8E5D-98B6-3D42-954BC9E79E50}"/>
              </a:ext>
            </a:extLst>
          </p:cNvPr>
          <p:cNvSpPr/>
          <p:nvPr/>
        </p:nvSpPr>
        <p:spPr>
          <a:xfrm>
            <a:off x="8716270" y="856720"/>
            <a:ext cx="2305455" cy="5625995"/>
          </a:xfrm>
          <a:prstGeom prst="roundRect">
            <a:avLst/>
          </a:prstGeom>
          <a:solidFill>
            <a:srgbClr val="0070C0">
              <a:alpha val="4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248C7DBE-AD58-53BB-53BC-F79F930D22A5}"/>
              </a:ext>
            </a:extLst>
          </p:cNvPr>
          <p:cNvSpPr/>
          <p:nvPr/>
        </p:nvSpPr>
        <p:spPr>
          <a:xfrm>
            <a:off x="3889961" y="856721"/>
            <a:ext cx="2305455" cy="5625995"/>
          </a:xfrm>
          <a:prstGeom prst="roundRect">
            <a:avLst/>
          </a:prstGeom>
          <a:solidFill>
            <a:srgbClr val="0070C0">
              <a:alpha val="4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ectangle: Rounded Corners 18">
            <a:extLst>
              <a:ext uri="{FF2B5EF4-FFF2-40B4-BE49-F238E27FC236}">
                <a16:creationId xmlns:a16="http://schemas.microsoft.com/office/drawing/2014/main" id="{A29E9220-EF39-079A-9439-12B41E2407A5}"/>
              </a:ext>
            </a:extLst>
          </p:cNvPr>
          <p:cNvSpPr/>
          <p:nvPr/>
        </p:nvSpPr>
        <p:spPr>
          <a:xfrm>
            <a:off x="6321057" y="881809"/>
            <a:ext cx="2305455" cy="5625995"/>
          </a:xfrm>
          <a:prstGeom prst="roundRect">
            <a:avLst/>
          </a:prstGeom>
          <a:solidFill>
            <a:srgbClr val="0070C0">
              <a:alpha val="4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92077721"/>
              </p:ext>
            </p:extLst>
          </p:nvPr>
        </p:nvGraphicFramePr>
        <p:xfrm>
          <a:off x="940650" y="-102181"/>
          <a:ext cx="9857678" cy="7543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a:xfrm>
            <a:off x="1087179" y="39998"/>
            <a:ext cx="8991600" cy="1143000"/>
          </a:xfrm>
        </p:spPr>
        <p:txBody>
          <a:bodyPr/>
          <a:lstStyle/>
          <a:p>
            <a:pPr algn="l"/>
            <a:r>
              <a:rPr lang="en-IN" b="1" dirty="0">
                <a:solidFill>
                  <a:schemeClr val="bg1"/>
                </a:solidFill>
              </a:rPr>
              <a:t>      Growth Strategies</a:t>
            </a:r>
            <a:endParaRPr lang="en-US" b="1" dirty="0">
              <a:solidFill>
                <a:schemeClr val="bg1"/>
              </a:solidFill>
            </a:endParaRPr>
          </a:p>
        </p:txBody>
      </p:sp>
      <p:sp>
        <p:nvSpPr>
          <p:cNvPr id="3" name="Striped Right Arrow 2"/>
          <p:cNvSpPr/>
          <p:nvPr/>
        </p:nvSpPr>
        <p:spPr>
          <a:xfrm>
            <a:off x="10842322" y="2420780"/>
            <a:ext cx="1297259" cy="2497873"/>
          </a:xfrm>
          <a:prstGeom prst="striped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0937327" y="3412575"/>
            <a:ext cx="1297259" cy="523220"/>
          </a:xfrm>
          <a:prstGeom prst="rect">
            <a:avLst/>
          </a:prstGeom>
          <a:noFill/>
        </p:spPr>
        <p:txBody>
          <a:bodyPr wrap="square" rtlCol="0">
            <a:spAutoFit/>
          </a:bodyPr>
          <a:lstStyle/>
          <a:p>
            <a:r>
              <a:rPr lang="en-IN" sz="2800" dirty="0">
                <a:solidFill>
                  <a:schemeClr val="bg1"/>
                </a:solidFill>
              </a:rPr>
              <a:t>Launch</a:t>
            </a:r>
            <a:endParaRPr lang="en-US" sz="2800" dirty="0">
              <a:solidFill>
                <a:schemeClr val="bg1"/>
              </a:solidFill>
            </a:endParaRPr>
          </a:p>
        </p:txBody>
      </p:sp>
      <p:sp>
        <p:nvSpPr>
          <p:cNvPr id="6" name="Slide Number Placeholder 5"/>
          <p:cNvSpPr>
            <a:spLocks noGrp="1"/>
          </p:cNvSpPr>
          <p:nvPr>
            <p:ph type="sldNum" sz="quarter" idx="12"/>
          </p:nvPr>
        </p:nvSpPr>
        <p:spPr>
          <a:xfrm>
            <a:off x="8590722" y="6714158"/>
            <a:ext cx="2743200" cy="365125"/>
          </a:xfrm>
        </p:spPr>
        <p:txBody>
          <a:bodyPr/>
          <a:lstStyle/>
          <a:p>
            <a:fld id="{2CBC2861-336E-43D8-A467-ABE779BBF5C1}" type="slidenum">
              <a:rPr lang="en-US" smtClean="0"/>
              <a:pPr/>
              <a:t>10</a:t>
            </a:fld>
            <a:endParaRPr lang="en-US"/>
          </a:p>
        </p:txBody>
      </p:sp>
      <p:sp>
        <p:nvSpPr>
          <p:cNvPr id="7" name="Title 1">
            <a:extLst>
              <a:ext uri="{FF2B5EF4-FFF2-40B4-BE49-F238E27FC236}">
                <a16:creationId xmlns:a16="http://schemas.microsoft.com/office/drawing/2014/main" id="{0D2D05FB-793B-6147-8F61-031454CDD31F}"/>
              </a:ext>
            </a:extLst>
          </p:cNvPr>
          <p:cNvSpPr txBox="1">
            <a:spLocks/>
          </p:cNvSpPr>
          <p:nvPr/>
        </p:nvSpPr>
        <p:spPr>
          <a:xfrm>
            <a:off x="234175" y="0"/>
            <a:ext cx="88392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1">
                <a:solidFill>
                  <a:srgbClr val="002060"/>
                </a:solidFill>
                <a:latin typeface="Georgia" panose="02040502050405020303" pitchFamily="18" charset="0"/>
              </a:rPr>
              <a:t>   Steps to Start a Start-up</a:t>
            </a:r>
            <a:endParaRPr lang="en-US" sz="3600" b="1" dirty="0">
              <a:solidFill>
                <a:srgbClr val="002060"/>
              </a:solidFill>
              <a:latin typeface="Georgia" panose="02040502050405020303" pitchFamily="18" charset="0"/>
            </a:endParaRPr>
          </a:p>
        </p:txBody>
      </p:sp>
      <p:sp>
        <p:nvSpPr>
          <p:cNvPr id="11" name="Freeform: Shape 10">
            <a:extLst>
              <a:ext uri="{FF2B5EF4-FFF2-40B4-BE49-F238E27FC236}">
                <a16:creationId xmlns:a16="http://schemas.microsoft.com/office/drawing/2014/main" id="{E6C8237B-9707-3177-32A2-5353258EFC3D}"/>
              </a:ext>
            </a:extLst>
          </p:cNvPr>
          <p:cNvSpPr/>
          <p:nvPr/>
        </p:nvSpPr>
        <p:spPr>
          <a:xfrm>
            <a:off x="1295892" y="861188"/>
            <a:ext cx="1682885" cy="364536"/>
          </a:xfrm>
          <a:custGeom>
            <a:avLst/>
            <a:gdLst>
              <a:gd name="connsiteX0" fmla="*/ 1299748 w 1322962"/>
              <a:gd name="connsiteY0" fmla="*/ 0 h 364536"/>
              <a:gd name="connsiteX1" fmla="*/ 1309523 w 1322962"/>
              <a:gd name="connsiteY1" fmla="*/ 13892 h 364536"/>
              <a:gd name="connsiteX2" fmla="*/ 1322962 w 1322962"/>
              <a:gd name="connsiteY2" fmla="*/ 72706 h 364536"/>
              <a:gd name="connsiteX3" fmla="*/ 661481 w 1322962"/>
              <a:gd name="connsiteY3" fmla="*/ 364536 h 364536"/>
              <a:gd name="connsiteX4" fmla="*/ 0 w 1322962"/>
              <a:gd name="connsiteY4" fmla="*/ 72706 h 364536"/>
              <a:gd name="connsiteX5" fmla="*/ 13439 w 1322962"/>
              <a:gd name="connsiteY5" fmla="*/ 13892 h 364536"/>
              <a:gd name="connsiteX6" fmla="*/ 23213 w 1322962"/>
              <a:gd name="connsiteY6" fmla="*/ 1 h 364536"/>
              <a:gd name="connsiteX7" fmla="*/ 27473 w 1322962"/>
              <a:gd name="connsiteY7" fmla="*/ 6320 h 364536"/>
              <a:gd name="connsiteX8" fmla="*/ 93801 w 1322962"/>
              <a:gd name="connsiteY8" fmla="*/ 33794 h 364536"/>
              <a:gd name="connsiteX9" fmla="*/ 1229159 w 1322962"/>
              <a:gd name="connsiteY9" fmla="*/ 33794 h 364536"/>
              <a:gd name="connsiteX10" fmla="*/ 1295487 w 1322962"/>
              <a:gd name="connsiteY10" fmla="*/ 6320 h 36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2962" h="364536">
                <a:moveTo>
                  <a:pt x="1299748" y="0"/>
                </a:moveTo>
                <a:lnTo>
                  <a:pt x="1309523" y="13892"/>
                </a:lnTo>
                <a:cubicBezTo>
                  <a:pt x="1318335" y="32890"/>
                  <a:pt x="1322962" y="52559"/>
                  <a:pt x="1322962" y="72706"/>
                </a:cubicBezTo>
                <a:cubicBezTo>
                  <a:pt x="1322962" y="233879"/>
                  <a:pt x="1026807" y="364536"/>
                  <a:pt x="661481" y="364536"/>
                </a:cubicBezTo>
                <a:cubicBezTo>
                  <a:pt x="296155" y="364536"/>
                  <a:pt x="0" y="233879"/>
                  <a:pt x="0" y="72706"/>
                </a:cubicBezTo>
                <a:cubicBezTo>
                  <a:pt x="0" y="52559"/>
                  <a:pt x="4628" y="32890"/>
                  <a:pt x="13439" y="13892"/>
                </a:cubicBezTo>
                <a:lnTo>
                  <a:pt x="23213" y="1"/>
                </a:lnTo>
                <a:lnTo>
                  <a:pt x="27473" y="6320"/>
                </a:lnTo>
                <a:cubicBezTo>
                  <a:pt x="44448" y="23295"/>
                  <a:pt x="67899" y="33794"/>
                  <a:pt x="93801" y="33794"/>
                </a:cubicBezTo>
                <a:lnTo>
                  <a:pt x="1229159" y="33794"/>
                </a:lnTo>
                <a:cubicBezTo>
                  <a:pt x="1255062" y="33794"/>
                  <a:pt x="1278512" y="23295"/>
                  <a:pt x="1295487" y="6320"/>
                </a:cubicBezTo>
                <a:close/>
              </a:path>
            </a:pathLst>
          </a:cu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 name="Freeform: Shape 12">
            <a:extLst>
              <a:ext uri="{FF2B5EF4-FFF2-40B4-BE49-F238E27FC236}">
                <a16:creationId xmlns:a16="http://schemas.microsoft.com/office/drawing/2014/main" id="{353720A0-5521-5F5B-27A6-695F17F59E9F}"/>
              </a:ext>
            </a:extLst>
          </p:cNvPr>
          <p:cNvSpPr/>
          <p:nvPr/>
        </p:nvSpPr>
        <p:spPr>
          <a:xfrm>
            <a:off x="8930300" y="881809"/>
            <a:ext cx="1682885" cy="364536"/>
          </a:xfrm>
          <a:custGeom>
            <a:avLst/>
            <a:gdLst>
              <a:gd name="connsiteX0" fmla="*/ 1299748 w 1322962"/>
              <a:gd name="connsiteY0" fmla="*/ 0 h 364536"/>
              <a:gd name="connsiteX1" fmla="*/ 1309523 w 1322962"/>
              <a:gd name="connsiteY1" fmla="*/ 13892 h 364536"/>
              <a:gd name="connsiteX2" fmla="*/ 1322962 w 1322962"/>
              <a:gd name="connsiteY2" fmla="*/ 72706 h 364536"/>
              <a:gd name="connsiteX3" fmla="*/ 661481 w 1322962"/>
              <a:gd name="connsiteY3" fmla="*/ 364536 h 364536"/>
              <a:gd name="connsiteX4" fmla="*/ 0 w 1322962"/>
              <a:gd name="connsiteY4" fmla="*/ 72706 h 364536"/>
              <a:gd name="connsiteX5" fmla="*/ 13439 w 1322962"/>
              <a:gd name="connsiteY5" fmla="*/ 13892 h 364536"/>
              <a:gd name="connsiteX6" fmla="*/ 23213 w 1322962"/>
              <a:gd name="connsiteY6" fmla="*/ 1 h 364536"/>
              <a:gd name="connsiteX7" fmla="*/ 27473 w 1322962"/>
              <a:gd name="connsiteY7" fmla="*/ 6320 h 364536"/>
              <a:gd name="connsiteX8" fmla="*/ 93801 w 1322962"/>
              <a:gd name="connsiteY8" fmla="*/ 33794 h 364536"/>
              <a:gd name="connsiteX9" fmla="*/ 1229159 w 1322962"/>
              <a:gd name="connsiteY9" fmla="*/ 33794 h 364536"/>
              <a:gd name="connsiteX10" fmla="*/ 1295487 w 1322962"/>
              <a:gd name="connsiteY10" fmla="*/ 6320 h 36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2962" h="364536">
                <a:moveTo>
                  <a:pt x="1299748" y="0"/>
                </a:moveTo>
                <a:lnTo>
                  <a:pt x="1309523" y="13892"/>
                </a:lnTo>
                <a:cubicBezTo>
                  <a:pt x="1318335" y="32890"/>
                  <a:pt x="1322962" y="52559"/>
                  <a:pt x="1322962" y="72706"/>
                </a:cubicBezTo>
                <a:cubicBezTo>
                  <a:pt x="1322962" y="233879"/>
                  <a:pt x="1026807" y="364536"/>
                  <a:pt x="661481" y="364536"/>
                </a:cubicBezTo>
                <a:cubicBezTo>
                  <a:pt x="296155" y="364536"/>
                  <a:pt x="0" y="233879"/>
                  <a:pt x="0" y="72706"/>
                </a:cubicBezTo>
                <a:cubicBezTo>
                  <a:pt x="0" y="52559"/>
                  <a:pt x="4628" y="32890"/>
                  <a:pt x="13439" y="13892"/>
                </a:cubicBezTo>
                <a:lnTo>
                  <a:pt x="23213" y="1"/>
                </a:lnTo>
                <a:lnTo>
                  <a:pt x="27473" y="6320"/>
                </a:lnTo>
                <a:cubicBezTo>
                  <a:pt x="44448" y="23295"/>
                  <a:pt x="67899" y="33794"/>
                  <a:pt x="93801" y="33794"/>
                </a:cubicBezTo>
                <a:lnTo>
                  <a:pt x="1229159" y="33794"/>
                </a:lnTo>
                <a:cubicBezTo>
                  <a:pt x="1255062" y="33794"/>
                  <a:pt x="1278512" y="23295"/>
                  <a:pt x="1295487" y="6320"/>
                </a:cubicBezTo>
                <a:close/>
              </a:path>
            </a:pathLst>
          </a:cu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4" name="Freeform: Shape 13">
            <a:extLst>
              <a:ext uri="{FF2B5EF4-FFF2-40B4-BE49-F238E27FC236}">
                <a16:creationId xmlns:a16="http://schemas.microsoft.com/office/drawing/2014/main" id="{228AE30D-80A4-C2FD-ED36-E661435C569F}"/>
              </a:ext>
            </a:extLst>
          </p:cNvPr>
          <p:cNvSpPr/>
          <p:nvPr/>
        </p:nvSpPr>
        <p:spPr>
          <a:xfrm>
            <a:off x="6508197" y="866299"/>
            <a:ext cx="1682885" cy="364536"/>
          </a:xfrm>
          <a:custGeom>
            <a:avLst/>
            <a:gdLst>
              <a:gd name="connsiteX0" fmla="*/ 1299748 w 1322962"/>
              <a:gd name="connsiteY0" fmla="*/ 0 h 364536"/>
              <a:gd name="connsiteX1" fmla="*/ 1309523 w 1322962"/>
              <a:gd name="connsiteY1" fmla="*/ 13892 h 364536"/>
              <a:gd name="connsiteX2" fmla="*/ 1322962 w 1322962"/>
              <a:gd name="connsiteY2" fmla="*/ 72706 h 364536"/>
              <a:gd name="connsiteX3" fmla="*/ 661481 w 1322962"/>
              <a:gd name="connsiteY3" fmla="*/ 364536 h 364536"/>
              <a:gd name="connsiteX4" fmla="*/ 0 w 1322962"/>
              <a:gd name="connsiteY4" fmla="*/ 72706 h 364536"/>
              <a:gd name="connsiteX5" fmla="*/ 13439 w 1322962"/>
              <a:gd name="connsiteY5" fmla="*/ 13892 h 364536"/>
              <a:gd name="connsiteX6" fmla="*/ 23213 w 1322962"/>
              <a:gd name="connsiteY6" fmla="*/ 1 h 364536"/>
              <a:gd name="connsiteX7" fmla="*/ 27473 w 1322962"/>
              <a:gd name="connsiteY7" fmla="*/ 6320 h 364536"/>
              <a:gd name="connsiteX8" fmla="*/ 93801 w 1322962"/>
              <a:gd name="connsiteY8" fmla="*/ 33794 h 364536"/>
              <a:gd name="connsiteX9" fmla="*/ 1229159 w 1322962"/>
              <a:gd name="connsiteY9" fmla="*/ 33794 h 364536"/>
              <a:gd name="connsiteX10" fmla="*/ 1295487 w 1322962"/>
              <a:gd name="connsiteY10" fmla="*/ 6320 h 36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2962" h="364536">
                <a:moveTo>
                  <a:pt x="1299748" y="0"/>
                </a:moveTo>
                <a:lnTo>
                  <a:pt x="1309523" y="13892"/>
                </a:lnTo>
                <a:cubicBezTo>
                  <a:pt x="1318335" y="32890"/>
                  <a:pt x="1322962" y="52559"/>
                  <a:pt x="1322962" y="72706"/>
                </a:cubicBezTo>
                <a:cubicBezTo>
                  <a:pt x="1322962" y="233879"/>
                  <a:pt x="1026807" y="364536"/>
                  <a:pt x="661481" y="364536"/>
                </a:cubicBezTo>
                <a:cubicBezTo>
                  <a:pt x="296155" y="364536"/>
                  <a:pt x="0" y="233879"/>
                  <a:pt x="0" y="72706"/>
                </a:cubicBezTo>
                <a:cubicBezTo>
                  <a:pt x="0" y="52559"/>
                  <a:pt x="4628" y="32890"/>
                  <a:pt x="13439" y="13892"/>
                </a:cubicBezTo>
                <a:lnTo>
                  <a:pt x="23213" y="1"/>
                </a:lnTo>
                <a:lnTo>
                  <a:pt x="27473" y="6320"/>
                </a:lnTo>
                <a:cubicBezTo>
                  <a:pt x="44448" y="23295"/>
                  <a:pt x="67899" y="33794"/>
                  <a:pt x="93801" y="33794"/>
                </a:cubicBezTo>
                <a:lnTo>
                  <a:pt x="1229159" y="33794"/>
                </a:lnTo>
                <a:cubicBezTo>
                  <a:pt x="1255062" y="33794"/>
                  <a:pt x="1278512" y="23295"/>
                  <a:pt x="1295487" y="6320"/>
                </a:cubicBezTo>
                <a:close/>
              </a:path>
            </a:pathLst>
          </a:cu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5" name="Freeform: Shape 14">
            <a:extLst>
              <a:ext uri="{FF2B5EF4-FFF2-40B4-BE49-F238E27FC236}">
                <a16:creationId xmlns:a16="http://schemas.microsoft.com/office/drawing/2014/main" id="{F4EBA87D-588A-9B4E-9B6E-91F64645148D}"/>
              </a:ext>
            </a:extLst>
          </p:cNvPr>
          <p:cNvSpPr/>
          <p:nvPr/>
        </p:nvSpPr>
        <p:spPr>
          <a:xfrm>
            <a:off x="3904882" y="870954"/>
            <a:ext cx="1682885" cy="364536"/>
          </a:xfrm>
          <a:custGeom>
            <a:avLst/>
            <a:gdLst>
              <a:gd name="connsiteX0" fmla="*/ 1299748 w 1322962"/>
              <a:gd name="connsiteY0" fmla="*/ 0 h 364536"/>
              <a:gd name="connsiteX1" fmla="*/ 1309523 w 1322962"/>
              <a:gd name="connsiteY1" fmla="*/ 13892 h 364536"/>
              <a:gd name="connsiteX2" fmla="*/ 1322962 w 1322962"/>
              <a:gd name="connsiteY2" fmla="*/ 72706 h 364536"/>
              <a:gd name="connsiteX3" fmla="*/ 661481 w 1322962"/>
              <a:gd name="connsiteY3" fmla="*/ 364536 h 364536"/>
              <a:gd name="connsiteX4" fmla="*/ 0 w 1322962"/>
              <a:gd name="connsiteY4" fmla="*/ 72706 h 364536"/>
              <a:gd name="connsiteX5" fmla="*/ 13439 w 1322962"/>
              <a:gd name="connsiteY5" fmla="*/ 13892 h 364536"/>
              <a:gd name="connsiteX6" fmla="*/ 23213 w 1322962"/>
              <a:gd name="connsiteY6" fmla="*/ 1 h 364536"/>
              <a:gd name="connsiteX7" fmla="*/ 27473 w 1322962"/>
              <a:gd name="connsiteY7" fmla="*/ 6320 h 364536"/>
              <a:gd name="connsiteX8" fmla="*/ 93801 w 1322962"/>
              <a:gd name="connsiteY8" fmla="*/ 33794 h 364536"/>
              <a:gd name="connsiteX9" fmla="*/ 1229159 w 1322962"/>
              <a:gd name="connsiteY9" fmla="*/ 33794 h 364536"/>
              <a:gd name="connsiteX10" fmla="*/ 1295487 w 1322962"/>
              <a:gd name="connsiteY10" fmla="*/ 6320 h 36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2962" h="364536">
                <a:moveTo>
                  <a:pt x="1299748" y="0"/>
                </a:moveTo>
                <a:lnTo>
                  <a:pt x="1309523" y="13892"/>
                </a:lnTo>
                <a:cubicBezTo>
                  <a:pt x="1318335" y="32890"/>
                  <a:pt x="1322962" y="52559"/>
                  <a:pt x="1322962" y="72706"/>
                </a:cubicBezTo>
                <a:cubicBezTo>
                  <a:pt x="1322962" y="233879"/>
                  <a:pt x="1026807" y="364536"/>
                  <a:pt x="661481" y="364536"/>
                </a:cubicBezTo>
                <a:cubicBezTo>
                  <a:pt x="296155" y="364536"/>
                  <a:pt x="0" y="233879"/>
                  <a:pt x="0" y="72706"/>
                </a:cubicBezTo>
                <a:cubicBezTo>
                  <a:pt x="0" y="52559"/>
                  <a:pt x="4628" y="32890"/>
                  <a:pt x="13439" y="13892"/>
                </a:cubicBezTo>
                <a:lnTo>
                  <a:pt x="23213" y="1"/>
                </a:lnTo>
                <a:lnTo>
                  <a:pt x="27473" y="6320"/>
                </a:lnTo>
                <a:cubicBezTo>
                  <a:pt x="44448" y="23295"/>
                  <a:pt x="67899" y="33794"/>
                  <a:pt x="93801" y="33794"/>
                </a:cubicBezTo>
                <a:lnTo>
                  <a:pt x="1229159" y="33794"/>
                </a:lnTo>
                <a:cubicBezTo>
                  <a:pt x="1255062" y="33794"/>
                  <a:pt x="1278512" y="23295"/>
                  <a:pt x="1295487" y="6320"/>
                </a:cubicBezTo>
                <a:close/>
              </a:path>
            </a:pathLst>
          </a:cu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166794024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140">
            <a:extLst>
              <a:ext uri="{FF2B5EF4-FFF2-40B4-BE49-F238E27FC236}">
                <a16:creationId xmlns:a16="http://schemas.microsoft.com/office/drawing/2014/main" id="{AA703638-0E47-BF23-6917-3FF189C1E7FE}"/>
              </a:ext>
            </a:extLst>
          </p:cNvPr>
          <p:cNvSpPr/>
          <p:nvPr/>
        </p:nvSpPr>
        <p:spPr>
          <a:xfrm>
            <a:off x="10578422" y="1124833"/>
            <a:ext cx="1300500" cy="1270217"/>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a:solidFill>
              <a:srgbClr val="B5D0ED"/>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137160" rIns="137160" bIns="205740" numCol="1" spcCol="1270" anchor="ctr" anchorCtr="0">
            <a:noAutofit/>
          </a:bodyPr>
          <a:lstStyle/>
          <a:p>
            <a:pPr algn="ctr" defTabSz="666734">
              <a:lnSpc>
                <a:spcPct val="90000"/>
              </a:lnSpc>
              <a:spcBef>
                <a:spcPct val="0"/>
              </a:spcBef>
              <a:spcAft>
                <a:spcPct val="35000"/>
              </a:spcAft>
            </a:pPr>
            <a:endParaRPr lang="en-US" sz="4000"/>
          </a:p>
        </p:txBody>
      </p:sp>
      <p:graphicFrame>
        <p:nvGraphicFramePr>
          <p:cNvPr id="24" name="Object 23" hidden="1">
            <a:extLst>
              <a:ext uri="{FF2B5EF4-FFF2-40B4-BE49-F238E27FC236}">
                <a16:creationId xmlns:a16="http://schemas.microsoft.com/office/drawing/2014/main" id="{4E7DD7F1-DB4B-FDEF-830C-C9572133098C}"/>
              </a:ext>
            </a:extLst>
          </p:cNvPr>
          <p:cNvGraphicFramePr>
            <a:graphicFrameLocks noChangeAspect="1"/>
          </p:cNvGraphicFramePr>
          <p:nvPr>
            <p:custDataLst>
              <p:tags r:id="rId2"/>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1034" name="think-cell Slide" r:id="rId5" imgW="416" imgH="416" progId="TCLayout.ActiveDocument.1">
                  <p:embed/>
                </p:oleObj>
              </mc:Choice>
              <mc:Fallback>
                <p:oleObj name="think-cell Slide" r:id="rId5" imgW="416" imgH="416" progId="TCLayout.ActiveDocument.1">
                  <p:embed/>
                  <p:pic>
                    <p:nvPicPr>
                      <p:cNvPr id="24" name="Object 23" hidden="1">
                        <a:extLst>
                          <a:ext uri="{FF2B5EF4-FFF2-40B4-BE49-F238E27FC236}">
                            <a16:creationId xmlns:a16="http://schemas.microsoft.com/office/drawing/2014/main" id="{4E7DD7F1-DB4B-FDEF-830C-C9572133098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106" name="Freeform 128">
            <a:extLst>
              <a:ext uri="{FF2B5EF4-FFF2-40B4-BE49-F238E27FC236}">
                <a16:creationId xmlns:a16="http://schemas.microsoft.com/office/drawing/2014/main" id="{7C21F1C7-00ED-481F-A68B-FC9DD2AAECB2}"/>
              </a:ext>
            </a:extLst>
          </p:cNvPr>
          <p:cNvSpPr/>
          <p:nvPr/>
        </p:nvSpPr>
        <p:spPr>
          <a:xfrm>
            <a:off x="1975587" y="4577722"/>
            <a:ext cx="1300500" cy="1270217"/>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666734">
              <a:lnSpc>
                <a:spcPct val="90000"/>
              </a:lnSpc>
              <a:spcBef>
                <a:spcPct val="0"/>
              </a:spcBef>
              <a:spcAft>
                <a:spcPct val="35000"/>
              </a:spcAft>
            </a:pPr>
            <a:endParaRPr lang="en-US" sz="3600"/>
          </a:p>
        </p:txBody>
      </p:sp>
      <p:grpSp>
        <p:nvGrpSpPr>
          <p:cNvPr id="5" name="Group 4">
            <a:extLst>
              <a:ext uri="{FF2B5EF4-FFF2-40B4-BE49-F238E27FC236}">
                <a16:creationId xmlns:a16="http://schemas.microsoft.com/office/drawing/2014/main" id="{1D459267-2672-4254-B57A-378ACC696FA0}"/>
              </a:ext>
            </a:extLst>
          </p:cNvPr>
          <p:cNvGrpSpPr/>
          <p:nvPr/>
        </p:nvGrpSpPr>
        <p:grpSpPr>
          <a:xfrm>
            <a:off x="250972" y="347250"/>
            <a:ext cx="11655049" cy="492491"/>
            <a:chOff x="228156" y="-710"/>
            <a:chExt cx="11655049" cy="492490"/>
          </a:xfrm>
        </p:grpSpPr>
        <p:sp>
          <p:nvSpPr>
            <p:cNvPr id="6" name="Title 4">
              <a:extLst>
                <a:ext uri="{FF2B5EF4-FFF2-40B4-BE49-F238E27FC236}">
                  <a16:creationId xmlns:a16="http://schemas.microsoft.com/office/drawing/2014/main" id="{0FF5E306-0F33-4BD0-A212-DD4F457C9796}"/>
                </a:ext>
              </a:extLst>
            </p:cNvPr>
            <p:cNvSpPr txBox="1">
              <a:spLocks/>
            </p:cNvSpPr>
            <p:nvPr/>
          </p:nvSpPr>
          <p:spPr bwMode="gray">
            <a:xfrm>
              <a:off x="308795" y="-710"/>
              <a:ext cx="3623107" cy="480130"/>
            </a:xfrm>
            <a:prstGeom prst="rect">
              <a:avLst/>
            </a:prstGeom>
          </p:spPr>
          <p:txBody>
            <a:bodyPr vert="horz" wrap="square" lIns="91440" tIns="45720" rIns="91440" bIns="45720" rtlCol="0" anchor="t" anchorCtr="0">
              <a:spAutoFit/>
            </a:bodyPr>
            <a:lstStyle>
              <a:lvl1pPr algn="l" defTabSz="914354" rtl="0" eaLnBrk="1" latinLnBrk="0" hangingPunct="1">
                <a:lnSpc>
                  <a:spcPct val="90000"/>
                </a:lnSpc>
                <a:spcBef>
                  <a:spcPct val="0"/>
                </a:spcBef>
                <a:buNone/>
                <a:defRPr sz="2133" b="1" kern="1200">
                  <a:solidFill>
                    <a:schemeClr val="tx1"/>
                  </a:solidFill>
                  <a:latin typeface="Mark Offc For MC" panose="020B0504020101010102" pitchFamily="34" charset="0"/>
                  <a:ea typeface="+mj-ea"/>
                  <a:cs typeface="+mj-cs"/>
                </a:defRPr>
              </a:lvl1pPr>
            </a:lstStyle>
            <a:p>
              <a:r>
                <a:rPr lang="en-IN" sz="2800" dirty="0"/>
                <a:t>Timeline of a Startup</a:t>
              </a:r>
            </a:p>
          </p:txBody>
        </p:sp>
        <p:sp>
          <p:nvSpPr>
            <p:cNvPr id="7" name="Rectangle 67">
              <a:extLst>
                <a:ext uri="{FF2B5EF4-FFF2-40B4-BE49-F238E27FC236}">
                  <a16:creationId xmlns:a16="http://schemas.microsoft.com/office/drawing/2014/main" id="{D349A3E1-3CA3-41D2-8158-D4A9B5BC0B91}"/>
                </a:ext>
              </a:extLst>
            </p:cNvPr>
            <p:cNvSpPr/>
            <p:nvPr/>
          </p:nvSpPr>
          <p:spPr>
            <a:xfrm flipV="1">
              <a:off x="228156" y="446061"/>
              <a:ext cx="11655049" cy="45719"/>
            </a:xfrm>
            <a:prstGeom prst="rect">
              <a:avLst/>
            </a:prstGeom>
            <a:solidFill>
              <a:srgbClr val="E8E8E8"/>
            </a:solidFill>
            <a:ln w="9525">
              <a:noFill/>
            </a:ln>
            <a:effectLst>
              <a:outerShdw dist="19050" dir="5400000" algn="tl" rotWithShape="0">
                <a:schemeClr val="tx1">
                  <a:lumMod val="75000"/>
                  <a:lumOff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88000" tIns="45720" rIns="91440" bIns="45720" rtlCol="0" anchor="b">
              <a:noAutofit/>
            </a:bodyPr>
            <a:lstStyle/>
            <a:p>
              <a:pPr>
                <a:spcAft>
                  <a:spcPts val="300"/>
                </a:spcAft>
              </a:pPr>
              <a:endParaRPr lang="en-US" sz="1100">
                <a:solidFill>
                  <a:schemeClr val="tx1"/>
                </a:solidFill>
                <a:latin typeface="Mark Offc For MC Medium" panose="020B0604020101010102" pitchFamily="34" charset="0"/>
              </a:endParaRPr>
            </a:p>
          </p:txBody>
        </p:sp>
      </p:grpSp>
      <p:cxnSp>
        <p:nvCxnSpPr>
          <p:cNvPr id="68" name="Straight Connector 67">
            <a:extLst>
              <a:ext uri="{FF2B5EF4-FFF2-40B4-BE49-F238E27FC236}">
                <a16:creationId xmlns:a16="http://schemas.microsoft.com/office/drawing/2014/main" id="{4BE1576D-F031-483A-BFBA-7885DECDFB70}"/>
              </a:ext>
            </a:extLst>
          </p:cNvPr>
          <p:cNvCxnSpPr>
            <a:cxnSpLocks/>
          </p:cNvCxnSpPr>
          <p:nvPr/>
        </p:nvCxnSpPr>
        <p:spPr>
          <a:xfrm>
            <a:off x="49295" y="3495204"/>
            <a:ext cx="12276055" cy="43136"/>
          </a:xfrm>
          <a:prstGeom prst="line">
            <a:avLst/>
          </a:prstGeom>
          <a:ln w="88900" cmpd="tri">
            <a:gradFill flip="none" rotWithShape="1">
              <a:gsLst>
                <a:gs pos="0">
                  <a:srgbClr val="92D050"/>
                </a:gs>
                <a:gs pos="50000">
                  <a:srgbClr val="70A8DA"/>
                </a:gs>
                <a:gs pos="72000">
                  <a:srgbClr val="00B0F0"/>
                </a:gs>
                <a:gs pos="100000">
                  <a:srgbClr val="0070C0"/>
                </a:gs>
              </a:gsLst>
              <a:lin ang="0" scaled="1"/>
              <a:tileRect/>
            </a:gradFill>
            <a:prstDash val="solid"/>
            <a:headEnd type="oval" w="lg" len="lg"/>
            <a:tailEnd type="stealth" w="lg" len="lg"/>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62D2BBE9-65D5-46E1-93C0-365301C005C9}"/>
              </a:ext>
            </a:extLst>
          </p:cNvPr>
          <p:cNvGrpSpPr/>
          <p:nvPr/>
        </p:nvGrpSpPr>
        <p:grpSpPr>
          <a:xfrm>
            <a:off x="1590945" y="1333364"/>
            <a:ext cx="1890425" cy="770934"/>
            <a:chOff x="1668373" y="1058556"/>
            <a:chExt cx="1533104" cy="298086"/>
          </a:xfrm>
        </p:grpSpPr>
        <p:sp>
          <p:nvSpPr>
            <p:cNvPr id="70" name="TextBox 69">
              <a:extLst>
                <a:ext uri="{FF2B5EF4-FFF2-40B4-BE49-F238E27FC236}">
                  <a16:creationId xmlns:a16="http://schemas.microsoft.com/office/drawing/2014/main" id="{A6E05897-A6DF-4036-A662-3B2D10838783}"/>
                </a:ext>
              </a:extLst>
            </p:cNvPr>
            <p:cNvSpPr txBox="1"/>
            <p:nvPr/>
          </p:nvSpPr>
          <p:spPr>
            <a:xfrm>
              <a:off x="1668373" y="1058556"/>
              <a:ext cx="1463040" cy="175383"/>
            </a:xfrm>
            <a:prstGeom prst="rect">
              <a:avLst/>
            </a:prstGeom>
            <a:noFill/>
          </p:spPr>
          <p:txBody>
            <a:bodyPr wrap="square" lIns="91440" tIns="0" rIns="0" bIns="0" rtlCol="0" anchor="t">
              <a:spAutoFit/>
            </a:bodyPr>
            <a:lstStyle/>
            <a:p>
              <a:r>
                <a:rPr lang="en-US" sz="1467" b="1" dirty="0"/>
                <a:t>Pain point</a:t>
              </a:r>
            </a:p>
          </p:txBody>
        </p:sp>
        <p:sp>
          <p:nvSpPr>
            <p:cNvPr id="71" name="TextBox 70">
              <a:extLst>
                <a:ext uri="{FF2B5EF4-FFF2-40B4-BE49-F238E27FC236}">
                  <a16:creationId xmlns:a16="http://schemas.microsoft.com/office/drawing/2014/main" id="{6C74EB78-D4B9-4FD3-A5EB-E2017B37C35A}"/>
                </a:ext>
              </a:extLst>
            </p:cNvPr>
            <p:cNvSpPr txBox="1"/>
            <p:nvPr/>
          </p:nvSpPr>
          <p:spPr>
            <a:xfrm>
              <a:off x="1738437" y="1182054"/>
              <a:ext cx="1463040" cy="174588"/>
            </a:xfrm>
            <a:prstGeom prst="rect">
              <a:avLst/>
            </a:prstGeom>
            <a:noFill/>
          </p:spPr>
          <p:txBody>
            <a:bodyPr wrap="square" lIns="91440" tIns="0" rIns="0" bIns="0" rtlCol="0" anchor="t">
              <a:spAutoFit/>
            </a:bodyPr>
            <a:lstStyle/>
            <a:p>
              <a:pPr>
                <a:spcBef>
                  <a:spcPct val="20000"/>
                </a:spcBef>
                <a:defRPr/>
              </a:pPr>
              <a:r>
                <a:rPr lang="en-US" sz="1467" dirty="0"/>
                <a:t>Empathize, define,  generate ideas</a:t>
              </a:r>
            </a:p>
          </p:txBody>
        </p:sp>
      </p:grpSp>
      <p:sp>
        <p:nvSpPr>
          <p:cNvPr id="73" name="TextBox 72">
            <a:extLst>
              <a:ext uri="{FF2B5EF4-FFF2-40B4-BE49-F238E27FC236}">
                <a16:creationId xmlns:a16="http://schemas.microsoft.com/office/drawing/2014/main" id="{581F68DF-DE32-4B33-89CA-EB9D5918970A}"/>
              </a:ext>
            </a:extLst>
          </p:cNvPr>
          <p:cNvSpPr txBox="1"/>
          <p:nvPr/>
        </p:nvSpPr>
        <p:spPr>
          <a:xfrm>
            <a:off x="654103" y="4697483"/>
            <a:ext cx="1611631" cy="225767"/>
          </a:xfrm>
          <a:prstGeom prst="rect">
            <a:avLst/>
          </a:prstGeom>
          <a:noFill/>
        </p:spPr>
        <p:txBody>
          <a:bodyPr wrap="square" lIns="91440" tIns="0" rIns="0" bIns="0" rtlCol="0" anchor="t">
            <a:spAutoFit/>
          </a:bodyPr>
          <a:lstStyle/>
          <a:p>
            <a:pPr algn="r"/>
            <a:r>
              <a:rPr lang="en-US" sz="1467" b="1" dirty="0"/>
              <a:t>Market research</a:t>
            </a:r>
          </a:p>
        </p:txBody>
      </p:sp>
      <p:grpSp>
        <p:nvGrpSpPr>
          <p:cNvPr id="75" name="Group 74">
            <a:extLst>
              <a:ext uri="{FF2B5EF4-FFF2-40B4-BE49-F238E27FC236}">
                <a16:creationId xmlns:a16="http://schemas.microsoft.com/office/drawing/2014/main" id="{D64180C4-2EBC-416F-B671-0360EC047AC8}"/>
              </a:ext>
            </a:extLst>
          </p:cNvPr>
          <p:cNvGrpSpPr/>
          <p:nvPr/>
        </p:nvGrpSpPr>
        <p:grpSpPr>
          <a:xfrm>
            <a:off x="4714514" y="1034332"/>
            <a:ext cx="1928235" cy="1749040"/>
            <a:chOff x="975370" y="2181114"/>
            <a:chExt cx="1463040" cy="993226"/>
          </a:xfrm>
        </p:grpSpPr>
        <p:sp>
          <p:nvSpPr>
            <p:cNvPr id="76" name="TextBox 75">
              <a:extLst>
                <a:ext uri="{FF2B5EF4-FFF2-40B4-BE49-F238E27FC236}">
                  <a16:creationId xmlns:a16="http://schemas.microsoft.com/office/drawing/2014/main" id="{B27FDCF5-B02C-47BE-ABBC-8471A5166EDB}"/>
                </a:ext>
              </a:extLst>
            </p:cNvPr>
            <p:cNvSpPr txBox="1"/>
            <p:nvPr/>
          </p:nvSpPr>
          <p:spPr>
            <a:xfrm>
              <a:off x="975370" y="2181114"/>
              <a:ext cx="1463040" cy="256412"/>
            </a:xfrm>
            <a:prstGeom prst="rect">
              <a:avLst/>
            </a:prstGeom>
            <a:noFill/>
            <a:ln>
              <a:solidFill>
                <a:srgbClr val="0070C0"/>
              </a:solidFill>
            </a:ln>
          </p:spPr>
          <p:txBody>
            <a:bodyPr wrap="square" lIns="91440" tIns="0" rIns="0" bIns="0" rtlCol="0" anchor="t">
              <a:spAutoFit/>
            </a:bodyPr>
            <a:lstStyle/>
            <a:p>
              <a:r>
                <a:rPr lang="en-US" sz="1467" b="1" dirty="0" smtClean="0"/>
                <a:t>Build MVP </a:t>
              </a:r>
              <a:br>
                <a:rPr lang="en-US" sz="1467" b="1" dirty="0" smtClean="0"/>
              </a:br>
              <a:endParaRPr lang="en-US" sz="1467" b="1" dirty="0"/>
            </a:p>
          </p:txBody>
        </p:sp>
        <p:sp>
          <p:nvSpPr>
            <p:cNvPr id="77" name="TextBox 76">
              <a:extLst>
                <a:ext uri="{FF2B5EF4-FFF2-40B4-BE49-F238E27FC236}">
                  <a16:creationId xmlns:a16="http://schemas.microsoft.com/office/drawing/2014/main" id="{F44ED231-584D-44CB-84A6-04A653BAD0F0}"/>
                </a:ext>
              </a:extLst>
            </p:cNvPr>
            <p:cNvSpPr txBox="1"/>
            <p:nvPr/>
          </p:nvSpPr>
          <p:spPr>
            <a:xfrm>
              <a:off x="975370" y="2507675"/>
              <a:ext cx="1327609" cy="666665"/>
            </a:xfrm>
            <a:prstGeom prst="rect">
              <a:avLst/>
            </a:prstGeom>
            <a:noFill/>
            <a:ln>
              <a:solidFill>
                <a:srgbClr val="0070C0"/>
              </a:solidFill>
            </a:ln>
          </p:spPr>
          <p:txBody>
            <a:bodyPr wrap="square" lIns="91440" tIns="0" rIns="0" bIns="0" rtlCol="0" anchor="t">
              <a:spAutoFit/>
            </a:bodyPr>
            <a:lstStyle/>
            <a:p>
              <a:pPr>
                <a:spcBef>
                  <a:spcPct val="20000"/>
                </a:spcBef>
                <a:defRPr/>
              </a:pPr>
              <a:r>
                <a:rPr lang="en-US" sz="1467" b="1" dirty="0"/>
                <a:t>Validated learning </a:t>
              </a:r>
              <a:r>
                <a:rPr lang="en-US" sz="1467" dirty="0" smtClean="0"/>
                <a:t>Refinement </a:t>
              </a:r>
              <a:r>
                <a:rPr lang="en-US" sz="1467" dirty="0"/>
                <a:t>of product based on feedback</a:t>
              </a:r>
            </a:p>
            <a:p>
              <a:pPr>
                <a:spcBef>
                  <a:spcPct val="20000"/>
                </a:spcBef>
                <a:defRPr/>
              </a:pPr>
              <a:r>
                <a:rPr lang="en-US" sz="1467" dirty="0"/>
                <a:t>Register company</a:t>
              </a:r>
            </a:p>
          </p:txBody>
        </p:sp>
      </p:grpSp>
      <p:sp>
        <p:nvSpPr>
          <p:cNvPr id="79" name="TextBox 78">
            <a:extLst>
              <a:ext uri="{FF2B5EF4-FFF2-40B4-BE49-F238E27FC236}">
                <a16:creationId xmlns:a16="http://schemas.microsoft.com/office/drawing/2014/main" id="{AA9B6308-CDFF-4FF7-97BB-9A519AF98705}"/>
              </a:ext>
            </a:extLst>
          </p:cNvPr>
          <p:cNvSpPr txBox="1"/>
          <p:nvPr/>
        </p:nvSpPr>
        <p:spPr>
          <a:xfrm>
            <a:off x="5388625" y="4595288"/>
            <a:ext cx="1300500" cy="225767"/>
          </a:xfrm>
          <a:prstGeom prst="rect">
            <a:avLst/>
          </a:prstGeom>
          <a:noFill/>
        </p:spPr>
        <p:txBody>
          <a:bodyPr wrap="square" lIns="91440" tIns="0" rIns="0" bIns="0" rtlCol="0" anchor="t">
            <a:spAutoFit/>
          </a:bodyPr>
          <a:lstStyle/>
          <a:p>
            <a:pPr algn="r"/>
            <a:r>
              <a:rPr lang="en-US" sz="1467" b="1" dirty="0"/>
              <a:t>Traction  </a:t>
            </a:r>
          </a:p>
        </p:txBody>
      </p:sp>
      <p:cxnSp>
        <p:nvCxnSpPr>
          <p:cNvPr id="81" name="Straight Connector 80">
            <a:extLst>
              <a:ext uri="{FF2B5EF4-FFF2-40B4-BE49-F238E27FC236}">
                <a16:creationId xmlns:a16="http://schemas.microsoft.com/office/drawing/2014/main" id="{00CD2FF1-6129-4A2F-AC5B-4BB6339DADEF}"/>
              </a:ext>
            </a:extLst>
          </p:cNvPr>
          <p:cNvCxnSpPr>
            <a:cxnSpLocks/>
            <a:stCxn id="105" idx="6"/>
            <a:endCxn id="83" idx="0"/>
          </p:cNvCxnSpPr>
          <p:nvPr/>
        </p:nvCxnSpPr>
        <p:spPr>
          <a:xfrm flipH="1">
            <a:off x="1091835" y="2453780"/>
            <a:ext cx="8335" cy="602051"/>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B3AD2774-1547-422F-B6B0-A61E0CDB0B08}"/>
              </a:ext>
            </a:extLst>
          </p:cNvPr>
          <p:cNvSpPr/>
          <p:nvPr/>
        </p:nvSpPr>
        <p:spPr>
          <a:xfrm>
            <a:off x="638612" y="3055831"/>
            <a:ext cx="906445" cy="885328"/>
          </a:xfrm>
          <a:prstGeom prst="ellipse">
            <a:avLst/>
          </a:prstGeom>
          <a:solidFill>
            <a:schemeClr val="bg1"/>
          </a:solidFill>
          <a:ln w="762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accent4"/>
                </a:solidFill>
                <a:latin typeface="Mark Offc For MC" panose="020B0504020101010102" pitchFamily="34" charset="0"/>
              </a:rPr>
              <a:t>01</a:t>
            </a:r>
            <a:endParaRPr lang="en-US" sz="2400" b="1" dirty="0">
              <a:solidFill>
                <a:schemeClr val="accent4"/>
              </a:solidFill>
              <a:latin typeface="Mark Offc For MC" panose="020B0504020101010102" pitchFamily="34" charset="0"/>
            </a:endParaRPr>
          </a:p>
        </p:txBody>
      </p:sp>
      <p:cxnSp>
        <p:nvCxnSpPr>
          <p:cNvPr id="84" name="Straight Connector 83">
            <a:extLst>
              <a:ext uri="{FF2B5EF4-FFF2-40B4-BE49-F238E27FC236}">
                <a16:creationId xmlns:a16="http://schemas.microsoft.com/office/drawing/2014/main" id="{87DDFC09-DFF2-4EF7-8557-95A4470B37E2}"/>
              </a:ext>
            </a:extLst>
          </p:cNvPr>
          <p:cNvCxnSpPr>
            <a:cxnSpLocks/>
            <a:stCxn id="106" idx="2"/>
            <a:endCxn id="85" idx="4"/>
          </p:cNvCxnSpPr>
          <p:nvPr/>
        </p:nvCxnSpPr>
        <p:spPr>
          <a:xfrm flipV="1">
            <a:off x="2625838" y="3934148"/>
            <a:ext cx="8359" cy="643573"/>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8AF5C593-5910-4787-9937-F73C47591139}"/>
              </a:ext>
            </a:extLst>
          </p:cNvPr>
          <p:cNvSpPr/>
          <p:nvPr/>
        </p:nvSpPr>
        <p:spPr>
          <a:xfrm>
            <a:off x="2200460" y="3048820"/>
            <a:ext cx="867473" cy="885328"/>
          </a:xfrm>
          <a:prstGeom prst="ellipse">
            <a:avLst/>
          </a:prstGeom>
          <a:solidFill>
            <a:schemeClr val="bg1"/>
          </a:solidFill>
          <a:ln w="76200">
            <a:solidFill>
              <a:srgbClr val="FFE9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4"/>
                </a:solidFill>
                <a:latin typeface="Mark Offc For MC" panose="020B0504020101010102" pitchFamily="34" charset="0"/>
              </a:rPr>
              <a:t>02</a:t>
            </a:r>
            <a:endParaRPr lang="en-US" sz="2400" dirty="0">
              <a:solidFill>
                <a:schemeClr val="accent4"/>
              </a:solidFill>
              <a:latin typeface="Mark Offc For MC" panose="020B0504020101010102" pitchFamily="34" charset="0"/>
            </a:endParaRPr>
          </a:p>
        </p:txBody>
      </p:sp>
      <p:cxnSp>
        <p:nvCxnSpPr>
          <p:cNvPr id="87" name="Straight Connector 86">
            <a:extLst>
              <a:ext uri="{FF2B5EF4-FFF2-40B4-BE49-F238E27FC236}">
                <a16:creationId xmlns:a16="http://schemas.microsoft.com/office/drawing/2014/main" id="{17F1768F-3EEA-4402-BF2C-ABCDFA05E77A}"/>
              </a:ext>
            </a:extLst>
          </p:cNvPr>
          <p:cNvCxnSpPr>
            <a:cxnSpLocks/>
            <a:stCxn id="107" idx="6"/>
            <a:endCxn id="88" idx="0"/>
          </p:cNvCxnSpPr>
          <p:nvPr/>
        </p:nvCxnSpPr>
        <p:spPr>
          <a:xfrm>
            <a:off x="4078949" y="2432843"/>
            <a:ext cx="3163" cy="607551"/>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70E9E828-56EB-4849-90AB-4F421CC26E4F}"/>
              </a:ext>
            </a:extLst>
          </p:cNvPr>
          <p:cNvSpPr/>
          <p:nvPr/>
        </p:nvSpPr>
        <p:spPr>
          <a:xfrm>
            <a:off x="3628890" y="3040394"/>
            <a:ext cx="906445" cy="925068"/>
          </a:xfrm>
          <a:prstGeom prst="ellipse">
            <a:avLst/>
          </a:prstGeom>
          <a:solidFill>
            <a:schemeClr val="bg1"/>
          </a:solidFill>
          <a:ln w="76200">
            <a:solidFill>
              <a:srgbClr val="C6F7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accent4"/>
                </a:solidFill>
                <a:latin typeface="Mark Offc For MC" panose="020B0504020101010102" pitchFamily="34" charset="0"/>
              </a:rPr>
              <a:t>03/4</a:t>
            </a:r>
            <a:endParaRPr lang="en-US" dirty="0">
              <a:solidFill>
                <a:schemeClr val="accent4"/>
              </a:solidFill>
              <a:latin typeface="Mark Offc For MC" panose="020B0504020101010102" pitchFamily="34" charset="0"/>
            </a:endParaRPr>
          </a:p>
        </p:txBody>
      </p:sp>
      <p:cxnSp>
        <p:nvCxnSpPr>
          <p:cNvPr id="90" name="Straight Connector 89">
            <a:extLst>
              <a:ext uri="{FF2B5EF4-FFF2-40B4-BE49-F238E27FC236}">
                <a16:creationId xmlns:a16="http://schemas.microsoft.com/office/drawing/2014/main" id="{869EF221-C4F3-4170-A6AC-06AC85043568}"/>
              </a:ext>
            </a:extLst>
          </p:cNvPr>
          <p:cNvCxnSpPr>
            <a:cxnSpLocks/>
            <a:stCxn id="108" idx="2"/>
            <a:endCxn id="91" idx="4"/>
          </p:cNvCxnSpPr>
          <p:nvPr/>
        </p:nvCxnSpPr>
        <p:spPr>
          <a:xfrm flipH="1" flipV="1">
            <a:off x="5539976" y="3921816"/>
            <a:ext cx="2683" cy="655907"/>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A6C4580A-173C-4CB2-A702-66DD2CD79171}"/>
              </a:ext>
            </a:extLst>
          </p:cNvPr>
          <p:cNvSpPr/>
          <p:nvPr/>
        </p:nvSpPr>
        <p:spPr>
          <a:xfrm>
            <a:off x="5086754" y="3036482"/>
            <a:ext cx="906445" cy="885335"/>
          </a:xfrm>
          <a:prstGeom prst="ellipse">
            <a:avLst/>
          </a:prstGeom>
          <a:solidFill>
            <a:schemeClr val="bg1"/>
          </a:solidFill>
          <a:ln w="76200">
            <a:solidFill>
              <a:srgbClr val="A1CC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accent4"/>
                </a:solidFill>
                <a:latin typeface="Mark Offc For MC" panose="020B0504020101010102" pitchFamily="34" charset="0"/>
              </a:rPr>
              <a:t>05</a:t>
            </a:r>
            <a:endParaRPr lang="en-US" sz="2400" dirty="0">
              <a:solidFill>
                <a:schemeClr val="accent4"/>
              </a:solidFill>
              <a:latin typeface="Mark Offc For MC" panose="020B0504020101010102" pitchFamily="34" charset="0"/>
            </a:endParaRPr>
          </a:p>
        </p:txBody>
      </p:sp>
      <p:cxnSp>
        <p:nvCxnSpPr>
          <p:cNvPr id="96" name="Straight Connector 95">
            <a:extLst>
              <a:ext uri="{FF2B5EF4-FFF2-40B4-BE49-F238E27FC236}">
                <a16:creationId xmlns:a16="http://schemas.microsoft.com/office/drawing/2014/main" id="{6F13E5D8-4441-462D-B876-63CEBE8D173E}"/>
              </a:ext>
            </a:extLst>
          </p:cNvPr>
          <p:cNvCxnSpPr>
            <a:cxnSpLocks/>
            <a:stCxn id="110" idx="6"/>
            <a:endCxn id="97" idx="0"/>
          </p:cNvCxnSpPr>
          <p:nvPr/>
        </p:nvCxnSpPr>
        <p:spPr>
          <a:xfrm flipH="1">
            <a:off x="7053764" y="2434913"/>
            <a:ext cx="3401" cy="611655"/>
          </a:xfrm>
          <a:prstGeom prst="line">
            <a:avLst/>
          </a:prstGeom>
          <a:ln w="19050" cap="rnd">
            <a:solidFill>
              <a:schemeClr val="accent3"/>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97" name="Oval 96">
            <a:extLst>
              <a:ext uri="{FF2B5EF4-FFF2-40B4-BE49-F238E27FC236}">
                <a16:creationId xmlns:a16="http://schemas.microsoft.com/office/drawing/2014/main" id="{E8511C10-35D8-4285-8A82-076AED7D6DD3}"/>
              </a:ext>
            </a:extLst>
          </p:cNvPr>
          <p:cNvSpPr/>
          <p:nvPr/>
        </p:nvSpPr>
        <p:spPr>
          <a:xfrm>
            <a:off x="6600540" y="3046567"/>
            <a:ext cx="906445" cy="885335"/>
          </a:xfrm>
          <a:prstGeom prst="ellipse">
            <a:avLst/>
          </a:prstGeom>
          <a:solidFill>
            <a:schemeClr val="bg1"/>
          </a:solid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accent3"/>
                </a:solidFill>
                <a:latin typeface="Mark Offc For MC" panose="020B0504020101010102" pitchFamily="34" charset="0"/>
              </a:rPr>
              <a:t>06</a:t>
            </a:r>
            <a:endParaRPr lang="en-US" sz="2400" dirty="0">
              <a:solidFill>
                <a:schemeClr val="accent3"/>
              </a:solidFill>
              <a:latin typeface="Mark Offc For MC" panose="020B0504020101010102" pitchFamily="34" charset="0"/>
            </a:endParaRPr>
          </a:p>
        </p:txBody>
      </p:sp>
      <p:cxnSp>
        <p:nvCxnSpPr>
          <p:cNvPr id="99" name="Straight Connector 98">
            <a:extLst>
              <a:ext uri="{FF2B5EF4-FFF2-40B4-BE49-F238E27FC236}">
                <a16:creationId xmlns:a16="http://schemas.microsoft.com/office/drawing/2014/main" id="{9FA0C4EB-6FF0-49D6-A782-5A5CA62076D7}"/>
              </a:ext>
            </a:extLst>
          </p:cNvPr>
          <p:cNvCxnSpPr>
            <a:cxnSpLocks/>
            <a:stCxn id="109" idx="2"/>
            <a:endCxn id="100" idx="4"/>
          </p:cNvCxnSpPr>
          <p:nvPr/>
        </p:nvCxnSpPr>
        <p:spPr>
          <a:xfrm flipV="1">
            <a:off x="8656432" y="3931901"/>
            <a:ext cx="0" cy="658295"/>
          </a:xfrm>
          <a:prstGeom prst="line">
            <a:avLst/>
          </a:prstGeom>
          <a:ln w="19050" cap="rnd">
            <a:solidFill>
              <a:schemeClr val="tx1">
                <a:lumMod val="50000"/>
                <a:lumOff val="50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00" name="Oval 99">
            <a:extLst>
              <a:ext uri="{FF2B5EF4-FFF2-40B4-BE49-F238E27FC236}">
                <a16:creationId xmlns:a16="http://schemas.microsoft.com/office/drawing/2014/main" id="{105567F3-703B-4E9B-A7A9-59CCBF56313B}"/>
              </a:ext>
            </a:extLst>
          </p:cNvPr>
          <p:cNvSpPr/>
          <p:nvPr/>
        </p:nvSpPr>
        <p:spPr>
          <a:xfrm>
            <a:off x="8203210" y="3046566"/>
            <a:ext cx="906445" cy="885335"/>
          </a:xfrm>
          <a:prstGeom prst="ellipse">
            <a:avLst/>
          </a:prstGeom>
          <a:solidFill>
            <a:schemeClr val="bg1"/>
          </a:solidFill>
          <a:ln w="76200">
            <a:solidFill>
              <a:srgbClr val="E57E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E57E81"/>
                </a:solidFill>
                <a:latin typeface="Mark Offc For MC" panose="020B0504020101010102" pitchFamily="34" charset="0"/>
              </a:rPr>
              <a:t>07</a:t>
            </a:r>
            <a:endParaRPr lang="en-US" sz="2400" dirty="0">
              <a:solidFill>
                <a:srgbClr val="E57E81"/>
              </a:solidFill>
              <a:latin typeface="Mark Offc For MC" panose="020B0504020101010102" pitchFamily="34" charset="0"/>
            </a:endParaRPr>
          </a:p>
        </p:txBody>
      </p:sp>
      <p:sp>
        <p:nvSpPr>
          <p:cNvPr id="105" name="Freeform 125">
            <a:extLst>
              <a:ext uri="{FF2B5EF4-FFF2-40B4-BE49-F238E27FC236}">
                <a16:creationId xmlns:a16="http://schemas.microsoft.com/office/drawing/2014/main" id="{DA5F9C68-E11A-4F72-ACFB-1E37BD2A549A}"/>
              </a:ext>
            </a:extLst>
          </p:cNvPr>
          <p:cNvSpPr/>
          <p:nvPr/>
        </p:nvSpPr>
        <p:spPr>
          <a:xfrm>
            <a:off x="449919" y="1183564"/>
            <a:ext cx="1300500" cy="1270217"/>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137160" rIns="118507" bIns="118507" numCol="1" spcCol="1270" anchor="ctr" anchorCtr="0">
            <a:noAutofit/>
          </a:bodyPr>
          <a:lstStyle/>
          <a:p>
            <a:pPr algn="ctr" defTabSz="666734">
              <a:lnSpc>
                <a:spcPct val="90000"/>
              </a:lnSpc>
              <a:spcBef>
                <a:spcPct val="0"/>
              </a:spcBef>
              <a:spcAft>
                <a:spcPct val="35000"/>
              </a:spcAft>
            </a:pPr>
            <a:endParaRPr lang="en-US" sz="3600" dirty="0"/>
          </a:p>
        </p:txBody>
      </p:sp>
      <p:sp>
        <p:nvSpPr>
          <p:cNvPr id="107" name="Freeform 131">
            <a:extLst>
              <a:ext uri="{FF2B5EF4-FFF2-40B4-BE49-F238E27FC236}">
                <a16:creationId xmlns:a16="http://schemas.microsoft.com/office/drawing/2014/main" id="{4896C471-DEC6-4258-99C1-81A855746374}"/>
              </a:ext>
            </a:extLst>
          </p:cNvPr>
          <p:cNvSpPr/>
          <p:nvPr/>
        </p:nvSpPr>
        <p:spPr>
          <a:xfrm rot="158757">
            <a:off x="3458018" y="1163304"/>
            <a:ext cx="1300500" cy="1270217"/>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137160" rIns="137160" bIns="118507" numCol="1" spcCol="1270" anchor="ctr" anchorCtr="0">
            <a:noAutofit/>
          </a:bodyPr>
          <a:lstStyle/>
          <a:p>
            <a:pPr algn="ctr" defTabSz="666734">
              <a:lnSpc>
                <a:spcPct val="90000"/>
              </a:lnSpc>
              <a:spcBef>
                <a:spcPct val="0"/>
              </a:spcBef>
              <a:spcAft>
                <a:spcPct val="35000"/>
              </a:spcAft>
            </a:pPr>
            <a:endParaRPr lang="en-US" sz="3600"/>
          </a:p>
        </p:txBody>
      </p:sp>
      <p:sp>
        <p:nvSpPr>
          <p:cNvPr id="108" name="Freeform 134">
            <a:extLst>
              <a:ext uri="{FF2B5EF4-FFF2-40B4-BE49-F238E27FC236}">
                <a16:creationId xmlns:a16="http://schemas.microsoft.com/office/drawing/2014/main" id="{ACF4D1BD-6753-4CFB-A12F-C5779FDC53D6}"/>
              </a:ext>
            </a:extLst>
          </p:cNvPr>
          <p:cNvSpPr/>
          <p:nvPr/>
        </p:nvSpPr>
        <p:spPr>
          <a:xfrm>
            <a:off x="4892409" y="4577723"/>
            <a:ext cx="1300500" cy="1292080"/>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118507" rIns="118507" bIns="68580" numCol="1" spcCol="1270" anchor="ctr" anchorCtr="0">
            <a:noAutofit/>
          </a:bodyPr>
          <a:lstStyle/>
          <a:p>
            <a:pPr algn="ctr" defTabSz="666734">
              <a:lnSpc>
                <a:spcPct val="90000"/>
              </a:lnSpc>
              <a:spcBef>
                <a:spcPct val="0"/>
              </a:spcBef>
              <a:spcAft>
                <a:spcPct val="35000"/>
              </a:spcAft>
            </a:pPr>
            <a:endParaRPr lang="en-US" sz="3600" dirty="0"/>
          </a:p>
        </p:txBody>
      </p:sp>
      <p:sp>
        <p:nvSpPr>
          <p:cNvPr id="109" name="Freeform 137">
            <a:extLst>
              <a:ext uri="{FF2B5EF4-FFF2-40B4-BE49-F238E27FC236}">
                <a16:creationId xmlns:a16="http://schemas.microsoft.com/office/drawing/2014/main" id="{1D32BB67-646C-4ECF-A3CC-6460CFB26BC3}"/>
              </a:ext>
            </a:extLst>
          </p:cNvPr>
          <p:cNvSpPr/>
          <p:nvPr/>
        </p:nvSpPr>
        <p:spPr>
          <a:xfrm>
            <a:off x="8003901" y="4590195"/>
            <a:ext cx="1305063" cy="1270219"/>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rgbClr val="E57E8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118507" rIns="118507" bIns="118507" numCol="1" spcCol="1270" anchor="ctr" anchorCtr="0">
            <a:noAutofit/>
          </a:bodyPr>
          <a:lstStyle/>
          <a:p>
            <a:pPr algn="ctr" defTabSz="666734">
              <a:lnSpc>
                <a:spcPct val="90000"/>
              </a:lnSpc>
              <a:spcBef>
                <a:spcPct val="0"/>
              </a:spcBef>
              <a:spcAft>
                <a:spcPct val="35000"/>
              </a:spcAft>
            </a:pPr>
            <a:endParaRPr lang="en-US" sz="3600" dirty="0"/>
          </a:p>
        </p:txBody>
      </p:sp>
      <p:sp>
        <p:nvSpPr>
          <p:cNvPr id="110" name="Freeform 140">
            <a:extLst>
              <a:ext uri="{FF2B5EF4-FFF2-40B4-BE49-F238E27FC236}">
                <a16:creationId xmlns:a16="http://schemas.microsoft.com/office/drawing/2014/main" id="{D0CE54BB-1FA5-4BE5-9071-BF46099C37B1}"/>
              </a:ext>
            </a:extLst>
          </p:cNvPr>
          <p:cNvSpPr/>
          <p:nvPr/>
        </p:nvSpPr>
        <p:spPr>
          <a:xfrm>
            <a:off x="6406914" y="1164696"/>
            <a:ext cx="1300500" cy="1270217"/>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137160" rIns="137160" bIns="205740" numCol="1" spcCol="1270" anchor="ctr" anchorCtr="0">
            <a:noAutofit/>
          </a:bodyPr>
          <a:lstStyle/>
          <a:p>
            <a:pPr algn="ctr" defTabSz="666734">
              <a:lnSpc>
                <a:spcPct val="90000"/>
              </a:lnSpc>
              <a:spcBef>
                <a:spcPct val="0"/>
              </a:spcBef>
              <a:spcAft>
                <a:spcPct val="35000"/>
              </a:spcAft>
            </a:pPr>
            <a:endParaRPr lang="en-US" sz="4000"/>
          </a:p>
        </p:txBody>
      </p:sp>
      <p:sp>
        <p:nvSpPr>
          <p:cNvPr id="12" name="Arrow: Left-Right 11">
            <a:extLst>
              <a:ext uri="{FF2B5EF4-FFF2-40B4-BE49-F238E27FC236}">
                <a16:creationId xmlns:a16="http://schemas.microsoft.com/office/drawing/2014/main" id="{711EAA0A-D56C-4D7B-95A5-4C872B1E831F}"/>
              </a:ext>
            </a:extLst>
          </p:cNvPr>
          <p:cNvSpPr/>
          <p:nvPr/>
        </p:nvSpPr>
        <p:spPr bwMode="gray">
          <a:xfrm>
            <a:off x="555769" y="5741274"/>
            <a:ext cx="5637140" cy="600081"/>
          </a:xfrm>
          <a:prstGeom prst="lef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bg1">
                    <a:lumMod val="10000"/>
                  </a:schemeClr>
                </a:solidFill>
              </a:rPr>
              <a:t>Journey so far</a:t>
            </a:r>
          </a:p>
        </p:txBody>
      </p:sp>
      <p:sp>
        <p:nvSpPr>
          <p:cNvPr id="117" name="Arrow: Left-Right 116">
            <a:extLst>
              <a:ext uri="{FF2B5EF4-FFF2-40B4-BE49-F238E27FC236}">
                <a16:creationId xmlns:a16="http://schemas.microsoft.com/office/drawing/2014/main" id="{C29B2DC4-F1BC-4EF4-917D-7E67B4CA8CBC}"/>
              </a:ext>
            </a:extLst>
          </p:cNvPr>
          <p:cNvSpPr/>
          <p:nvPr/>
        </p:nvSpPr>
        <p:spPr bwMode="gray">
          <a:xfrm>
            <a:off x="6219315" y="5749626"/>
            <a:ext cx="1928235" cy="600081"/>
          </a:xfrm>
          <a:prstGeom prst="lef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rgbClr val="008080"/>
                </a:solidFill>
              </a:rPr>
              <a:t>Present</a:t>
            </a:r>
          </a:p>
        </p:txBody>
      </p:sp>
      <p:sp>
        <p:nvSpPr>
          <p:cNvPr id="118" name="Arrow: Left-Right 117">
            <a:extLst>
              <a:ext uri="{FF2B5EF4-FFF2-40B4-BE49-F238E27FC236}">
                <a16:creationId xmlns:a16="http://schemas.microsoft.com/office/drawing/2014/main" id="{56D7201A-13A0-48FD-B7BC-2EFFF3FFE260}"/>
              </a:ext>
            </a:extLst>
          </p:cNvPr>
          <p:cNvSpPr/>
          <p:nvPr/>
        </p:nvSpPr>
        <p:spPr bwMode="gray">
          <a:xfrm>
            <a:off x="8132097" y="5743876"/>
            <a:ext cx="3773924" cy="600081"/>
          </a:xfrm>
          <a:prstGeom prst="leftRightArrow">
            <a:avLst/>
          </a:prstGeom>
          <a:solidFill>
            <a:schemeClr val="bg2">
              <a:lumMod val="60000"/>
              <a:lumOff val="4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137160" rIns="137160" bIns="205740" numCol="1" spcCol="1270" anchor="ctr" anchorCtr="0">
            <a:noAutofit/>
          </a:bodyPr>
          <a:lstStyle/>
          <a:p>
            <a:pPr algn="ctr" defTabSz="666734">
              <a:lnSpc>
                <a:spcPct val="90000"/>
              </a:lnSpc>
              <a:spcBef>
                <a:spcPct val="0"/>
              </a:spcBef>
              <a:spcAft>
                <a:spcPct val="35000"/>
              </a:spcAft>
            </a:pPr>
            <a:r>
              <a:rPr lang="en-IN" sz="2000" dirty="0"/>
              <a:t>Next</a:t>
            </a:r>
          </a:p>
        </p:txBody>
      </p:sp>
      <p:sp>
        <p:nvSpPr>
          <p:cNvPr id="33" name="TextBox 32">
            <a:extLst>
              <a:ext uri="{FF2B5EF4-FFF2-40B4-BE49-F238E27FC236}">
                <a16:creationId xmlns:a16="http://schemas.microsoft.com/office/drawing/2014/main" id="{470F9344-F88D-C3D1-96C6-A48DE2E902D8}"/>
              </a:ext>
            </a:extLst>
          </p:cNvPr>
          <p:cNvSpPr txBox="1"/>
          <p:nvPr/>
        </p:nvSpPr>
        <p:spPr>
          <a:xfrm>
            <a:off x="5992200" y="4784490"/>
            <a:ext cx="1498220" cy="767582"/>
          </a:xfrm>
          <a:prstGeom prst="rect">
            <a:avLst/>
          </a:prstGeom>
          <a:noFill/>
        </p:spPr>
        <p:txBody>
          <a:bodyPr wrap="square" lIns="91440" tIns="0" rIns="0" bIns="0" rtlCol="0" anchor="t">
            <a:spAutoFit/>
          </a:bodyPr>
          <a:lstStyle/>
          <a:p>
            <a:pPr>
              <a:spcBef>
                <a:spcPct val="20000"/>
              </a:spcBef>
              <a:defRPr/>
            </a:pPr>
            <a:r>
              <a:rPr lang="en-US" sz="1467" dirty="0"/>
              <a:t>Funding</a:t>
            </a:r>
          </a:p>
          <a:p>
            <a:pPr>
              <a:spcBef>
                <a:spcPct val="20000"/>
              </a:spcBef>
              <a:defRPr/>
            </a:pPr>
            <a:r>
              <a:rPr lang="en-US" sz="1467" dirty="0"/>
              <a:t>Incubation</a:t>
            </a:r>
          </a:p>
          <a:p>
            <a:pPr>
              <a:spcBef>
                <a:spcPct val="20000"/>
              </a:spcBef>
              <a:defRPr/>
            </a:pPr>
            <a:r>
              <a:rPr lang="en-US" sz="1467" dirty="0" smtClean="0"/>
              <a:t>Angel investment</a:t>
            </a:r>
            <a:endParaRPr lang="en-US" sz="1467" dirty="0"/>
          </a:p>
        </p:txBody>
      </p:sp>
      <p:sp>
        <p:nvSpPr>
          <p:cNvPr id="36" name="TextBox 35">
            <a:extLst>
              <a:ext uri="{FF2B5EF4-FFF2-40B4-BE49-F238E27FC236}">
                <a16:creationId xmlns:a16="http://schemas.microsoft.com/office/drawing/2014/main" id="{AD785481-37FC-ECD6-5D6A-473AEC8A2851}"/>
              </a:ext>
            </a:extLst>
          </p:cNvPr>
          <p:cNvSpPr txBox="1"/>
          <p:nvPr/>
        </p:nvSpPr>
        <p:spPr>
          <a:xfrm>
            <a:off x="944250" y="4980271"/>
            <a:ext cx="1666247" cy="767582"/>
          </a:xfrm>
          <a:prstGeom prst="rect">
            <a:avLst/>
          </a:prstGeom>
          <a:noFill/>
        </p:spPr>
        <p:txBody>
          <a:bodyPr wrap="square" lIns="91440" tIns="0" rIns="0" bIns="0" rtlCol="0" anchor="t">
            <a:spAutoFit/>
          </a:bodyPr>
          <a:lstStyle/>
          <a:p>
            <a:pPr>
              <a:spcBef>
                <a:spcPct val="20000"/>
              </a:spcBef>
              <a:defRPr/>
            </a:pPr>
            <a:r>
              <a:rPr lang="en-US" sz="1467" dirty="0"/>
              <a:t>Make the MVP</a:t>
            </a:r>
          </a:p>
          <a:p>
            <a:pPr>
              <a:spcBef>
                <a:spcPct val="20000"/>
              </a:spcBef>
              <a:defRPr/>
            </a:pPr>
            <a:r>
              <a:rPr lang="en-US" sz="1467" dirty="0"/>
              <a:t>Build team</a:t>
            </a:r>
          </a:p>
          <a:p>
            <a:pPr>
              <a:spcBef>
                <a:spcPct val="20000"/>
              </a:spcBef>
              <a:defRPr/>
            </a:pPr>
            <a:r>
              <a:rPr lang="en-US" sz="1467" dirty="0"/>
              <a:t>Hire interns</a:t>
            </a:r>
          </a:p>
        </p:txBody>
      </p:sp>
      <p:sp>
        <p:nvSpPr>
          <p:cNvPr id="40" name="TextBox 39">
            <a:extLst>
              <a:ext uri="{FF2B5EF4-FFF2-40B4-BE49-F238E27FC236}">
                <a16:creationId xmlns:a16="http://schemas.microsoft.com/office/drawing/2014/main" id="{0FC0D246-25ED-7E4E-B241-7D436026C921}"/>
              </a:ext>
            </a:extLst>
          </p:cNvPr>
          <p:cNvSpPr txBox="1"/>
          <p:nvPr/>
        </p:nvSpPr>
        <p:spPr>
          <a:xfrm>
            <a:off x="7573233" y="1340988"/>
            <a:ext cx="1782576" cy="225767"/>
          </a:xfrm>
          <a:prstGeom prst="rect">
            <a:avLst/>
          </a:prstGeom>
          <a:noFill/>
        </p:spPr>
        <p:txBody>
          <a:bodyPr wrap="square" lIns="91440" tIns="0" rIns="0" bIns="0" rtlCol="0" anchor="t">
            <a:spAutoFit/>
          </a:bodyPr>
          <a:lstStyle/>
          <a:p>
            <a:r>
              <a:rPr lang="en-US" sz="1467" b="1" dirty="0"/>
              <a:t>Piloting</a:t>
            </a:r>
          </a:p>
        </p:txBody>
      </p:sp>
      <p:sp>
        <p:nvSpPr>
          <p:cNvPr id="41" name="TextBox 40">
            <a:extLst>
              <a:ext uri="{FF2B5EF4-FFF2-40B4-BE49-F238E27FC236}">
                <a16:creationId xmlns:a16="http://schemas.microsoft.com/office/drawing/2014/main" id="{D4218040-97A1-45B8-B724-EC45CBEB2B3D}"/>
              </a:ext>
            </a:extLst>
          </p:cNvPr>
          <p:cNvSpPr txBox="1"/>
          <p:nvPr/>
        </p:nvSpPr>
        <p:spPr>
          <a:xfrm>
            <a:off x="7506985" y="1598508"/>
            <a:ext cx="1511881" cy="1760931"/>
          </a:xfrm>
          <a:prstGeom prst="rect">
            <a:avLst/>
          </a:prstGeom>
          <a:noFill/>
        </p:spPr>
        <p:txBody>
          <a:bodyPr wrap="square" lIns="91440" tIns="0" rIns="0" bIns="0" rtlCol="0" anchor="t">
            <a:spAutoFit/>
          </a:bodyPr>
          <a:lstStyle/>
          <a:p>
            <a:pPr>
              <a:spcBef>
                <a:spcPct val="20000"/>
              </a:spcBef>
              <a:defRPr/>
            </a:pPr>
            <a:r>
              <a:rPr lang="en-US" sz="1467" dirty="0"/>
              <a:t>Seed </a:t>
            </a:r>
            <a:r>
              <a:rPr lang="en-US" sz="1467" dirty="0" smtClean="0"/>
              <a:t>marketing</a:t>
            </a:r>
          </a:p>
          <a:p>
            <a:pPr>
              <a:spcBef>
                <a:spcPct val="20000"/>
              </a:spcBef>
              <a:defRPr/>
            </a:pPr>
            <a:r>
              <a:rPr lang="en-US" sz="1467" dirty="0" smtClean="0"/>
              <a:t>Innovator type customers</a:t>
            </a:r>
          </a:p>
          <a:p>
            <a:pPr>
              <a:spcBef>
                <a:spcPct val="20000"/>
              </a:spcBef>
              <a:defRPr/>
            </a:pPr>
            <a:r>
              <a:rPr lang="en-US" sz="1467" b="1" dirty="0"/>
              <a:t>Go-to-market strategy</a:t>
            </a:r>
          </a:p>
          <a:p>
            <a:pPr>
              <a:spcBef>
                <a:spcPct val="20000"/>
              </a:spcBef>
              <a:defRPr/>
            </a:pPr>
            <a:endParaRPr lang="en-US" sz="1467" dirty="0"/>
          </a:p>
          <a:p>
            <a:pPr>
              <a:spcBef>
                <a:spcPct val="20000"/>
              </a:spcBef>
              <a:defRPr/>
            </a:pPr>
            <a:endParaRPr lang="en-US" sz="1467" dirty="0"/>
          </a:p>
        </p:txBody>
      </p:sp>
      <p:sp>
        <p:nvSpPr>
          <p:cNvPr id="64" name="TextBox 63">
            <a:extLst>
              <a:ext uri="{FF2B5EF4-FFF2-40B4-BE49-F238E27FC236}">
                <a16:creationId xmlns:a16="http://schemas.microsoft.com/office/drawing/2014/main" id="{9B8B0356-D33B-E889-DA95-76722CE168D7}"/>
              </a:ext>
            </a:extLst>
          </p:cNvPr>
          <p:cNvSpPr txBox="1"/>
          <p:nvPr/>
        </p:nvSpPr>
        <p:spPr>
          <a:xfrm>
            <a:off x="9302781" y="4411002"/>
            <a:ext cx="2144957" cy="677301"/>
          </a:xfrm>
          <a:prstGeom prst="rect">
            <a:avLst/>
          </a:prstGeom>
          <a:noFill/>
        </p:spPr>
        <p:txBody>
          <a:bodyPr wrap="square" lIns="91440" tIns="0" rIns="0" bIns="0" rtlCol="0" anchor="t">
            <a:spAutoFit/>
          </a:bodyPr>
          <a:lstStyle/>
          <a:p>
            <a:r>
              <a:rPr lang="en-US" sz="1467" b="1" dirty="0" smtClean="0"/>
              <a:t>Put in place required infrastructure for mass production</a:t>
            </a:r>
          </a:p>
        </p:txBody>
      </p:sp>
      <p:sp>
        <p:nvSpPr>
          <p:cNvPr id="65" name="TextBox 64">
            <a:extLst>
              <a:ext uri="{FF2B5EF4-FFF2-40B4-BE49-F238E27FC236}">
                <a16:creationId xmlns:a16="http://schemas.microsoft.com/office/drawing/2014/main" id="{2FA1F072-EB47-1943-C04F-ECC76A9EADC5}"/>
              </a:ext>
            </a:extLst>
          </p:cNvPr>
          <p:cNvSpPr txBox="1"/>
          <p:nvPr/>
        </p:nvSpPr>
        <p:spPr>
          <a:xfrm>
            <a:off x="9355808" y="5168281"/>
            <a:ext cx="2223481" cy="722442"/>
          </a:xfrm>
          <a:prstGeom prst="rect">
            <a:avLst/>
          </a:prstGeom>
          <a:noFill/>
        </p:spPr>
        <p:txBody>
          <a:bodyPr wrap="square" lIns="91440" tIns="0" rIns="0" bIns="0" rtlCol="0" anchor="t">
            <a:spAutoFit/>
          </a:bodyPr>
          <a:lstStyle/>
          <a:p>
            <a:pPr>
              <a:spcBef>
                <a:spcPct val="20000"/>
              </a:spcBef>
              <a:defRPr/>
            </a:pPr>
            <a:r>
              <a:rPr lang="en-US" sz="1467" dirty="0"/>
              <a:t>Strategies to acquire customer</a:t>
            </a:r>
          </a:p>
          <a:p>
            <a:pPr>
              <a:spcBef>
                <a:spcPct val="20000"/>
              </a:spcBef>
              <a:defRPr/>
            </a:pPr>
            <a:r>
              <a:rPr lang="en-US" sz="1467" dirty="0"/>
              <a:t>Plan for building brand</a:t>
            </a:r>
          </a:p>
        </p:txBody>
      </p:sp>
      <p:sp>
        <p:nvSpPr>
          <p:cNvPr id="98" name="Oval 97">
            <a:extLst>
              <a:ext uri="{FF2B5EF4-FFF2-40B4-BE49-F238E27FC236}">
                <a16:creationId xmlns:a16="http://schemas.microsoft.com/office/drawing/2014/main" id="{9A02F2E4-04AE-1AC3-5BE5-C54F53208F8E}"/>
              </a:ext>
            </a:extLst>
          </p:cNvPr>
          <p:cNvSpPr/>
          <p:nvPr/>
        </p:nvSpPr>
        <p:spPr>
          <a:xfrm>
            <a:off x="9474952" y="3061969"/>
            <a:ext cx="906445" cy="885335"/>
          </a:xfrm>
          <a:prstGeom prst="ellipse">
            <a:avLst/>
          </a:prstGeom>
          <a:solidFill>
            <a:schemeClr val="bg1"/>
          </a:solidFill>
          <a:ln w="76200">
            <a:solidFill>
              <a:srgbClr val="0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E57E81"/>
                </a:solidFill>
                <a:latin typeface="Mark Offc For MC" panose="020B0504020101010102" pitchFamily="34" charset="0"/>
              </a:rPr>
              <a:t>08</a:t>
            </a:r>
            <a:endParaRPr lang="en-US" sz="2400" dirty="0">
              <a:solidFill>
                <a:srgbClr val="E57E81"/>
              </a:solidFill>
              <a:latin typeface="Mark Offc For MC" panose="020B0504020101010102" pitchFamily="34" charset="0"/>
            </a:endParaRPr>
          </a:p>
        </p:txBody>
      </p:sp>
      <p:cxnSp>
        <p:nvCxnSpPr>
          <p:cNvPr id="111" name="Straight Connector 110">
            <a:extLst>
              <a:ext uri="{FF2B5EF4-FFF2-40B4-BE49-F238E27FC236}">
                <a16:creationId xmlns:a16="http://schemas.microsoft.com/office/drawing/2014/main" id="{3A689151-7344-B74D-7DEC-C60523E14EE9}"/>
              </a:ext>
            </a:extLst>
          </p:cNvPr>
          <p:cNvCxnSpPr>
            <a:cxnSpLocks/>
            <a:stCxn id="113" idx="6"/>
            <a:endCxn id="98" idx="0"/>
          </p:cNvCxnSpPr>
          <p:nvPr/>
        </p:nvCxnSpPr>
        <p:spPr>
          <a:xfrm>
            <a:off x="9336261" y="2314313"/>
            <a:ext cx="591914" cy="747656"/>
          </a:xfrm>
          <a:prstGeom prst="line">
            <a:avLst/>
          </a:prstGeom>
          <a:ln w="19050" cap="rnd">
            <a:solidFill>
              <a:schemeClr val="bg2">
                <a:lumMod val="60000"/>
                <a:lumOff val="40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113" name="Freeform 140">
            <a:extLst>
              <a:ext uri="{FF2B5EF4-FFF2-40B4-BE49-F238E27FC236}">
                <a16:creationId xmlns:a16="http://schemas.microsoft.com/office/drawing/2014/main" id="{A3286A7C-ACA9-AFE6-A97B-9C169659EB09}"/>
              </a:ext>
            </a:extLst>
          </p:cNvPr>
          <p:cNvSpPr/>
          <p:nvPr/>
        </p:nvSpPr>
        <p:spPr>
          <a:xfrm>
            <a:off x="8686011" y="1044096"/>
            <a:ext cx="1300500" cy="1270217"/>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bg2">
              <a:lumMod val="60000"/>
              <a:lumOff val="4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137160" rIns="137160" bIns="205740" numCol="1" spcCol="1270" anchor="ctr" anchorCtr="0">
            <a:noAutofit/>
          </a:bodyPr>
          <a:lstStyle/>
          <a:p>
            <a:pPr algn="ctr" defTabSz="666734">
              <a:lnSpc>
                <a:spcPct val="90000"/>
              </a:lnSpc>
              <a:spcBef>
                <a:spcPct val="0"/>
              </a:spcBef>
              <a:spcAft>
                <a:spcPct val="35000"/>
              </a:spcAft>
            </a:pPr>
            <a:endParaRPr lang="en-US" sz="4000"/>
          </a:p>
        </p:txBody>
      </p:sp>
      <p:sp>
        <p:nvSpPr>
          <p:cNvPr id="2" name="Arrow: Left-Right 1">
            <a:extLst>
              <a:ext uri="{FF2B5EF4-FFF2-40B4-BE49-F238E27FC236}">
                <a16:creationId xmlns:a16="http://schemas.microsoft.com/office/drawing/2014/main" id="{78D0AC5F-7DFC-4790-C305-AB4E87D76093}"/>
              </a:ext>
            </a:extLst>
          </p:cNvPr>
          <p:cNvSpPr/>
          <p:nvPr/>
        </p:nvSpPr>
        <p:spPr bwMode="gray">
          <a:xfrm>
            <a:off x="8150316" y="5741274"/>
            <a:ext cx="3773924" cy="600081"/>
          </a:xfrm>
          <a:prstGeom prst="lef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bg1">
                    <a:lumMod val="10000"/>
                  </a:schemeClr>
                </a:solidFill>
              </a:rPr>
              <a:t>Future plan</a:t>
            </a:r>
          </a:p>
        </p:txBody>
      </p:sp>
      <p:sp>
        <p:nvSpPr>
          <p:cNvPr id="4" name="Oval 3">
            <a:extLst>
              <a:ext uri="{FF2B5EF4-FFF2-40B4-BE49-F238E27FC236}">
                <a16:creationId xmlns:a16="http://schemas.microsoft.com/office/drawing/2014/main" id="{F8DB0CD2-A1BF-ACC1-233B-3D95F44749CE}"/>
              </a:ext>
            </a:extLst>
          </p:cNvPr>
          <p:cNvSpPr/>
          <p:nvPr/>
        </p:nvSpPr>
        <p:spPr>
          <a:xfrm>
            <a:off x="10945636" y="3113072"/>
            <a:ext cx="906445" cy="885335"/>
          </a:xfrm>
          <a:prstGeom prst="ellipse">
            <a:avLst/>
          </a:prstGeom>
          <a:solidFill>
            <a:srgbClr val="008080"/>
          </a:solid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accent3"/>
                </a:solidFill>
                <a:latin typeface="Mark Offc For MC" panose="020B0504020101010102" pitchFamily="34" charset="0"/>
              </a:rPr>
              <a:t>09</a:t>
            </a:r>
            <a:endParaRPr lang="en-US" sz="2400" dirty="0">
              <a:solidFill>
                <a:schemeClr val="accent3"/>
              </a:solidFill>
              <a:latin typeface="Mark Offc For MC" panose="020B0504020101010102" pitchFamily="34" charset="0"/>
            </a:endParaRPr>
          </a:p>
        </p:txBody>
      </p:sp>
      <p:pic>
        <p:nvPicPr>
          <p:cNvPr id="1026" name="Picture 2">
            <a:extLst>
              <a:ext uri="{FF2B5EF4-FFF2-40B4-BE49-F238E27FC236}">
                <a16:creationId xmlns:a16="http://schemas.microsoft.com/office/drawing/2014/main" id="{536E306B-188C-CFF9-ED4D-DE754AFA94D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4663" y="1319160"/>
            <a:ext cx="963640" cy="9636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62C9E5E-9ABA-87C1-2477-F13FF81FBE9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27130" y="4805430"/>
            <a:ext cx="852902" cy="85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48D5247-11B6-5087-0F34-FD9B17423C8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556558" y="1260181"/>
            <a:ext cx="1089499" cy="108949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2C61734-4834-2788-3A08-28F10FB5FA93}"/>
              </a:ext>
            </a:extLst>
          </p:cNvPr>
          <p:cNvPicPr>
            <a:picLocks noChangeAspect="1" noChangeArrowheads="1"/>
          </p:cNvPicPr>
          <p:nvPr/>
        </p:nvPicPr>
        <p:blipFill>
          <a:blip r:embed="rId10"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20059636">
            <a:off x="6546734" y="1272976"/>
            <a:ext cx="1017965" cy="101796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1E9C03BF-5495-8601-2FCC-BF8F092B0FFF}"/>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729904" y="1201775"/>
            <a:ext cx="987433" cy="987433"/>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38DD3396-81D6-7389-D1CE-ABABA0694222}"/>
              </a:ext>
            </a:extLst>
          </p:cNvPr>
          <p:cNvGrpSpPr/>
          <p:nvPr/>
        </p:nvGrpSpPr>
        <p:grpSpPr>
          <a:xfrm>
            <a:off x="10213115" y="1279114"/>
            <a:ext cx="1978885" cy="1437848"/>
            <a:chOff x="9813781" y="1279114"/>
            <a:chExt cx="2103717" cy="1235340"/>
          </a:xfrm>
        </p:grpSpPr>
        <p:sp>
          <p:nvSpPr>
            <p:cNvPr id="178" name="TextBox 177">
              <a:extLst>
                <a:ext uri="{FF2B5EF4-FFF2-40B4-BE49-F238E27FC236}">
                  <a16:creationId xmlns:a16="http://schemas.microsoft.com/office/drawing/2014/main" id="{0816D81E-F07A-E631-480C-004C1FF52ADA}"/>
                </a:ext>
              </a:extLst>
            </p:cNvPr>
            <p:cNvSpPr txBox="1"/>
            <p:nvPr/>
          </p:nvSpPr>
          <p:spPr bwMode="gray">
            <a:xfrm>
              <a:off x="9891354" y="1654539"/>
              <a:ext cx="2026144" cy="859915"/>
            </a:xfrm>
            <a:prstGeom prst="rect">
              <a:avLst/>
            </a:prstGeom>
            <a:noFill/>
          </p:spPr>
          <p:txBody>
            <a:bodyPr wrap="square">
              <a:spAutoFit/>
            </a:bodyPr>
            <a:lstStyle/>
            <a:p>
              <a:pPr>
                <a:spcBef>
                  <a:spcPct val="20000"/>
                </a:spcBef>
                <a:defRPr/>
              </a:pPr>
              <a:r>
                <a:rPr lang="en-US" sz="1467" dirty="0"/>
                <a:t>Strategies to grow</a:t>
              </a:r>
            </a:p>
            <a:p>
              <a:pPr>
                <a:spcBef>
                  <a:spcPct val="20000"/>
                </a:spcBef>
                <a:defRPr/>
              </a:pPr>
              <a:r>
                <a:rPr lang="en-US" sz="1467" dirty="0"/>
                <a:t>Scaling</a:t>
              </a:r>
            </a:p>
            <a:p>
              <a:pPr>
                <a:spcBef>
                  <a:spcPct val="20000"/>
                </a:spcBef>
                <a:defRPr/>
              </a:pPr>
              <a:r>
                <a:rPr lang="en-US" sz="1467" dirty="0"/>
                <a:t>Geographical expansion</a:t>
              </a:r>
            </a:p>
          </p:txBody>
        </p:sp>
        <p:sp>
          <p:nvSpPr>
            <p:cNvPr id="165" name="TextBox 164">
              <a:extLst>
                <a:ext uri="{FF2B5EF4-FFF2-40B4-BE49-F238E27FC236}">
                  <a16:creationId xmlns:a16="http://schemas.microsoft.com/office/drawing/2014/main" id="{E4B1A42B-480A-DE38-7033-AAAC2CD3EAF8}"/>
                </a:ext>
              </a:extLst>
            </p:cNvPr>
            <p:cNvSpPr txBox="1"/>
            <p:nvPr/>
          </p:nvSpPr>
          <p:spPr>
            <a:xfrm>
              <a:off x="9813781" y="1279114"/>
              <a:ext cx="1300501" cy="225767"/>
            </a:xfrm>
            <a:prstGeom prst="rect">
              <a:avLst/>
            </a:prstGeom>
            <a:noFill/>
          </p:spPr>
          <p:txBody>
            <a:bodyPr wrap="square" lIns="91440" tIns="0" rIns="0" bIns="0" rtlCol="0" anchor="t">
              <a:spAutoFit/>
            </a:bodyPr>
            <a:lstStyle/>
            <a:p>
              <a:pPr algn="r"/>
              <a:r>
                <a:rPr lang="en-US" sz="1467" b="1" dirty="0"/>
                <a:t>Growth plan</a:t>
              </a:r>
            </a:p>
          </p:txBody>
        </p:sp>
      </p:grpSp>
      <p:pic>
        <p:nvPicPr>
          <p:cNvPr id="1036" name="Picture 12">
            <a:extLst>
              <a:ext uri="{FF2B5EF4-FFF2-40B4-BE49-F238E27FC236}">
                <a16:creationId xmlns:a16="http://schemas.microsoft.com/office/drawing/2014/main" id="{81BE98BD-F674-4300-D7EB-73A789F0EBDC}"/>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189335" y="4757300"/>
            <a:ext cx="920320" cy="92032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A3978E62-BD00-2D78-3B41-74FAD208F892}"/>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145967" y="4800991"/>
            <a:ext cx="817380" cy="81738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6D0CB21B-8504-02B1-3B69-C15AD8D13FB1}"/>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936927" y="1224296"/>
            <a:ext cx="858546" cy="858546"/>
          </a:xfrm>
          <a:prstGeom prst="rect">
            <a:avLst/>
          </a:prstGeom>
          <a:noFill/>
          <a:extLst>
            <a:ext uri="{909E8E84-426E-40DD-AFC4-6F175D3DCCD1}">
              <a14:hiddenFill xmlns:a14="http://schemas.microsoft.com/office/drawing/2010/main">
                <a:solidFill>
                  <a:srgbClr val="FFFFFF"/>
                </a:solidFill>
              </a14:hiddenFill>
            </a:ext>
          </a:extLst>
        </p:spPr>
      </p:pic>
      <p:sp>
        <p:nvSpPr>
          <p:cNvPr id="15" name="Oval 14">
            <a:extLst>
              <a:ext uri="{FF2B5EF4-FFF2-40B4-BE49-F238E27FC236}">
                <a16:creationId xmlns:a16="http://schemas.microsoft.com/office/drawing/2014/main" id="{66C470C6-CD57-E087-E81A-9973DE42F61A}"/>
              </a:ext>
            </a:extLst>
          </p:cNvPr>
          <p:cNvSpPr/>
          <p:nvPr/>
        </p:nvSpPr>
        <p:spPr>
          <a:xfrm>
            <a:off x="2573080" y="3881304"/>
            <a:ext cx="101377" cy="10137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1A8358A5-FD66-6179-86B0-1B0FEA37F069}"/>
              </a:ext>
            </a:extLst>
          </p:cNvPr>
          <p:cNvSpPr/>
          <p:nvPr/>
        </p:nvSpPr>
        <p:spPr>
          <a:xfrm>
            <a:off x="1042462" y="3006209"/>
            <a:ext cx="108000" cy="108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2069C7C0-A27F-D54E-6FE5-A604E55C80D8}"/>
              </a:ext>
            </a:extLst>
          </p:cNvPr>
          <p:cNvSpPr/>
          <p:nvPr/>
        </p:nvSpPr>
        <p:spPr>
          <a:xfrm>
            <a:off x="4030317" y="2973469"/>
            <a:ext cx="101377" cy="10137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F62D21B4-F573-BD34-D83E-03A8C9D54CEC}"/>
              </a:ext>
            </a:extLst>
          </p:cNvPr>
          <p:cNvSpPr/>
          <p:nvPr/>
        </p:nvSpPr>
        <p:spPr>
          <a:xfrm>
            <a:off x="5506456" y="3869126"/>
            <a:ext cx="101377" cy="10137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99084E75-E7CD-FB3F-CE35-796FFCD4CEF6}"/>
              </a:ext>
            </a:extLst>
          </p:cNvPr>
          <p:cNvSpPr/>
          <p:nvPr/>
        </p:nvSpPr>
        <p:spPr>
          <a:xfrm>
            <a:off x="6999969" y="2993276"/>
            <a:ext cx="101377" cy="10137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8E513338-81D9-92E2-6F64-4B33B5BE0F54}"/>
              </a:ext>
            </a:extLst>
          </p:cNvPr>
          <p:cNvSpPr/>
          <p:nvPr/>
        </p:nvSpPr>
        <p:spPr>
          <a:xfrm>
            <a:off x="8617151" y="3869125"/>
            <a:ext cx="101377" cy="10137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AFFC7315-C61E-400D-36F6-7B8BA2BB4250}"/>
              </a:ext>
            </a:extLst>
          </p:cNvPr>
          <p:cNvSpPr/>
          <p:nvPr/>
        </p:nvSpPr>
        <p:spPr>
          <a:xfrm>
            <a:off x="11318580" y="3065608"/>
            <a:ext cx="101377" cy="10137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Connector 22">
            <a:extLst>
              <a:ext uri="{FF2B5EF4-FFF2-40B4-BE49-F238E27FC236}">
                <a16:creationId xmlns:a16="http://schemas.microsoft.com/office/drawing/2014/main" id="{5317C546-D3CE-C465-A7A9-E21B52F9EC68}"/>
              </a:ext>
            </a:extLst>
          </p:cNvPr>
          <p:cNvCxnSpPr>
            <a:cxnSpLocks/>
          </p:cNvCxnSpPr>
          <p:nvPr/>
        </p:nvCxnSpPr>
        <p:spPr>
          <a:xfrm flipH="1" flipV="1">
            <a:off x="11367208" y="2371009"/>
            <a:ext cx="1" cy="731633"/>
          </a:xfrm>
          <a:prstGeom prst="line">
            <a:avLst/>
          </a:prstGeom>
        </p:spPr>
        <p:style>
          <a:lnRef idx="3">
            <a:schemeClr val="accent6"/>
          </a:lnRef>
          <a:fillRef idx="0">
            <a:schemeClr val="accent6"/>
          </a:fillRef>
          <a:effectRef idx="2">
            <a:schemeClr val="accent6"/>
          </a:effectRef>
          <a:fontRef idx="minor">
            <a:schemeClr val="tx1"/>
          </a:fontRef>
        </p:style>
      </p:cxnSp>
      <p:cxnSp>
        <p:nvCxnSpPr>
          <p:cNvPr id="25" name="Straight Connector 24">
            <a:extLst>
              <a:ext uri="{FF2B5EF4-FFF2-40B4-BE49-F238E27FC236}">
                <a16:creationId xmlns:a16="http://schemas.microsoft.com/office/drawing/2014/main" id="{2996D9CF-3A40-CA89-30F9-958CEAF0E406}"/>
              </a:ext>
            </a:extLst>
          </p:cNvPr>
          <p:cNvCxnSpPr>
            <a:cxnSpLocks/>
          </p:cNvCxnSpPr>
          <p:nvPr/>
        </p:nvCxnSpPr>
        <p:spPr>
          <a:xfrm flipV="1">
            <a:off x="9919450" y="2020543"/>
            <a:ext cx="0" cy="1012277"/>
          </a:xfrm>
          <a:prstGeom prst="line">
            <a:avLst/>
          </a:prstGeom>
        </p:spPr>
        <p:style>
          <a:lnRef idx="3">
            <a:schemeClr val="accent6"/>
          </a:lnRef>
          <a:fillRef idx="0">
            <a:schemeClr val="accent6"/>
          </a:fillRef>
          <a:effectRef idx="2">
            <a:schemeClr val="accent6"/>
          </a:effectRef>
          <a:fontRef idx="minor">
            <a:schemeClr val="tx1"/>
          </a:fontRef>
        </p:style>
      </p:cxnSp>
      <p:grpSp>
        <p:nvGrpSpPr>
          <p:cNvPr id="28" name="Group 27">
            <a:extLst>
              <a:ext uri="{FF2B5EF4-FFF2-40B4-BE49-F238E27FC236}">
                <a16:creationId xmlns:a16="http://schemas.microsoft.com/office/drawing/2014/main" id="{C879CD38-4897-8654-6061-896329029D9E}"/>
              </a:ext>
            </a:extLst>
          </p:cNvPr>
          <p:cNvGrpSpPr/>
          <p:nvPr/>
        </p:nvGrpSpPr>
        <p:grpSpPr>
          <a:xfrm>
            <a:off x="8548346" y="1294551"/>
            <a:ext cx="1826914" cy="1817514"/>
            <a:chOff x="8548346" y="1294551"/>
            <a:chExt cx="1826914" cy="1817514"/>
          </a:xfrm>
        </p:grpSpPr>
        <p:sp>
          <p:nvSpPr>
            <p:cNvPr id="14" name="TextBox 13">
              <a:extLst>
                <a:ext uri="{FF2B5EF4-FFF2-40B4-BE49-F238E27FC236}">
                  <a16:creationId xmlns:a16="http://schemas.microsoft.com/office/drawing/2014/main" id="{E63DDB6D-A7DE-297D-3755-A62CFF37E6A9}"/>
                </a:ext>
              </a:extLst>
            </p:cNvPr>
            <p:cNvSpPr txBox="1"/>
            <p:nvPr/>
          </p:nvSpPr>
          <p:spPr>
            <a:xfrm>
              <a:off x="8548346" y="1294551"/>
              <a:ext cx="1716998" cy="369332"/>
            </a:xfrm>
            <a:prstGeom prst="rect">
              <a:avLst/>
            </a:prstGeom>
            <a:noFill/>
            <a:ln>
              <a:solidFill>
                <a:srgbClr val="70A8DA"/>
              </a:solidFill>
            </a:ln>
          </p:spPr>
          <p:txBody>
            <a:bodyPr wrap="square" rtlCol="0">
              <a:spAutoFit/>
            </a:bodyPr>
            <a:lstStyle/>
            <a:p>
              <a:r>
                <a:rPr lang="en-IN" dirty="0"/>
                <a:t>Early </a:t>
              </a:r>
              <a:r>
                <a:rPr lang="en-IN" dirty="0" smtClean="0"/>
                <a:t>adopter</a:t>
              </a:r>
              <a:endParaRPr lang="en-IN" dirty="0"/>
            </a:p>
          </p:txBody>
        </p:sp>
        <p:sp>
          <p:nvSpPr>
            <p:cNvPr id="27" name="TextBox 26">
              <a:extLst>
                <a:ext uri="{FF2B5EF4-FFF2-40B4-BE49-F238E27FC236}">
                  <a16:creationId xmlns:a16="http://schemas.microsoft.com/office/drawing/2014/main" id="{9F417F38-7844-1E27-23CA-FA5013159CEA}"/>
                </a:ext>
              </a:extLst>
            </p:cNvPr>
            <p:cNvSpPr txBox="1"/>
            <p:nvPr/>
          </p:nvSpPr>
          <p:spPr>
            <a:xfrm>
              <a:off x="8629620" y="2157958"/>
              <a:ext cx="1745640" cy="954107"/>
            </a:xfrm>
            <a:prstGeom prst="rect">
              <a:avLst/>
            </a:prstGeom>
            <a:noFill/>
            <a:ln>
              <a:solidFill>
                <a:srgbClr val="70A8DA"/>
              </a:solidFill>
            </a:ln>
          </p:spPr>
          <p:txBody>
            <a:bodyPr wrap="square" rtlCol="0">
              <a:spAutoFit/>
            </a:bodyPr>
            <a:lstStyle/>
            <a:p>
              <a:r>
                <a:rPr lang="en-IN" sz="1400" dirty="0"/>
                <a:t>Acquire market </a:t>
              </a:r>
              <a:r>
                <a:rPr lang="en-IN" sz="1400" dirty="0" smtClean="0"/>
                <a:t>share</a:t>
              </a:r>
            </a:p>
            <a:p>
              <a:r>
                <a:rPr lang="en-IN" sz="1400" b="1" dirty="0" smtClean="0"/>
                <a:t>Hire professional CEO for growth phase</a:t>
              </a:r>
              <a:endParaRPr lang="en-IN" sz="1400" b="1" dirty="0"/>
            </a:p>
          </p:txBody>
        </p:sp>
      </p:grpSp>
      <p:grpSp>
        <p:nvGrpSpPr>
          <p:cNvPr id="72" name="Google Shape;88;p1"/>
          <p:cNvGrpSpPr/>
          <p:nvPr/>
        </p:nvGrpSpPr>
        <p:grpSpPr>
          <a:xfrm>
            <a:off x="-1182335" y="296870"/>
            <a:ext cx="260350" cy="787400"/>
            <a:chOff x="508000" y="368300"/>
            <a:chExt cx="260350" cy="787400"/>
          </a:xfrm>
        </p:grpSpPr>
        <p:sp>
          <p:nvSpPr>
            <p:cNvPr id="74" name="Google Shape;89;p1"/>
            <p:cNvSpPr/>
            <p:nvPr/>
          </p:nvSpPr>
          <p:spPr>
            <a:xfrm>
              <a:off x="508000" y="368300"/>
              <a:ext cx="260350" cy="228600"/>
            </a:xfrm>
            <a:prstGeom prst="rect">
              <a:avLst/>
            </a:prstGeom>
            <a:solidFill>
              <a:srgbClr val="FFC5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8" name="Google Shape;90;p1"/>
            <p:cNvSpPr/>
            <p:nvPr/>
          </p:nvSpPr>
          <p:spPr>
            <a:xfrm>
              <a:off x="508000" y="647700"/>
              <a:ext cx="260350" cy="228600"/>
            </a:xfrm>
            <a:prstGeom prst="rect">
              <a:avLst/>
            </a:prstGeom>
            <a:solidFill>
              <a:srgbClr val="FFE9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0" name="Google Shape;91;p1"/>
            <p:cNvSpPr/>
            <p:nvPr/>
          </p:nvSpPr>
          <p:spPr>
            <a:xfrm>
              <a:off x="508000" y="927100"/>
              <a:ext cx="260350" cy="228600"/>
            </a:xfrm>
            <a:prstGeom prst="rect">
              <a:avLst/>
            </a:prstGeom>
            <a:solidFill>
              <a:srgbClr val="F1CE4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82" name="Google Shape;92;p1"/>
          <p:cNvGrpSpPr/>
          <p:nvPr/>
        </p:nvGrpSpPr>
        <p:grpSpPr>
          <a:xfrm>
            <a:off x="-642608" y="298348"/>
            <a:ext cx="260350" cy="844550"/>
            <a:chOff x="508000" y="2247900"/>
            <a:chExt cx="260350" cy="844550"/>
          </a:xfrm>
        </p:grpSpPr>
        <p:sp>
          <p:nvSpPr>
            <p:cNvPr id="86" name="Google Shape;93;p1"/>
            <p:cNvSpPr/>
            <p:nvPr/>
          </p:nvSpPr>
          <p:spPr>
            <a:xfrm>
              <a:off x="508000" y="2247900"/>
              <a:ext cx="260350" cy="234950"/>
            </a:xfrm>
            <a:prstGeom prst="rect">
              <a:avLst/>
            </a:prstGeom>
            <a:solidFill>
              <a:srgbClr val="1DD6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94;p1"/>
            <p:cNvSpPr/>
            <p:nvPr/>
          </p:nvSpPr>
          <p:spPr>
            <a:xfrm>
              <a:off x="508000" y="2565400"/>
              <a:ext cx="260350" cy="234950"/>
            </a:xfrm>
            <a:prstGeom prst="rect">
              <a:avLst/>
            </a:prstGeom>
            <a:solidFill>
              <a:srgbClr val="8CF7E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2" name="Google Shape;95;p1"/>
            <p:cNvSpPr/>
            <p:nvPr/>
          </p:nvSpPr>
          <p:spPr>
            <a:xfrm>
              <a:off x="508000" y="2857500"/>
              <a:ext cx="260350" cy="234950"/>
            </a:xfrm>
            <a:prstGeom prst="rect">
              <a:avLst/>
            </a:prstGeom>
            <a:solidFill>
              <a:srgbClr val="3BB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93" name="Google Shape;96;p1"/>
          <p:cNvGrpSpPr/>
          <p:nvPr/>
        </p:nvGrpSpPr>
        <p:grpSpPr>
          <a:xfrm>
            <a:off x="-1182335" y="1420480"/>
            <a:ext cx="260350" cy="844550"/>
            <a:chOff x="1548807" y="4797062"/>
            <a:chExt cx="260350" cy="844550"/>
          </a:xfrm>
        </p:grpSpPr>
        <p:sp>
          <p:nvSpPr>
            <p:cNvPr id="94" name="Google Shape;97;p1"/>
            <p:cNvSpPr/>
            <p:nvPr/>
          </p:nvSpPr>
          <p:spPr>
            <a:xfrm>
              <a:off x="1548807" y="4797062"/>
              <a:ext cx="260350" cy="234950"/>
            </a:xfrm>
            <a:prstGeom prst="rect">
              <a:avLst/>
            </a:prstGeom>
            <a:solidFill>
              <a:srgbClr val="F6596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8;p1"/>
            <p:cNvSpPr/>
            <p:nvPr/>
          </p:nvSpPr>
          <p:spPr>
            <a:xfrm>
              <a:off x="1548807" y="5114562"/>
              <a:ext cx="260350" cy="234950"/>
            </a:xfrm>
            <a:prstGeom prst="rect">
              <a:avLst/>
            </a:prstGeom>
            <a:solidFill>
              <a:srgbClr val="FFA7B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1" name="Google Shape;99;p1"/>
            <p:cNvSpPr/>
            <p:nvPr/>
          </p:nvSpPr>
          <p:spPr>
            <a:xfrm>
              <a:off x="1548807" y="5406662"/>
              <a:ext cx="260350" cy="234950"/>
            </a:xfrm>
            <a:prstGeom prst="rect">
              <a:avLst/>
            </a:prstGeom>
            <a:solidFill>
              <a:srgbClr val="BB4A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02" name="Google Shape;132;p1"/>
          <p:cNvGrpSpPr/>
          <p:nvPr/>
        </p:nvGrpSpPr>
        <p:grpSpPr>
          <a:xfrm>
            <a:off x="-640252" y="1438946"/>
            <a:ext cx="260350" cy="844550"/>
            <a:chOff x="1834524" y="4244125"/>
            <a:chExt cx="260350" cy="844550"/>
          </a:xfrm>
        </p:grpSpPr>
        <p:sp>
          <p:nvSpPr>
            <p:cNvPr id="103" name="Google Shape;133;p1"/>
            <p:cNvSpPr/>
            <p:nvPr/>
          </p:nvSpPr>
          <p:spPr>
            <a:xfrm>
              <a:off x="1834524" y="4244125"/>
              <a:ext cx="260350" cy="234950"/>
            </a:xfrm>
            <a:prstGeom prst="rect">
              <a:avLst/>
            </a:prstGeom>
            <a:solidFill>
              <a:srgbClr val="FD7C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34;p1"/>
            <p:cNvSpPr/>
            <p:nvPr/>
          </p:nvSpPr>
          <p:spPr>
            <a:xfrm>
              <a:off x="1834524" y="4561625"/>
              <a:ext cx="260350" cy="234950"/>
            </a:xfrm>
            <a:prstGeom prst="rect">
              <a:avLst/>
            </a:prstGeom>
            <a:solidFill>
              <a:srgbClr val="FBA9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2" name="Google Shape;135;p1"/>
            <p:cNvSpPr/>
            <p:nvPr/>
          </p:nvSpPr>
          <p:spPr>
            <a:xfrm>
              <a:off x="1834524" y="4853725"/>
              <a:ext cx="260350" cy="234950"/>
            </a:xfrm>
            <a:prstGeom prst="rect">
              <a:avLst/>
            </a:prstGeom>
            <a:solidFill>
              <a:srgbClr val="D882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14" name="Google Shape;156;p1"/>
          <p:cNvGrpSpPr/>
          <p:nvPr/>
        </p:nvGrpSpPr>
        <p:grpSpPr>
          <a:xfrm>
            <a:off x="-1177412" y="2517629"/>
            <a:ext cx="260350" cy="844550"/>
            <a:chOff x="1834524" y="4244125"/>
            <a:chExt cx="260350" cy="844550"/>
          </a:xfrm>
        </p:grpSpPr>
        <p:sp>
          <p:nvSpPr>
            <p:cNvPr id="115" name="Google Shape;157;p1"/>
            <p:cNvSpPr/>
            <p:nvPr/>
          </p:nvSpPr>
          <p:spPr>
            <a:xfrm>
              <a:off x="1834524" y="4244125"/>
              <a:ext cx="260350" cy="234950"/>
            </a:xfrm>
            <a:prstGeom prst="rect">
              <a:avLst/>
            </a:prstGeom>
            <a:solidFill>
              <a:srgbClr val="3ECE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6" name="Google Shape;158;p1"/>
            <p:cNvSpPr/>
            <p:nvPr/>
          </p:nvSpPr>
          <p:spPr>
            <a:xfrm>
              <a:off x="1834524" y="4561625"/>
              <a:ext cx="260350" cy="234950"/>
            </a:xfrm>
            <a:prstGeom prst="rect">
              <a:avLst/>
            </a:prstGeom>
            <a:solidFill>
              <a:srgbClr val="83E2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9" name="Google Shape;159;p1"/>
            <p:cNvSpPr/>
            <p:nvPr/>
          </p:nvSpPr>
          <p:spPr>
            <a:xfrm>
              <a:off x="1834524" y="4853725"/>
              <a:ext cx="260350" cy="234950"/>
            </a:xfrm>
            <a:prstGeom prst="rect">
              <a:avLst/>
            </a:prstGeom>
            <a:solidFill>
              <a:srgbClr val="42BD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20" name="Google Shape;180;p1"/>
          <p:cNvGrpSpPr/>
          <p:nvPr/>
        </p:nvGrpSpPr>
        <p:grpSpPr>
          <a:xfrm>
            <a:off x="-623483" y="2490796"/>
            <a:ext cx="260350" cy="844550"/>
            <a:chOff x="1834524" y="4244125"/>
            <a:chExt cx="260350" cy="844550"/>
          </a:xfrm>
        </p:grpSpPr>
        <p:sp>
          <p:nvSpPr>
            <p:cNvPr id="121" name="Google Shape;181;p1"/>
            <p:cNvSpPr/>
            <p:nvPr/>
          </p:nvSpPr>
          <p:spPr>
            <a:xfrm>
              <a:off x="1834524" y="4244125"/>
              <a:ext cx="260350" cy="234950"/>
            </a:xfrm>
            <a:prstGeom prst="rect">
              <a:avLst/>
            </a:prstGeom>
            <a:solidFill>
              <a:srgbClr val="A179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2" name="Google Shape;182;p1"/>
            <p:cNvSpPr/>
            <p:nvPr/>
          </p:nvSpPr>
          <p:spPr>
            <a:xfrm>
              <a:off x="1834524" y="4561625"/>
              <a:ext cx="260350" cy="234950"/>
            </a:xfrm>
            <a:prstGeom prst="rect">
              <a:avLst/>
            </a:prstGeom>
            <a:solidFill>
              <a:srgbClr val="A481D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3" name="Google Shape;183;p1"/>
            <p:cNvSpPr/>
            <p:nvPr/>
          </p:nvSpPr>
          <p:spPr>
            <a:xfrm>
              <a:off x="1834524" y="4853725"/>
              <a:ext cx="260350" cy="234950"/>
            </a:xfrm>
            <a:prstGeom prst="rect">
              <a:avLst/>
            </a:prstGeom>
            <a:solidFill>
              <a:srgbClr val="8469A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24" name="Google Shape;205;p1"/>
          <p:cNvGrpSpPr/>
          <p:nvPr/>
        </p:nvGrpSpPr>
        <p:grpSpPr>
          <a:xfrm>
            <a:off x="-1186118" y="3656537"/>
            <a:ext cx="260350" cy="844550"/>
            <a:chOff x="1834524" y="4244125"/>
            <a:chExt cx="260350" cy="844550"/>
          </a:xfrm>
        </p:grpSpPr>
        <p:sp>
          <p:nvSpPr>
            <p:cNvPr id="125" name="Google Shape;206;p1"/>
            <p:cNvSpPr/>
            <p:nvPr/>
          </p:nvSpPr>
          <p:spPr>
            <a:xfrm>
              <a:off x="1834524" y="4244125"/>
              <a:ext cx="260350" cy="234950"/>
            </a:xfrm>
            <a:prstGeom prst="rect">
              <a:avLst/>
            </a:prstGeom>
            <a:solidFill>
              <a:srgbClr val="FE9B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6" name="Google Shape;207;p1"/>
            <p:cNvSpPr/>
            <p:nvPr/>
          </p:nvSpPr>
          <p:spPr>
            <a:xfrm>
              <a:off x="1834524" y="4561625"/>
              <a:ext cx="260350" cy="234950"/>
            </a:xfrm>
            <a:prstGeom prst="rect">
              <a:avLst/>
            </a:prstGeom>
            <a:solidFill>
              <a:srgbClr val="FEB28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7" name="Google Shape;208;p1"/>
            <p:cNvSpPr/>
            <p:nvPr/>
          </p:nvSpPr>
          <p:spPr>
            <a:xfrm>
              <a:off x="1834524" y="4853725"/>
              <a:ext cx="260350" cy="234950"/>
            </a:xfrm>
            <a:prstGeom prst="rect">
              <a:avLst/>
            </a:prstGeom>
            <a:solidFill>
              <a:srgbClr val="E392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28" name="Google Shape;220;p1"/>
          <p:cNvGrpSpPr/>
          <p:nvPr/>
        </p:nvGrpSpPr>
        <p:grpSpPr>
          <a:xfrm>
            <a:off x="-631239" y="3628954"/>
            <a:ext cx="260350" cy="844550"/>
            <a:chOff x="1834524" y="4244125"/>
            <a:chExt cx="260350" cy="844550"/>
          </a:xfrm>
        </p:grpSpPr>
        <p:sp>
          <p:nvSpPr>
            <p:cNvPr id="129" name="Google Shape;221;p1"/>
            <p:cNvSpPr/>
            <p:nvPr/>
          </p:nvSpPr>
          <p:spPr>
            <a:xfrm>
              <a:off x="1834524" y="4244125"/>
              <a:ext cx="260350" cy="234950"/>
            </a:xfrm>
            <a:prstGeom prst="rect">
              <a:avLst/>
            </a:prstGeom>
            <a:solidFill>
              <a:srgbClr val="A7D5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0" name="Google Shape;222;p1"/>
            <p:cNvSpPr/>
            <p:nvPr/>
          </p:nvSpPr>
          <p:spPr>
            <a:xfrm>
              <a:off x="1834524" y="4561625"/>
              <a:ext cx="260350" cy="234950"/>
            </a:xfrm>
            <a:prstGeom prst="rect">
              <a:avLst/>
            </a:prstGeom>
            <a:solidFill>
              <a:srgbClr val="C6F7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1" name="Google Shape;223;p1"/>
            <p:cNvSpPr/>
            <p:nvPr/>
          </p:nvSpPr>
          <p:spPr>
            <a:xfrm>
              <a:off x="1834524" y="4853725"/>
              <a:ext cx="260350" cy="234950"/>
            </a:xfrm>
            <a:prstGeom prst="rect">
              <a:avLst/>
            </a:prstGeom>
            <a:solidFill>
              <a:srgbClr val="A1CC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32" name="Google Shape;313;p1"/>
          <p:cNvGrpSpPr/>
          <p:nvPr/>
        </p:nvGrpSpPr>
        <p:grpSpPr>
          <a:xfrm>
            <a:off x="-1174864" y="2536095"/>
            <a:ext cx="260350" cy="844550"/>
            <a:chOff x="1834524" y="4244125"/>
            <a:chExt cx="260350" cy="844550"/>
          </a:xfrm>
        </p:grpSpPr>
        <p:sp>
          <p:nvSpPr>
            <p:cNvPr id="133" name="Google Shape;314;p1"/>
            <p:cNvSpPr/>
            <p:nvPr/>
          </p:nvSpPr>
          <p:spPr>
            <a:xfrm>
              <a:off x="1834524" y="4244125"/>
              <a:ext cx="260350" cy="234950"/>
            </a:xfrm>
            <a:prstGeom prst="rect">
              <a:avLst/>
            </a:prstGeom>
            <a:solidFill>
              <a:srgbClr val="3ECE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4" name="Google Shape;315;p1"/>
            <p:cNvSpPr/>
            <p:nvPr/>
          </p:nvSpPr>
          <p:spPr>
            <a:xfrm>
              <a:off x="1834524" y="4561625"/>
              <a:ext cx="260350" cy="234950"/>
            </a:xfrm>
            <a:prstGeom prst="rect">
              <a:avLst/>
            </a:prstGeom>
            <a:solidFill>
              <a:srgbClr val="83E2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 name="Google Shape;316;p1"/>
            <p:cNvSpPr/>
            <p:nvPr/>
          </p:nvSpPr>
          <p:spPr>
            <a:xfrm>
              <a:off x="1834524" y="4853725"/>
              <a:ext cx="260350" cy="234950"/>
            </a:xfrm>
            <a:prstGeom prst="rect">
              <a:avLst/>
            </a:prstGeom>
            <a:solidFill>
              <a:srgbClr val="42BD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36" name="Google Shape;317;p1"/>
          <p:cNvGrpSpPr/>
          <p:nvPr/>
        </p:nvGrpSpPr>
        <p:grpSpPr>
          <a:xfrm>
            <a:off x="-620935" y="2509262"/>
            <a:ext cx="260350" cy="844550"/>
            <a:chOff x="1834524" y="4244125"/>
            <a:chExt cx="260350" cy="844550"/>
          </a:xfrm>
        </p:grpSpPr>
        <p:sp>
          <p:nvSpPr>
            <p:cNvPr id="137" name="Google Shape;318;p1"/>
            <p:cNvSpPr/>
            <p:nvPr/>
          </p:nvSpPr>
          <p:spPr>
            <a:xfrm>
              <a:off x="1834524" y="4244125"/>
              <a:ext cx="260350" cy="234950"/>
            </a:xfrm>
            <a:prstGeom prst="rect">
              <a:avLst/>
            </a:prstGeom>
            <a:solidFill>
              <a:srgbClr val="A179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319;p1"/>
            <p:cNvSpPr/>
            <p:nvPr/>
          </p:nvSpPr>
          <p:spPr>
            <a:xfrm>
              <a:off x="1834524" y="4561625"/>
              <a:ext cx="260350" cy="234950"/>
            </a:xfrm>
            <a:prstGeom prst="rect">
              <a:avLst/>
            </a:prstGeom>
            <a:solidFill>
              <a:srgbClr val="A481D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 name="Google Shape;320;p1"/>
            <p:cNvSpPr/>
            <p:nvPr/>
          </p:nvSpPr>
          <p:spPr>
            <a:xfrm>
              <a:off x="1834524" y="4853725"/>
              <a:ext cx="260350" cy="234950"/>
            </a:xfrm>
            <a:prstGeom prst="rect">
              <a:avLst/>
            </a:prstGeom>
            <a:solidFill>
              <a:srgbClr val="8469A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40" name="Google Shape;321;p1"/>
          <p:cNvGrpSpPr/>
          <p:nvPr/>
        </p:nvGrpSpPr>
        <p:grpSpPr>
          <a:xfrm>
            <a:off x="-1183570" y="3675003"/>
            <a:ext cx="260350" cy="844550"/>
            <a:chOff x="1834524" y="4244125"/>
            <a:chExt cx="260350" cy="844550"/>
          </a:xfrm>
        </p:grpSpPr>
        <p:sp>
          <p:nvSpPr>
            <p:cNvPr id="141" name="Google Shape;322;p1"/>
            <p:cNvSpPr/>
            <p:nvPr/>
          </p:nvSpPr>
          <p:spPr>
            <a:xfrm>
              <a:off x="1834524" y="4244125"/>
              <a:ext cx="260350" cy="234950"/>
            </a:xfrm>
            <a:prstGeom prst="rect">
              <a:avLst/>
            </a:prstGeom>
            <a:solidFill>
              <a:srgbClr val="FE9B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 name="Google Shape;323;p1"/>
            <p:cNvSpPr/>
            <p:nvPr/>
          </p:nvSpPr>
          <p:spPr>
            <a:xfrm>
              <a:off x="1834524" y="4561625"/>
              <a:ext cx="260350" cy="234950"/>
            </a:xfrm>
            <a:prstGeom prst="rect">
              <a:avLst/>
            </a:prstGeom>
            <a:solidFill>
              <a:srgbClr val="FEB28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 name="Google Shape;324;p1"/>
            <p:cNvSpPr/>
            <p:nvPr/>
          </p:nvSpPr>
          <p:spPr>
            <a:xfrm>
              <a:off x="1834524" y="4853725"/>
              <a:ext cx="260350" cy="234950"/>
            </a:xfrm>
            <a:prstGeom prst="rect">
              <a:avLst/>
            </a:prstGeom>
            <a:solidFill>
              <a:srgbClr val="E392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44" name="Google Shape;325;p1"/>
          <p:cNvGrpSpPr/>
          <p:nvPr/>
        </p:nvGrpSpPr>
        <p:grpSpPr>
          <a:xfrm>
            <a:off x="-628691" y="3647420"/>
            <a:ext cx="260350" cy="844550"/>
            <a:chOff x="1834524" y="4244125"/>
            <a:chExt cx="260350" cy="844550"/>
          </a:xfrm>
        </p:grpSpPr>
        <p:sp>
          <p:nvSpPr>
            <p:cNvPr id="145" name="Google Shape;326;p1"/>
            <p:cNvSpPr/>
            <p:nvPr/>
          </p:nvSpPr>
          <p:spPr>
            <a:xfrm>
              <a:off x="1834524" y="4244125"/>
              <a:ext cx="260350" cy="234950"/>
            </a:xfrm>
            <a:prstGeom prst="rect">
              <a:avLst/>
            </a:prstGeom>
            <a:solidFill>
              <a:srgbClr val="A7D5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6" name="Google Shape;327;p1"/>
            <p:cNvSpPr/>
            <p:nvPr/>
          </p:nvSpPr>
          <p:spPr>
            <a:xfrm>
              <a:off x="1834524" y="4561625"/>
              <a:ext cx="260350" cy="234950"/>
            </a:xfrm>
            <a:prstGeom prst="rect">
              <a:avLst/>
            </a:prstGeom>
            <a:solidFill>
              <a:srgbClr val="C6F7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328;p1"/>
            <p:cNvSpPr/>
            <p:nvPr/>
          </p:nvSpPr>
          <p:spPr>
            <a:xfrm>
              <a:off x="1834524" y="4853725"/>
              <a:ext cx="260350" cy="234950"/>
            </a:xfrm>
            <a:prstGeom prst="rect">
              <a:avLst/>
            </a:prstGeom>
            <a:solidFill>
              <a:srgbClr val="A1CC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extLst>
      <p:ext uri="{BB962C8B-B14F-4D97-AF65-F5344CB8AC3E}">
        <p14:creationId xmlns:p14="http://schemas.microsoft.com/office/powerpoint/2010/main" val="34009570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2139" y="2498335"/>
            <a:ext cx="7162800" cy="1143000"/>
          </a:xfrm>
        </p:spPr>
        <p:txBody>
          <a:bodyPr>
            <a:normAutofit/>
          </a:bodyPr>
          <a:lstStyle/>
          <a:p>
            <a:r>
              <a:rPr lang="en-US" dirty="0"/>
              <a:t>Jeff Bezos on information economy of decision making</a:t>
            </a:r>
            <a:endParaRPr lang="en-IN" dirty="0"/>
          </a:p>
        </p:txBody>
      </p:sp>
      <p:sp>
        <p:nvSpPr>
          <p:cNvPr id="3" name="Content Placeholder 2"/>
          <p:cNvSpPr>
            <a:spLocks noGrp="1"/>
          </p:cNvSpPr>
          <p:nvPr>
            <p:ph idx="1"/>
          </p:nvPr>
        </p:nvSpPr>
        <p:spPr>
          <a:xfrm>
            <a:off x="804672" y="3641335"/>
            <a:ext cx="10762488" cy="3031976"/>
          </a:xfrm>
        </p:spPr>
        <p:txBody>
          <a:bodyPr/>
          <a:lstStyle/>
          <a:p>
            <a:r>
              <a:rPr lang="en-US" dirty="0"/>
              <a:t>“Most decisions should probably be made with somewhere around 70% of the information you wish you had. If you wait for 90%, in most cases, you’re probably being slow...If you’re good at course correcting, being wrong may be less costly than you think, whereas being slow is going to be expensive for sure.”</a:t>
            </a:r>
            <a:endParaRPr lang="en-IN" dirty="0"/>
          </a:p>
        </p:txBody>
      </p:sp>
      <p:sp>
        <p:nvSpPr>
          <p:cNvPr id="4" name="Title 1"/>
          <p:cNvSpPr txBox="1">
            <a:spLocks/>
          </p:cNvSpPr>
          <p:nvPr/>
        </p:nvSpPr>
        <p:spPr bwMode="auto">
          <a:xfrm>
            <a:off x="502920" y="260648"/>
            <a:ext cx="10762488" cy="2290528"/>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a:lnSpc>
                <a:spcPct val="90000"/>
              </a:lnSpc>
              <a:buClr>
                <a:schemeClr val="dk1"/>
              </a:buClr>
              <a:buSzPts val="1800"/>
              <a:buFont typeface="Calibri"/>
              <a:buNone/>
              <a:defRPr sz="3200" b="1">
                <a:solidFill>
                  <a:schemeClr val="accent5">
                    <a:lumMod val="75000"/>
                  </a:schemeClr>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sz="2800" dirty="0"/>
              <a:t>Pareto 80:20 Principle or the law of the vital few</a:t>
            </a:r>
          </a:p>
          <a:p>
            <a:r>
              <a:rPr lang="en-US" sz="2800" dirty="0"/>
              <a:t>In product development, marketing, manufacturing, and several other events, roughly 80% of the effects come from 20% of the causes. </a:t>
            </a:r>
          </a:p>
          <a:p>
            <a:r>
              <a:rPr lang="en-US" sz="2800" dirty="0"/>
              <a:t>In marketing, 80% of your sales comes from 20% of your customers.</a:t>
            </a:r>
            <a:endParaRPr lang="en-IN" sz="2800" dirty="0"/>
          </a:p>
        </p:txBody>
      </p:sp>
    </p:spTree>
    <p:extLst>
      <p:ext uri="{BB962C8B-B14F-4D97-AF65-F5344CB8AC3E}">
        <p14:creationId xmlns:p14="http://schemas.microsoft.com/office/powerpoint/2010/main" val="247095467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951187" y="1690688"/>
            <a:ext cx="10515600" cy="4351338"/>
          </a:xfrm>
        </p:spPr>
        <p:txBody>
          <a:bodyPr/>
          <a:lstStyle/>
          <a:p>
            <a:r>
              <a:rPr lang="en-US" b="1" dirty="0"/>
              <a:t>Try generating 70% of the information and make fast decision on market and move forward. </a:t>
            </a:r>
          </a:p>
          <a:p>
            <a:r>
              <a:rPr lang="en-US" b="1" dirty="0"/>
              <a:t>More information may take huge incremental time and may be overly costly, whereas may not meaningfully add to accuracy.</a:t>
            </a:r>
          </a:p>
          <a:p>
            <a:r>
              <a:rPr lang="en-US" b="1" dirty="0"/>
              <a:t>The new reality: </a:t>
            </a:r>
            <a:r>
              <a:rPr lang="en-US" b="1" u="sng" dirty="0">
                <a:solidFill>
                  <a:srgbClr val="002060"/>
                </a:solidFill>
              </a:rPr>
              <a:t>fast and steady wins the race</a:t>
            </a:r>
            <a:r>
              <a:rPr lang="en-US" b="1" dirty="0"/>
              <a:t>.</a:t>
            </a:r>
          </a:p>
          <a:p>
            <a:r>
              <a:rPr lang="en-US" b="1" dirty="0"/>
              <a:t>We must be able to do increasingly more with increasingly less. </a:t>
            </a:r>
            <a:endParaRPr lang="en-IN" b="1" dirty="0"/>
          </a:p>
        </p:txBody>
      </p:sp>
    </p:spTree>
    <p:extLst>
      <p:ext uri="{BB962C8B-B14F-4D97-AF65-F5344CB8AC3E}">
        <p14:creationId xmlns:p14="http://schemas.microsoft.com/office/powerpoint/2010/main" val="109805294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Persistence and hard work with a never-say-die attitude is essential to achieve success.</a:t>
            </a:r>
            <a:endParaRPr lang="en-IN" dirty="0"/>
          </a:p>
        </p:txBody>
      </p:sp>
      <p:sp>
        <p:nvSpPr>
          <p:cNvPr id="3" name="Content Placeholder 2"/>
          <p:cNvSpPr>
            <a:spLocks noGrp="1"/>
          </p:cNvSpPr>
          <p:nvPr>
            <p:ph idx="1"/>
          </p:nvPr>
        </p:nvSpPr>
        <p:spPr>
          <a:xfrm>
            <a:off x="448732" y="1594412"/>
            <a:ext cx="11362268" cy="3528410"/>
          </a:xfrm>
        </p:spPr>
        <p:txBody>
          <a:bodyPr>
            <a:normAutofit fontScale="92500" lnSpcReduction="10000"/>
          </a:bodyPr>
          <a:lstStyle/>
          <a:p>
            <a:pPr marL="0" indent="0">
              <a:buNone/>
            </a:pPr>
            <a:r>
              <a:rPr lang="en-US" dirty="0"/>
              <a:t>Elon Musk makes the point from his own experience </a:t>
            </a:r>
          </a:p>
          <a:p>
            <a:pPr marL="0" indent="0" algn="just">
              <a:buNone/>
            </a:pPr>
            <a:r>
              <a:rPr lang="en-US" dirty="0"/>
              <a:t>“Even if your product is failing, you should stick with it if </a:t>
            </a:r>
            <a:r>
              <a:rPr lang="en-US" u="sng" dirty="0">
                <a:solidFill>
                  <a:srgbClr val="008080"/>
                </a:solidFill>
              </a:rPr>
              <a:t>you believe [?] </a:t>
            </a:r>
            <a:r>
              <a:rPr lang="en-US" dirty="0"/>
              <a:t>that your idea has what it takes to be successful.” </a:t>
            </a:r>
          </a:p>
          <a:p>
            <a:pPr marL="0" indent="0" algn="just">
              <a:buNone/>
            </a:pPr>
            <a:r>
              <a:rPr lang="en-US" dirty="0"/>
              <a:t>He provides a supplementary anecdote, stating that </a:t>
            </a:r>
            <a:r>
              <a:rPr lang="en-US" u="sng" dirty="0">
                <a:solidFill>
                  <a:srgbClr val="008080"/>
                </a:solidFill>
              </a:rPr>
              <a:t>“Tesla almost failed”. </a:t>
            </a:r>
            <a:r>
              <a:rPr lang="en-US" dirty="0"/>
              <a:t>However, Elon Musk stuck with Tesla, and on the day, Tesla was due to file </a:t>
            </a:r>
            <a:r>
              <a:rPr lang="en-US" dirty="0">
                <a:solidFill>
                  <a:srgbClr val="C00000"/>
                </a:solidFill>
              </a:rPr>
              <a:t>bankruptcy</a:t>
            </a:r>
            <a:r>
              <a:rPr lang="en-US" dirty="0"/>
              <a:t>, Elon Musk </a:t>
            </a:r>
            <a:r>
              <a:rPr lang="en-US" dirty="0">
                <a:solidFill>
                  <a:srgbClr val="008080"/>
                </a:solidFill>
              </a:rPr>
              <a:t>miraculously</a:t>
            </a:r>
            <a:r>
              <a:rPr lang="en-US" dirty="0"/>
              <a:t> got enough investments to pay off his debts. Today, the market value of Tesla is &gt; $826 B in 2023 (crossed 1</a:t>
            </a:r>
          </a:p>
          <a:p>
            <a:pPr marL="0" indent="0" algn="just">
              <a:buNone/>
            </a:pPr>
            <a:r>
              <a:rPr lang="en-US" dirty="0"/>
              <a:t>2 trillion in 2021).</a:t>
            </a:r>
          </a:p>
          <a:p>
            <a:pPr marL="0" indent="0">
              <a:buNone/>
            </a:pPr>
            <a:r>
              <a:rPr lang="en-US" u="sng" dirty="0">
                <a:solidFill>
                  <a:schemeClr val="accent5">
                    <a:lumMod val="75000"/>
                  </a:schemeClr>
                </a:solidFill>
              </a:rPr>
              <a:t>But be realistic – make sure you are not beating a dead horse.</a:t>
            </a:r>
            <a:endParaRPr lang="en-IN" u="sng" dirty="0">
              <a:solidFill>
                <a:schemeClr val="accent5">
                  <a:lumMod val="75000"/>
                </a:schemeClr>
              </a:solidFill>
            </a:endParaRPr>
          </a:p>
        </p:txBody>
      </p:sp>
      <p:sp>
        <p:nvSpPr>
          <p:cNvPr id="4" name="Slide Number Placeholder 3"/>
          <p:cNvSpPr>
            <a:spLocks noGrp="1"/>
          </p:cNvSpPr>
          <p:nvPr>
            <p:ph type="sldNum" sz="quarter" idx="12"/>
          </p:nvPr>
        </p:nvSpPr>
        <p:spPr/>
        <p:txBody>
          <a:bodyPr/>
          <a:lstStyle/>
          <a:p>
            <a:fld id="{8FD1DB16-3243-4916-96AE-0416B7586CF1}" type="slidenum">
              <a:rPr lang="en-IN" smtClean="0"/>
              <a:t>14</a:t>
            </a:fld>
            <a:endParaRPr lang="en-IN" dirty="0"/>
          </a:p>
        </p:txBody>
      </p:sp>
      <p:sp>
        <p:nvSpPr>
          <p:cNvPr id="5" name="Rectangle 4"/>
          <p:cNvSpPr/>
          <p:nvPr/>
        </p:nvSpPr>
        <p:spPr>
          <a:xfrm>
            <a:off x="448732" y="5575842"/>
            <a:ext cx="11362267" cy="369332"/>
          </a:xfrm>
          <a:prstGeom prst="rect">
            <a:avLst/>
          </a:prstGeom>
          <a:solidFill>
            <a:schemeClr val="accent1">
              <a:lumMod val="40000"/>
              <a:lumOff val="60000"/>
            </a:schemeClr>
          </a:solidFill>
        </p:spPr>
        <p:txBody>
          <a:bodyPr wrap="square">
            <a:spAutoFit/>
          </a:bodyPr>
          <a:lstStyle/>
          <a:p>
            <a:r>
              <a:rPr lang="en-US" dirty="0">
                <a:solidFill>
                  <a:srgbClr val="000000"/>
                </a:solidFill>
                <a:latin typeface="Roboto"/>
              </a:rPr>
              <a:t>“If my mind can conceive it and my heart can believe it, then I can achieve it.” – </a:t>
            </a:r>
            <a:r>
              <a:rPr lang="en-US" b="1" dirty="0">
                <a:solidFill>
                  <a:srgbClr val="000000"/>
                </a:solidFill>
                <a:latin typeface="Roboto"/>
                <a:hlinkClick r:id="rId3" tooltip="Muhammad Ali Motivational Quotes"/>
              </a:rPr>
              <a:t>Muhammad Ali</a:t>
            </a:r>
            <a:endParaRPr lang="en-IN" dirty="0"/>
          </a:p>
        </p:txBody>
      </p:sp>
      <p:sp>
        <p:nvSpPr>
          <p:cNvPr id="6" name="Rectangle 5"/>
          <p:cNvSpPr/>
          <p:nvPr/>
        </p:nvSpPr>
        <p:spPr>
          <a:xfrm>
            <a:off x="448733" y="5987018"/>
            <a:ext cx="11362266" cy="369332"/>
          </a:xfrm>
          <a:prstGeom prst="rect">
            <a:avLst/>
          </a:prstGeom>
          <a:solidFill>
            <a:schemeClr val="accent1">
              <a:lumMod val="60000"/>
              <a:lumOff val="40000"/>
            </a:schemeClr>
          </a:solidFill>
        </p:spPr>
        <p:txBody>
          <a:bodyPr wrap="square">
            <a:spAutoFit/>
          </a:bodyPr>
          <a:lstStyle/>
          <a:p>
            <a:r>
              <a:rPr lang="en-US" dirty="0">
                <a:solidFill>
                  <a:srgbClr val="000000"/>
                </a:solidFill>
                <a:latin typeface="Roboto"/>
              </a:rPr>
              <a:t>“The successful warrior is the average man, with laser-like focus.” – </a:t>
            </a:r>
            <a:r>
              <a:rPr lang="en-US" b="1" dirty="0">
                <a:solidFill>
                  <a:srgbClr val="000000"/>
                </a:solidFill>
                <a:latin typeface="Roboto"/>
              </a:rPr>
              <a:t>Bruce Lee</a:t>
            </a:r>
            <a:endParaRPr lang="en-IN" dirty="0"/>
          </a:p>
        </p:txBody>
      </p:sp>
      <p:sp>
        <p:nvSpPr>
          <p:cNvPr id="7" name="Rectangle 6"/>
          <p:cNvSpPr/>
          <p:nvPr/>
        </p:nvSpPr>
        <p:spPr>
          <a:xfrm>
            <a:off x="448732" y="5164666"/>
            <a:ext cx="11362268" cy="369332"/>
          </a:xfrm>
          <a:prstGeom prst="rect">
            <a:avLst/>
          </a:prstGeom>
          <a:solidFill>
            <a:schemeClr val="accent1">
              <a:lumMod val="20000"/>
              <a:lumOff val="80000"/>
            </a:schemeClr>
          </a:solidFill>
        </p:spPr>
        <p:txBody>
          <a:bodyPr wrap="square">
            <a:spAutoFit/>
          </a:bodyPr>
          <a:lstStyle/>
          <a:p>
            <a:r>
              <a:rPr lang="en-US" dirty="0">
                <a:solidFill>
                  <a:srgbClr val="000000"/>
                </a:solidFill>
                <a:latin typeface="Roboto"/>
              </a:rPr>
              <a:t>“Only those who dare to fail greatly can ever achieve greatly.” – </a:t>
            </a:r>
            <a:r>
              <a:rPr lang="en-US" b="1" dirty="0">
                <a:solidFill>
                  <a:srgbClr val="000000"/>
                </a:solidFill>
                <a:latin typeface="Roboto"/>
              </a:rPr>
              <a:t>Robert Kennedy</a:t>
            </a:r>
            <a:endParaRPr lang="en-IN" dirty="0"/>
          </a:p>
        </p:txBody>
      </p:sp>
    </p:spTree>
    <p:extLst>
      <p:ext uri="{BB962C8B-B14F-4D97-AF65-F5344CB8AC3E}">
        <p14:creationId xmlns:p14="http://schemas.microsoft.com/office/powerpoint/2010/main" val="3837011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565900"/>
            <a:ext cx="2743200" cy="365125"/>
          </a:xfrm>
        </p:spPr>
        <p:txBody>
          <a:bodyPr/>
          <a:lstStyle/>
          <a:p>
            <a:fld id="{8FD1DB16-3243-4916-96AE-0416B7586CF1}" type="slidenum">
              <a:rPr lang="en-IN" smtClean="0"/>
              <a:t>15</a:t>
            </a:fld>
            <a:endParaRPr lang="en-IN"/>
          </a:p>
        </p:txBody>
      </p:sp>
      <p:pic>
        <p:nvPicPr>
          <p:cNvPr id="5122" name="Picture 2" descr="A candid Kavin Mittal admits his mistakes as he reinvents Hike and plans fresh fundraising this year"/>
          <p:cNvPicPr>
            <a:picLocks noChangeAspect="1" noChangeArrowheads="1"/>
          </p:cNvPicPr>
          <p:nvPr/>
        </p:nvPicPr>
        <p:blipFill rotWithShape="1">
          <a:blip r:embed="rId2">
            <a:extLst>
              <a:ext uri="{28A0092B-C50C-407E-A947-70E740481C1C}">
                <a14:useLocalDpi xmlns:a14="http://schemas.microsoft.com/office/drawing/2010/main" val="0"/>
              </a:ext>
            </a:extLst>
          </a:blip>
          <a:srcRect l="-1" r="40499"/>
          <a:stretch/>
        </p:blipFill>
        <p:spPr bwMode="auto">
          <a:xfrm>
            <a:off x="2834466" y="374651"/>
            <a:ext cx="5795184" cy="466435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705100" y="5239027"/>
            <a:ext cx="8172635" cy="1077218"/>
          </a:xfrm>
          <a:prstGeom prst="rect">
            <a:avLst/>
          </a:prstGeom>
          <a:noFill/>
        </p:spPr>
        <p:txBody>
          <a:bodyPr wrap="square" rtlCol="0">
            <a:spAutoFit/>
          </a:bodyPr>
          <a:lstStyle/>
          <a:p>
            <a:r>
              <a:rPr lang="en-US" sz="4000" b="1" dirty="0">
                <a:solidFill>
                  <a:srgbClr val="820000"/>
                </a:solidFill>
              </a:rPr>
              <a:t>Investment received: $ 261 million +</a:t>
            </a:r>
          </a:p>
          <a:p>
            <a:r>
              <a:rPr lang="en-IN" sz="2400" b="1" dirty="0" err="1">
                <a:solidFill>
                  <a:srgbClr val="7030A0"/>
                </a:solidFill>
              </a:rPr>
              <a:t>Tencent</a:t>
            </a:r>
            <a:r>
              <a:rPr lang="en-IN" sz="2400" b="1" dirty="0">
                <a:solidFill>
                  <a:srgbClr val="7030A0"/>
                </a:solidFill>
              </a:rPr>
              <a:t>, Tiger Global and Bharti </a:t>
            </a:r>
            <a:r>
              <a:rPr lang="en-IN" sz="2400" b="1" dirty="0" err="1">
                <a:solidFill>
                  <a:srgbClr val="7030A0"/>
                </a:solidFill>
              </a:rPr>
              <a:t>SoftBank</a:t>
            </a:r>
            <a:r>
              <a:rPr lang="en-IN" dirty="0"/>
              <a:t> </a:t>
            </a:r>
            <a:endParaRPr lang="en-IN" sz="4000" b="1" dirty="0">
              <a:solidFill>
                <a:srgbClr val="820000"/>
              </a:solidFill>
            </a:endParaRPr>
          </a:p>
        </p:txBody>
      </p:sp>
      <p:sp>
        <p:nvSpPr>
          <p:cNvPr id="7" name="Rectangle 6">
            <a:extLst>
              <a:ext uri="{FF2B5EF4-FFF2-40B4-BE49-F238E27FC236}">
                <a16:creationId xmlns:a16="http://schemas.microsoft.com/office/drawing/2014/main" id="{A3EEB0F7-AFAD-4981-9255-9BFB9172BB16}"/>
              </a:ext>
            </a:extLst>
          </p:cNvPr>
          <p:cNvSpPr/>
          <p:nvPr/>
        </p:nvSpPr>
        <p:spPr>
          <a:xfrm>
            <a:off x="3705225" y="2867025"/>
            <a:ext cx="790575" cy="1343025"/>
          </a:xfrm>
          <a:prstGeom prst="rect">
            <a:avLst/>
          </a:prstGeom>
          <a:solidFill>
            <a:srgbClr val="FF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4FC9F23-18BA-492D-96E8-633B0BF538D7}"/>
              </a:ext>
            </a:extLst>
          </p:cNvPr>
          <p:cNvSpPr/>
          <p:nvPr/>
        </p:nvSpPr>
        <p:spPr>
          <a:xfrm>
            <a:off x="4770986" y="2981326"/>
            <a:ext cx="790575" cy="1421300"/>
          </a:xfrm>
          <a:prstGeom prst="rect">
            <a:avLst/>
          </a:prstGeom>
          <a:solidFill>
            <a:srgbClr val="FF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CF420C1-4FB1-4D55-9B85-E804A6C7A73E}"/>
              </a:ext>
            </a:extLst>
          </p:cNvPr>
          <p:cNvSpPr/>
          <p:nvPr/>
        </p:nvSpPr>
        <p:spPr>
          <a:xfrm>
            <a:off x="5836747" y="1428750"/>
            <a:ext cx="790575" cy="2752725"/>
          </a:xfrm>
          <a:prstGeom prst="rect">
            <a:avLst/>
          </a:prstGeom>
          <a:solidFill>
            <a:srgbClr val="FF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20924B15-728C-4B62-A9A8-0369FC07E38B}"/>
              </a:ext>
            </a:extLst>
          </p:cNvPr>
          <p:cNvSpPr/>
          <p:nvPr/>
        </p:nvSpPr>
        <p:spPr>
          <a:xfrm>
            <a:off x="6913687" y="2867025"/>
            <a:ext cx="790575" cy="1421300"/>
          </a:xfrm>
          <a:prstGeom prst="rect">
            <a:avLst/>
          </a:prstGeom>
          <a:solidFill>
            <a:srgbClr val="FF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Callout: Bent Line 13">
            <a:extLst>
              <a:ext uri="{FF2B5EF4-FFF2-40B4-BE49-F238E27FC236}">
                <a16:creationId xmlns:a16="http://schemas.microsoft.com/office/drawing/2014/main" id="{AD277CEF-7FE1-4162-9BAD-1DB8C7457448}"/>
              </a:ext>
            </a:extLst>
          </p:cNvPr>
          <p:cNvSpPr/>
          <p:nvPr/>
        </p:nvSpPr>
        <p:spPr>
          <a:xfrm>
            <a:off x="8043648" y="3904151"/>
            <a:ext cx="1786151" cy="715474"/>
          </a:xfrm>
          <a:prstGeom prst="borderCallout2">
            <a:avLst>
              <a:gd name="adj1" fmla="val 48038"/>
              <a:gd name="adj2" fmla="val -3000"/>
              <a:gd name="adj3" fmla="val 52032"/>
              <a:gd name="adj4" fmla="val -10801"/>
              <a:gd name="adj5" fmla="val 71230"/>
              <a:gd name="adj6" fmla="val -20537"/>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Revenue</a:t>
            </a:r>
            <a:endParaRPr lang="en-IN" sz="2800" dirty="0"/>
          </a:p>
        </p:txBody>
      </p:sp>
      <p:sp>
        <p:nvSpPr>
          <p:cNvPr id="13" name="Rectangle 12">
            <a:extLst>
              <a:ext uri="{FF2B5EF4-FFF2-40B4-BE49-F238E27FC236}">
                <a16:creationId xmlns:a16="http://schemas.microsoft.com/office/drawing/2014/main" id="{7FECF348-F311-47E1-8281-84668549BDE5}"/>
              </a:ext>
            </a:extLst>
          </p:cNvPr>
          <p:cNvSpPr/>
          <p:nvPr/>
        </p:nvSpPr>
        <p:spPr>
          <a:xfrm>
            <a:off x="8043648" y="828675"/>
            <a:ext cx="586002" cy="30723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Callout: Bent Line 8">
            <a:extLst>
              <a:ext uri="{FF2B5EF4-FFF2-40B4-BE49-F238E27FC236}">
                <a16:creationId xmlns:a16="http://schemas.microsoft.com/office/drawing/2014/main" id="{457971DA-225B-47DE-9D9B-359E43919FAE}"/>
              </a:ext>
            </a:extLst>
          </p:cNvPr>
          <p:cNvSpPr/>
          <p:nvPr/>
        </p:nvSpPr>
        <p:spPr>
          <a:xfrm>
            <a:off x="8041374" y="2616200"/>
            <a:ext cx="895349" cy="501650"/>
          </a:xfrm>
          <a:prstGeom prst="borderCallout2">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Loss</a:t>
            </a:r>
            <a:endParaRPr lang="en-IN" sz="2800" dirty="0"/>
          </a:p>
        </p:txBody>
      </p:sp>
      <p:sp>
        <p:nvSpPr>
          <p:cNvPr id="2" name="TextBox 1">
            <a:extLst>
              <a:ext uri="{FF2B5EF4-FFF2-40B4-BE49-F238E27FC236}">
                <a16:creationId xmlns:a16="http://schemas.microsoft.com/office/drawing/2014/main" id="{EE0F8264-C16F-FB31-6BC5-79CC3C46E026}"/>
              </a:ext>
            </a:extLst>
          </p:cNvPr>
          <p:cNvSpPr txBox="1"/>
          <p:nvPr/>
        </p:nvSpPr>
        <p:spPr>
          <a:xfrm>
            <a:off x="922960" y="1807669"/>
            <a:ext cx="10618148" cy="584775"/>
          </a:xfrm>
          <a:prstGeom prst="rect">
            <a:avLst/>
          </a:prstGeom>
          <a:solidFill>
            <a:srgbClr val="A88000">
              <a:alpha val="30000"/>
            </a:srgbClr>
          </a:solidFill>
        </p:spPr>
        <p:txBody>
          <a:bodyPr wrap="square" rtlCol="0">
            <a:spAutoFit/>
          </a:bodyPr>
          <a:lstStyle/>
          <a:p>
            <a:r>
              <a:rPr lang="en-US" sz="3200" dirty="0"/>
              <a:t>Hike – the 10</a:t>
            </a:r>
            <a:r>
              <a:rPr lang="en-US" sz="3200" baseline="30000" dirty="0"/>
              <a:t>th</a:t>
            </a:r>
            <a:r>
              <a:rPr lang="en-US" sz="3200" dirty="0"/>
              <a:t> unicorn of India with $1.4 billion valuation</a:t>
            </a:r>
            <a:endParaRPr lang="en-IN" sz="3200" dirty="0"/>
          </a:p>
        </p:txBody>
      </p:sp>
    </p:spTree>
    <p:extLst>
      <p:ext uri="{BB962C8B-B14F-4D97-AF65-F5344CB8AC3E}">
        <p14:creationId xmlns:p14="http://schemas.microsoft.com/office/powerpoint/2010/main" val="1677056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423"/>
            <a:ext cx="10515600" cy="1325563"/>
          </a:xfrm>
        </p:spPr>
        <p:txBody>
          <a:bodyPr/>
          <a:lstStyle/>
          <a:p>
            <a:r>
              <a:rPr lang="en-US" dirty="0"/>
              <a:t>Growth Hacking </a:t>
            </a:r>
            <a:br>
              <a:rPr lang="en-US" dirty="0"/>
            </a:br>
            <a:r>
              <a:rPr lang="en-US" dirty="0"/>
              <a:t>How much growth is too much?</a:t>
            </a:r>
            <a:endParaRPr lang="en-IN" dirty="0"/>
          </a:p>
        </p:txBody>
      </p:sp>
      <p:sp>
        <p:nvSpPr>
          <p:cNvPr id="3" name="Content Placeholder 2"/>
          <p:cNvSpPr>
            <a:spLocks noGrp="1"/>
          </p:cNvSpPr>
          <p:nvPr>
            <p:ph idx="1"/>
          </p:nvPr>
        </p:nvSpPr>
        <p:spPr>
          <a:xfrm>
            <a:off x="838200" y="1434255"/>
            <a:ext cx="10791825" cy="4922095"/>
          </a:xfrm>
        </p:spPr>
        <p:txBody>
          <a:bodyPr>
            <a:normAutofit fontScale="85000" lnSpcReduction="20000"/>
          </a:bodyPr>
          <a:lstStyle/>
          <a:p>
            <a:pPr marL="0" indent="0">
              <a:buNone/>
            </a:pPr>
            <a:r>
              <a:rPr lang="en-IN" sz="3600" dirty="0" err="1"/>
              <a:t>Kavin</a:t>
            </a:r>
            <a:r>
              <a:rPr lang="en-IN" sz="3600" dirty="0"/>
              <a:t> Mittal </a:t>
            </a:r>
          </a:p>
          <a:p>
            <a:r>
              <a:rPr lang="en-US" dirty="0"/>
              <a:t>Mittal took to Twitter to announce the shutting down of Hike Messenger.</a:t>
            </a:r>
          </a:p>
          <a:p>
            <a:r>
              <a:rPr lang="en-IN" dirty="0"/>
              <a:t>Founded in 2012</a:t>
            </a:r>
          </a:p>
          <a:p>
            <a:r>
              <a:rPr lang="en-US" dirty="0"/>
              <a:t>The startup showed promise, quickly got the attention of investors — including Chinese messaging giant WeChat’s parent — and was valued at 1 billion dollars within four years of launch.</a:t>
            </a:r>
          </a:p>
          <a:p>
            <a:r>
              <a:rPr lang="en-US" dirty="0"/>
              <a:t>Hike in late 2016 boasted having </a:t>
            </a:r>
            <a:r>
              <a:rPr lang="en-US" dirty="0">
                <a:solidFill>
                  <a:srgbClr val="0070C0"/>
                </a:solidFill>
              </a:rPr>
              <a:t>37 million monthly active users </a:t>
            </a:r>
            <a:r>
              <a:rPr lang="en-US" dirty="0"/>
              <a:t>(MAU) and </a:t>
            </a:r>
            <a:r>
              <a:rPr lang="en-US" dirty="0">
                <a:solidFill>
                  <a:srgbClr val="0070C0"/>
                </a:solidFill>
              </a:rPr>
              <a:t>18 million daily active users (DAU)</a:t>
            </a:r>
            <a:r>
              <a:rPr lang="en-US" dirty="0"/>
              <a:t>. </a:t>
            </a:r>
          </a:p>
          <a:p>
            <a:r>
              <a:rPr lang="en-US" sz="3100" dirty="0">
                <a:solidFill>
                  <a:srgbClr val="820000"/>
                </a:solidFill>
              </a:rPr>
              <a:t>Couple of bad hiring mistakes costed them dearly. </a:t>
            </a:r>
          </a:p>
          <a:p>
            <a:r>
              <a:rPr lang="en-US" b="0" dirty="0"/>
              <a:t>“We should have </a:t>
            </a:r>
            <a:r>
              <a:rPr lang="en-US" dirty="0">
                <a:solidFill>
                  <a:srgbClr val="0070C0"/>
                </a:solidFill>
              </a:rPr>
              <a:t>adapted to the market</a:t>
            </a:r>
            <a:r>
              <a:rPr lang="en-US" b="0" dirty="0"/>
              <a:t>, we couldn’t. That was the key reason. There was a period in which we went </a:t>
            </a:r>
            <a:r>
              <a:rPr lang="en-US" dirty="0">
                <a:solidFill>
                  <a:srgbClr val="820000"/>
                </a:solidFill>
              </a:rPr>
              <a:t>from 150 people to 400 very fast</a:t>
            </a:r>
            <a:r>
              <a:rPr lang="en-US" b="0" dirty="0"/>
              <a:t>,” he said.</a:t>
            </a:r>
          </a:p>
          <a:p>
            <a:r>
              <a:rPr lang="en-US" dirty="0">
                <a:solidFill>
                  <a:srgbClr val="0070C0"/>
                </a:solidFill>
              </a:rPr>
              <a:t>“We had built a phenomenal culture at Hike until 150 people. But we were going too fast and </a:t>
            </a:r>
            <a:r>
              <a:rPr lang="en-US" dirty="0">
                <a:solidFill>
                  <a:srgbClr val="820000"/>
                </a:solidFill>
              </a:rPr>
              <a:t>when you make hiring mistakes at the top, it all comes tumbling down</a:t>
            </a:r>
            <a:r>
              <a:rPr lang="en-US" dirty="0">
                <a:solidFill>
                  <a:srgbClr val="0070C0"/>
                </a:solidFill>
              </a:rPr>
              <a:t>," </a:t>
            </a:r>
            <a:r>
              <a:rPr lang="en-US" b="0" dirty="0"/>
              <a:t>he said.</a:t>
            </a:r>
            <a:endParaRPr lang="en-IN" dirty="0"/>
          </a:p>
        </p:txBody>
      </p:sp>
      <p:sp>
        <p:nvSpPr>
          <p:cNvPr id="4" name="Slide Number Placeholder 3"/>
          <p:cNvSpPr>
            <a:spLocks noGrp="1"/>
          </p:cNvSpPr>
          <p:nvPr>
            <p:ph type="sldNum" sz="quarter" idx="12"/>
          </p:nvPr>
        </p:nvSpPr>
        <p:spPr/>
        <p:txBody>
          <a:bodyPr/>
          <a:lstStyle/>
          <a:p>
            <a:fld id="{8FD1DB16-3243-4916-96AE-0416B7586CF1}" type="slidenum">
              <a:rPr lang="en-IN" smtClean="0"/>
              <a:t>16</a:t>
            </a:fld>
            <a:endParaRPr lang="en-IN" dirty="0"/>
          </a:p>
        </p:txBody>
      </p:sp>
      <p:sp>
        <p:nvSpPr>
          <p:cNvPr id="5" name="TextBox 4"/>
          <p:cNvSpPr txBox="1"/>
          <p:nvPr/>
        </p:nvSpPr>
        <p:spPr>
          <a:xfrm>
            <a:off x="100311" y="233464"/>
            <a:ext cx="923330" cy="6259411"/>
          </a:xfrm>
          <a:prstGeom prst="rect">
            <a:avLst/>
          </a:prstGeom>
          <a:noFill/>
        </p:spPr>
        <p:txBody>
          <a:bodyPr vert="vert270" wrap="square" rtlCol="0">
            <a:spAutoFit/>
          </a:bodyPr>
          <a:lstStyle/>
          <a:p>
            <a:r>
              <a:rPr lang="en-US" sz="2400" b="1" dirty="0"/>
              <a:t>Some current development and lesson to be learned</a:t>
            </a:r>
            <a:endParaRPr lang="en-IN" sz="2400" b="1" dirty="0"/>
          </a:p>
        </p:txBody>
      </p:sp>
    </p:spTree>
    <p:extLst>
      <p:ext uri="{BB962C8B-B14F-4D97-AF65-F5344CB8AC3E}">
        <p14:creationId xmlns:p14="http://schemas.microsoft.com/office/powerpoint/2010/main" val="1848090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Here is what Mittal rued:</a:t>
            </a:r>
            <a:endParaRPr lang="en-IN" dirty="0"/>
          </a:p>
        </p:txBody>
      </p:sp>
      <p:sp>
        <p:nvSpPr>
          <p:cNvPr id="3" name="Content Placeholder 2"/>
          <p:cNvSpPr>
            <a:spLocks noGrp="1"/>
          </p:cNvSpPr>
          <p:nvPr>
            <p:ph idx="1"/>
          </p:nvPr>
        </p:nvSpPr>
        <p:spPr>
          <a:xfrm>
            <a:off x="838199" y="1825625"/>
            <a:ext cx="10925175" cy="2466975"/>
          </a:xfrm>
        </p:spPr>
        <p:txBody>
          <a:bodyPr/>
          <a:lstStyle/>
          <a:p>
            <a:pPr marL="0" indent="0">
              <a:buNone/>
            </a:pPr>
            <a:r>
              <a:rPr lang="en-US" dirty="0"/>
              <a:t>“Emotionally we have moved on, it’s a part of building a new company. We have seen a lot of success, we have seen some big downfalls,” he added after quoting a popular Silicon Valley adage, ‘building a business is like waking up in the morning and </a:t>
            </a:r>
            <a:r>
              <a:rPr lang="en-US" dirty="0">
                <a:solidFill>
                  <a:srgbClr val="00B050"/>
                </a:solidFill>
              </a:rPr>
              <a:t>eating broken glass </a:t>
            </a:r>
            <a:r>
              <a:rPr lang="en-US" dirty="0"/>
              <a:t>everyday’  </a:t>
            </a:r>
            <a:r>
              <a:rPr lang="en-US" dirty="0">
                <a:latin typeface="Times New Roman" panose="02020603050405020304" pitchFamily="18" charset="0"/>
                <a:cs typeface="Times New Roman" panose="02020603050405020304" pitchFamily="18" charset="0"/>
              </a:rPr>
              <a:t>̶</a:t>
            </a:r>
            <a:r>
              <a:rPr lang="en-US" dirty="0"/>
              <a:t> </a:t>
            </a:r>
            <a:r>
              <a:rPr lang="en-US" i="1" dirty="0" err="1"/>
              <a:t>Kavin</a:t>
            </a:r>
            <a:r>
              <a:rPr lang="en-US" i="1" dirty="0"/>
              <a:t> </a:t>
            </a:r>
            <a:r>
              <a:rPr lang="en-IN" i="1" dirty="0"/>
              <a:t>Mittal </a:t>
            </a:r>
          </a:p>
        </p:txBody>
      </p:sp>
      <p:sp>
        <p:nvSpPr>
          <p:cNvPr id="4" name="Slide Number Placeholder 3"/>
          <p:cNvSpPr>
            <a:spLocks noGrp="1"/>
          </p:cNvSpPr>
          <p:nvPr>
            <p:ph type="sldNum" sz="quarter" idx="12"/>
          </p:nvPr>
        </p:nvSpPr>
        <p:spPr/>
        <p:txBody>
          <a:bodyPr/>
          <a:lstStyle/>
          <a:p>
            <a:fld id="{8FD1DB16-3243-4916-96AE-0416B7586CF1}" type="slidenum">
              <a:rPr lang="en-IN" smtClean="0"/>
              <a:t>17</a:t>
            </a:fld>
            <a:endParaRPr lang="en-IN"/>
          </a:p>
        </p:txBody>
      </p:sp>
      <p:sp>
        <p:nvSpPr>
          <p:cNvPr id="5" name="TextBox 4">
            <a:extLst>
              <a:ext uri="{FF2B5EF4-FFF2-40B4-BE49-F238E27FC236}">
                <a16:creationId xmlns:a16="http://schemas.microsoft.com/office/drawing/2014/main" id="{E80EFF3A-8ABA-F3C9-12B4-E6B70CC7D16C}"/>
              </a:ext>
            </a:extLst>
          </p:cNvPr>
          <p:cNvSpPr txBox="1"/>
          <p:nvPr/>
        </p:nvSpPr>
        <p:spPr>
          <a:xfrm>
            <a:off x="838199" y="4709639"/>
            <a:ext cx="10353167" cy="1384995"/>
          </a:xfrm>
          <a:prstGeom prst="rect">
            <a:avLst/>
          </a:prstGeom>
          <a:solidFill>
            <a:schemeClr val="accent1">
              <a:lumMod val="20000"/>
              <a:lumOff val="80000"/>
            </a:schemeClr>
          </a:solidFill>
        </p:spPr>
        <p:txBody>
          <a:bodyPr wrap="square">
            <a:spAutoFit/>
          </a:bodyPr>
          <a:lstStyle/>
          <a:p>
            <a:r>
              <a:rPr lang="en-US" sz="2800" b="1" i="0" dirty="0">
                <a:solidFill>
                  <a:srgbClr val="202122"/>
                </a:solidFill>
                <a:effectLst/>
                <a:latin typeface="Arial" panose="020B0604020202020204" pitchFamily="34" charset="0"/>
              </a:rPr>
              <a:t>After Hike's closure, Mittal pivoted the company to focus on building the Rush Gaming Universe, a mobile gaming application.</a:t>
            </a:r>
            <a:endParaRPr lang="en-IN" sz="2800" b="1" dirty="0"/>
          </a:p>
        </p:txBody>
      </p:sp>
    </p:spTree>
    <p:extLst>
      <p:ext uri="{BB962C8B-B14F-4D97-AF65-F5344CB8AC3E}">
        <p14:creationId xmlns:p14="http://schemas.microsoft.com/office/powerpoint/2010/main" val="1431657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Plan: Definition</a:t>
            </a:r>
          </a:p>
        </p:txBody>
      </p:sp>
      <p:sp>
        <p:nvSpPr>
          <p:cNvPr id="3" name="Content Placeholder 2"/>
          <p:cNvSpPr>
            <a:spLocks noGrp="1"/>
          </p:cNvSpPr>
          <p:nvPr>
            <p:ph idx="1"/>
          </p:nvPr>
        </p:nvSpPr>
        <p:spPr>
          <a:xfrm>
            <a:off x="752476" y="1450721"/>
            <a:ext cx="11287124" cy="4351338"/>
          </a:xfrm>
        </p:spPr>
        <p:txBody>
          <a:bodyPr>
            <a:normAutofit/>
          </a:bodyPr>
          <a:lstStyle/>
          <a:p>
            <a:pPr marL="0" indent="0">
              <a:buNone/>
            </a:pPr>
            <a:r>
              <a:rPr lang="en-US" sz="3200" u="dotted" dirty="0"/>
              <a:t>A Business Plan is a strategic blueprint outlining your vision for the future, systematically detailing the key components and strategies essential for achieving success.</a:t>
            </a:r>
          </a:p>
          <a:p>
            <a:pPr marL="0" indent="0">
              <a:buNone/>
            </a:pPr>
            <a:r>
              <a:rPr lang="en-IN" sz="3200" dirty="0"/>
              <a:t>In its simplest form, a business plan is a guide—a </a:t>
            </a:r>
            <a:r>
              <a:rPr lang="en-IN" sz="3200" dirty="0">
                <a:solidFill>
                  <a:schemeClr val="accent5">
                    <a:lumMod val="50000"/>
                  </a:schemeClr>
                </a:solidFill>
              </a:rPr>
              <a:t>roadmap for your business that outlines goals </a:t>
            </a:r>
            <a:r>
              <a:rPr lang="en-IN" sz="3200" dirty="0"/>
              <a:t>and how you </a:t>
            </a:r>
            <a:r>
              <a:rPr lang="en-IN" sz="3200" dirty="0">
                <a:solidFill>
                  <a:schemeClr val="accent5">
                    <a:lumMod val="50000"/>
                  </a:schemeClr>
                </a:solidFill>
              </a:rPr>
              <a:t>plan to achieve </a:t>
            </a:r>
            <a:r>
              <a:rPr lang="en-US" sz="3200" dirty="0">
                <a:solidFill>
                  <a:schemeClr val="accent5">
                    <a:lumMod val="50000"/>
                  </a:schemeClr>
                </a:solidFill>
              </a:rPr>
              <a:t>those goals</a:t>
            </a:r>
            <a:r>
              <a:rPr lang="en-US" sz="3200" dirty="0"/>
              <a:t>.</a:t>
            </a:r>
          </a:p>
          <a:p>
            <a:pPr marL="0" indent="0">
              <a:buNone/>
            </a:pPr>
            <a:r>
              <a:rPr lang="en-US" sz="3200" dirty="0"/>
              <a:t>Ideally, the plan explains why you think you will be successful, leveraging the strengths and opportunities given the challenges ahead.</a:t>
            </a:r>
          </a:p>
        </p:txBody>
      </p:sp>
    </p:spTree>
    <p:extLst>
      <p:ext uri="{BB962C8B-B14F-4D97-AF65-F5344CB8AC3E}">
        <p14:creationId xmlns:p14="http://schemas.microsoft.com/office/powerpoint/2010/main" val="3383154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700742"/>
          </a:xfrm>
        </p:spPr>
        <p:txBody>
          <a:bodyPr>
            <a:noAutofit/>
          </a:bodyPr>
          <a:lstStyle/>
          <a:p>
            <a:r>
              <a:rPr lang="en-IN" dirty="0"/>
              <a:t>As </a:t>
            </a:r>
            <a:r>
              <a:rPr lang="en-IN" dirty="0" err="1"/>
              <a:t>Dharmesh</a:t>
            </a:r>
            <a:r>
              <a:rPr lang="en-IN" dirty="0"/>
              <a:t> Shah, Co-Founder and Chief Technology Officer, </a:t>
            </a:r>
            <a:r>
              <a:rPr lang="en-IN" dirty="0" err="1"/>
              <a:t>HubSpot</a:t>
            </a:r>
            <a:r>
              <a:rPr lang="en-IN" dirty="0"/>
              <a:t> writes at </a:t>
            </a:r>
            <a:r>
              <a:rPr lang="en-IN" dirty="0" err="1"/>
              <a:t>Entrepreneurs.com</a:t>
            </a:r>
            <a:endParaRPr lang="en-US" dirty="0"/>
          </a:p>
        </p:txBody>
      </p:sp>
      <p:sp>
        <p:nvSpPr>
          <p:cNvPr id="3" name="Text Placeholder 2"/>
          <p:cNvSpPr>
            <a:spLocks noGrp="1"/>
          </p:cNvSpPr>
          <p:nvPr>
            <p:ph type="body" idx="1"/>
          </p:nvPr>
        </p:nvSpPr>
        <p:spPr>
          <a:xfrm>
            <a:off x="504788" y="1884363"/>
            <a:ext cx="10515600" cy="3930090"/>
          </a:xfrm>
        </p:spPr>
        <p:txBody>
          <a:bodyPr/>
          <a:lstStyle/>
          <a:p>
            <a:r>
              <a:rPr lang="en-IN" dirty="0"/>
              <a:t>“The problem with business plans is that things change so quickly in the startup world. Before the ink is even dry on that 100+ page business plan as it shoots out the printer, things have already changed and "the plan" is already outdated. …</a:t>
            </a:r>
          </a:p>
          <a:p>
            <a:r>
              <a:rPr lang="en-IN" dirty="0"/>
              <a:t>Very few startups I know – or companies I’ve invested in – resemble their original business plan.”</a:t>
            </a:r>
          </a:p>
          <a:p>
            <a:endParaRPr lang="en-US" dirty="0"/>
          </a:p>
          <a:p>
            <a:r>
              <a:rPr lang="en-US" dirty="0"/>
              <a:t>Things are changing too fast.</a:t>
            </a:r>
          </a:p>
        </p:txBody>
      </p:sp>
      <p:sp>
        <p:nvSpPr>
          <p:cNvPr id="7" name="TextBox 6">
            <a:extLst>
              <a:ext uri="{FF2B5EF4-FFF2-40B4-BE49-F238E27FC236}">
                <a16:creationId xmlns:a16="http://schemas.microsoft.com/office/drawing/2014/main" id="{FD025DFC-4160-F42A-9A78-132D4AF61F5A}"/>
              </a:ext>
            </a:extLst>
          </p:cNvPr>
          <p:cNvSpPr txBox="1"/>
          <p:nvPr/>
        </p:nvSpPr>
        <p:spPr>
          <a:xfrm>
            <a:off x="257175" y="5455699"/>
            <a:ext cx="11934825" cy="738664"/>
          </a:xfrm>
          <a:prstGeom prst="rect">
            <a:avLst/>
          </a:prstGeom>
          <a:noFill/>
        </p:spPr>
        <p:txBody>
          <a:bodyPr wrap="square">
            <a:spAutoFit/>
          </a:bodyPr>
          <a:lstStyle/>
          <a:p>
            <a:r>
              <a:rPr lang="en-US" b="0" i="0" dirty="0">
                <a:solidFill>
                  <a:srgbClr val="4D5156"/>
                </a:solidFill>
                <a:effectLst/>
                <a:latin typeface="arial" panose="020B0604020202020204" pitchFamily="34" charset="0"/>
              </a:rPr>
              <a:t>HubSpot is an American developer and marketer of software products for inbound marketing, sales, and customer service. HubSpot founded by Brian Halligan and Dharmesh Shah in 2006. </a:t>
            </a:r>
            <a:r>
              <a:rPr lang="en-US" sz="2400" b="1" i="0" dirty="0">
                <a:solidFill>
                  <a:srgbClr val="4D5156"/>
                </a:solidFill>
                <a:effectLst/>
                <a:latin typeface="arial" panose="020B0604020202020204" pitchFamily="34" charset="0"/>
              </a:rPr>
              <a:t>Current valuation: US$ 26 B</a:t>
            </a:r>
            <a:endParaRPr lang="en-IN" sz="2400" b="1" dirty="0"/>
          </a:p>
        </p:txBody>
      </p:sp>
    </p:spTree>
    <p:extLst>
      <p:ext uri="{BB962C8B-B14F-4D97-AF65-F5344CB8AC3E}">
        <p14:creationId xmlns:p14="http://schemas.microsoft.com/office/powerpoint/2010/main" val="3442478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629" y="454335"/>
            <a:ext cx="10515600" cy="1207197"/>
          </a:xfrm>
          <a:noFill/>
          <a:ln>
            <a:noFill/>
          </a:ln>
        </p:spPr>
        <p:style>
          <a:lnRef idx="1">
            <a:schemeClr val="accent5"/>
          </a:lnRef>
          <a:fillRef idx="2">
            <a:schemeClr val="accent5"/>
          </a:fillRef>
          <a:effectRef idx="1">
            <a:schemeClr val="accent5"/>
          </a:effectRef>
          <a:fontRef idx="minor">
            <a:schemeClr val="dk1"/>
          </a:fontRef>
        </p:style>
        <p:txBody>
          <a:bodyPr>
            <a:normAutofit/>
          </a:bodyPr>
          <a:lstStyle/>
          <a:p>
            <a:r>
              <a:rPr lang="en-IN" dirty="0"/>
              <a:t>The Purpose of Business Plan</a:t>
            </a:r>
            <a:br>
              <a:rPr lang="en-IN" dirty="0"/>
            </a:br>
            <a:r>
              <a:rPr lang="en-IN" sz="2400" dirty="0"/>
              <a:t>The flavour may vary based on context</a:t>
            </a:r>
            <a:endParaRPr lang="en-IN" dirty="0"/>
          </a:p>
        </p:txBody>
      </p:sp>
      <p:sp>
        <p:nvSpPr>
          <p:cNvPr id="3" name="Content Placeholder 2"/>
          <p:cNvSpPr>
            <a:spLocks noGrp="1"/>
          </p:cNvSpPr>
          <p:nvPr>
            <p:ph idx="1"/>
          </p:nvPr>
        </p:nvSpPr>
        <p:spPr>
          <a:xfrm>
            <a:off x="648629" y="1661532"/>
            <a:ext cx="10515600" cy="3742572"/>
          </a:xfrm>
          <a:noFill/>
          <a:ln>
            <a:noFill/>
          </a:ln>
        </p:spPr>
        <p:style>
          <a:lnRef idx="1">
            <a:schemeClr val="accent5"/>
          </a:lnRef>
          <a:fillRef idx="3">
            <a:schemeClr val="accent5"/>
          </a:fillRef>
          <a:effectRef idx="2">
            <a:schemeClr val="accent5"/>
          </a:effectRef>
          <a:fontRef idx="minor">
            <a:schemeClr val="lt1"/>
          </a:fontRef>
        </p:style>
        <p:txBody>
          <a:bodyPr>
            <a:noAutofit/>
          </a:bodyPr>
          <a:lstStyle/>
          <a:p>
            <a:pPr marL="514350" indent="-514350">
              <a:buSzPct val="100000"/>
              <a:buFont typeface="+mj-lt"/>
              <a:buAutoNum type="arabicPeriod"/>
            </a:pPr>
            <a:r>
              <a:rPr lang="en-IN" dirty="0">
                <a:solidFill>
                  <a:srgbClr val="2D3E5A"/>
                </a:solidFill>
              </a:rPr>
              <a:t>Entrepreneur’s ready reckoner – a dynamic plan that continuously evolves over time: – more strategy and milestone oriented.</a:t>
            </a:r>
          </a:p>
          <a:p>
            <a:pPr marL="514350" indent="-514350">
              <a:buSzPct val="100000"/>
              <a:buFont typeface="+mj-lt"/>
              <a:buAutoNum type="arabicPeriod"/>
            </a:pPr>
            <a:r>
              <a:rPr lang="en-IN" dirty="0">
                <a:solidFill>
                  <a:srgbClr val="2D3E5A"/>
                </a:solidFill>
              </a:rPr>
              <a:t>Fund raising – Angel and VC (equity) – focuses on success factors, risk factors &amp; how do you plan to mitigate them, traction, progress in product development and validation, financial projection, exit strategy: - more traction and futuristic.</a:t>
            </a:r>
          </a:p>
          <a:p>
            <a:pPr marL="514350" indent="-514350">
              <a:buSzPct val="100000"/>
              <a:buFont typeface="+mj-lt"/>
              <a:buAutoNum type="arabicPeriod"/>
            </a:pPr>
            <a:r>
              <a:rPr lang="en-IN" dirty="0">
                <a:solidFill>
                  <a:srgbClr val="2D3E5A"/>
                </a:solidFill>
              </a:rPr>
              <a:t> Fund raising (debt) – present and future financials.</a:t>
            </a:r>
          </a:p>
          <a:p>
            <a:pPr marL="514350" indent="-514350">
              <a:buSzPct val="100000"/>
              <a:buFont typeface="+mj-lt"/>
              <a:buAutoNum type="arabicPeriod"/>
            </a:pPr>
            <a:r>
              <a:rPr lang="en-IN" dirty="0">
                <a:solidFill>
                  <a:srgbClr val="2D3E5A"/>
                </a:solidFill>
              </a:rPr>
              <a:t>Business plan competition as in ‘2.’ above </a:t>
            </a:r>
            <a:r>
              <a:rPr lang="en-IN" dirty="0">
                <a:solidFill>
                  <a:srgbClr val="0070C0"/>
                </a:solidFill>
              </a:rPr>
              <a:t>plus social values</a:t>
            </a:r>
            <a:r>
              <a:rPr lang="en-IN" dirty="0">
                <a:solidFill>
                  <a:srgbClr val="2D3E5A"/>
                </a:solidFill>
              </a:rPr>
              <a:t>.</a:t>
            </a:r>
          </a:p>
        </p:txBody>
      </p:sp>
    </p:spTree>
    <p:extLst>
      <p:ext uri="{BB962C8B-B14F-4D97-AF65-F5344CB8AC3E}">
        <p14:creationId xmlns:p14="http://schemas.microsoft.com/office/powerpoint/2010/main" val="3913598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87400" y="1661532"/>
            <a:ext cx="10515600" cy="4351338"/>
          </a:xfrm>
        </p:spPr>
        <p:txBody>
          <a:bodyPr/>
          <a:lstStyle/>
          <a:p>
            <a:pPr marL="514350" indent="-514350">
              <a:buSzPct val="101000"/>
              <a:buFont typeface="+mj-lt"/>
              <a:buAutoNum type="arabicPeriod" startAt="5"/>
            </a:pPr>
            <a:r>
              <a:rPr lang="en-IN" dirty="0">
                <a:solidFill>
                  <a:srgbClr val="2D3E5A"/>
                </a:solidFill>
              </a:rPr>
              <a:t>Incubation – as in (2) above.</a:t>
            </a:r>
          </a:p>
          <a:p>
            <a:pPr marL="514350" indent="-514350">
              <a:buSzPct val="101000"/>
              <a:buFont typeface="+mj-lt"/>
              <a:buAutoNum type="arabicPeriod" startAt="5"/>
            </a:pPr>
            <a:r>
              <a:rPr lang="en-IN" dirty="0">
                <a:solidFill>
                  <a:srgbClr val="2D3E5A"/>
                </a:solidFill>
              </a:rPr>
              <a:t>Acceleration – as in (2) above. </a:t>
            </a:r>
          </a:p>
          <a:p>
            <a:pPr marL="514350" indent="-514350">
              <a:buSzPct val="101000"/>
              <a:buFont typeface="+mj-lt"/>
              <a:buAutoNum type="arabicPeriod" startAt="5"/>
            </a:pPr>
            <a:r>
              <a:rPr lang="en-IN" dirty="0">
                <a:solidFill>
                  <a:srgbClr val="2D3E5A"/>
                </a:solidFill>
              </a:rPr>
              <a:t>Customer connection – past and present financials.</a:t>
            </a:r>
          </a:p>
          <a:p>
            <a:pPr marL="514350" indent="-514350">
              <a:buSzPct val="101000"/>
              <a:buFont typeface="+mj-lt"/>
              <a:buAutoNum type="arabicPeriod" startAt="5"/>
            </a:pPr>
            <a:r>
              <a:rPr lang="en-IN" dirty="0">
                <a:solidFill>
                  <a:srgbClr val="2D3E5A"/>
                </a:solidFill>
              </a:rPr>
              <a:t>Mentor connection – as in (sl. no. 1).</a:t>
            </a:r>
          </a:p>
          <a:p>
            <a:pPr marL="514350" indent="-514350">
              <a:buSzPct val="101000"/>
              <a:buFont typeface="+mj-lt"/>
              <a:buAutoNum type="arabicPeriod" startAt="5"/>
            </a:pPr>
            <a:r>
              <a:rPr lang="en-IN" dirty="0">
                <a:solidFill>
                  <a:srgbClr val="2D3E5A"/>
                </a:solidFill>
              </a:rPr>
              <a:t>Potential buyer of your company or acquirer (in merger &amp; acquisition deal) – present and future financials, customer base, .</a:t>
            </a:r>
          </a:p>
          <a:p>
            <a:pPr marL="114300" indent="0">
              <a:buSzPct val="101000"/>
              <a:buNone/>
            </a:pPr>
            <a:endParaRPr lang="en-IN" dirty="0"/>
          </a:p>
        </p:txBody>
      </p:sp>
      <p:sp>
        <p:nvSpPr>
          <p:cNvPr id="4" name="Title 1"/>
          <p:cNvSpPr>
            <a:spLocks noGrp="1"/>
          </p:cNvSpPr>
          <p:nvPr>
            <p:ph type="title"/>
          </p:nvPr>
        </p:nvSpPr>
        <p:spPr>
          <a:xfrm>
            <a:off x="648629" y="454335"/>
            <a:ext cx="10515600" cy="1207197"/>
          </a:xfrm>
          <a:noFill/>
          <a:ln>
            <a:noFill/>
          </a:ln>
        </p:spPr>
        <p:style>
          <a:lnRef idx="1">
            <a:schemeClr val="accent5"/>
          </a:lnRef>
          <a:fillRef idx="2">
            <a:schemeClr val="accent5"/>
          </a:fillRef>
          <a:effectRef idx="1">
            <a:schemeClr val="accent5"/>
          </a:effectRef>
          <a:fontRef idx="minor">
            <a:schemeClr val="dk1"/>
          </a:fontRef>
        </p:style>
        <p:txBody>
          <a:bodyPr>
            <a:normAutofit/>
          </a:bodyPr>
          <a:lstStyle/>
          <a:p>
            <a:r>
              <a:rPr lang="en-IN" dirty="0"/>
              <a:t>The Purpose of Business Plan</a:t>
            </a:r>
            <a:br>
              <a:rPr lang="en-IN" dirty="0"/>
            </a:br>
            <a:r>
              <a:rPr lang="en-IN" sz="2400" dirty="0"/>
              <a:t>The flavour may vary based on context</a:t>
            </a:r>
            <a:endParaRPr lang="en-IN" dirty="0"/>
          </a:p>
        </p:txBody>
      </p:sp>
      <p:sp>
        <p:nvSpPr>
          <p:cNvPr id="2" name="TextBox 1">
            <a:extLst>
              <a:ext uri="{FF2B5EF4-FFF2-40B4-BE49-F238E27FC236}">
                <a16:creationId xmlns:a16="http://schemas.microsoft.com/office/drawing/2014/main" id="{175CBDDD-DEFB-45DF-9C88-99B6B5447246}"/>
              </a:ext>
            </a:extLst>
          </p:cNvPr>
          <p:cNvSpPr txBox="1"/>
          <p:nvPr/>
        </p:nvSpPr>
        <p:spPr>
          <a:xfrm>
            <a:off x="787400" y="5138057"/>
            <a:ext cx="10159274" cy="646331"/>
          </a:xfrm>
          <a:prstGeom prst="rect">
            <a:avLst/>
          </a:prstGeom>
          <a:noFill/>
        </p:spPr>
        <p:txBody>
          <a:bodyPr wrap="square" rtlCol="0">
            <a:spAutoFit/>
          </a:bodyPr>
          <a:lstStyle/>
          <a:p>
            <a:r>
              <a:rPr lang="en-US" dirty="0"/>
              <a:t>The myth related to business plan</a:t>
            </a:r>
          </a:p>
          <a:p>
            <a:r>
              <a:rPr lang="en-US" dirty="0"/>
              <a:t>Once you have an idea, the first thing you do is prepare the business plan</a:t>
            </a:r>
            <a:endParaRPr lang="en-IN" dirty="0"/>
          </a:p>
        </p:txBody>
      </p:sp>
    </p:spTree>
    <p:extLst>
      <p:ext uri="{BB962C8B-B14F-4D97-AF65-F5344CB8AC3E}">
        <p14:creationId xmlns:p14="http://schemas.microsoft.com/office/powerpoint/2010/main" val="2748520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8629" y="2085254"/>
            <a:ext cx="10515600" cy="2651992"/>
          </a:xfrm>
        </p:spPr>
        <p:txBody>
          <a:bodyPr/>
          <a:lstStyle/>
          <a:p>
            <a:r>
              <a:rPr lang="en-US" dirty="0"/>
              <a:t>Whatever is the motivation to write a business plan, your audience would be interested to know </a:t>
            </a:r>
            <a:r>
              <a:rPr lang="en-US" dirty="0">
                <a:solidFill>
                  <a:srgbClr val="0070C0"/>
                </a:solidFill>
              </a:rPr>
              <a:t>how you navigate through challenges to emerge successful and create value</a:t>
            </a:r>
            <a:r>
              <a:rPr lang="en-US" dirty="0"/>
              <a:t>.</a:t>
            </a:r>
          </a:p>
          <a:p>
            <a:r>
              <a:rPr lang="en-US" dirty="0"/>
              <a:t>Your focus must be to bring to light the story of that journey.</a:t>
            </a:r>
            <a:endParaRPr lang="en-IN" dirty="0"/>
          </a:p>
        </p:txBody>
      </p:sp>
      <p:sp>
        <p:nvSpPr>
          <p:cNvPr id="5" name="Title 1"/>
          <p:cNvSpPr>
            <a:spLocks noGrp="1"/>
          </p:cNvSpPr>
          <p:nvPr>
            <p:ph type="title"/>
          </p:nvPr>
        </p:nvSpPr>
        <p:spPr>
          <a:xfrm>
            <a:off x="648629" y="454335"/>
            <a:ext cx="10515600" cy="1207197"/>
          </a:xfrm>
          <a:noFill/>
          <a:ln>
            <a:noFill/>
          </a:ln>
        </p:spPr>
        <p:style>
          <a:lnRef idx="1">
            <a:schemeClr val="accent5"/>
          </a:lnRef>
          <a:fillRef idx="2">
            <a:schemeClr val="accent5"/>
          </a:fillRef>
          <a:effectRef idx="1">
            <a:schemeClr val="accent5"/>
          </a:effectRef>
          <a:fontRef idx="minor">
            <a:schemeClr val="dk1"/>
          </a:fontRef>
        </p:style>
        <p:txBody>
          <a:bodyPr>
            <a:normAutofit/>
          </a:bodyPr>
          <a:lstStyle/>
          <a:p>
            <a:r>
              <a:rPr lang="en-IN" dirty="0"/>
              <a:t>The Purpose of Business Plan</a:t>
            </a:r>
            <a:br>
              <a:rPr lang="en-IN" dirty="0"/>
            </a:br>
            <a:r>
              <a:rPr lang="en-IN" sz="2400" dirty="0"/>
              <a:t>The flavour may vary based on context</a:t>
            </a:r>
            <a:endParaRPr lang="en-IN" dirty="0"/>
          </a:p>
        </p:txBody>
      </p:sp>
    </p:spTree>
    <p:extLst>
      <p:ext uri="{BB962C8B-B14F-4D97-AF65-F5344CB8AC3E}">
        <p14:creationId xmlns:p14="http://schemas.microsoft.com/office/powerpoint/2010/main" val="1112761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43801"/>
            <a:ext cx="10515600" cy="675399"/>
          </a:xfrm>
        </p:spPr>
        <p:txBody>
          <a:bodyPr/>
          <a:lstStyle/>
          <a:p>
            <a:r>
              <a:rPr lang="en-IN" dirty="0"/>
              <a:t>Essence or Consideration for Building a Business Plan</a:t>
            </a:r>
          </a:p>
        </p:txBody>
      </p:sp>
      <p:sp>
        <p:nvSpPr>
          <p:cNvPr id="3" name="Text Placeholder 2"/>
          <p:cNvSpPr>
            <a:spLocks noGrp="1"/>
          </p:cNvSpPr>
          <p:nvPr>
            <p:ph type="body" idx="1"/>
          </p:nvPr>
        </p:nvSpPr>
        <p:spPr>
          <a:xfrm>
            <a:off x="1202266" y="1219200"/>
            <a:ext cx="10151533" cy="5444067"/>
          </a:xfrm>
        </p:spPr>
        <p:txBody>
          <a:bodyPr>
            <a:normAutofit/>
          </a:bodyPr>
          <a:lstStyle/>
          <a:p>
            <a:r>
              <a:rPr lang="en-US" dirty="0"/>
              <a:t>Words are tools for conveying ideas. </a:t>
            </a:r>
          </a:p>
          <a:p>
            <a:r>
              <a:rPr lang="en-US" dirty="0"/>
              <a:t>Investors are busy.</a:t>
            </a:r>
          </a:p>
          <a:p>
            <a:r>
              <a:rPr lang="en-US" dirty="0"/>
              <a:t>They want you to convey as much as possible in as less words.</a:t>
            </a:r>
          </a:p>
          <a:p>
            <a:r>
              <a:rPr lang="en-US" dirty="0"/>
              <a:t>No poetic phrases</a:t>
            </a:r>
          </a:p>
          <a:p>
            <a:r>
              <a:rPr lang="en-US" dirty="0">
                <a:solidFill>
                  <a:srgbClr val="FF0000"/>
                </a:solidFill>
              </a:rPr>
              <a:t>Follow the lean philosophy</a:t>
            </a:r>
            <a:r>
              <a:rPr lang="en-US" dirty="0"/>
              <a:t>. Give an MVP of the plan</a:t>
            </a:r>
          </a:p>
          <a:p>
            <a:r>
              <a:rPr lang="en-US" dirty="0"/>
              <a:t>Anybody loves to hear a good story with strong words. Tell yours.</a:t>
            </a:r>
          </a:p>
          <a:p>
            <a:r>
              <a:rPr lang="en-US" dirty="0"/>
              <a:t>Gather all possible information about pitfalls. </a:t>
            </a:r>
          </a:p>
          <a:p>
            <a:r>
              <a:rPr lang="en-US" dirty="0"/>
              <a:t>Highlight the risks as much as the prospects. </a:t>
            </a:r>
          </a:p>
          <a:p>
            <a:r>
              <a:rPr lang="en-US" dirty="0"/>
              <a:t>Show investors the money.</a:t>
            </a:r>
          </a:p>
        </p:txBody>
      </p:sp>
    </p:spTree>
    <p:extLst>
      <p:ext uri="{BB962C8B-B14F-4D97-AF65-F5344CB8AC3E}">
        <p14:creationId xmlns:p14="http://schemas.microsoft.com/office/powerpoint/2010/main" val="2351470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Demonstration of a Working Model Is Very Convincing</a:t>
            </a:r>
            <a:endParaRPr lang="en-IN" dirty="0"/>
          </a:p>
        </p:txBody>
      </p:sp>
      <p:sp>
        <p:nvSpPr>
          <p:cNvPr id="3" name="Content Placeholder 2"/>
          <p:cNvSpPr>
            <a:spLocks noGrp="1"/>
          </p:cNvSpPr>
          <p:nvPr>
            <p:ph idx="1"/>
          </p:nvPr>
        </p:nvSpPr>
        <p:spPr/>
        <p:txBody>
          <a:bodyPr/>
          <a:lstStyle/>
          <a:p>
            <a:r>
              <a:rPr lang="en-US" dirty="0"/>
              <a:t>It’s a good idea to demonstrate a working prototype, should you have one. </a:t>
            </a:r>
          </a:p>
          <a:p>
            <a:r>
              <a:rPr lang="en-US" dirty="0"/>
              <a:t>Don‘t worry even if it is your MVP and looks shabby. It should demonstrate the value proposition. </a:t>
            </a:r>
          </a:p>
          <a:p>
            <a:r>
              <a:rPr lang="en-US" dirty="0"/>
              <a:t>A working prototype is a true validation of your claims about the novelties of your product or service.</a:t>
            </a:r>
            <a:endParaRPr lang="en-IN" dirty="0"/>
          </a:p>
        </p:txBody>
      </p:sp>
      <p:sp>
        <p:nvSpPr>
          <p:cNvPr id="4" name="Slide Number Placeholder 3"/>
          <p:cNvSpPr>
            <a:spLocks noGrp="1"/>
          </p:cNvSpPr>
          <p:nvPr>
            <p:ph type="sldNum" sz="quarter" idx="12"/>
          </p:nvPr>
        </p:nvSpPr>
        <p:spPr/>
        <p:txBody>
          <a:bodyPr/>
          <a:lstStyle/>
          <a:p>
            <a:fld id="{8FD1DB16-3243-4916-96AE-0416B7586CF1}" type="slidenum">
              <a:rPr lang="en-IN" smtClean="0"/>
              <a:t>24</a:t>
            </a:fld>
            <a:endParaRPr lang="en-IN"/>
          </a:p>
        </p:txBody>
      </p:sp>
    </p:spTree>
    <p:extLst>
      <p:ext uri="{BB962C8B-B14F-4D97-AF65-F5344CB8AC3E}">
        <p14:creationId xmlns:p14="http://schemas.microsoft.com/office/powerpoint/2010/main" val="376295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907" y="274637"/>
            <a:ext cx="11127059" cy="1325563"/>
          </a:xfrm>
        </p:spPr>
        <p:txBody>
          <a:bodyPr>
            <a:normAutofit/>
          </a:bodyPr>
          <a:lstStyle/>
          <a:p>
            <a:r>
              <a:rPr lang="en-US" sz="2800" dirty="0"/>
              <a:t>Four Factors Critical to Every New Ventures and They Should Receive Pride of Place in Your Business Plan</a:t>
            </a:r>
          </a:p>
        </p:txBody>
      </p:sp>
      <p:sp>
        <p:nvSpPr>
          <p:cNvPr id="3" name="Content Placeholder 2"/>
          <p:cNvSpPr>
            <a:spLocks noGrp="1"/>
          </p:cNvSpPr>
          <p:nvPr>
            <p:ph idx="1"/>
          </p:nvPr>
        </p:nvSpPr>
        <p:spPr>
          <a:xfrm>
            <a:off x="150123" y="1377440"/>
            <a:ext cx="11693377" cy="4231888"/>
          </a:xfrm>
        </p:spPr>
        <p:txBody>
          <a:bodyPr>
            <a:normAutofit fontScale="92500" lnSpcReduction="20000"/>
          </a:bodyPr>
          <a:lstStyle/>
          <a:p>
            <a:pPr marL="628650" indent="-514350">
              <a:buFont typeface="+mj-lt"/>
              <a:buAutoNum type="arabicParenR"/>
            </a:pPr>
            <a:r>
              <a:rPr lang="en-US" dirty="0">
                <a:solidFill>
                  <a:schemeClr val="accent5">
                    <a:lumMod val="75000"/>
                  </a:schemeClr>
                </a:solidFill>
              </a:rPr>
              <a:t>The people </a:t>
            </a:r>
            <a:r>
              <a:rPr lang="en-US" dirty="0"/>
              <a:t>– Founders, employees, mentors, directors: team chemistry, track record, complementary skills.</a:t>
            </a:r>
          </a:p>
          <a:p>
            <a:pPr marL="628650" indent="-514350">
              <a:buFont typeface="+mj-lt"/>
              <a:buAutoNum type="arabicParenR"/>
            </a:pPr>
            <a:r>
              <a:rPr lang="en-US" dirty="0">
                <a:solidFill>
                  <a:schemeClr val="accent5">
                    <a:lumMod val="75000"/>
                  </a:schemeClr>
                </a:solidFill>
              </a:rPr>
              <a:t>The opportunity </a:t>
            </a:r>
            <a:r>
              <a:rPr lang="en-US" dirty="0"/>
              <a:t>– what you will sell and to whom </a:t>
            </a:r>
            <a:r>
              <a:rPr lang="en-US" sz="2200" dirty="0"/>
              <a:t>(what pain you alleviate with what efficacy: competitive advantages)</a:t>
            </a:r>
            <a:r>
              <a:rPr lang="en-US" dirty="0"/>
              <a:t>, how you will make money. The unique value proposition. The Market Structure:  the size and growth potential of the market, the competition.</a:t>
            </a:r>
          </a:p>
          <a:p>
            <a:pPr marL="628650" indent="-514350">
              <a:buFont typeface="+mj-lt"/>
              <a:buAutoNum type="arabicParenR"/>
            </a:pPr>
            <a:r>
              <a:rPr lang="en-US" dirty="0">
                <a:solidFill>
                  <a:schemeClr val="accent5">
                    <a:lumMod val="75000"/>
                  </a:schemeClr>
                </a:solidFill>
              </a:rPr>
              <a:t>The context – the </a:t>
            </a:r>
            <a:r>
              <a:rPr lang="en-US" dirty="0"/>
              <a:t>big picture – the present business scenario with particular reference to the opportunity. The growth prospect of the market segment. Market structure. </a:t>
            </a:r>
            <a:r>
              <a:rPr lang="en-US" dirty="0">
                <a:solidFill>
                  <a:srgbClr val="0070C0"/>
                </a:solidFill>
              </a:rPr>
              <a:t>Bill Gross (</a:t>
            </a:r>
            <a:r>
              <a:rPr lang="en-US" sz="1700" dirty="0">
                <a:solidFill>
                  <a:srgbClr val="0070C0"/>
                </a:solidFill>
              </a:rPr>
              <a:t>timing as the most important factor for success</a:t>
            </a:r>
            <a:r>
              <a:rPr lang="en-US" dirty="0">
                <a:solidFill>
                  <a:srgbClr val="0070C0"/>
                </a:solidFill>
              </a:rPr>
              <a:t>)! Victor Hugo!</a:t>
            </a:r>
          </a:p>
          <a:p>
            <a:pPr marL="628650" indent="-514350">
              <a:buFont typeface="+mj-lt"/>
              <a:buAutoNum type="arabicParenR"/>
            </a:pPr>
            <a:endParaRPr lang="en-US" dirty="0">
              <a:solidFill>
                <a:srgbClr val="0070C0"/>
              </a:solidFill>
            </a:endParaRPr>
          </a:p>
          <a:p>
            <a:pPr marL="628650" indent="-514350">
              <a:buFont typeface="+mj-lt"/>
              <a:buAutoNum type="arabicParenR"/>
            </a:pPr>
            <a:r>
              <a:rPr lang="en-US" dirty="0">
                <a:solidFill>
                  <a:schemeClr val="accent5">
                    <a:lumMod val="75000"/>
                  </a:schemeClr>
                </a:solidFill>
              </a:rPr>
              <a:t>The risk and reward </a:t>
            </a:r>
            <a:r>
              <a:rPr lang="en-US" dirty="0"/>
              <a:t>– things that can go wrong and the potential gain if the team can do things right.</a:t>
            </a:r>
          </a:p>
        </p:txBody>
      </p:sp>
      <p:sp>
        <p:nvSpPr>
          <p:cNvPr id="4" name="Rectangle 3"/>
          <p:cNvSpPr/>
          <p:nvPr/>
        </p:nvSpPr>
        <p:spPr>
          <a:xfrm>
            <a:off x="348500" y="4196754"/>
            <a:ext cx="11590866" cy="369332"/>
          </a:xfrm>
          <a:prstGeom prst="rect">
            <a:avLst/>
          </a:prstGeom>
          <a:ln>
            <a:solidFill>
              <a:srgbClr val="FFC000"/>
            </a:solidFill>
          </a:ln>
        </p:spPr>
        <p:txBody>
          <a:bodyPr wrap="square">
            <a:spAutoFit/>
          </a:bodyPr>
          <a:lstStyle/>
          <a:p>
            <a:r>
              <a:rPr lang="en-US" dirty="0">
                <a:solidFill>
                  <a:srgbClr val="4D5156"/>
                </a:solidFill>
                <a:latin typeface="arial" panose="020B0604020202020204" pitchFamily="34" charset="0"/>
              </a:rPr>
              <a:t>“Nothing else in the world…not all the armies…is so powerful as an </a:t>
            </a:r>
            <a:r>
              <a:rPr lang="en-US" b="1" dirty="0">
                <a:solidFill>
                  <a:srgbClr val="5F6368"/>
                </a:solidFill>
                <a:latin typeface="arial" panose="020B0604020202020204" pitchFamily="34" charset="0"/>
              </a:rPr>
              <a:t>idea whose time has come</a:t>
            </a:r>
            <a:r>
              <a:rPr lang="en-US" dirty="0">
                <a:solidFill>
                  <a:srgbClr val="4D5156"/>
                </a:solidFill>
                <a:latin typeface="arial" panose="020B0604020202020204" pitchFamily="34" charset="0"/>
              </a:rPr>
              <a:t>.”–</a:t>
            </a:r>
            <a:r>
              <a:rPr lang="en-US" b="1" dirty="0">
                <a:solidFill>
                  <a:srgbClr val="5F6368"/>
                </a:solidFill>
                <a:latin typeface="arial" panose="020B0604020202020204" pitchFamily="34" charset="0"/>
              </a:rPr>
              <a:t>Victor Hugo</a:t>
            </a:r>
            <a:r>
              <a:rPr lang="en-US" dirty="0">
                <a:solidFill>
                  <a:srgbClr val="4D5156"/>
                </a:solidFill>
                <a:latin typeface="arial" panose="020B0604020202020204" pitchFamily="34" charset="0"/>
              </a:rPr>
              <a:t>,</a:t>
            </a:r>
            <a:endParaRPr lang="en-IN" dirty="0"/>
          </a:p>
        </p:txBody>
      </p:sp>
      <p:pic>
        <p:nvPicPr>
          <p:cNvPr id="1026" name="Picture 2" descr="Free scale money value illustration">
            <a:extLst>
              <a:ext uri="{FF2B5EF4-FFF2-40B4-BE49-F238E27FC236}">
                <a16:creationId xmlns:a16="http://schemas.microsoft.com/office/drawing/2014/main" id="{2D7DEB3A-B671-A421-339E-2DC4F3BC3BB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43875" y="5009309"/>
            <a:ext cx="2546350" cy="1702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097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284" y="340823"/>
            <a:ext cx="10515600" cy="822544"/>
          </a:xfrm>
          <a:ln>
            <a:noFill/>
          </a:ln>
        </p:spPr>
        <p:style>
          <a:lnRef idx="2">
            <a:schemeClr val="dk1"/>
          </a:lnRef>
          <a:fillRef idx="1">
            <a:schemeClr val="lt1"/>
          </a:fillRef>
          <a:effectRef idx="0">
            <a:schemeClr val="dk1"/>
          </a:effectRef>
          <a:fontRef idx="minor">
            <a:schemeClr val="dk1"/>
          </a:fontRef>
        </p:style>
        <p:txBody>
          <a:bodyPr/>
          <a:lstStyle/>
          <a:p>
            <a:r>
              <a:rPr lang="en-US" dirty="0"/>
              <a:t>Highlight Your USP and Your Value Proposition to Customers</a:t>
            </a:r>
          </a:p>
        </p:txBody>
      </p:sp>
      <p:sp>
        <p:nvSpPr>
          <p:cNvPr id="3" name="Content Placeholder 2"/>
          <p:cNvSpPr>
            <a:spLocks noGrp="1"/>
          </p:cNvSpPr>
          <p:nvPr>
            <p:ph idx="1"/>
          </p:nvPr>
        </p:nvSpPr>
        <p:spPr>
          <a:xfrm>
            <a:off x="530918" y="992322"/>
            <a:ext cx="11424162" cy="3603356"/>
          </a:xfrm>
          <a:noFill/>
          <a:ln>
            <a:noFill/>
          </a:ln>
        </p:spPr>
        <p:style>
          <a:lnRef idx="1">
            <a:schemeClr val="dk1"/>
          </a:lnRef>
          <a:fillRef idx="2">
            <a:schemeClr val="dk1"/>
          </a:fillRef>
          <a:effectRef idx="1">
            <a:schemeClr val="dk1"/>
          </a:effectRef>
          <a:fontRef idx="minor">
            <a:schemeClr val="dk1"/>
          </a:fontRef>
        </p:style>
        <p:txBody>
          <a:bodyPr>
            <a:normAutofit/>
          </a:bodyPr>
          <a:lstStyle/>
          <a:p>
            <a:r>
              <a:rPr lang="en-IN" dirty="0"/>
              <a:t>The USP helps determine whether there is any reason for a buyers to purchase your product instead of continuing to use established ones.</a:t>
            </a:r>
          </a:p>
          <a:p>
            <a:r>
              <a:rPr lang="en-IN" dirty="0"/>
              <a:t>USP is a combination of factors that set your product apart (differentiator) from competitors and conveying customers the reasons why they should buy your product (delivery, return policy, aftersales service).</a:t>
            </a:r>
          </a:p>
          <a:p>
            <a:r>
              <a:rPr lang="en-IN" dirty="0"/>
              <a:t>USP should be projected as if it is in your company’s DNA.</a:t>
            </a:r>
          </a:p>
          <a:p>
            <a:r>
              <a:rPr lang="en-US" dirty="0"/>
              <a:t>Effectiveness of a USP depends on how well it resonates with the target audience and addresses their needs or pain points.</a:t>
            </a:r>
          </a:p>
        </p:txBody>
      </p:sp>
      <p:sp>
        <p:nvSpPr>
          <p:cNvPr id="5" name="TextBox 4">
            <a:extLst>
              <a:ext uri="{FF2B5EF4-FFF2-40B4-BE49-F238E27FC236}">
                <a16:creationId xmlns:a16="http://schemas.microsoft.com/office/drawing/2014/main" id="{C77056A8-1E28-F390-8066-0A388250ECF2}"/>
              </a:ext>
            </a:extLst>
          </p:cNvPr>
          <p:cNvSpPr txBox="1"/>
          <p:nvPr/>
        </p:nvSpPr>
        <p:spPr>
          <a:xfrm>
            <a:off x="530918" y="4595678"/>
            <a:ext cx="11241982" cy="1815882"/>
          </a:xfrm>
          <a:prstGeom prst="rect">
            <a:avLst/>
          </a:prstGeom>
          <a:noFill/>
        </p:spPr>
        <p:txBody>
          <a:bodyPr wrap="square">
            <a:spAutoFit/>
          </a:bodyPr>
          <a:lstStyle/>
          <a:p>
            <a:pPr algn="l"/>
            <a:r>
              <a:rPr lang="en-US" sz="2800" b="1" i="0" dirty="0">
                <a:solidFill>
                  <a:schemeClr val="accent5">
                    <a:lumMod val="50000"/>
                  </a:schemeClr>
                </a:solidFill>
                <a:effectLst/>
                <a:latin typeface="Söhne"/>
              </a:rPr>
              <a:t>USPs</a:t>
            </a:r>
          </a:p>
          <a:p>
            <a:pPr algn="just"/>
            <a:r>
              <a:rPr lang="en-US" sz="2800" b="1" i="0" dirty="0">
                <a:solidFill>
                  <a:schemeClr val="accent5">
                    <a:lumMod val="50000"/>
                  </a:schemeClr>
                </a:solidFill>
                <a:effectLst/>
                <a:latin typeface="Söhne"/>
              </a:rPr>
              <a:t>Innovative Technology, </a:t>
            </a:r>
            <a:r>
              <a:rPr lang="en-US" sz="2800" b="1" i="0" dirty="0">
                <a:solidFill>
                  <a:srgbClr val="0070C0"/>
                </a:solidFill>
                <a:effectLst/>
                <a:latin typeface="Söhne"/>
              </a:rPr>
              <a:t>Cost-Effective Solutions, </a:t>
            </a:r>
            <a:r>
              <a:rPr lang="en-US" sz="2800" b="1" i="0" dirty="0">
                <a:solidFill>
                  <a:schemeClr val="accent5">
                    <a:lumMod val="50000"/>
                  </a:schemeClr>
                </a:solidFill>
                <a:effectLst/>
                <a:latin typeface="Söhne"/>
              </a:rPr>
              <a:t>Customer-Centric Approach, </a:t>
            </a:r>
            <a:r>
              <a:rPr lang="en-US" sz="2800" b="1" dirty="0">
                <a:solidFill>
                  <a:srgbClr val="0070C0"/>
                </a:solidFill>
                <a:latin typeface="Söhne"/>
              </a:rPr>
              <a:t>Sustainability,</a:t>
            </a:r>
            <a:r>
              <a:rPr lang="en-US" sz="2800" b="1" i="0" dirty="0">
                <a:solidFill>
                  <a:schemeClr val="accent5">
                    <a:lumMod val="50000"/>
                  </a:schemeClr>
                </a:solidFill>
                <a:effectLst/>
                <a:latin typeface="Söhne"/>
              </a:rPr>
              <a:t> Agility and Flexibility, </a:t>
            </a:r>
            <a:r>
              <a:rPr lang="en-US" sz="2800" b="1" dirty="0">
                <a:solidFill>
                  <a:srgbClr val="0070C0"/>
                </a:solidFill>
                <a:latin typeface="Söhne"/>
              </a:rPr>
              <a:t>Unique Design or Branding</a:t>
            </a:r>
            <a:r>
              <a:rPr lang="en-US" sz="2800" b="1" i="0" dirty="0">
                <a:solidFill>
                  <a:schemeClr val="accent5">
                    <a:lumMod val="50000"/>
                  </a:schemeClr>
                </a:solidFill>
                <a:effectLst/>
                <a:latin typeface="Söhne"/>
              </a:rPr>
              <a:t>, Personalization, </a:t>
            </a:r>
            <a:r>
              <a:rPr lang="en-US" sz="2800" b="1" dirty="0">
                <a:solidFill>
                  <a:srgbClr val="0070C0"/>
                </a:solidFill>
                <a:latin typeface="Söhne"/>
              </a:rPr>
              <a:t>Social Impact</a:t>
            </a:r>
            <a:r>
              <a:rPr lang="en-US" sz="2800" b="1" i="0" dirty="0">
                <a:solidFill>
                  <a:schemeClr val="accent5">
                    <a:lumMod val="50000"/>
                  </a:schemeClr>
                </a:solidFill>
                <a:effectLst/>
                <a:latin typeface="Söhne"/>
              </a:rPr>
              <a:t>, Ease of Use, </a:t>
            </a:r>
            <a:r>
              <a:rPr lang="en-US" sz="2800" b="1" dirty="0">
                <a:solidFill>
                  <a:srgbClr val="0070C0"/>
                </a:solidFill>
                <a:latin typeface="Söhne"/>
              </a:rPr>
              <a:t>Speed and Efficiency </a:t>
            </a:r>
          </a:p>
        </p:txBody>
      </p:sp>
    </p:spTree>
    <p:extLst>
      <p:ext uri="{BB962C8B-B14F-4D97-AF65-F5344CB8AC3E}">
        <p14:creationId xmlns:p14="http://schemas.microsoft.com/office/powerpoint/2010/main" val="3379059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352" y="274638"/>
            <a:ext cx="9853448" cy="778098"/>
          </a:xfrm>
          <a:ln>
            <a:noFill/>
          </a:ln>
        </p:spPr>
        <p:style>
          <a:lnRef idx="2">
            <a:schemeClr val="accent1"/>
          </a:lnRef>
          <a:fillRef idx="1">
            <a:schemeClr val="lt1"/>
          </a:fillRef>
          <a:effectRef idx="0">
            <a:schemeClr val="accent1"/>
          </a:effectRef>
          <a:fontRef idx="minor">
            <a:schemeClr val="dk1"/>
          </a:fontRef>
        </p:style>
        <p:txBody>
          <a:bodyPr/>
          <a:lstStyle/>
          <a:p>
            <a:r>
              <a:rPr lang="en-US" dirty="0"/>
              <a:t>Examples of USP</a:t>
            </a:r>
          </a:p>
        </p:txBody>
      </p:sp>
      <p:sp>
        <p:nvSpPr>
          <p:cNvPr id="3" name="Content Placeholder 2"/>
          <p:cNvSpPr>
            <a:spLocks noGrp="1"/>
          </p:cNvSpPr>
          <p:nvPr>
            <p:ph idx="1"/>
          </p:nvPr>
        </p:nvSpPr>
        <p:spPr>
          <a:xfrm>
            <a:off x="357352" y="1237834"/>
            <a:ext cx="11546781" cy="5315365"/>
          </a:xfrm>
          <a:noFill/>
          <a:ln>
            <a:noFill/>
          </a:ln>
        </p:spPr>
        <p:style>
          <a:lnRef idx="1">
            <a:schemeClr val="accent1"/>
          </a:lnRef>
          <a:fillRef idx="2">
            <a:schemeClr val="accent1"/>
          </a:fillRef>
          <a:effectRef idx="1">
            <a:schemeClr val="accent1"/>
          </a:effectRef>
          <a:fontRef idx="minor">
            <a:schemeClr val="dk1"/>
          </a:fontRef>
        </p:style>
        <p:txBody>
          <a:bodyPr>
            <a:noAutofit/>
          </a:bodyPr>
          <a:lstStyle/>
          <a:p>
            <a:r>
              <a:rPr lang="en-IN" dirty="0"/>
              <a:t>FedEx Corporation: "When it absolutely, positively has to be there overnight.“</a:t>
            </a:r>
          </a:p>
          <a:p>
            <a:r>
              <a:rPr lang="en-IN" dirty="0"/>
              <a:t>Avis: "We're number two. We try harder."</a:t>
            </a:r>
          </a:p>
          <a:p>
            <a:r>
              <a:rPr lang="en-IN" dirty="0"/>
              <a:t>M&amp;Ms: "The milk chocolate melts in your mouth, not in your hand."</a:t>
            </a:r>
          </a:p>
          <a:p>
            <a:r>
              <a:rPr lang="en-IN" dirty="0"/>
              <a:t>Dominos Pizza</a:t>
            </a:r>
            <a:r>
              <a:rPr lang="en-IN" dirty="0">
                <a:solidFill>
                  <a:schemeClr val="accent5">
                    <a:lumMod val="75000"/>
                  </a:schemeClr>
                </a:solidFill>
              </a:rPr>
              <a:t>: "You get fresh, hot pizza delivered to your door in 30 minutes or less, or it's free."</a:t>
            </a:r>
          </a:p>
          <a:p>
            <a:r>
              <a:rPr lang="en-IN" dirty="0"/>
              <a:t>Vicks NyQuil UP, "The night-time, coughing, achy, sniffling, stuffy head, fever, so you can rest medicine"</a:t>
            </a:r>
          </a:p>
          <a:p>
            <a:r>
              <a:rPr lang="en-US" dirty="0"/>
              <a:t>Bee’s Wrap: “A Simple Solution to Plastic Pollution”</a:t>
            </a:r>
          </a:p>
          <a:p>
            <a:r>
              <a:rPr lang="en-IN" dirty="0"/>
              <a:t>Geico: "15 Minutes Could Save You 15 Percent or More on Car Insurance."</a:t>
            </a:r>
          </a:p>
          <a:p>
            <a:r>
              <a:rPr lang="en-IN" dirty="0"/>
              <a:t>Enterprise: </a:t>
            </a:r>
            <a:r>
              <a:rPr lang="en-IN" dirty="0">
                <a:solidFill>
                  <a:schemeClr val="accent1">
                    <a:lumMod val="50000"/>
                  </a:schemeClr>
                </a:solidFill>
              </a:rPr>
              <a:t>"Pick Enterprise. We'll Pick You Up."</a:t>
            </a:r>
            <a:endParaRPr lang="en-US" dirty="0">
              <a:solidFill>
                <a:schemeClr val="accent1">
                  <a:lumMod val="50000"/>
                </a:schemeClr>
              </a:solidFill>
            </a:endParaRPr>
          </a:p>
        </p:txBody>
      </p:sp>
    </p:spTree>
    <p:extLst>
      <p:ext uri="{BB962C8B-B14F-4D97-AF65-F5344CB8AC3E}">
        <p14:creationId xmlns:p14="http://schemas.microsoft.com/office/powerpoint/2010/main" val="1693623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456" y="712598"/>
            <a:ext cx="10515600" cy="749996"/>
          </a:xfrm>
        </p:spPr>
        <p:txBody>
          <a:bodyPr vert="horz" lIns="91440" tIns="45720" rIns="91440" bIns="45720" rtlCol="0" anchor="ctr">
            <a:normAutofit fontScale="90000"/>
          </a:bodyPr>
          <a:lstStyle/>
          <a:p>
            <a:r>
              <a:rPr lang="en-US" sz="3600" b="1" dirty="0">
                <a:solidFill>
                  <a:srgbClr val="002060"/>
                </a:solidFill>
                <a:latin typeface="Georgia" panose="02040502050405020303" pitchFamily="18" charset="0"/>
              </a:rPr>
              <a:t>Broad Components of Business Plan in Most of the Templates</a:t>
            </a:r>
            <a:endParaRPr lang="en-IN" sz="3600" b="1" dirty="0">
              <a:solidFill>
                <a:srgbClr val="002060"/>
              </a:solidFill>
              <a:latin typeface="Georgia" panose="02040502050405020303" pitchFamily="18" charset="0"/>
            </a:endParaRPr>
          </a:p>
        </p:txBody>
      </p:sp>
      <p:sp>
        <p:nvSpPr>
          <p:cNvPr id="3" name="Content Placeholder 2"/>
          <p:cNvSpPr>
            <a:spLocks noGrp="1"/>
          </p:cNvSpPr>
          <p:nvPr>
            <p:ph idx="1"/>
          </p:nvPr>
        </p:nvSpPr>
        <p:spPr>
          <a:xfrm>
            <a:off x="834679" y="1769671"/>
            <a:ext cx="11250774" cy="3215502"/>
          </a:xfrm>
        </p:spPr>
        <p:txBody>
          <a:bodyPr>
            <a:normAutofit/>
          </a:bodyPr>
          <a:lstStyle/>
          <a:p>
            <a:pPr marL="571500" indent="-571500">
              <a:buFont typeface="+mj-lt"/>
              <a:buAutoNum type="romanLcPeriod"/>
            </a:pPr>
            <a:r>
              <a:rPr lang="en-IN" b="1" dirty="0">
                <a:solidFill>
                  <a:srgbClr val="0070C0"/>
                </a:solidFill>
              </a:rPr>
              <a:t>Cover page: </a:t>
            </a:r>
            <a:r>
              <a:rPr lang="en-IN" b="1" dirty="0"/>
              <a:t>Invest in designing the cover so it stands out. </a:t>
            </a:r>
          </a:p>
          <a:p>
            <a:pPr marL="571500" indent="-571500">
              <a:buFont typeface="+mj-lt"/>
              <a:buAutoNum type="romanLcPeriod"/>
            </a:pPr>
            <a:r>
              <a:rPr lang="en-US" dirty="0"/>
              <a:t>Executive Summary</a:t>
            </a:r>
            <a:endParaRPr lang="en-IN" b="1" dirty="0"/>
          </a:p>
          <a:p>
            <a:pPr marL="571500" indent="-571500">
              <a:buFont typeface="+mj-lt"/>
              <a:buAutoNum type="romanLcPeriod"/>
            </a:pPr>
            <a:r>
              <a:rPr lang="en-US" dirty="0">
                <a:solidFill>
                  <a:srgbClr val="0070C0"/>
                </a:solidFill>
              </a:rPr>
              <a:t>Contents: </a:t>
            </a:r>
            <a:r>
              <a:rPr lang="en-US" dirty="0"/>
              <a:t>it tells your audience what to expect in the report.</a:t>
            </a:r>
          </a:p>
          <a:p>
            <a:pPr marL="571500" indent="-571500">
              <a:buFont typeface="+mj-lt"/>
              <a:buAutoNum type="romanLcPeriod"/>
            </a:pPr>
            <a:r>
              <a:rPr lang="en-US" dirty="0"/>
              <a:t>The Detailed Plan (the core business model)</a:t>
            </a:r>
          </a:p>
          <a:p>
            <a:pPr marL="571500" indent="-571500">
              <a:buFont typeface="+mj-lt"/>
              <a:buAutoNum type="romanLcPeriod"/>
            </a:pPr>
            <a:r>
              <a:rPr lang="en-US" dirty="0"/>
              <a:t>Conclusion</a:t>
            </a:r>
          </a:p>
          <a:p>
            <a:pPr marL="571500" indent="-571500">
              <a:buFont typeface="+mj-lt"/>
              <a:buAutoNum type="romanLcPeriod"/>
            </a:pPr>
            <a:r>
              <a:rPr lang="en-US" dirty="0"/>
              <a:t>Appendices </a:t>
            </a:r>
            <a:endParaRPr lang="en-US" b="1" dirty="0"/>
          </a:p>
          <a:p>
            <a:endParaRPr lang="en-IN" b="1" dirty="0"/>
          </a:p>
        </p:txBody>
      </p:sp>
      <p:cxnSp>
        <p:nvCxnSpPr>
          <p:cNvPr id="4" name="Straight Connector 3">
            <a:extLst>
              <a:ext uri="{FF2B5EF4-FFF2-40B4-BE49-F238E27FC236}">
                <a16:creationId xmlns:a16="http://schemas.microsoft.com/office/drawing/2014/main" id="{079DC849-40C1-2E23-F6BA-CD85D3AAB17D}"/>
              </a:ext>
            </a:extLst>
          </p:cNvPr>
          <p:cNvCxnSpPr/>
          <p:nvPr/>
        </p:nvCxnSpPr>
        <p:spPr>
          <a:xfrm flipV="1">
            <a:off x="405353" y="527901"/>
            <a:ext cx="11378152" cy="5649062"/>
          </a:xfrm>
          <a:prstGeom prst="line">
            <a:avLst/>
          </a:prstGeom>
          <a:ln w="41275">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380A294C-ADA0-3EB0-29E2-01ECD24E7EDC}"/>
              </a:ext>
            </a:extLst>
          </p:cNvPr>
          <p:cNvCxnSpPr>
            <a:cxnSpLocks/>
          </p:cNvCxnSpPr>
          <p:nvPr/>
        </p:nvCxnSpPr>
        <p:spPr>
          <a:xfrm>
            <a:off x="94268" y="365125"/>
            <a:ext cx="11547835" cy="5991225"/>
          </a:xfrm>
          <a:prstGeom prst="line">
            <a:avLst/>
          </a:prstGeom>
          <a:ln w="41275">
            <a:solidFill>
              <a:srgbClr val="FF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1602114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15719" y="1387740"/>
            <a:ext cx="11563070" cy="4351338"/>
          </a:xfrm>
        </p:spPr>
        <p:txBody>
          <a:bodyPr/>
          <a:lstStyle/>
          <a:p>
            <a:pPr marL="514350" indent="-514350">
              <a:buFont typeface="+mj-lt"/>
              <a:buAutoNum type="arabicPeriod"/>
            </a:pPr>
            <a:r>
              <a:rPr lang="en-US" sz="3000" dirty="0"/>
              <a:t>Executive summary</a:t>
            </a:r>
            <a:r>
              <a:rPr lang="en-US" dirty="0"/>
              <a:t>: give it your best shot. </a:t>
            </a:r>
          </a:p>
          <a:p>
            <a:pPr marL="514350" indent="-514350">
              <a:buFont typeface="+mj-lt"/>
              <a:buAutoNum type="arabicPeriod"/>
            </a:pPr>
            <a:r>
              <a:rPr lang="en-US" sz="3000" dirty="0"/>
              <a:t>The Business (Background &amp; business mix) – </a:t>
            </a:r>
            <a:r>
              <a:rPr lang="en-US" dirty="0"/>
              <a:t>how did you get here, the pain point, the market, why this business, why now, where are you now?</a:t>
            </a:r>
          </a:p>
          <a:p>
            <a:pPr marL="514350" indent="-514350">
              <a:buFont typeface="+mj-lt"/>
              <a:buAutoNum type="arabicPeriod"/>
            </a:pPr>
            <a:r>
              <a:rPr lang="en-US" sz="3000" dirty="0"/>
              <a:t>The market &amp; market demand </a:t>
            </a:r>
            <a:r>
              <a:rPr lang="en-US" dirty="0"/>
              <a:t>– segment, market size, growth, competition, channel, </a:t>
            </a:r>
            <a:r>
              <a:rPr lang="en-US" sz="3200" u="sng" dirty="0"/>
              <a:t>your advantages</a:t>
            </a:r>
            <a:r>
              <a:rPr lang="en-US" dirty="0"/>
              <a:t>.</a:t>
            </a:r>
          </a:p>
        </p:txBody>
      </p:sp>
      <p:sp>
        <p:nvSpPr>
          <p:cNvPr id="4" name="Title 1">
            <a:extLst>
              <a:ext uri="{FF2B5EF4-FFF2-40B4-BE49-F238E27FC236}">
                <a16:creationId xmlns:a16="http://schemas.microsoft.com/office/drawing/2014/main" id="{169081B6-BC4E-48C4-B81C-EE68FC14CF48}"/>
              </a:ext>
            </a:extLst>
          </p:cNvPr>
          <p:cNvSpPr>
            <a:spLocks noGrp="1"/>
          </p:cNvSpPr>
          <p:nvPr>
            <p:ph type="title"/>
          </p:nvPr>
        </p:nvSpPr>
        <p:spPr>
          <a:xfrm>
            <a:off x="515719" y="486175"/>
            <a:ext cx="10515600" cy="749996"/>
          </a:xfrm>
        </p:spPr>
        <p:txBody>
          <a:bodyPr vert="horz" lIns="91440" tIns="45720" rIns="91440" bIns="45720" rtlCol="0" anchor="ctr">
            <a:normAutofit fontScale="90000"/>
          </a:bodyPr>
          <a:lstStyle/>
          <a:p>
            <a:r>
              <a:rPr lang="en-US" sz="3600" b="1" dirty="0">
                <a:solidFill>
                  <a:srgbClr val="002060"/>
                </a:solidFill>
                <a:latin typeface="Georgia" panose="02040502050405020303" pitchFamily="18" charset="0"/>
              </a:rPr>
              <a:t>Major Components of Business Plan in Most of the Templates</a:t>
            </a:r>
            <a:endParaRPr lang="en-IN" sz="3600" b="1" dirty="0">
              <a:solidFill>
                <a:srgbClr val="002060"/>
              </a:solidFill>
              <a:latin typeface="Georgia" panose="02040502050405020303" pitchFamily="18" charset="0"/>
            </a:endParaRPr>
          </a:p>
        </p:txBody>
      </p:sp>
      <p:cxnSp>
        <p:nvCxnSpPr>
          <p:cNvPr id="2" name="Straight Connector 1">
            <a:extLst>
              <a:ext uri="{FF2B5EF4-FFF2-40B4-BE49-F238E27FC236}">
                <a16:creationId xmlns:a16="http://schemas.microsoft.com/office/drawing/2014/main" id="{13567203-D56C-ED12-235A-818FB2160C4A}"/>
              </a:ext>
            </a:extLst>
          </p:cNvPr>
          <p:cNvCxnSpPr/>
          <p:nvPr/>
        </p:nvCxnSpPr>
        <p:spPr>
          <a:xfrm flipV="1">
            <a:off x="405353" y="527901"/>
            <a:ext cx="11378152" cy="5649062"/>
          </a:xfrm>
          <a:prstGeom prst="line">
            <a:avLst/>
          </a:prstGeom>
          <a:ln w="41275">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E66E3755-535F-B3CF-CC77-3208D1543FE9}"/>
              </a:ext>
            </a:extLst>
          </p:cNvPr>
          <p:cNvCxnSpPr>
            <a:cxnSpLocks/>
          </p:cNvCxnSpPr>
          <p:nvPr/>
        </p:nvCxnSpPr>
        <p:spPr>
          <a:xfrm>
            <a:off x="94268" y="365125"/>
            <a:ext cx="11547835" cy="5991225"/>
          </a:xfrm>
          <a:prstGeom prst="line">
            <a:avLst/>
          </a:prstGeom>
          <a:ln w="41275">
            <a:solidFill>
              <a:srgbClr val="FF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59651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514350" indent="-514350">
              <a:buSzPct val="100000"/>
              <a:buFont typeface="+mj-lt"/>
              <a:buAutoNum type="arabicPeriod" startAt="4"/>
            </a:pPr>
            <a:r>
              <a:rPr lang="en-US" dirty="0"/>
              <a:t>Competitive advantage and your value proposition.</a:t>
            </a:r>
          </a:p>
          <a:p>
            <a:pPr marL="514350" indent="-514350">
              <a:buSzPct val="100000"/>
              <a:buFont typeface="+mj-lt"/>
              <a:buAutoNum type="arabicPeriod" startAt="4"/>
            </a:pPr>
            <a:r>
              <a:rPr lang="en-US" dirty="0"/>
              <a:t>Strategies, Operation management – your value, plan for a lean system, suppliers and buyers management.</a:t>
            </a:r>
          </a:p>
          <a:p>
            <a:pPr marL="514350" indent="-514350">
              <a:buSzPct val="100000"/>
              <a:buFont typeface="+mj-lt"/>
              <a:buAutoNum type="arabicPeriod" startAt="4"/>
            </a:pPr>
            <a:r>
              <a:rPr lang="en-US" dirty="0"/>
              <a:t>The resources: The team – key skills in the field of technology, </a:t>
            </a:r>
            <a:br>
              <a:rPr lang="en-US" dirty="0"/>
            </a:br>
            <a:r>
              <a:rPr lang="en-US" dirty="0"/>
              <a:t>management, marketing, and operation.</a:t>
            </a:r>
          </a:p>
          <a:p>
            <a:pPr>
              <a:buSzPct val="100000"/>
            </a:pPr>
            <a:endParaRPr lang="en-IN" dirty="0"/>
          </a:p>
          <a:p>
            <a:endParaRPr lang="en-IN" dirty="0"/>
          </a:p>
        </p:txBody>
      </p:sp>
      <p:sp>
        <p:nvSpPr>
          <p:cNvPr id="4" name="Title 1">
            <a:extLst>
              <a:ext uri="{FF2B5EF4-FFF2-40B4-BE49-F238E27FC236}">
                <a16:creationId xmlns:a16="http://schemas.microsoft.com/office/drawing/2014/main" id="{5BB170D2-B93E-419A-9EA2-60B8D159DE4D}"/>
              </a:ext>
            </a:extLst>
          </p:cNvPr>
          <p:cNvSpPr txBox="1">
            <a:spLocks/>
          </p:cNvSpPr>
          <p:nvPr/>
        </p:nvSpPr>
        <p:spPr>
          <a:xfrm>
            <a:off x="600455" y="712598"/>
            <a:ext cx="11088781" cy="74999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b="1" kern="1200">
                <a:solidFill>
                  <a:schemeClr val="accent5">
                    <a:lumMod val="75000"/>
                  </a:schemeClr>
                </a:solidFill>
                <a:latin typeface="+mn-lt"/>
                <a:ea typeface="+mj-ea"/>
                <a:cs typeface="+mj-cs"/>
              </a:defRPr>
            </a:lvl1pPr>
          </a:lstStyle>
          <a:p>
            <a:r>
              <a:rPr lang="en-US" sz="2400" dirty="0">
                <a:solidFill>
                  <a:srgbClr val="002060"/>
                </a:solidFill>
                <a:latin typeface="Georgia" panose="02040502050405020303" pitchFamily="18" charset="0"/>
              </a:rPr>
              <a:t>Major Components of Business Plan in Most of the Templates contd. …</a:t>
            </a:r>
            <a:endParaRPr lang="en-IN" sz="2400" dirty="0">
              <a:solidFill>
                <a:srgbClr val="002060"/>
              </a:solidFill>
              <a:latin typeface="Georgia" panose="02040502050405020303" pitchFamily="18" charset="0"/>
            </a:endParaRPr>
          </a:p>
        </p:txBody>
      </p:sp>
      <p:cxnSp>
        <p:nvCxnSpPr>
          <p:cNvPr id="2" name="Straight Connector 1">
            <a:extLst>
              <a:ext uri="{FF2B5EF4-FFF2-40B4-BE49-F238E27FC236}">
                <a16:creationId xmlns:a16="http://schemas.microsoft.com/office/drawing/2014/main" id="{9C5631C8-6F0F-04D8-B3B1-14E5D201A944}"/>
              </a:ext>
            </a:extLst>
          </p:cNvPr>
          <p:cNvCxnSpPr/>
          <p:nvPr/>
        </p:nvCxnSpPr>
        <p:spPr>
          <a:xfrm flipV="1">
            <a:off x="405353" y="527901"/>
            <a:ext cx="11378152" cy="5649062"/>
          </a:xfrm>
          <a:prstGeom prst="line">
            <a:avLst/>
          </a:prstGeom>
          <a:ln w="41275">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9811EA68-7FB4-8D62-BC7B-9AAC01FE88D9}"/>
              </a:ext>
            </a:extLst>
          </p:cNvPr>
          <p:cNvCxnSpPr>
            <a:cxnSpLocks/>
          </p:cNvCxnSpPr>
          <p:nvPr/>
        </p:nvCxnSpPr>
        <p:spPr>
          <a:xfrm>
            <a:off x="94268" y="365125"/>
            <a:ext cx="11547835" cy="5991225"/>
          </a:xfrm>
          <a:prstGeom prst="line">
            <a:avLst/>
          </a:prstGeom>
          <a:ln w="41275">
            <a:solidFill>
              <a:srgbClr val="FF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851784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488" y="1027906"/>
            <a:ext cx="11052717" cy="4351338"/>
          </a:xfrm>
        </p:spPr>
        <p:txBody>
          <a:bodyPr>
            <a:normAutofit/>
          </a:bodyPr>
          <a:lstStyle/>
          <a:p>
            <a:pPr marL="514350" indent="-514350">
              <a:buFont typeface="+mj-lt"/>
              <a:buAutoNum type="arabicPeriod" startAt="7"/>
            </a:pPr>
            <a:r>
              <a:rPr lang="en-US" sz="3200" b="1" dirty="0"/>
              <a:t>Financial outlay and financial </a:t>
            </a:r>
            <a:r>
              <a:rPr lang="en-US" sz="3200" dirty="0"/>
              <a:t>closure</a:t>
            </a:r>
            <a:r>
              <a:rPr lang="en-US" dirty="0"/>
              <a:t>, projected financials – gist of profit &amp; loss, cash flow statement, break-even point</a:t>
            </a:r>
          </a:p>
          <a:p>
            <a:pPr marL="514350" indent="-514350">
              <a:buFont typeface="+mj-lt"/>
              <a:buAutoNum type="arabicPeriod" startAt="7"/>
            </a:pPr>
            <a:r>
              <a:rPr lang="en-US" sz="3200" b="1" dirty="0"/>
              <a:t>Risks, Opportunities and Sensitivities</a:t>
            </a:r>
          </a:p>
          <a:p>
            <a:pPr marL="514350" indent="-514350">
              <a:buFont typeface="+mj-lt"/>
              <a:buAutoNum type="arabicPeriod" startAt="7"/>
            </a:pPr>
            <a:r>
              <a:rPr lang="en-US" sz="3200" b="1" dirty="0"/>
              <a:t>Conclusion</a:t>
            </a:r>
          </a:p>
          <a:p>
            <a:pPr marL="514350" indent="-514350">
              <a:buFont typeface="+mj-lt"/>
              <a:buAutoNum type="arabicPeriod" startAt="7"/>
            </a:pPr>
            <a:r>
              <a:rPr lang="en-US" sz="3200" b="1" dirty="0"/>
              <a:t> Appendices</a:t>
            </a:r>
            <a:r>
              <a:rPr lang="en-US" b="1" dirty="0"/>
              <a:t> – detailed profit &amp; loss account, balance sheet, cash flow statement, detailed project cost, market survey report (if any) and other reports and images you think make a difference to the impression of your audience. The brief resume of all the founders and key employees may also be attached.</a:t>
            </a:r>
          </a:p>
          <a:p>
            <a:pPr marL="0" indent="0">
              <a:buNone/>
            </a:pPr>
            <a:endParaRPr lang="en-IN" b="1" dirty="0"/>
          </a:p>
        </p:txBody>
      </p:sp>
      <p:sp>
        <p:nvSpPr>
          <p:cNvPr id="4" name="Rectangle 3"/>
          <p:cNvSpPr/>
          <p:nvPr/>
        </p:nvSpPr>
        <p:spPr>
          <a:xfrm>
            <a:off x="761908" y="5740940"/>
            <a:ext cx="10955957" cy="400110"/>
          </a:xfrm>
          <a:prstGeom prst="rect">
            <a:avLst/>
          </a:prstGeom>
          <a:solidFill>
            <a:schemeClr val="bg1">
              <a:lumMod val="75000"/>
            </a:schemeClr>
          </a:solidFill>
        </p:spPr>
        <p:txBody>
          <a:bodyPr wrap="square">
            <a:spAutoFit/>
          </a:bodyPr>
          <a:lstStyle/>
          <a:p>
            <a:r>
              <a:rPr lang="en-US" sz="2000" b="1" dirty="0"/>
              <a:t>Essential Guides – Writing a Business Plan Vaughan Evans, Financial Times</a:t>
            </a:r>
          </a:p>
        </p:txBody>
      </p:sp>
      <p:sp>
        <p:nvSpPr>
          <p:cNvPr id="5" name="Title 1">
            <a:extLst>
              <a:ext uri="{FF2B5EF4-FFF2-40B4-BE49-F238E27FC236}">
                <a16:creationId xmlns:a16="http://schemas.microsoft.com/office/drawing/2014/main" id="{252116B3-B4EF-4A71-9B7A-3F93C69E4CAE}"/>
              </a:ext>
            </a:extLst>
          </p:cNvPr>
          <p:cNvSpPr txBox="1">
            <a:spLocks/>
          </p:cNvSpPr>
          <p:nvPr/>
        </p:nvSpPr>
        <p:spPr>
          <a:xfrm>
            <a:off x="600456" y="245923"/>
            <a:ext cx="11052716" cy="74999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b="1" kern="1200">
                <a:solidFill>
                  <a:schemeClr val="accent5">
                    <a:lumMod val="75000"/>
                  </a:schemeClr>
                </a:solidFill>
                <a:latin typeface="+mn-lt"/>
                <a:ea typeface="+mj-ea"/>
                <a:cs typeface="+mj-cs"/>
              </a:defRPr>
            </a:lvl1pPr>
          </a:lstStyle>
          <a:p>
            <a:r>
              <a:rPr lang="en-US" sz="2400" dirty="0">
                <a:solidFill>
                  <a:srgbClr val="002060"/>
                </a:solidFill>
                <a:latin typeface="Georgia" panose="02040502050405020303" pitchFamily="18" charset="0"/>
              </a:rPr>
              <a:t>Major Components of Business Plan in Most of the Templates contd. …</a:t>
            </a:r>
            <a:endParaRPr lang="en-IN" sz="2400" dirty="0">
              <a:solidFill>
                <a:srgbClr val="002060"/>
              </a:solidFill>
              <a:latin typeface="Georgia" panose="02040502050405020303" pitchFamily="18" charset="0"/>
            </a:endParaRPr>
          </a:p>
        </p:txBody>
      </p:sp>
      <p:cxnSp>
        <p:nvCxnSpPr>
          <p:cNvPr id="2" name="Straight Connector 1">
            <a:extLst>
              <a:ext uri="{FF2B5EF4-FFF2-40B4-BE49-F238E27FC236}">
                <a16:creationId xmlns:a16="http://schemas.microsoft.com/office/drawing/2014/main" id="{242CB46A-9E25-DE0F-1D2C-193B879EC6EE}"/>
              </a:ext>
            </a:extLst>
          </p:cNvPr>
          <p:cNvCxnSpPr/>
          <p:nvPr/>
        </p:nvCxnSpPr>
        <p:spPr>
          <a:xfrm flipV="1">
            <a:off x="405353" y="527901"/>
            <a:ext cx="11378152" cy="5649062"/>
          </a:xfrm>
          <a:prstGeom prst="line">
            <a:avLst/>
          </a:prstGeom>
          <a:ln w="41275">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4C05C63A-D17B-B1A5-7875-0B11265F6A69}"/>
              </a:ext>
            </a:extLst>
          </p:cNvPr>
          <p:cNvCxnSpPr>
            <a:cxnSpLocks/>
          </p:cNvCxnSpPr>
          <p:nvPr/>
        </p:nvCxnSpPr>
        <p:spPr>
          <a:xfrm>
            <a:off x="94268" y="365125"/>
            <a:ext cx="11547835" cy="5991225"/>
          </a:xfrm>
          <a:prstGeom prst="line">
            <a:avLst/>
          </a:prstGeom>
          <a:ln w="41275">
            <a:solidFill>
              <a:srgbClr val="FF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435364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Many Templates. Fundamentally they are similar.</a:t>
            </a:r>
            <a:br>
              <a:rPr lang="en-IN" dirty="0"/>
            </a:br>
            <a:r>
              <a:rPr lang="en-IN" sz="2800" dirty="0">
                <a:solidFill>
                  <a:schemeClr val="tx1">
                    <a:lumMod val="65000"/>
                    <a:lumOff val="35000"/>
                  </a:schemeClr>
                </a:solidFill>
              </a:rPr>
              <a:t>The Template of HBP. </a:t>
            </a:r>
          </a:p>
        </p:txBody>
      </p:sp>
      <p:sp>
        <p:nvSpPr>
          <p:cNvPr id="3" name="Content Placeholder 2"/>
          <p:cNvSpPr>
            <a:spLocks noGrp="1"/>
          </p:cNvSpPr>
          <p:nvPr>
            <p:ph idx="1"/>
          </p:nvPr>
        </p:nvSpPr>
        <p:spPr>
          <a:xfrm>
            <a:off x="1929384" y="1432433"/>
            <a:ext cx="8537448" cy="4351338"/>
          </a:xfrm>
        </p:spPr>
        <p:txBody>
          <a:bodyPr/>
          <a:lstStyle/>
          <a:p>
            <a:r>
              <a:rPr lang="en-US" dirty="0"/>
              <a:t>Summary</a:t>
            </a:r>
          </a:p>
          <a:p>
            <a:r>
              <a:rPr lang="en-US" dirty="0"/>
              <a:t>Business </a:t>
            </a:r>
          </a:p>
          <a:p>
            <a:r>
              <a:rPr lang="en-US" dirty="0"/>
              <a:t>Market demand</a:t>
            </a:r>
          </a:p>
          <a:p>
            <a:r>
              <a:rPr lang="en-US" dirty="0"/>
              <a:t>Competition</a:t>
            </a:r>
          </a:p>
          <a:p>
            <a:r>
              <a:rPr lang="en-US" dirty="0"/>
              <a:t>Strategy </a:t>
            </a:r>
          </a:p>
          <a:p>
            <a:r>
              <a:rPr lang="en-US" dirty="0"/>
              <a:t>Resources</a:t>
            </a:r>
          </a:p>
          <a:p>
            <a:r>
              <a:rPr lang="en-US" dirty="0"/>
              <a:t>Financials and forecast</a:t>
            </a:r>
          </a:p>
          <a:p>
            <a:r>
              <a:rPr lang="en-US" dirty="0"/>
              <a:t>Risk, Opportunities and Sensitivities</a:t>
            </a:r>
            <a:endParaRPr lang="en-IN" dirty="0"/>
          </a:p>
        </p:txBody>
      </p:sp>
      <p:cxnSp>
        <p:nvCxnSpPr>
          <p:cNvPr id="4" name="Straight Connector 3">
            <a:extLst>
              <a:ext uri="{FF2B5EF4-FFF2-40B4-BE49-F238E27FC236}">
                <a16:creationId xmlns:a16="http://schemas.microsoft.com/office/drawing/2014/main" id="{1BE36A06-A196-DEBB-58DC-CE7817A4E35A}"/>
              </a:ext>
            </a:extLst>
          </p:cNvPr>
          <p:cNvCxnSpPr/>
          <p:nvPr/>
        </p:nvCxnSpPr>
        <p:spPr>
          <a:xfrm flipV="1">
            <a:off x="405353" y="527901"/>
            <a:ext cx="11378152" cy="5649062"/>
          </a:xfrm>
          <a:prstGeom prst="line">
            <a:avLst/>
          </a:prstGeom>
          <a:ln w="41275">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DEE73188-492E-DCAA-2483-D0E8A2D525CE}"/>
              </a:ext>
            </a:extLst>
          </p:cNvPr>
          <p:cNvCxnSpPr>
            <a:cxnSpLocks/>
          </p:cNvCxnSpPr>
          <p:nvPr/>
        </p:nvCxnSpPr>
        <p:spPr>
          <a:xfrm>
            <a:off x="94268" y="365125"/>
            <a:ext cx="11547835" cy="5991225"/>
          </a:xfrm>
          <a:prstGeom prst="line">
            <a:avLst/>
          </a:prstGeom>
          <a:ln w="41275">
            <a:solidFill>
              <a:srgbClr val="FF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9558172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849" y="207490"/>
            <a:ext cx="9094078" cy="922114"/>
          </a:xfrm>
          <a:noFill/>
        </p:spPr>
        <p:style>
          <a:lnRef idx="2">
            <a:schemeClr val="accent3"/>
          </a:lnRef>
          <a:fillRef idx="1">
            <a:schemeClr val="lt1"/>
          </a:fillRef>
          <a:effectRef idx="0">
            <a:schemeClr val="accent3"/>
          </a:effectRef>
          <a:fontRef idx="minor">
            <a:schemeClr val="dk1"/>
          </a:fontRef>
        </p:style>
        <p:txBody>
          <a:bodyPr/>
          <a:lstStyle/>
          <a:p>
            <a:r>
              <a:rPr lang="en-US" b="1" dirty="0">
                <a:solidFill>
                  <a:schemeClr val="accent5">
                    <a:lumMod val="50000"/>
                  </a:schemeClr>
                </a:solidFill>
              </a:rPr>
              <a:t>Template by Sequoia Capital</a:t>
            </a:r>
          </a:p>
        </p:txBody>
      </p:sp>
      <p:sp>
        <p:nvSpPr>
          <p:cNvPr id="3" name="Content Placeholder 2"/>
          <p:cNvSpPr>
            <a:spLocks noGrp="1"/>
          </p:cNvSpPr>
          <p:nvPr>
            <p:ph idx="1"/>
          </p:nvPr>
        </p:nvSpPr>
        <p:spPr>
          <a:xfrm>
            <a:off x="1981200" y="2348880"/>
            <a:ext cx="8229600" cy="3672408"/>
          </a:xfrm>
        </p:spPr>
        <p:txBody>
          <a:bodyPr numCol="2">
            <a:noAutofit/>
          </a:bodyPr>
          <a:lstStyle/>
          <a:p>
            <a:r>
              <a:rPr lang="en-IN" sz="3600" dirty="0"/>
              <a:t>Company Purpose</a:t>
            </a:r>
          </a:p>
          <a:p>
            <a:r>
              <a:rPr lang="en-IN" sz="3600" dirty="0"/>
              <a:t>Problem</a:t>
            </a:r>
          </a:p>
          <a:p>
            <a:r>
              <a:rPr lang="en-IN" sz="3600" dirty="0"/>
              <a:t>Solution </a:t>
            </a:r>
          </a:p>
          <a:p>
            <a:r>
              <a:rPr lang="en-IN" sz="3600" dirty="0"/>
              <a:t>Why now</a:t>
            </a:r>
          </a:p>
          <a:p>
            <a:r>
              <a:rPr lang="en-IN" sz="3600" dirty="0"/>
              <a:t>Market size</a:t>
            </a:r>
          </a:p>
          <a:p>
            <a:pPr marL="0" indent="0">
              <a:buNone/>
            </a:pPr>
            <a:endParaRPr lang="en-IN" sz="4000" dirty="0"/>
          </a:p>
          <a:p>
            <a:r>
              <a:rPr lang="en-IN" sz="4000" dirty="0"/>
              <a:t>Competition </a:t>
            </a:r>
          </a:p>
          <a:p>
            <a:r>
              <a:rPr lang="en-IN" sz="4000" dirty="0"/>
              <a:t>Product</a:t>
            </a:r>
          </a:p>
          <a:p>
            <a:r>
              <a:rPr lang="en-IN" sz="4000" dirty="0"/>
              <a:t>Business model</a:t>
            </a:r>
          </a:p>
          <a:p>
            <a:r>
              <a:rPr lang="en-IN" sz="4000" dirty="0"/>
              <a:t>Team </a:t>
            </a:r>
          </a:p>
          <a:p>
            <a:r>
              <a:rPr lang="en-IN" sz="4000" dirty="0"/>
              <a:t>Financials</a:t>
            </a:r>
          </a:p>
          <a:p>
            <a:pPr marL="0" indent="0">
              <a:buNone/>
            </a:pPr>
            <a:endParaRPr lang="en-US" sz="4000" dirty="0"/>
          </a:p>
        </p:txBody>
      </p:sp>
      <p:sp>
        <p:nvSpPr>
          <p:cNvPr id="4" name="TextBox 3"/>
          <p:cNvSpPr txBox="1"/>
          <p:nvPr/>
        </p:nvSpPr>
        <p:spPr>
          <a:xfrm>
            <a:off x="352328" y="1292966"/>
            <a:ext cx="11742262" cy="892552"/>
          </a:xfrm>
          <a:prstGeom prst="rect">
            <a:avLst/>
          </a:prstGeom>
          <a:solidFill>
            <a:schemeClr val="accent1">
              <a:lumMod val="20000"/>
              <a:lumOff val="80000"/>
            </a:schemeClr>
          </a:solidFill>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sz="2600" dirty="0"/>
              <a:t>“We like business plans that present a lot of information in </a:t>
            </a:r>
            <a:r>
              <a:rPr lang="en-IN" sz="2600" b="1" u="sng" dirty="0"/>
              <a:t>as few words as possible</a:t>
            </a:r>
            <a:r>
              <a:rPr lang="en-IN" sz="2600" dirty="0"/>
              <a:t>. The following business plan format, within 15–20 slides, is all that’s needed.”</a:t>
            </a:r>
          </a:p>
        </p:txBody>
      </p:sp>
      <p:sp>
        <p:nvSpPr>
          <p:cNvPr id="5" name="Rectangle 4"/>
          <p:cNvSpPr/>
          <p:nvPr/>
        </p:nvSpPr>
        <p:spPr>
          <a:xfrm>
            <a:off x="1656541" y="6060008"/>
            <a:ext cx="7992888" cy="369332"/>
          </a:xfrm>
          <a:prstGeom prst="rect">
            <a:avLst/>
          </a:prstGeom>
          <a:solidFill>
            <a:schemeClr val="bg1">
              <a:lumMod val="85000"/>
            </a:schemeClr>
          </a:solidFill>
        </p:spPr>
        <p:txBody>
          <a:bodyPr wrap="square">
            <a:spAutoFit/>
          </a:bodyPr>
          <a:lstStyle/>
          <a:p>
            <a:r>
              <a:rPr lang="en-US" dirty="0"/>
              <a:t>https://www.sequoiacap.com/india/article/writing-a-business-plan/</a:t>
            </a:r>
          </a:p>
        </p:txBody>
      </p:sp>
      <p:cxnSp>
        <p:nvCxnSpPr>
          <p:cNvPr id="7" name="Straight Connector 6"/>
          <p:cNvCxnSpPr>
            <a:cxnSpLocks/>
          </p:cNvCxnSpPr>
          <p:nvPr/>
        </p:nvCxnSpPr>
        <p:spPr>
          <a:xfrm>
            <a:off x="5956300" y="2348880"/>
            <a:ext cx="0" cy="3672408"/>
          </a:xfrm>
          <a:prstGeom prst="line">
            <a:avLst/>
          </a:prstGeom>
          <a:ln w="95250" cmpd="tri"/>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283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191" y="891834"/>
            <a:ext cx="9512567" cy="652934"/>
          </a:xfrm>
          <a:ln>
            <a:solidFill>
              <a:srgbClr val="FFC000"/>
            </a:solidFill>
          </a:ln>
        </p:spPr>
        <p:txBody>
          <a:bodyPr>
            <a:normAutofit/>
          </a:bodyPr>
          <a:lstStyle/>
          <a:p>
            <a:r>
              <a:rPr lang="en-US" sz="2700" dirty="0"/>
              <a:t>Source</a:t>
            </a:r>
            <a:r>
              <a:rPr lang="en-US" b="1" dirty="0"/>
              <a:t>: Forbes, </a:t>
            </a:r>
            <a:r>
              <a:rPr lang="en-US" sz="2700" dirty="0">
                <a:solidFill>
                  <a:schemeClr val="accent5">
                    <a:lumMod val="50000"/>
                  </a:schemeClr>
                </a:solidFill>
              </a:rPr>
              <a:t>Created</a:t>
            </a:r>
            <a:r>
              <a:rPr lang="en-US" b="1" dirty="0">
                <a:solidFill>
                  <a:schemeClr val="accent5">
                    <a:lumMod val="50000"/>
                  </a:schemeClr>
                </a:solidFill>
              </a:rPr>
              <a:t> </a:t>
            </a:r>
            <a:r>
              <a:rPr lang="en-US" sz="2200" dirty="0">
                <a:solidFill>
                  <a:schemeClr val="accent5">
                    <a:lumMod val="50000"/>
                  </a:schemeClr>
                </a:solidFill>
              </a:rPr>
              <a:t>by</a:t>
            </a:r>
            <a:r>
              <a:rPr lang="en-US" b="1" dirty="0">
                <a:solidFill>
                  <a:schemeClr val="accent5">
                    <a:lumMod val="50000"/>
                  </a:schemeClr>
                </a:solidFill>
              </a:rPr>
              <a:t> </a:t>
            </a:r>
            <a:r>
              <a:rPr lang="en-US" sz="4000" dirty="0">
                <a:solidFill>
                  <a:srgbClr val="0070C0"/>
                </a:solidFill>
              </a:rPr>
              <a:t>Dave </a:t>
            </a:r>
            <a:r>
              <a:rPr lang="en-US" sz="4000" dirty="0" err="1">
                <a:solidFill>
                  <a:srgbClr val="0070C0"/>
                </a:solidFill>
              </a:rPr>
              <a:t>Lavinsky</a:t>
            </a:r>
            <a:endParaRPr lang="en-US" sz="4000" dirty="0">
              <a:solidFill>
                <a:srgbClr val="0070C0"/>
              </a:solidFill>
            </a:endParaRPr>
          </a:p>
        </p:txBody>
      </p:sp>
      <p:sp>
        <p:nvSpPr>
          <p:cNvPr id="3" name="Content Placeholder 2"/>
          <p:cNvSpPr>
            <a:spLocks noGrp="1"/>
          </p:cNvSpPr>
          <p:nvPr>
            <p:ph idx="1"/>
          </p:nvPr>
        </p:nvSpPr>
        <p:spPr>
          <a:xfrm>
            <a:off x="270933" y="1612379"/>
            <a:ext cx="11463867" cy="4525963"/>
          </a:xfrm>
        </p:spPr>
        <p:txBody>
          <a:bodyPr numCol="2">
            <a:normAutofit/>
          </a:bodyPr>
          <a:lstStyle/>
          <a:p>
            <a:r>
              <a:rPr lang="en-US" sz="3200" b="1" dirty="0"/>
              <a:t>Section I – Executive Summary</a:t>
            </a:r>
          </a:p>
          <a:p>
            <a:r>
              <a:rPr lang="en-US" sz="3200" b="1" dirty="0"/>
              <a:t>Section II – Company </a:t>
            </a:r>
            <a:r>
              <a:rPr lang="en-US" b="1" dirty="0"/>
              <a:t>Overview</a:t>
            </a:r>
          </a:p>
          <a:p>
            <a:r>
              <a:rPr lang="en-US" b="1" dirty="0"/>
              <a:t>Section III – Industry Analysis</a:t>
            </a:r>
          </a:p>
          <a:p>
            <a:pPr lvl="1"/>
            <a:r>
              <a:rPr lang="en-US" sz="2400" i="1" dirty="0">
                <a:solidFill>
                  <a:schemeClr val="tx1">
                    <a:lumMod val="65000"/>
                    <a:lumOff val="35000"/>
                  </a:schemeClr>
                </a:solidFill>
              </a:rPr>
              <a:t>Market Overview</a:t>
            </a:r>
          </a:p>
          <a:p>
            <a:pPr lvl="1"/>
            <a:r>
              <a:rPr lang="en-US" sz="2400" i="1" dirty="0">
                <a:solidFill>
                  <a:schemeClr val="tx1">
                    <a:lumMod val="65000"/>
                    <a:lumOff val="35000"/>
                  </a:schemeClr>
                </a:solidFill>
              </a:rPr>
              <a:t>Relevant Market Size</a:t>
            </a:r>
          </a:p>
          <a:p>
            <a:r>
              <a:rPr lang="en-US" b="1" dirty="0"/>
              <a:t>Section IV – Customer Analysis</a:t>
            </a:r>
          </a:p>
          <a:p>
            <a:pPr lvl="1"/>
            <a:r>
              <a:rPr lang="en-US" sz="2400" i="1" dirty="0">
                <a:solidFill>
                  <a:schemeClr val="tx1">
                    <a:lumMod val="65000"/>
                    <a:lumOff val="35000"/>
                  </a:schemeClr>
                </a:solidFill>
              </a:rPr>
              <a:t>Target Customers</a:t>
            </a:r>
          </a:p>
          <a:p>
            <a:pPr lvl="1"/>
            <a:r>
              <a:rPr lang="en-US" sz="2400" i="1" dirty="0">
                <a:solidFill>
                  <a:schemeClr val="tx1">
                    <a:lumMod val="65000"/>
                    <a:lumOff val="35000"/>
                  </a:schemeClr>
                </a:solidFill>
              </a:rPr>
              <a:t>Customers’ Needs</a:t>
            </a:r>
          </a:p>
          <a:p>
            <a:r>
              <a:rPr lang="en-US" b="1" dirty="0"/>
              <a:t>Section V – Competitive Analysis</a:t>
            </a:r>
          </a:p>
          <a:p>
            <a:pPr lvl="1"/>
            <a:r>
              <a:rPr lang="en-US" sz="2400" i="1" dirty="0">
                <a:solidFill>
                  <a:schemeClr val="tx1">
                    <a:lumMod val="65000"/>
                    <a:lumOff val="35000"/>
                  </a:schemeClr>
                </a:solidFill>
              </a:rPr>
              <a:t>Direct Competitors</a:t>
            </a:r>
          </a:p>
          <a:p>
            <a:pPr lvl="1"/>
            <a:r>
              <a:rPr lang="en-US" sz="2400" i="1" dirty="0">
                <a:solidFill>
                  <a:schemeClr val="tx1">
                    <a:lumMod val="65000"/>
                    <a:lumOff val="35000"/>
                  </a:schemeClr>
                </a:solidFill>
              </a:rPr>
              <a:t>Indirect Competitors</a:t>
            </a:r>
          </a:p>
          <a:p>
            <a:pPr lvl="1"/>
            <a:r>
              <a:rPr lang="en-US" sz="2400" i="1" dirty="0">
                <a:solidFill>
                  <a:schemeClr val="tx1">
                    <a:lumMod val="65000"/>
                    <a:lumOff val="35000"/>
                  </a:schemeClr>
                </a:solidFill>
              </a:rPr>
              <a:t>Competitive Advantages</a:t>
            </a:r>
          </a:p>
          <a:p>
            <a:r>
              <a:rPr lang="en-US" b="1" dirty="0"/>
              <a:t>Section VI – Marketing Plan</a:t>
            </a:r>
          </a:p>
          <a:p>
            <a:pPr lvl="1"/>
            <a:r>
              <a:rPr lang="en-US" sz="2400" i="1" dirty="0">
                <a:solidFill>
                  <a:schemeClr val="tx1">
                    <a:lumMod val="65000"/>
                    <a:lumOff val="35000"/>
                  </a:schemeClr>
                </a:solidFill>
              </a:rPr>
              <a:t>Products &amp; Services</a:t>
            </a:r>
          </a:p>
          <a:p>
            <a:pPr lvl="1"/>
            <a:r>
              <a:rPr lang="en-US" sz="2400" i="1" dirty="0">
                <a:solidFill>
                  <a:schemeClr val="tx1">
                    <a:lumMod val="65000"/>
                    <a:lumOff val="35000"/>
                  </a:schemeClr>
                </a:solidFill>
              </a:rPr>
              <a:t>Promotion Plan</a:t>
            </a:r>
          </a:p>
          <a:p>
            <a:pPr lvl="1"/>
            <a:r>
              <a:rPr lang="en-US" sz="2400" i="1" dirty="0">
                <a:solidFill>
                  <a:schemeClr val="tx1">
                    <a:lumMod val="65000"/>
                    <a:lumOff val="35000"/>
                  </a:schemeClr>
                </a:solidFill>
              </a:rPr>
              <a:t>Distribution Plan</a:t>
            </a:r>
          </a:p>
          <a:p>
            <a:pPr lvl="1"/>
            <a:r>
              <a:rPr lang="en-US" sz="2400" i="1" dirty="0">
                <a:solidFill>
                  <a:schemeClr val="tx1">
                    <a:lumMod val="65000"/>
                    <a:lumOff val="35000"/>
                  </a:schemeClr>
                </a:solidFill>
              </a:rPr>
              <a:t>USP</a:t>
            </a:r>
          </a:p>
          <a:p>
            <a:pPr marL="0" indent="0">
              <a:buNone/>
            </a:pPr>
            <a:endParaRPr lang="en-US" b="1" dirty="0"/>
          </a:p>
        </p:txBody>
      </p:sp>
      <p:sp>
        <p:nvSpPr>
          <p:cNvPr id="4" name="TextBox 3"/>
          <p:cNvSpPr txBox="1"/>
          <p:nvPr/>
        </p:nvSpPr>
        <p:spPr>
          <a:xfrm>
            <a:off x="1673260" y="430169"/>
            <a:ext cx="813690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2400" dirty="0"/>
              <a:t>Business Plan Outline - 23 Point Checklist For Success</a:t>
            </a:r>
          </a:p>
        </p:txBody>
      </p:sp>
      <p:sp>
        <p:nvSpPr>
          <p:cNvPr id="5" name="TextBox 4"/>
          <p:cNvSpPr txBox="1"/>
          <p:nvPr/>
        </p:nvSpPr>
        <p:spPr>
          <a:xfrm>
            <a:off x="6348187" y="5467298"/>
            <a:ext cx="2304256" cy="369332"/>
          </a:xfrm>
          <a:prstGeom prst="rect">
            <a:avLst/>
          </a:prstGeom>
          <a:noFill/>
          <a:ln>
            <a:solidFill>
              <a:schemeClr val="accent6">
                <a:lumMod val="75000"/>
              </a:schemeClr>
            </a:solidFill>
          </a:ln>
        </p:spPr>
        <p:txBody>
          <a:bodyPr wrap="square" rtlCol="0">
            <a:spAutoFit/>
          </a:bodyPr>
          <a:lstStyle/>
          <a:p>
            <a:r>
              <a:rPr lang="en-US" sz="1800" dirty="0"/>
              <a:t>Continued …</a:t>
            </a:r>
          </a:p>
        </p:txBody>
      </p:sp>
      <p:sp>
        <p:nvSpPr>
          <p:cNvPr id="6" name="Rectangle 5"/>
          <p:cNvSpPr/>
          <p:nvPr/>
        </p:nvSpPr>
        <p:spPr>
          <a:xfrm>
            <a:off x="1981499" y="6138342"/>
            <a:ext cx="4997650" cy="461665"/>
          </a:xfrm>
          <a:prstGeom prst="rect">
            <a:avLst/>
          </a:prstGeom>
        </p:spPr>
        <p:txBody>
          <a:bodyPr wrap="none">
            <a:spAutoFit/>
          </a:bodyPr>
          <a:lstStyle/>
          <a:p>
            <a:r>
              <a:rPr lang="en-IN" sz="2400" dirty="0">
                <a:solidFill>
                  <a:srgbClr val="C00000"/>
                </a:solidFill>
              </a:rPr>
              <a:t>www.forbes.com › sites › </a:t>
            </a:r>
            <a:r>
              <a:rPr lang="en-IN" sz="2400" dirty="0" err="1">
                <a:solidFill>
                  <a:srgbClr val="C00000"/>
                </a:solidFill>
              </a:rPr>
              <a:t>davelavinsky</a:t>
            </a:r>
            <a:r>
              <a:rPr lang="en-IN" sz="2400" dirty="0">
                <a:solidFill>
                  <a:srgbClr val="C00000"/>
                </a:solidFill>
              </a:rPr>
              <a:t> </a:t>
            </a:r>
          </a:p>
        </p:txBody>
      </p:sp>
      <p:cxnSp>
        <p:nvCxnSpPr>
          <p:cNvPr id="8" name="Straight Connector 7">
            <a:extLst>
              <a:ext uri="{FF2B5EF4-FFF2-40B4-BE49-F238E27FC236}">
                <a16:creationId xmlns:a16="http://schemas.microsoft.com/office/drawing/2014/main" id="{5408088B-9E2F-FF40-B324-3A6445B70B39}"/>
              </a:ext>
            </a:extLst>
          </p:cNvPr>
          <p:cNvCxnSpPr>
            <a:cxnSpLocks/>
          </p:cNvCxnSpPr>
          <p:nvPr/>
        </p:nvCxnSpPr>
        <p:spPr>
          <a:xfrm flipH="1">
            <a:off x="5905500" y="1612379"/>
            <a:ext cx="46567" cy="4408909"/>
          </a:xfrm>
          <a:prstGeom prst="line">
            <a:avLst/>
          </a:prstGeom>
          <a:ln w="95250" cmpd="tri"/>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55862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4696"/>
            <a:ext cx="10515600" cy="1325563"/>
          </a:xfrm>
        </p:spPr>
        <p:txBody>
          <a:bodyPr>
            <a:normAutofit fontScale="90000"/>
          </a:bodyPr>
          <a:lstStyle/>
          <a:p>
            <a:r>
              <a:rPr lang="en-IN" dirty="0"/>
              <a:t>Business Plan Outline - 23 Point Checklist For Success … contd.</a:t>
            </a:r>
            <a:br>
              <a:rPr lang="en-IN" dirty="0"/>
            </a:br>
            <a:endParaRPr lang="en-US" dirty="0"/>
          </a:p>
        </p:txBody>
      </p:sp>
      <p:sp>
        <p:nvSpPr>
          <p:cNvPr id="3" name="Content Placeholder 2"/>
          <p:cNvSpPr>
            <a:spLocks noGrp="1"/>
          </p:cNvSpPr>
          <p:nvPr>
            <p:ph idx="1"/>
          </p:nvPr>
        </p:nvSpPr>
        <p:spPr>
          <a:xfrm>
            <a:off x="186267" y="1636776"/>
            <a:ext cx="11167533" cy="4277072"/>
          </a:xfrm>
          <a:noFill/>
        </p:spPr>
        <p:style>
          <a:lnRef idx="2">
            <a:schemeClr val="accent3"/>
          </a:lnRef>
          <a:fillRef idx="1">
            <a:schemeClr val="lt1"/>
          </a:fillRef>
          <a:effectRef idx="0">
            <a:schemeClr val="accent3"/>
          </a:effectRef>
          <a:fontRef idx="minor">
            <a:schemeClr val="dk1"/>
          </a:fontRef>
        </p:style>
        <p:txBody>
          <a:bodyPr numCol="2">
            <a:normAutofit/>
          </a:bodyPr>
          <a:lstStyle/>
          <a:p>
            <a:r>
              <a:rPr lang="en-US" sz="3300" dirty="0"/>
              <a:t>Section VII – Operations Plan</a:t>
            </a:r>
          </a:p>
          <a:p>
            <a:pPr lvl="1"/>
            <a:r>
              <a:rPr lang="en-US" sz="2400" i="1" dirty="0">
                <a:solidFill>
                  <a:schemeClr val="tx1">
                    <a:lumMod val="65000"/>
                    <a:lumOff val="35000"/>
                  </a:schemeClr>
                </a:solidFill>
              </a:rPr>
              <a:t>Key Operational Processes</a:t>
            </a:r>
          </a:p>
          <a:p>
            <a:pPr lvl="1"/>
            <a:r>
              <a:rPr lang="en-US" sz="2400" i="1" dirty="0">
                <a:solidFill>
                  <a:schemeClr val="tx1">
                    <a:lumMod val="65000"/>
                    <a:lumOff val="35000"/>
                  </a:schemeClr>
                </a:solidFill>
              </a:rPr>
              <a:t>Milestones</a:t>
            </a:r>
          </a:p>
          <a:p>
            <a:r>
              <a:rPr lang="en-US" b="1" dirty="0"/>
              <a:t>Section VIII – Management Team</a:t>
            </a:r>
          </a:p>
          <a:p>
            <a:pPr lvl="1"/>
            <a:r>
              <a:rPr lang="en-US" sz="2400" i="1" dirty="0">
                <a:solidFill>
                  <a:schemeClr val="tx1">
                    <a:lumMod val="65000"/>
                    <a:lumOff val="35000"/>
                  </a:schemeClr>
                </a:solidFill>
              </a:rPr>
              <a:t>Management Team Members</a:t>
            </a:r>
          </a:p>
          <a:p>
            <a:pPr lvl="1"/>
            <a:r>
              <a:rPr lang="en-US" sz="2400" i="1" dirty="0">
                <a:solidFill>
                  <a:schemeClr val="tx1">
                    <a:lumMod val="65000"/>
                    <a:lumOff val="35000"/>
                  </a:schemeClr>
                </a:solidFill>
              </a:rPr>
              <a:t>Management Team Gaps</a:t>
            </a:r>
          </a:p>
          <a:p>
            <a:pPr lvl="1"/>
            <a:r>
              <a:rPr lang="en-US" sz="2400" i="1" dirty="0">
                <a:solidFill>
                  <a:schemeClr val="tx1">
                    <a:lumMod val="65000"/>
                    <a:lumOff val="35000"/>
                  </a:schemeClr>
                </a:solidFill>
              </a:rPr>
              <a:t>Board Members</a:t>
            </a:r>
          </a:p>
          <a:p>
            <a:r>
              <a:rPr lang="en-US" b="1" dirty="0"/>
              <a:t>Section IX – Financial Plan</a:t>
            </a:r>
          </a:p>
          <a:p>
            <a:pPr lvl="1"/>
            <a:r>
              <a:rPr lang="en-US" sz="2400" i="1" dirty="0">
                <a:solidFill>
                  <a:schemeClr val="tx1">
                    <a:lumMod val="65000"/>
                    <a:lumOff val="35000"/>
                  </a:schemeClr>
                </a:solidFill>
              </a:rPr>
              <a:t>Revenue Model</a:t>
            </a:r>
          </a:p>
          <a:p>
            <a:pPr lvl="1"/>
            <a:r>
              <a:rPr lang="en-US" sz="2400" i="1" dirty="0">
                <a:solidFill>
                  <a:schemeClr val="tx1">
                    <a:lumMod val="65000"/>
                    <a:lumOff val="35000"/>
                  </a:schemeClr>
                </a:solidFill>
              </a:rPr>
              <a:t>Financial Highlights</a:t>
            </a:r>
          </a:p>
          <a:p>
            <a:pPr lvl="1"/>
            <a:r>
              <a:rPr lang="en-US" sz="2400" i="1" dirty="0">
                <a:solidFill>
                  <a:schemeClr val="tx1">
                    <a:lumMod val="65000"/>
                    <a:lumOff val="35000"/>
                  </a:schemeClr>
                </a:solidFill>
              </a:rPr>
              <a:t>Funding Requirements</a:t>
            </a:r>
          </a:p>
          <a:p>
            <a:pPr lvl="1"/>
            <a:r>
              <a:rPr lang="en-US" sz="2400" i="1" dirty="0">
                <a:solidFill>
                  <a:schemeClr val="tx1">
                    <a:lumMod val="65000"/>
                    <a:lumOff val="35000"/>
                  </a:schemeClr>
                </a:solidFill>
              </a:rPr>
              <a:t>Use of Funds</a:t>
            </a:r>
          </a:p>
          <a:p>
            <a:pPr lvl="1"/>
            <a:r>
              <a:rPr lang="en-US" sz="2400" i="1" dirty="0">
                <a:solidFill>
                  <a:schemeClr val="tx1">
                    <a:lumMod val="65000"/>
                    <a:lumOff val="35000"/>
                  </a:schemeClr>
                </a:solidFill>
              </a:rPr>
              <a:t>Exit Strategies</a:t>
            </a:r>
          </a:p>
          <a:p>
            <a:r>
              <a:rPr lang="en-US" b="1" dirty="0"/>
              <a:t>Section X – Appendix</a:t>
            </a:r>
          </a:p>
          <a:p>
            <a:pPr lvl="1"/>
            <a:r>
              <a:rPr lang="en-US" sz="2400" i="1" dirty="0">
                <a:solidFill>
                  <a:schemeClr val="tx1">
                    <a:lumMod val="65000"/>
                    <a:lumOff val="35000"/>
                  </a:schemeClr>
                </a:solidFill>
              </a:rPr>
              <a:t>Supporting Documentation</a:t>
            </a:r>
          </a:p>
        </p:txBody>
      </p:sp>
      <p:cxnSp>
        <p:nvCxnSpPr>
          <p:cNvPr id="5" name="Straight Connector 4"/>
          <p:cNvCxnSpPr/>
          <p:nvPr/>
        </p:nvCxnSpPr>
        <p:spPr>
          <a:xfrm>
            <a:off x="5637784" y="1636776"/>
            <a:ext cx="0" cy="427707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50644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A92649FA-E656-48E9-9882-8BB8A8BD2F35}"/>
              </a:ext>
            </a:extLst>
          </p:cNvPr>
          <p:cNvSpPr/>
          <p:nvPr/>
        </p:nvSpPr>
        <p:spPr>
          <a:xfrm>
            <a:off x="213064" y="165497"/>
            <a:ext cx="11567604" cy="6069794"/>
          </a:xfrm>
          <a:custGeom>
            <a:avLst/>
            <a:gdLst>
              <a:gd name="connsiteX0" fmla="*/ 6128709 w 11567604"/>
              <a:gd name="connsiteY0" fmla="*/ 3933547 h 6267635"/>
              <a:gd name="connsiteX1" fmla="*/ 9158655 w 11567604"/>
              <a:gd name="connsiteY1" fmla="*/ 3933547 h 6267635"/>
              <a:gd name="connsiteX2" fmla="*/ 9158655 w 11567604"/>
              <a:gd name="connsiteY2" fmla="*/ 3943072 h 6267635"/>
              <a:gd name="connsiteX3" fmla="*/ 9358680 w 11567604"/>
              <a:gd name="connsiteY3" fmla="*/ 3943072 h 6267635"/>
              <a:gd name="connsiteX4" fmla="*/ 9358680 w 11567604"/>
              <a:gd name="connsiteY4" fmla="*/ 3933547 h 6267635"/>
              <a:gd name="connsiteX5" fmla="*/ 11567604 w 11567604"/>
              <a:gd name="connsiteY5" fmla="*/ 3933547 h 6267635"/>
              <a:gd name="connsiteX6" fmla="*/ 11567604 w 11567604"/>
              <a:gd name="connsiteY6" fmla="*/ 6267635 h 6267635"/>
              <a:gd name="connsiteX7" fmla="*/ 6128709 w 11567604"/>
              <a:gd name="connsiteY7" fmla="*/ 6267635 h 6267635"/>
              <a:gd name="connsiteX8" fmla="*/ 0 w 11567604"/>
              <a:gd name="connsiteY8" fmla="*/ 3933547 h 6267635"/>
              <a:gd name="connsiteX9" fmla="*/ 1779420 w 11567604"/>
              <a:gd name="connsiteY9" fmla="*/ 3933547 h 6267635"/>
              <a:gd name="connsiteX10" fmla="*/ 1779420 w 11567604"/>
              <a:gd name="connsiteY10" fmla="*/ 3933548 h 6267635"/>
              <a:gd name="connsiteX11" fmla="*/ 2027069 w 11567604"/>
              <a:gd name="connsiteY11" fmla="*/ 3933548 h 6267635"/>
              <a:gd name="connsiteX12" fmla="*/ 2027069 w 11567604"/>
              <a:gd name="connsiteY12" fmla="*/ 3933547 h 6267635"/>
              <a:gd name="connsiteX13" fmla="*/ 3863639 w 11567604"/>
              <a:gd name="connsiteY13" fmla="*/ 3933547 h 6267635"/>
              <a:gd name="connsiteX14" fmla="*/ 3863639 w 11567604"/>
              <a:gd name="connsiteY14" fmla="*/ 3933548 h 6267635"/>
              <a:gd name="connsiteX15" fmla="*/ 4111288 w 11567604"/>
              <a:gd name="connsiteY15" fmla="*/ 3933548 h 6267635"/>
              <a:gd name="connsiteX16" fmla="*/ 4111288 w 11567604"/>
              <a:gd name="connsiteY16" fmla="*/ 3933547 h 6267635"/>
              <a:gd name="connsiteX17" fmla="*/ 5881060 w 11567604"/>
              <a:gd name="connsiteY17" fmla="*/ 3933547 h 6267635"/>
              <a:gd name="connsiteX18" fmla="*/ 5881060 w 11567604"/>
              <a:gd name="connsiteY18" fmla="*/ 6267635 h 6267635"/>
              <a:gd name="connsiteX19" fmla="*/ 0 w 11567604"/>
              <a:gd name="connsiteY19" fmla="*/ 6267635 h 6267635"/>
              <a:gd name="connsiteX20" fmla="*/ 2027069 w 11567604"/>
              <a:gd name="connsiteY20" fmla="*/ 2228434 h 6267635"/>
              <a:gd name="connsiteX21" fmla="*/ 3863639 w 11567604"/>
              <a:gd name="connsiteY21" fmla="*/ 2228434 h 6267635"/>
              <a:gd name="connsiteX22" fmla="*/ 3863639 w 11567604"/>
              <a:gd name="connsiteY22" fmla="*/ 3752572 h 6267635"/>
              <a:gd name="connsiteX23" fmla="*/ 2027069 w 11567604"/>
              <a:gd name="connsiteY23" fmla="*/ 3752572 h 6267635"/>
              <a:gd name="connsiteX24" fmla="*/ 7149758 w 11567604"/>
              <a:gd name="connsiteY24" fmla="*/ 2007116 h 6267635"/>
              <a:gd name="connsiteX25" fmla="*/ 9158655 w 11567604"/>
              <a:gd name="connsiteY25" fmla="*/ 2007116 h 6267635"/>
              <a:gd name="connsiteX26" fmla="*/ 9158655 w 11567604"/>
              <a:gd name="connsiteY26" fmla="*/ 3752572 h 6267635"/>
              <a:gd name="connsiteX27" fmla="*/ 7149758 w 11567604"/>
              <a:gd name="connsiteY27" fmla="*/ 3752572 h 6267635"/>
              <a:gd name="connsiteX28" fmla="*/ 9358680 w 11567604"/>
              <a:gd name="connsiteY28" fmla="*/ 0 h 6267635"/>
              <a:gd name="connsiteX29" fmla="*/ 11567604 w 11567604"/>
              <a:gd name="connsiteY29" fmla="*/ 0 h 6267635"/>
              <a:gd name="connsiteX30" fmla="*/ 11567604 w 11567604"/>
              <a:gd name="connsiteY30" fmla="*/ 3752572 h 6267635"/>
              <a:gd name="connsiteX31" fmla="*/ 9358680 w 11567604"/>
              <a:gd name="connsiteY31" fmla="*/ 3752572 h 6267635"/>
              <a:gd name="connsiteX32" fmla="*/ 7149758 w 11567604"/>
              <a:gd name="connsiteY32" fmla="*/ 0 h 6267635"/>
              <a:gd name="connsiteX33" fmla="*/ 9158655 w 11567604"/>
              <a:gd name="connsiteY33" fmla="*/ 0 h 6267635"/>
              <a:gd name="connsiteX34" fmla="*/ 9158655 w 11567604"/>
              <a:gd name="connsiteY34" fmla="*/ 1745454 h 6267635"/>
              <a:gd name="connsiteX35" fmla="*/ 7149758 w 11567604"/>
              <a:gd name="connsiteY35" fmla="*/ 1745454 h 6267635"/>
              <a:gd name="connsiteX36" fmla="*/ 4111288 w 11567604"/>
              <a:gd name="connsiteY36" fmla="*/ 0 h 6267635"/>
              <a:gd name="connsiteX37" fmla="*/ 6902109 w 11567604"/>
              <a:gd name="connsiteY37" fmla="*/ 0 h 6267635"/>
              <a:gd name="connsiteX38" fmla="*/ 6902109 w 11567604"/>
              <a:gd name="connsiteY38" fmla="*/ 3752572 h 6267635"/>
              <a:gd name="connsiteX39" fmla="*/ 6128709 w 11567604"/>
              <a:gd name="connsiteY39" fmla="*/ 3752572 h 6267635"/>
              <a:gd name="connsiteX40" fmla="*/ 6128709 w 11567604"/>
              <a:gd name="connsiteY40" fmla="*/ 3752570 h 6267635"/>
              <a:gd name="connsiteX41" fmla="*/ 5881060 w 11567604"/>
              <a:gd name="connsiteY41" fmla="*/ 3752570 h 6267635"/>
              <a:gd name="connsiteX42" fmla="*/ 5881060 w 11567604"/>
              <a:gd name="connsiteY42" fmla="*/ 3752572 h 6267635"/>
              <a:gd name="connsiteX43" fmla="*/ 4111288 w 11567604"/>
              <a:gd name="connsiteY43" fmla="*/ 3752572 h 6267635"/>
              <a:gd name="connsiteX44" fmla="*/ 2027069 w 11567604"/>
              <a:gd name="connsiteY44" fmla="*/ 0 h 6267635"/>
              <a:gd name="connsiteX45" fmla="*/ 3863639 w 11567604"/>
              <a:gd name="connsiteY45" fmla="*/ 0 h 6267635"/>
              <a:gd name="connsiteX46" fmla="*/ 3863639 w 11567604"/>
              <a:gd name="connsiteY46" fmla="*/ 1966771 h 6267635"/>
              <a:gd name="connsiteX47" fmla="*/ 2027069 w 11567604"/>
              <a:gd name="connsiteY47" fmla="*/ 1966771 h 6267635"/>
              <a:gd name="connsiteX48" fmla="*/ 0 w 11567604"/>
              <a:gd name="connsiteY48" fmla="*/ 0 h 6267635"/>
              <a:gd name="connsiteX49" fmla="*/ 1779420 w 11567604"/>
              <a:gd name="connsiteY49" fmla="*/ 0 h 6267635"/>
              <a:gd name="connsiteX50" fmla="*/ 1779420 w 11567604"/>
              <a:gd name="connsiteY50" fmla="*/ 3752572 h 6267635"/>
              <a:gd name="connsiteX51" fmla="*/ 0 w 11567604"/>
              <a:gd name="connsiteY51" fmla="*/ 3752572 h 6267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1567604" h="6267635">
                <a:moveTo>
                  <a:pt x="6128709" y="3933547"/>
                </a:moveTo>
                <a:lnTo>
                  <a:pt x="9158655" y="3933547"/>
                </a:lnTo>
                <a:lnTo>
                  <a:pt x="9158655" y="3943072"/>
                </a:lnTo>
                <a:lnTo>
                  <a:pt x="9358680" y="3943072"/>
                </a:lnTo>
                <a:lnTo>
                  <a:pt x="9358680" y="3933547"/>
                </a:lnTo>
                <a:lnTo>
                  <a:pt x="11567604" y="3933547"/>
                </a:lnTo>
                <a:lnTo>
                  <a:pt x="11567604" y="6267635"/>
                </a:lnTo>
                <a:lnTo>
                  <a:pt x="6128709" y="6267635"/>
                </a:lnTo>
                <a:close/>
                <a:moveTo>
                  <a:pt x="0" y="3933547"/>
                </a:moveTo>
                <a:lnTo>
                  <a:pt x="1779420" y="3933547"/>
                </a:lnTo>
                <a:lnTo>
                  <a:pt x="1779420" y="3933548"/>
                </a:lnTo>
                <a:lnTo>
                  <a:pt x="2027069" y="3933548"/>
                </a:lnTo>
                <a:lnTo>
                  <a:pt x="2027069" y="3933547"/>
                </a:lnTo>
                <a:lnTo>
                  <a:pt x="3863639" y="3933547"/>
                </a:lnTo>
                <a:lnTo>
                  <a:pt x="3863639" y="3933548"/>
                </a:lnTo>
                <a:lnTo>
                  <a:pt x="4111288" y="3933548"/>
                </a:lnTo>
                <a:lnTo>
                  <a:pt x="4111288" y="3933547"/>
                </a:lnTo>
                <a:lnTo>
                  <a:pt x="5881060" y="3933547"/>
                </a:lnTo>
                <a:lnTo>
                  <a:pt x="5881060" y="6267635"/>
                </a:lnTo>
                <a:lnTo>
                  <a:pt x="0" y="6267635"/>
                </a:lnTo>
                <a:close/>
                <a:moveTo>
                  <a:pt x="2027069" y="2228434"/>
                </a:moveTo>
                <a:lnTo>
                  <a:pt x="3863639" y="2228434"/>
                </a:lnTo>
                <a:lnTo>
                  <a:pt x="3863639" y="3752572"/>
                </a:lnTo>
                <a:lnTo>
                  <a:pt x="2027069" y="3752572"/>
                </a:lnTo>
                <a:close/>
                <a:moveTo>
                  <a:pt x="7149758" y="2007116"/>
                </a:moveTo>
                <a:lnTo>
                  <a:pt x="9158655" y="2007116"/>
                </a:lnTo>
                <a:lnTo>
                  <a:pt x="9158655" y="3752572"/>
                </a:lnTo>
                <a:lnTo>
                  <a:pt x="7149758" y="3752572"/>
                </a:lnTo>
                <a:close/>
                <a:moveTo>
                  <a:pt x="9358680" y="0"/>
                </a:moveTo>
                <a:lnTo>
                  <a:pt x="11567604" y="0"/>
                </a:lnTo>
                <a:lnTo>
                  <a:pt x="11567604" y="3752572"/>
                </a:lnTo>
                <a:lnTo>
                  <a:pt x="9358680" y="3752572"/>
                </a:lnTo>
                <a:close/>
                <a:moveTo>
                  <a:pt x="7149758" y="0"/>
                </a:moveTo>
                <a:lnTo>
                  <a:pt x="9158655" y="0"/>
                </a:lnTo>
                <a:lnTo>
                  <a:pt x="9158655" y="1745454"/>
                </a:lnTo>
                <a:lnTo>
                  <a:pt x="7149758" y="1745454"/>
                </a:lnTo>
                <a:close/>
                <a:moveTo>
                  <a:pt x="4111288" y="0"/>
                </a:moveTo>
                <a:lnTo>
                  <a:pt x="6902109" y="0"/>
                </a:lnTo>
                <a:lnTo>
                  <a:pt x="6902109" y="3752572"/>
                </a:lnTo>
                <a:lnTo>
                  <a:pt x="6128709" y="3752572"/>
                </a:lnTo>
                <a:lnTo>
                  <a:pt x="6128709" y="3752570"/>
                </a:lnTo>
                <a:lnTo>
                  <a:pt x="5881060" y="3752570"/>
                </a:lnTo>
                <a:lnTo>
                  <a:pt x="5881060" y="3752572"/>
                </a:lnTo>
                <a:lnTo>
                  <a:pt x="4111288" y="3752572"/>
                </a:lnTo>
                <a:close/>
                <a:moveTo>
                  <a:pt x="2027069" y="0"/>
                </a:moveTo>
                <a:lnTo>
                  <a:pt x="3863639" y="0"/>
                </a:lnTo>
                <a:lnTo>
                  <a:pt x="3863639" y="1966771"/>
                </a:lnTo>
                <a:lnTo>
                  <a:pt x="2027069" y="1966771"/>
                </a:lnTo>
                <a:close/>
                <a:moveTo>
                  <a:pt x="0" y="0"/>
                </a:moveTo>
                <a:lnTo>
                  <a:pt x="1779420" y="0"/>
                </a:lnTo>
                <a:lnTo>
                  <a:pt x="1779420" y="3752572"/>
                </a:lnTo>
                <a:lnTo>
                  <a:pt x="0" y="3752572"/>
                </a:lnTo>
                <a:close/>
              </a:path>
            </a:pathLst>
          </a:custGeom>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ectangle 20">
            <a:extLst>
              <a:ext uri="{FF2B5EF4-FFF2-40B4-BE49-F238E27FC236}">
                <a16:creationId xmlns:a16="http://schemas.microsoft.com/office/drawing/2014/main" id="{EE461564-DD30-4C1D-AB9F-1E9F8F598C80}"/>
              </a:ext>
            </a:extLst>
          </p:cNvPr>
          <p:cNvSpPr/>
          <p:nvPr/>
        </p:nvSpPr>
        <p:spPr>
          <a:xfrm>
            <a:off x="498069" y="1063436"/>
            <a:ext cx="1352550" cy="904875"/>
          </a:xfrm>
          <a:prstGeom prst="rect">
            <a:avLst/>
          </a:prstGeom>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t>Key Partners</a:t>
            </a:r>
            <a:endParaRPr lang="en-IN" sz="2200" b="1" dirty="0"/>
          </a:p>
        </p:txBody>
      </p:sp>
      <p:sp>
        <p:nvSpPr>
          <p:cNvPr id="22" name="Rectangle 21">
            <a:extLst>
              <a:ext uri="{FF2B5EF4-FFF2-40B4-BE49-F238E27FC236}">
                <a16:creationId xmlns:a16="http://schemas.microsoft.com/office/drawing/2014/main" id="{D0D2E168-D719-4C8C-B3CA-1256A397E2AC}"/>
              </a:ext>
            </a:extLst>
          </p:cNvPr>
          <p:cNvSpPr/>
          <p:nvPr/>
        </p:nvSpPr>
        <p:spPr>
          <a:xfrm>
            <a:off x="4610646" y="990377"/>
            <a:ext cx="2362200" cy="904875"/>
          </a:xfrm>
          <a:prstGeom prst="rect">
            <a:avLst/>
          </a:prstGeom>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Value Proposition</a:t>
            </a:r>
            <a:endParaRPr lang="en-IN" sz="2400" b="1" dirty="0"/>
          </a:p>
        </p:txBody>
      </p:sp>
      <p:sp>
        <p:nvSpPr>
          <p:cNvPr id="25" name="Rectangle 24">
            <a:extLst>
              <a:ext uri="{FF2B5EF4-FFF2-40B4-BE49-F238E27FC236}">
                <a16:creationId xmlns:a16="http://schemas.microsoft.com/office/drawing/2014/main" id="{7CE0BB8F-F9E4-4CDC-A146-B429A6F273A8}"/>
              </a:ext>
            </a:extLst>
          </p:cNvPr>
          <p:cNvSpPr/>
          <p:nvPr/>
        </p:nvSpPr>
        <p:spPr>
          <a:xfrm>
            <a:off x="9706959" y="1229317"/>
            <a:ext cx="2028825" cy="904875"/>
          </a:xfrm>
          <a:prstGeom prst="rect">
            <a:avLst/>
          </a:prstGeom>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Customer Segment</a:t>
            </a:r>
            <a:endParaRPr lang="en-IN" sz="2400" b="1" dirty="0"/>
          </a:p>
        </p:txBody>
      </p:sp>
      <p:sp>
        <p:nvSpPr>
          <p:cNvPr id="26" name="Rectangle 25">
            <a:extLst>
              <a:ext uri="{FF2B5EF4-FFF2-40B4-BE49-F238E27FC236}">
                <a16:creationId xmlns:a16="http://schemas.microsoft.com/office/drawing/2014/main" id="{0049264E-E3EA-416C-B2A7-8490826776A5}"/>
              </a:ext>
            </a:extLst>
          </p:cNvPr>
          <p:cNvSpPr/>
          <p:nvPr/>
        </p:nvSpPr>
        <p:spPr>
          <a:xfrm>
            <a:off x="7602896" y="3997556"/>
            <a:ext cx="2628900" cy="904875"/>
          </a:xfrm>
          <a:prstGeom prst="rect">
            <a:avLst/>
          </a:prstGeom>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Revenue Model</a:t>
            </a:r>
            <a:endParaRPr lang="en-IN" sz="2400" b="1" dirty="0"/>
          </a:p>
        </p:txBody>
      </p:sp>
      <p:sp>
        <p:nvSpPr>
          <p:cNvPr id="28" name="Rectangle 27">
            <a:extLst>
              <a:ext uri="{FF2B5EF4-FFF2-40B4-BE49-F238E27FC236}">
                <a16:creationId xmlns:a16="http://schemas.microsoft.com/office/drawing/2014/main" id="{CBB320FE-C995-435A-9071-B097DD3AC7D8}"/>
              </a:ext>
            </a:extLst>
          </p:cNvPr>
          <p:cNvSpPr/>
          <p:nvPr/>
        </p:nvSpPr>
        <p:spPr>
          <a:xfrm>
            <a:off x="1791198" y="4368712"/>
            <a:ext cx="2179570" cy="1156896"/>
          </a:xfrm>
          <a:prstGeom prst="rect">
            <a:avLst/>
          </a:prstGeom>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Cost Structure</a:t>
            </a:r>
            <a:endParaRPr lang="en-IN" sz="2400" b="1" dirty="0"/>
          </a:p>
        </p:txBody>
      </p:sp>
      <p:sp>
        <p:nvSpPr>
          <p:cNvPr id="29" name="Rectangle 28">
            <a:extLst>
              <a:ext uri="{FF2B5EF4-FFF2-40B4-BE49-F238E27FC236}">
                <a16:creationId xmlns:a16="http://schemas.microsoft.com/office/drawing/2014/main" id="{BFFA8E51-D1E4-427D-9EB0-A6F6F335659C}"/>
              </a:ext>
            </a:extLst>
          </p:cNvPr>
          <p:cNvSpPr/>
          <p:nvPr/>
        </p:nvSpPr>
        <p:spPr>
          <a:xfrm>
            <a:off x="2217521" y="1079393"/>
            <a:ext cx="1666875" cy="904875"/>
          </a:xfrm>
          <a:prstGeom prst="rect">
            <a:avLst/>
          </a:prstGeom>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Key Activities</a:t>
            </a:r>
            <a:endParaRPr lang="en-IN" sz="2400" b="1" dirty="0"/>
          </a:p>
        </p:txBody>
      </p:sp>
      <p:sp>
        <p:nvSpPr>
          <p:cNvPr id="30" name="Rectangle 29">
            <a:extLst>
              <a:ext uri="{FF2B5EF4-FFF2-40B4-BE49-F238E27FC236}">
                <a16:creationId xmlns:a16="http://schemas.microsoft.com/office/drawing/2014/main" id="{44C3DF4C-0040-40DA-A8C7-79E6E5F57EEE}"/>
              </a:ext>
            </a:extLst>
          </p:cNvPr>
          <p:cNvSpPr/>
          <p:nvPr/>
        </p:nvSpPr>
        <p:spPr>
          <a:xfrm>
            <a:off x="2195116" y="2828749"/>
            <a:ext cx="1726704" cy="904875"/>
          </a:xfrm>
          <a:prstGeom prst="rect">
            <a:avLst/>
          </a:prstGeom>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t>Key Resources</a:t>
            </a:r>
            <a:endParaRPr lang="en-IN" sz="2000" b="1" dirty="0"/>
          </a:p>
        </p:txBody>
      </p:sp>
      <p:sp>
        <p:nvSpPr>
          <p:cNvPr id="31" name="Rectangle 30">
            <a:extLst>
              <a:ext uri="{FF2B5EF4-FFF2-40B4-BE49-F238E27FC236}">
                <a16:creationId xmlns:a16="http://schemas.microsoft.com/office/drawing/2014/main" id="{C2A9E60A-949D-4595-92FA-1426FF6593B1}"/>
              </a:ext>
            </a:extLst>
          </p:cNvPr>
          <p:cNvSpPr/>
          <p:nvPr/>
        </p:nvSpPr>
        <p:spPr>
          <a:xfrm>
            <a:off x="7377374" y="30887"/>
            <a:ext cx="2044984" cy="726299"/>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t>Customer Relationship</a:t>
            </a:r>
            <a:endParaRPr lang="en-IN" sz="2200" b="1" dirty="0"/>
          </a:p>
        </p:txBody>
      </p:sp>
      <p:sp>
        <p:nvSpPr>
          <p:cNvPr id="32" name="Rectangle 31">
            <a:extLst>
              <a:ext uri="{FF2B5EF4-FFF2-40B4-BE49-F238E27FC236}">
                <a16:creationId xmlns:a16="http://schemas.microsoft.com/office/drawing/2014/main" id="{A096D5D1-CFAC-4C1D-87A5-55B0C6F84FD6}"/>
              </a:ext>
            </a:extLst>
          </p:cNvPr>
          <p:cNvSpPr/>
          <p:nvPr/>
        </p:nvSpPr>
        <p:spPr>
          <a:xfrm>
            <a:off x="7576181" y="3124075"/>
            <a:ext cx="1776412" cy="633846"/>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Channel</a:t>
            </a:r>
            <a:endParaRPr lang="en-IN" sz="2400" b="1" dirty="0"/>
          </a:p>
        </p:txBody>
      </p:sp>
      <p:sp>
        <p:nvSpPr>
          <p:cNvPr id="33" name="Rectangle 32">
            <a:extLst>
              <a:ext uri="{FF2B5EF4-FFF2-40B4-BE49-F238E27FC236}">
                <a16:creationId xmlns:a16="http://schemas.microsoft.com/office/drawing/2014/main" id="{197C503B-A992-4FFB-886F-55A1486DECA1}"/>
              </a:ext>
            </a:extLst>
          </p:cNvPr>
          <p:cNvSpPr/>
          <p:nvPr/>
        </p:nvSpPr>
        <p:spPr>
          <a:xfrm>
            <a:off x="5105400" y="474099"/>
            <a:ext cx="891466" cy="633846"/>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Black"/>
                <a:ea typeface="+mn-ea"/>
                <a:cs typeface="+mn-cs"/>
              </a:rPr>
              <a:t>01</a:t>
            </a:r>
          </a:p>
        </p:txBody>
      </p:sp>
      <p:sp>
        <p:nvSpPr>
          <p:cNvPr id="34" name="Rectangle 33">
            <a:extLst>
              <a:ext uri="{FF2B5EF4-FFF2-40B4-BE49-F238E27FC236}">
                <a16:creationId xmlns:a16="http://schemas.microsoft.com/office/drawing/2014/main" id="{5BD18666-4C38-4EA2-90C9-1DE9E2ECFBF2}"/>
              </a:ext>
            </a:extLst>
          </p:cNvPr>
          <p:cNvSpPr/>
          <p:nvPr/>
        </p:nvSpPr>
        <p:spPr>
          <a:xfrm>
            <a:off x="10207979" y="438072"/>
            <a:ext cx="891466" cy="633846"/>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Black"/>
                <a:ea typeface="+mn-ea"/>
                <a:cs typeface="+mn-cs"/>
              </a:rPr>
              <a:t>02</a:t>
            </a:r>
          </a:p>
        </p:txBody>
      </p:sp>
      <p:sp>
        <p:nvSpPr>
          <p:cNvPr id="35" name="Rectangle 34">
            <a:extLst>
              <a:ext uri="{FF2B5EF4-FFF2-40B4-BE49-F238E27FC236}">
                <a16:creationId xmlns:a16="http://schemas.microsoft.com/office/drawing/2014/main" id="{F12CCDE7-6307-46A2-8043-BD6BC52A504D}"/>
              </a:ext>
            </a:extLst>
          </p:cNvPr>
          <p:cNvSpPr/>
          <p:nvPr/>
        </p:nvSpPr>
        <p:spPr>
          <a:xfrm>
            <a:off x="7322637" y="2258487"/>
            <a:ext cx="891466" cy="633846"/>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Black"/>
                <a:ea typeface="+mn-ea"/>
                <a:cs typeface="+mn-cs"/>
              </a:rPr>
              <a:t>03</a:t>
            </a:r>
          </a:p>
        </p:txBody>
      </p:sp>
      <p:sp>
        <p:nvSpPr>
          <p:cNvPr id="36" name="Rectangle 35">
            <a:extLst>
              <a:ext uri="{FF2B5EF4-FFF2-40B4-BE49-F238E27FC236}">
                <a16:creationId xmlns:a16="http://schemas.microsoft.com/office/drawing/2014/main" id="{F36F2983-4622-4C78-9A1D-FD7812D971C9}"/>
              </a:ext>
            </a:extLst>
          </p:cNvPr>
          <p:cNvSpPr/>
          <p:nvPr/>
        </p:nvSpPr>
        <p:spPr>
          <a:xfrm>
            <a:off x="7322637" y="881153"/>
            <a:ext cx="891466" cy="633846"/>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Black"/>
                <a:ea typeface="+mn-ea"/>
                <a:cs typeface="+mn-cs"/>
              </a:rPr>
              <a:t>04</a:t>
            </a:r>
          </a:p>
        </p:txBody>
      </p:sp>
      <p:sp>
        <p:nvSpPr>
          <p:cNvPr id="37" name="Rectangle 36">
            <a:extLst>
              <a:ext uri="{FF2B5EF4-FFF2-40B4-BE49-F238E27FC236}">
                <a16:creationId xmlns:a16="http://schemas.microsoft.com/office/drawing/2014/main" id="{80099420-712A-4984-BEE9-DBB6502AC9DE}"/>
              </a:ext>
            </a:extLst>
          </p:cNvPr>
          <p:cNvSpPr/>
          <p:nvPr/>
        </p:nvSpPr>
        <p:spPr>
          <a:xfrm>
            <a:off x="6615960" y="4153065"/>
            <a:ext cx="891466" cy="633846"/>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Black"/>
                <a:ea typeface="+mn-ea"/>
                <a:cs typeface="+mn-cs"/>
              </a:rPr>
              <a:t>05</a:t>
            </a:r>
          </a:p>
        </p:txBody>
      </p:sp>
      <p:sp>
        <p:nvSpPr>
          <p:cNvPr id="38" name="Rectangle 37">
            <a:extLst>
              <a:ext uri="{FF2B5EF4-FFF2-40B4-BE49-F238E27FC236}">
                <a16:creationId xmlns:a16="http://schemas.microsoft.com/office/drawing/2014/main" id="{4B6BB6CE-E3D7-400B-B101-E1593205438C}"/>
              </a:ext>
            </a:extLst>
          </p:cNvPr>
          <p:cNvSpPr/>
          <p:nvPr/>
        </p:nvSpPr>
        <p:spPr>
          <a:xfrm>
            <a:off x="3120190" y="3142406"/>
            <a:ext cx="891466" cy="633846"/>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Black"/>
                <a:ea typeface="+mn-ea"/>
                <a:cs typeface="+mn-cs"/>
              </a:rPr>
              <a:t>06</a:t>
            </a:r>
          </a:p>
        </p:txBody>
      </p:sp>
      <p:sp>
        <p:nvSpPr>
          <p:cNvPr id="39" name="Rectangle 38">
            <a:extLst>
              <a:ext uri="{FF2B5EF4-FFF2-40B4-BE49-F238E27FC236}">
                <a16:creationId xmlns:a16="http://schemas.microsoft.com/office/drawing/2014/main" id="{75865329-1E02-4AF5-BE61-DCD514E9152C}"/>
              </a:ext>
            </a:extLst>
          </p:cNvPr>
          <p:cNvSpPr/>
          <p:nvPr/>
        </p:nvSpPr>
        <p:spPr>
          <a:xfrm>
            <a:off x="2204195" y="301906"/>
            <a:ext cx="891466" cy="633846"/>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Black"/>
                <a:ea typeface="+mn-ea"/>
                <a:cs typeface="+mn-cs"/>
              </a:rPr>
              <a:t>07</a:t>
            </a:r>
          </a:p>
        </p:txBody>
      </p:sp>
      <p:sp>
        <p:nvSpPr>
          <p:cNvPr id="40" name="Rectangle 39">
            <a:extLst>
              <a:ext uri="{FF2B5EF4-FFF2-40B4-BE49-F238E27FC236}">
                <a16:creationId xmlns:a16="http://schemas.microsoft.com/office/drawing/2014/main" id="{F859E6A0-7CAE-409D-8787-E022C3909CEA}"/>
              </a:ext>
            </a:extLst>
          </p:cNvPr>
          <p:cNvSpPr/>
          <p:nvPr/>
        </p:nvSpPr>
        <p:spPr>
          <a:xfrm>
            <a:off x="697889" y="332913"/>
            <a:ext cx="891466" cy="633846"/>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Black"/>
                <a:ea typeface="+mn-ea"/>
                <a:cs typeface="+mn-cs"/>
              </a:rPr>
              <a:t>08</a:t>
            </a:r>
          </a:p>
        </p:txBody>
      </p:sp>
      <p:sp>
        <p:nvSpPr>
          <p:cNvPr id="41" name="Rectangle 40">
            <a:extLst>
              <a:ext uri="{FF2B5EF4-FFF2-40B4-BE49-F238E27FC236}">
                <a16:creationId xmlns:a16="http://schemas.microsoft.com/office/drawing/2014/main" id="{0AF7A9D4-96DE-41F1-A97E-F8904CF47A3A}"/>
              </a:ext>
            </a:extLst>
          </p:cNvPr>
          <p:cNvSpPr/>
          <p:nvPr/>
        </p:nvSpPr>
        <p:spPr>
          <a:xfrm>
            <a:off x="666003" y="4479854"/>
            <a:ext cx="891466" cy="633846"/>
          </a:xfrm>
          <a:prstGeom prst="rect">
            <a:avLst/>
          </a:prstGeom>
          <a:noFill/>
          <a:ln>
            <a:noFill/>
          </a:ln>
          <a:scene3d>
            <a:camera prst="orthographicFront"/>
            <a:lightRig rig="threePt" dir="t"/>
          </a:scene3d>
          <a:sp3d extrusionH="2540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Lato Black"/>
                <a:ea typeface="+mn-ea"/>
                <a:cs typeface="+mn-cs"/>
              </a:rPr>
              <a:t>09</a:t>
            </a:r>
          </a:p>
        </p:txBody>
      </p:sp>
      <p:pic>
        <p:nvPicPr>
          <p:cNvPr id="48" name="Picture 47">
            <a:extLst>
              <a:ext uri="{FF2B5EF4-FFF2-40B4-BE49-F238E27FC236}">
                <a16:creationId xmlns:a16="http://schemas.microsoft.com/office/drawing/2014/main" id="{D2BCC9A4-B3B5-4722-9008-2D3BB0F67D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90587" y="1828781"/>
            <a:ext cx="1811455" cy="1811455"/>
          </a:xfrm>
          <a:prstGeom prst="rect">
            <a:avLst/>
          </a:prstGeom>
        </p:spPr>
      </p:pic>
      <p:pic>
        <p:nvPicPr>
          <p:cNvPr id="49" name="Graphic 48">
            <a:extLst>
              <a:ext uri="{FF2B5EF4-FFF2-40B4-BE49-F238E27FC236}">
                <a16:creationId xmlns:a16="http://schemas.microsoft.com/office/drawing/2014/main" id="{B4F7B92C-74D3-45B8-A1E8-6654AF3B883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106602" y="4053730"/>
            <a:ext cx="2028825" cy="2028825"/>
          </a:xfrm>
          <a:prstGeom prst="rect">
            <a:avLst/>
          </a:prstGeom>
        </p:spPr>
      </p:pic>
      <p:pic>
        <p:nvPicPr>
          <p:cNvPr id="50" name="Picture 49">
            <a:extLst>
              <a:ext uri="{FF2B5EF4-FFF2-40B4-BE49-F238E27FC236}">
                <a16:creationId xmlns:a16="http://schemas.microsoft.com/office/drawing/2014/main" id="{0353E3A8-CF43-43D6-8154-1187E9D11C1A}"/>
              </a:ext>
            </a:extLst>
          </p:cNvPr>
          <p:cNvPicPr>
            <a:picLocks noChangeAspect="1"/>
          </p:cNvPicPr>
          <p:nvPr/>
        </p:nvPicPr>
        <p:blipFill>
          <a:blip r:embed="rId6"/>
          <a:stretch>
            <a:fillRect/>
          </a:stretch>
        </p:blipFill>
        <p:spPr>
          <a:xfrm>
            <a:off x="9938698" y="2278043"/>
            <a:ext cx="1375471" cy="1375471"/>
          </a:xfrm>
          <a:prstGeom prst="rect">
            <a:avLst/>
          </a:prstGeom>
        </p:spPr>
      </p:pic>
      <p:pic>
        <p:nvPicPr>
          <p:cNvPr id="52" name="Picture 51">
            <a:extLst>
              <a:ext uri="{FF2B5EF4-FFF2-40B4-BE49-F238E27FC236}">
                <a16:creationId xmlns:a16="http://schemas.microsoft.com/office/drawing/2014/main" id="{9E63AD3F-378D-4EE8-A7DD-7125F97A66AA}"/>
              </a:ext>
            </a:extLst>
          </p:cNvPr>
          <p:cNvPicPr>
            <a:picLocks noChangeAspect="1"/>
          </p:cNvPicPr>
          <p:nvPr/>
        </p:nvPicPr>
        <p:blipFill>
          <a:blip r:embed="rId7"/>
          <a:stretch>
            <a:fillRect/>
          </a:stretch>
        </p:blipFill>
        <p:spPr>
          <a:xfrm>
            <a:off x="8283120" y="693307"/>
            <a:ext cx="1088570" cy="1088570"/>
          </a:xfrm>
          <a:prstGeom prst="rect">
            <a:avLst/>
          </a:prstGeom>
        </p:spPr>
      </p:pic>
      <p:pic>
        <p:nvPicPr>
          <p:cNvPr id="53" name="Picture 52">
            <a:extLst>
              <a:ext uri="{FF2B5EF4-FFF2-40B4-BE49-F238E27FC236}">
                <a16:creationId xmlns:a16="http://schemas.microsoft.com/office/drawing/2014/main" id="{0078E6F8-44E5-4812-8CDB-11182E64D1C4}"/>
              </a:ext>
            </a:extLst>
          </p:cNvPr>
          <p:cNvPicPr>
            <a:picLocks noChangeAspect="1"/>
          </p:cNvPicPr>
          <p:nvPr/>
        </p:nvPicPr>
        <p:blipFill>
          <a:blip r:embed="rId8"/>
          <a:stretch>
            <a:fillRect/>
          </a:stretch>
        </p:blipFill>
        <p:spPr>
          <a:xfrm>
            <a:off x="8187580" y="1973381"/>
            <a:ext cx="1219306" cy="1213209"/>
          </a:xfrm>
          <a:prstGeom prst="rect">
            <a:avLst/>
          </a:prstGeom>
        </p:spPr>
      </p:pic>
      <p:pic>
        <p:nvPicPr>
          <p:cNvPr id="62" name="Picture 61">
            <a:extLst>
              <a:ext uri="{FF2B5EF4-FFF2-40B4-BE49-F238E27FC236}">
                <a16:creationId xmlns:a16="http://schemas.microsoft.com/office/drawing/2014/main" id="{A4318D24-E7E8-4734-8A01-C4B26CCC3AA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70850" y="2348004"/>
            <a:ext cx="1235547" cy="1235547"/>
          </a:xfrm>
          <a:prstGeom prst="rect">
            <a:avLst/>
          </a:prstGeom>
        </p:spPr>
      </p:pic>
      <p:pic>
        <p:nvPicPr>
          <p:cNvPr id="63" name="Picture 62">
            <a:extLst>
              <a:ext uri="{FF2B5EF4-FFF2-40B4-BE49-F238E27FC236}">
                <a16:creationId xmlns:a16="http://schemas.microsoft.com/office/drawing/2014/main" id="{50767B30-4443-4B47-8953-2600825AFB5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993017" y="4479854"/>
            <a:ext cx="1726704" cy="1726704"/>
          </a:xfrm>
          <a:prstGeom prst="rect">
            <a:avLst/>
          </a:prstGeom>
        </p:spPr>
      </p:pic>
      <p:sp>
        <p:nvSpPr>
          <p:cNvPr id="2" name="Rectangle 1">
            <a:extLst>
              <a:ext uri="{FF2B5EF4-FFF2-40B4-BE49-F238E27FC236}">
                <a16:creationId xmlns:a16="http://schemas.microsoft.com/office/drawing/2014/main" id="{9AF22524-70B5-45D1-90A7-8550241BE411}"/>
              </a:ext>
            </a:extLst>
          </p:cNvPr>
          <p:cNvSpPr/>
          <p:nvPr/>
        </p:nvSpPr>
        <p:spPr>
          <a:xfrm>
            <a:off x="6077999" y="-64524"/>
            <a:ext cx="304233" cy="7296150"/>
          </a:xfrm>
          <a:prstGeom prst="rect">
            <a:avLst/>
          </a:prstGeom>
          <a:pattFill prst="diagBrick">
            <a:fgClr>
              <a:schemeClr val="accent2">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Graphic 2">
            <a:extLst>
              <a:ext uri="{FF2B5EF4-FFF2-40B4-BE49-F238E27FC236}">
                <a16:creationId xmlns:a16="http://schemas.microsoft.com/office/drawing/2014/main" id="{37A9358A-D24D-4244-9C90-24F6D076678F}"/>
              </a:ext>
            </a:extLst>
          </p:cNvPr>
          <p:cNvPicPr>
            <a:picLocks noChangeAspect="1"/>
          </p:cNvPicPr>
          <p:nvPr/>
        </p:nvPicPr>
        <p:blipFill>
          <a:blip r:embed="rId11">
            <a:extLst>
              <a:ext uri="{96DAC541-7B7A-43D3-8B79-37D633B846F1}">
                <asvg:svgBlip xmlns="" xmlns:asvg="http://schemas.microsoft.com/office/drawing/2016/SVG/main" r:embed="rId12"/>
              </a:ext>
            </a:extLst>
          </a:blip>
          <a:stretch>
            <a:fillRect/>
          </a:stretch>
        </p:blipFill>
        <p:spPr>
          <a:xfrm>
            <a:off x="2194135" y="2004986"/>
            <a:ext cx="1014720" cy="1014720"/>
          </a:xfrm>
          <a:prstGeom prst="rect">
            <a:avLst/>
          </a:prstGeom>
        </p:spPr>
      </p:pic>
      <p:sp>
        <p:nvSpPr>
          <p:cNvPr id="42" name="Arrow: Circular 41">
            <a:extLst>
              <a:ext uri="{FF2B5EF4-FFF2-40B4-BE49-F238E27FC236}">
                <a16:creationId xmlns:a16="http://schemas.microsoft.com/office/drawing/2014/main" id="{4EAE944E-4321-497C-BAA6-A0F589F29677}"/>
              </a:ext>
            </a:extLst>
          </p:cNvPr>
          <p:cNvSpPr/>
          <p:nvPr/>
        </p:nvSpPr>
        <p:spPr>
          <a:xfrm>
            <a:off x="3288147" y="669535"/>
            <a:ext cx="845987" cy="723515"/>
          </a:xfrm>
          <a:prstGeom prst="circularArrow">
            <a:avLst>
              <a:gd name="adj1" fmla="val 4688"/>
              <a:gd name="adj2" fmla="val 299029"/>
              <a:gd name="adj3" fmla="val 2539295"/>
              <a:gd name="adj4" fmla="val 15812321"/>
              <a:gd name="adj5" fmla="val 5469"/>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IN"/>
          </a:p>
        </p:txBody>
      </p:sp>
      <p:sp>
        <p:nvSpPr>
          <p:cNvPr id="43" name="Freeform: Shape 42">
            <a:extLst>
              <a:ext uri="{FF2B5EF4-FFF2-40B4-BE49-F238E27FC236}">
                <a16:creationId xmlns:a16="http://schemas.microsoft.com/office/drawing/2014/main" id="{E1FBB3B5-E9EF-4B60-AD67-CC7268210FCC}"/>
              </a:ext>
            </a:extLst>
          </p:cNvPr>
          <p:cNvSpPr/>
          <p:nvPr/>
        </p:nvSpPr>
        <p:spPr>
          <a:xfrm>
            <a:off x="3335935" y="756312"/>
            <a:ext cx="565200" cy="565246"/>
          </a:xfrm>
          <a:custGeom>
            <a:avLst/>
            <a:gdLst>
              <a:gd name="connsiteX0" fmla="*/ 2115406 w 2980266"/>
              <a:gd name="connsiteY0" fmla="*/ 475169 h 2980266"/>
              <a:gd name="connsiteX1" fmla="*/ 2347223 w 2980266"/>
              <a:gd name="connsiteY1" fmla="*/ 280641 h 2980266"/>
              <a:gd name="connsiteX2" fmla="*/ 2532418 w 2980266"/>
              <a:gd name="connsiteY2" fmla="*/ 436038 h 2980266"/>
              <a:gd name="connsiteX3" fmla="*/ 2381100 w 2980266"/>
              <a:gd name="connsiteY3" fmla="*/ 698113 h 2980266"/>
              <a:gd name="connsiteX4" fmla="*/ 2621526 w 2980266"/>
              <a:gd name="connsiteY4" fmla="*/ 1114543 h 2980266"/>
              <a:gd name="connsiteX5" fmla="*/ 2924149 w 2980266"/>
              <a:gd name="connsiteY5" fmla="*/ 1114535 h 2980266"/>
              <a:gd name="connsiteX6" fmla="*/ 2966129 w 2980266"/>
              <a:gd name="connsiteY6" fmla="*/ 1352617 h 2980266"/>
              <a:gd name="connsiteX7" fmla="*/ 2681754 w 2980266"/>
              <a:gd name="connsiteY7" fmla="*/ 1456113 h 2980266"/>
              <a:gd name="connsiteX8" fmla="*/ 2598255 w 2980266"/>
              <a:gd name="connsiteY8" fmla="*/ 1929659 h 2980266"/>
              <a:gd name="connsiteX9" fmla="*/ 2830082 w 2980266"/>
              <a:gd name="connsiteY9" fmla="*/ 2124176 h 2980266"/>
              <a:gd name="connsiteX10" fmla="*/ 2709205 w 2980266"/>
              <a:gd name="connsiteY10" fmla="*/ 2333542 h 2980266"/>
              <a:gd name="connsiteX11" fmla="*/ 2424835 w 2980266"/>
              <a:gd name="connsiteY11" fmla="*/ 2230031 h 2980266"/>
              <a:gd name="connsiteX12" fmla="*/ 2056481 w 2980266"/>
              <a:gd name="connsiteY12" fmla="*/ 2539116 h 2980266"/>
              <a:gd name="connsiteX13" fmla="*/ 2109039 w 2980266"/>
              <a:gd name="connsiteY13" fmla="*/ 2837141 h 2980266"/>
              <a:gd name="connsiteX14" fmla="*/ 1881863 w 2980266"/>
              <a:gd name="connsiteY14" fmla="*/ 2919826 h 2980266"/>
              <a:gd name="connsiteX15" fmla="*/ 1730559 w 2980266"/>
              <a:gd name="connsiteY15" fmla="*/ 2657743 h 2980266"/>
              <a:gd name="connsiteX16" fmla="*/ 1249707 w 2980266"/>
              <a:gd name="connsiteY16" fmla="*/ 2657743 h 2980266"/>
              <a:gd name="connsiteX17" fmla="*/ 1098403 w 2980266"/>
              <a:gd name="connsiteY17" fmla="*/ 2919826 h 2980266"/>
              <a:gd name="connsiteX18" fmla="*/ 871227 w 2980266"/>
              <a:gd name="connsiteY18" fmla="*/ 2837141 h 2980266"/>
              <a:gd name="connsiteX19" fmla="*/ 923785 w 2980266"/>
              <a:gd name="connsiteY19" fmla="*/ 2539117 h 2980266"/>
              <a:gd name="connsiteX20" fmla="*/ 555431 w 2980266"/>
              <a:gd name="connsiteY20" fmla="*/ 2230032 h 2980266"/>
              <a:gd name="connsiteX21" fmla="*/ 271061 w 2980266"/>
              <a:gd name="connsiteY21" fmla="*/ 2333542 h 2980266"/>
              <a:gd name="connsiteX22" fmla="*/ 150184 w 2980266"/>
              <a:gd name="connsiteY22" fmla="*/ 2124176 h 2980266"/>
              <a:gd name="connsiteX23" fmla="*/ 382011 w 2980266"/>
              <a:gd name="connsiteY23" fmla="*/ 1929660 h 2980266"/>
              <a:gd name="connsiteX24" fmla="*/ 298512 w 2980266"/>
              <a:gd name="connsiteY24" fmla="*/ 1456114 h 2980266"/>
              <a:gd name="connsiteX25" fmla="*/ 14137 w 2980266"/>
              <a:gd name="connsiteY25" fmla="*/ 1352617 h 2980266"/>
              <a:gd name="connsiteX26" fmla="*/ 56117 w 2980266"/>
              <a:gd name="connsiteY26" fmla="*/ 1114535 h 2980266"/>
              <a:gd name="connsiteX27" fmla="*/ 358740 w 2980266"/>
              <a:gd name="connsiteY27" fmla="*/ 1114543 h 2980266"/>
              <a:gd name="connsiteX28" fmla="*/ 599166 w 2980266"/>
              <a:gd name="connsiteY28" fmla="*/ 698113 h 2980266"/>
              <a:gd name="connsiteX29" fmla="*/ 447848 w 2980266"/>
              <a:gd name="connsiteY29" fmla="*/ 436038 h 2980266"/>
              <a:gd name="connsiteX30" fmla="*/ 633043 w 2980266"/>
              <a:gd name="connsiteY30" fmla="*/ 280641 h 2980266"/>
              <a:gd name="connsiteX31" fmla="*/ 864860 w 2980266"/>
              <a:gd name="connsiteY31" fmla="*/ 475169 h 2980266"/>
              <a:gd name="connsiteX32" fmla="*/ 1316713 w 2980266"/>
              <a:gd name="connsiteY32" fmla="*/ 310708 h 2980266"/>
              <a:gd name="connsiteX33" fmla="*/ 1369255 w 2980266"/>
              <a:gd name="connsiteY33" fmla="*/ 12681 h 2980266"/>
              <a:gd name="connsiteX34" fmla="*/ 1611011 w 2980266"/>
              <a:gd name="connsiteY34" fmla="*/ 12681 h 2980266"/>
              <a:gd name="connsiteX35" fmla="*/ 1663553 w 2980266"/>
              <a:gd name="connsiteY35" fmla="*/ 310708 h 2980266"/>
              <a:gd name="connsiteX36" fmla="*/ 2115406 w 2980266"/>
              <a:gd name="connsiteY36" fmla="*/ 475169 h 2980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80266" h="2980266">
                <a:moveTo>
                  <a:pt x="2115406" y="475169"/>
                </a:moveTo>
                <a:lnTo>
                  <a:pt x="2347223" y="280641"/>
                </a:lnTo>
                <a:lnTo>
                  <a:pt x="2532418" y="436038"/>
                </a:lnTo>
                <a:lnTo>
                  <a:pt x="2381100" y="698113"/>
                </a:lnTo>
                <a:cubicBezTo>
                  <a:pt x="2488696" y="819151"/>
                  <a:pt x="2570502" y="960843"/>
                  <a:pt x="2621526" y="1114543"/>
                </a:cubicBezTo>
                <a:lnTo>
                  <a:pt x="2924149" y="1114535"/>
                </a:lnTo>
                <a:lnTo>
                  <a:pt x="2966129" y="1352617"/>
                </a:lnTo>
                <a:lnTo>
                  <a:pt x="2681754" y="1456113"/>
                </a:lnTo>
                <a:cubicBezTo>
                  <a:pt x="2686376" y="1617995"/>
                  <a:pt x="2657965" y="1779121"/>
                  <a:pt x="2598255" y="1929659"/>
                </a:cubicBezTo>
                <a:lnTo>
                  <a:pt x="2830082" y="2124176"/>
                </a:lnTo>
                <a:lnTo>
                  <a:pt x="2709205" y="2333542"/>
                </a:lnTo>
                <a:lnTo>
                  <a:pt x="2424835" y="2230031"/>
                </a:lnTo>
                <a:cubicBezTo>
                  <a:pt x="2324320" y="2357010"/>
                  <a:pt x="2198986" y="2462178"/>
                  <a:pt x="2056481" y="2539116"/>
                </a:cubicBezTo>
                <a:lnTo>
                  <a:pt x="2109039" y="2837141"/>
                </a:lnTo>
                <a:lnTo>
                  <a:pt x="1881863" y="2919826"/>
                </a:lnTo>
                <a:lnTo>
                  <a:pt x="1730559" y="2657743"/>
                </a:lnTo>
                <a:cubicBezTo>
                  <a:pt x="1571939" y="2690405"/>
                  <a:pt x="1408327" y="2690405"/>
                  <a:pt x="1249707" y="2657743"/>
                </a:cubicBezTo>
                <a:lnTo>
                  <a:pt x="1098403" y="2919826"/>
                </a:lnTo>
                <a:lnTo>
                  <a:pt x="871227" y="2837141"/>
                </a:lnTo>
                <a:lnTo>
                  <a:pt x="923785" y="2539117"/>
                </a:lnTo>
                <a:cubicBezTo>
                  <a:pt x="781280" y="2462179"/>
                  <a:pt x="655947" y="2357011"/>
                  <a:pt x="555431" y="2230032"/>
                </a:cubicBezTo>
                <a:lnTo>
                  <a:pt x="271061" y="2333542"/>
                </a:lnTo>
                <a:lnTo>
                  <a:pt x="150184" y="2124176"/>
                </a:lnTo>
                <a:lnTo>
                  <a:pt x="382011" y="1929660"/>
                </a:lnTo>
                <a:cubicBezTo>
                  <a:pt x="322301" y="1779122"/>
                  <a:pt x="293890" y="1617995"/>
                  <a:pt x="298512" y="1456114"/>
                </a:cubicBezTo>
                <a:lnTo>
                  <a:pt x="14137" y="1352617"/>
                </a:lnTo>
                <a:lnTo>
                  <a:pt x="56117" y="1114535"/>
                </a:lnTo>
                <a:lnTo>
                  <a:pt x="358740" y="1114543"/>
                </a:lnTo>
                <a:cubicBezTo>
                  <a:pt x="409764" y="960843"/>
                  <a:pt x="491570" y="819151"/>
                  <a:pt x="599166" y="698113"/>
                </a:cubicBezTo>
                <a:lnTo>
                  <a:pt x="447848" y="436038"/>
                </a:lnTo>
                <a:lnTo>
                  <a:pt x="633043" y="280641"/>
                </a:lnTo>
                <a:lnTo>
                  <a:pt x="864860" y="475169"/>
                </a:lnTo>
                <a:cubicBezTo>
                  <a:pt x="1002743" y="390226"/>
                  <a:pt x="1156488" y="334267"/>
                  <a:pt x="1316713" y="310708"/>
                </a:cubicBezTo>
                <a:lnTo>
                  <a:pt x="1369255" y="12681"/>
                </a:lnTo>
                <a:lnTo>
                  <a:pt x="1611011" y="12681"/>
                </a:lnTo>
                <a:lnTo>
                  <a:pt x="1663553" y="310708"/>
                </a:lnTo>
                <a:cubicBezTo>
                  <a:pt x="1823778" y="334267"/>
                  <a:pt x="1977523" y="390226"/>
                  <a:pt x="2115406" y="475169"/>
                </a:cubicBez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70286" tIns="769233" rIns="670286" bIns="821355" numCol="1" spcCol="1270" anchor="ctr" anchorCtr="0">
            <a:noAutofit/>
          </a:bodyPr>
          <a:lstStyle/>
          <a:p>
            <a:pPr marL="0" lvl="0" indent="0" algn="ctr" defTabSz="2489200">
              <a:lnSpc>
                <a:spcPct val="90000"/>
              </a:lnSpc>
              <a:spcBef>
                <a:spcPct val="0"/>
              </a:spcBef>
              <a:spcAft>
                <a:spcPct val="35000"/>
              </a:spcAft>
              <a:buNone/>
            </a:pPr>
            <a:endParaRPr lang="en-IN" sz="5600" kern="1200"/>
          </a:p>
        </p:txBody>
      </p:sp>
      <p:sp>
        <p:nvSpPr>
          <p:cNvPr id="44" name="Freeform: Shape 43">
            <a:extLst>
              <a:ext uri="{FF2B5EF4-FFF2-40B4-BE49-F238E27FC236}">
                <a16:creationId xmlns:a16="http://schemas.microsoft.com/office/drawing/2014/main" id="{A0C616E3-893D-4FCC-A0D5-DC7F942C3762}"/>
              </a:ext>
            </a:extLst>
          </p:cNvPr>
          <p:cNvSpPr/>
          <p:nvPr/>
        </p:nvSpPr>
        <p:spPr>
          <a:xfrm>
            <a:off x="2951395" y="622709"/>
            <a:ext cx="504000" cy="504000"/>
          </a:xfrm>
          <a:custGeom>
            <a:avLst/>
            <a:gdLst>
              <a:gd name="connsiteX0" fmla="*/ 1621800 w 2167466"/>
              <a:gd name="connsiteY0" fmla="*/ 548964 h 2167466"/>
              <a:gd name="connsiteX1" fmla="*/ 1941574 w 2167466"/>
              <a:gd name="connsiteY1" fmla="*/ 452590 h 2167466"/>
              <a:gd name="connsiteX2" fmla="*/ 2059240 w 2167466"/>
              <a:gd name="connsiteY2" fmla="*/ 656392 h 2167466"/>
              <a:gd name="connsiteX3" fmla="*/ 1815890 w 2167466"/>
              <a:gd name="connsiteY3" fmla="*/ 885138 h 2167466"/>
              <a:gd name="connsiteX4" fmla="*/ 1815890 w 2167466"/>
              <a:gd name="connsiteY4" fmla="*/ 1282328 h 2167466"/>
              <a:gd name="connsiteX5" fmla="*/ 2059240 w 2167466"/>
              <a:gd name="connsiteY5" fmla="*/ 1511074 h 2167466"/>
              <a:gd name="connsiteX6" fmla="*/ 1941574 w 2167466"/>
              <a:gd name="connsiteY6" fmla="*/ 1714876 h 2167466"/>
              <a:gd name="connsiteX7" fmla="*/ 1621800 w 2167466"/>
              <a:gd name="connsiteY7" fmla="*/ 1618502 h 2167466"/>
              <a:gd name="connsiteX8" fmla="*/ 1277823 w 2167466"/>
              <a:gd name="connsiteY8" fmla="*/ 1817097 h 2167466"/>
              <a:gd name="connsiteX9" fmla="*/ 1201398 w 2167466"/>
              <a:gd name="connsiteY9" fmla="*/ 2142217 h 2167466"/>
              <a:gd name="connsiteX10" fmla="*/ 966068 w 2167466"/>
              <a:gd name="connsiteY10" fmla="*/ 2142217 h 2167466"/>
              <a:gd name="connsiteX11" fmla="*/ 889643 w 2167466"/>
              <a:gd name="connsiteY11" fmla="*/ 1817097 h 2167466"/>
              <a:gd name="connsiteX12" fmla="*/ 545666 w 2167466"/>
              <a:gd name="connsiteY12" fmla="*/ 1618502 h 2167466"/>
              <a:gd name="connsiteX13" fmla="*/ 225892 w 2167466"/>
              <a:gd name="connsiteY13" fmla="*/ 1714876 h 2167466"/>
              <a:gd name="connsiteX14" fmla="*/ 108226 w 2167466"/>
              <a:gd name="connsiteY14" fmla="*/ 1511074 h 2167466"/>
              <a:gd name="connsiteX15" fmla="*/ 351576 w 2167466"/>
              <a:gd name="connsiteY15" fmla="*/ 1282328 h 2167466"/>
              <a:gd name="connsiteX16" fmla="*/ 351576 w 2167466"/>
              <a:gd name="connsiteY16" fmla="*/ 885138 h 2167466"/>
              <a:gd name="connsiteX17" fmla="*/ 108226 w 2167466"/>
              <a:gd name="connsiteY17" fmla="*/ 656392 h 2167466"/>
              <a:gd name="connsiteX18" fmla="*/ 225892 w 2167466"/>
              <a:gd name="connsiteY18" fmla="*/ 452590 h 2167466"/>
              <a:gd name="connsiteX19" fmla="*/ 545666 w 2167466"/>
              <a:gd name="connsiteY19" fmla="*/ 548964 h 2167466"/>
              <a:gd name="connsiteX20" fmla="*/ 889643 w 2167466"/>
              <a:gd name="connsiteY20" fmla="*/ 350369 h 2167466"/>
              <a:gd name="connsiteX21" fmla="*/ 966068 w 2167466"/>
              <a:gd name="connsiteY21" fmla="*/ 25249 h 2167466"/>
              <a:gd name="connsiteX22" fmla="*/ 1201398 w 2167466"/>
              <a:gd name="connsiteY22" fmla="*/ 25249 h 2167466"/>
              <a:gd name="connsiteX23" fmla="*/ 1277823 w 2167466"/>
              <a:gd name="connsiteY23" fmla="*/ 350369 h 2167466"/>
              <a:gd name="connsiteX24" fmla="*/ 1621800 w 2167466"/>
              <a:gd name="connsiteY24" fmla="*/ 548964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67466" h="2167466">
                <a:moveTo>
                  <a:pt x="1621800" y="548964"/>
                </a:moveTo>
                <a:lnTo>
                  <a:pt x="1941574" y="452590"/>
                </a:lnTo>
                <a:lnTo>
                  <a:pt x="2059240" y="656392"/>
                </a:lnTo>
                <a:lnTo>
                  <a:pt x="1815890" y="885138"/>
                </a:lnTo>
                <a:cubicBezTo>
                  <a:pt x="1851165" y="1015185"/>
                  <a:pt x="1851165" y="1152281"/>
                  <a:pt x="1815890" y="1282328"/>
                </a:cubicBezTo>
                <a:lnTo>
                  <a:pt x="2059240" y="1511074"/>
                </a:lnTo>
                <a:lnTo>
                  <a:pt x="1941574" y="1714876"/>
                </a:lnTo>
                <a:lnTo>
                  <a:pt x="1621800" y="1618502"/>
                </a:lnTo>
                <a:cubicBezTo>
                  <a:pt x="1526813" y="1714075"/>
                  <a:pt x="1408085" y="1782623"/>
                  <a:pt x="1277823" y="1817097"/>
                </a:cubicBezTo>
                <a:lnTo>
                  <a:pt x="1201398" y="2142217"/>
                </a:lnTo>
                <a:lnTo>
                  <a:pt x="966068" y="2142217"/>
                </a:lnTo>
                <a:lnTo>
                  <a:pt x="889643" y="1817097"/>
                </a:lnTo>
                <a:cubicBezTo>
                  <a:pt x="759381" y="1782622"/>
                  <a:pt x="640653" y="1714074"/>
                  <a:pt x="545666" y="1618502"/>
                </a:cubicBezTo>
                <a:lnTo>
                  <a:pt x="225892" y="1714876"/>
                </a:lnTo>
                <a:lnTo>
                  <a:pt x="108226" y="1511074"/>
                </a:lnTo>
                <a:lnTo>
                  <a:pt x="351576" y="1282328"/>
                </a:lnTo>
                <a:cubicBezTo>
                  <a:pt x="316301" y="1152281"/>
                  <a:pt x="316301" y="1015185"/>
                  <a:pt x="351576" y="885138"/>
                </a:cubicBezTo>
                <a:lnTo>
                  <a:pt x="108226" y="656392"/>
                </a:lnTo>
                <a:lnTo>
                  <a:pt x="225892" y="452590"/>
                </a:lnTo>
                <a:lnTo>
                  <a:pt x="545666" y="548964"/>
                </a:lnTo>
                <a:cubicBezTo>
                  <a:pt x="640653" y="453391"/>
                  <a:pt x="759381" y="384843"/>
                  <a:pt x="889643" y="350369"/>
                </a:cubicBezTo>
                <a:lnTo>
                  <a:pt x="966068" y="25249"/>
                </a:lnTo>
                <a:lnTo>
                  <a:pt x="1201398" y="25249"/>
                </a:lnTo>
                <a:lnTo>
                  <a:pt x="1277823" y="350369"/>
                </a:lnTo>
                <a:cubicBezTo>
                  <a:pt x="1408085" y="384844"/>
                  <a:pt x="1526813" y="453392"/>
                  <a:pt x="1621800" y="548964"/>
                </a:cubicBez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88846" tIns="592144" rIns="588846" bIns="592144" numCol="1" spcCol="1270" anchor="ctr" anchorCtr="0">
            <a:noAutofit/>
          </a:bodyPr>
          <a:lstStyle/>
          <a:p>
            <a:pPr marL="0" lvl="0" indent="0" algn="ctr" defTabSz="1511300">
              <a:lnSpc>
                <a:spcPct val="90000"/>
              </a:lnSpc>
              <a:spcBef>
                <a:spcPct val="0"/>
              </a:spcBef>
              <a:spcAft>
                <a:spcPct val="35000"/>
              </a:spcAft>
              <a:buNone/>
            </a:pPr>
            <a:endParaRPr lang="en-IN" sz="3400" kern="1200"/>
          </a:p>
        </p:txBody>
      </p:sp>
      <p:sp>
        <p:nvSpPr>
          <p:cNvPr id="45" name="Freeform: Shape 44">
            <a:extLst>
              <a:ext uri="{FF2B5EF4-FFF2-40B4-BE49-F238E27FC236}">
                <a16:creationId xmlns:a16="http://schemas.microsoft.com/office/drawing/2014/main" id="{F55787F6-4AA8-4190-B65F-B7FB41978D23}"/>
              </a:ext>
            </a:extLst>
          </p:cNvPr>
          <p:cNvSpPr/>
          <p:nvPr/>
        </p:nvSpPr>
        <p:spPr>
          <a:xfrm>
            <a:off x="3167699" y="293838"/>
            <a:ext cx="493200" cy="493306"/>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52687" tIns="752687" rIns="752688" bIns="752688" numCol="1" spcCol="1270" anchor="ctr" anchorCtr="0">
            <a:noAutofit/>
          </a:bodyPr>
          <a:lstStyle/>
          <a:p>
            <a:pPr marL="0" lvl="0" indent="0" algn="ctr" defTabSz="1689100">
              <a:lnSpc>
                <a:spcPct val="90000"/>
              </a:lnSpc>
              <a:spcBef>
                <a:spcPct val="0"/>
              </a:spcBef>
              <a:spcAft>
                <a:spcPct val="35000"/>
              </a:spcAft>
              <a:buNone/>
            </a:pPr>
            <a:endParaRPr lang="en-IN" sz="3800" kern="1200"/>
          </a:p>
        </p:txBody>
      </p:sp>
      <p:sp>
        <p:nvSpPr>
          <p:cNvPr id="46" name="Shape 45">
            <a:extLst>
              <a:ext uri="{FF2B5EF4-FFF2-40B4-BE49-F238E27FC236}">
                <a16:creationId xmlns:a16="http://schemas.microsoft.com/office/drawing/2014/main" id="{6E3A0229-6BBF-4C9A-9660-5ED05A31A78B}"/>
              </a:ext>
            </a:extLst>
          </p:cNvPr>
          <p:cNvSpPr/>
          <p:nvPr/>
        </p:nvSpPr>
        <p:spPr>
          <a:xfrm>
            <a:off x="2866269" y="530754"/>
            <a:ext cx="614663" cy="525679"/>
          </a:xfrm>
          <a:prstGeom prst="leftCircularArrow">
            <a:avLst>
              <a:gd name="adj1" fmla="val 6452"/>
              <a:gd name="adj2" fmla="val 429999"/>
              <a:gd name="adj3" fmla="val 10489124"/>
              <a:gd name="adj4" fmla="val 14837806"/>
              <a:gd name="adj5" fmla="val 7527"/>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IN"/>
          </a:p>
        </p:txBody>
      </p:sp>
      <p:sp>
        <p:nvSpPr>
          <p:cNvPr id="47" name="Arrow: Circular 46">
            <a:extLst>
              <a:ext uri="{FF2B5EF4-FFF2-40B4-BE49-F238E27FC236}">
                <a16:creationId xmlns:a16="http://schemas.microsoft.com/office/drawing/2014/main" id="{CED9B847-A966-4E54-A303-983418A15793}"/>
              </a:ext>
            </a:extLst>
          </p:cNvPr>
          <p:cNvSpPr/>
          <p:nvPr/>
        </p:nvSpPr>
        <p:spPr>
          <a:xfrm>
            <a:off x="3111684" y="249879"/>
            <a:ext cx="662730" cy="566788"/>
          </a:xfrm>
          <a:prstGeom prst="circularArrow">
            <a:avLst>
              <a:gd name="adj1" fmla="val 5984"/>
              <a:gd name="adj2" fmla="val 394124"/>
              <a:gd name="adj3" fmla="val 13313824"/>
              <a:gd name="adj4" fmla="val 10508221"/>
              <a:gd name="adj5" fmla="val 6981"/>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IN"/>
          </a:p>
        </p:txBody>
      </p:sp>
    </p:spTree>
    <p:extLst>
      <p:ext uri="{BB962C8B-B14F-4D97-AF65-F5344CB8AC3E}">
        <p14:creationId xmlns:p14="http://schemas.microsoft.com/office/powerpoint/2010/main" val="2456215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grpId="0" nodeType="with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par>
                                <p:cTn id="8" presetID="8" presetClass="emph" presetSubtype="0" repeatCount="indefinite" fill="hold" grpId="0" nodeType="withEffect">
                                  <p:stCondLst>
                                    <p:cond delay="0"/>
                                  </p:stCondLst>
                                  <p:childTnLst>
                                    <p:animRot by="21600000">
                                      <p:cBhvr>
                                        <p:cTn id="9" dur="2000" fill="hold"/>
                                        <p:tgtEl>
                                          <p:spTgt spid="45"/>
                                        </p:tgtEl>
                                        <p:attrNameLst>
                                          <p:attrName>r</p:attrName>
                                        </p:attrNameLst>
                                      </p:cBhvr>
                                    </p:animRot>
                                  </p:childTnLst>
                                </p:cTn>
                              </p:par>
                              <p:par>
                                <p:cTn id="10" presetID="8" presetClass="emph" presetSubtype="0" repeatCount="indefinite" fill="hold" grpId="0" nodeType="withEffect">
                                  <p:stCondLst>
                                    <p:cond delay="0"/>
                                  </p:stCondLst>
                                  <p:childTnLst>
                                    <p:animRot by="-21600000">
                                      <p:cBhvr>
                                        <p:cTn id="11" dur="2000" fill="hold"/>
                                        <p:tgtEl>
                                          <p:spTgt spid="44"/>
                                        </p:tgtEl>
                                        <p:attrNameLst>
                                          <p:attrName>r</p:attrName>
                                        </p:attrNameLst>
                                      </p:cBhvr>
                                    </p:animRot>
                                  </p:childTnLst>
                                </p:cTn>
                              </p:par>
                              <p:par>
                                <p:cTn id="12" presetID="8" presetClass="emph" presetSubtype="0" repeatCount="indefinite" fill="hold" grpId="0" nodeType="withEffect">
                                  <p:stCondLst>
                                    <p:cond delay="0"/>
                                  </p:stCondLst>
                                  <p:childTnLst>
                                    <p:animRot by="21600000">
                                      <p:cBhvr>
                                        <p:cTn id="13" dur="2000" fill="hold"/>
                                        <p:tgtEl>
                                          <p:spTgt spid="43"/>
                                        </p:tgtEl>
                                        <p:attrNameLst>
                                          <p:attrName>r</p:attrName>
                                        </p:attrNameLst>
                                      </p:cBhvr>
                                    </p:animRot>
                                  </p:childTnLst>
                                </p:cTn>
                              </p:par>
                              <p:par>
                                <p:cTn id="14" presetID="0" presetClass="path" presetSubtype="0" repeatCount="indefinite" accel="50000" decel="50000" fill="hold" nodeType="withEffect">
                                  <p:stCondLst>
                                    <p:cond delay="500"/>
                                  </p:stCondLst>
                                  <p:childTnLst>
                                    <p:animMotion origin="layout" path="M -0.18763 -0.02639 C -0.1733 0.00625 -0.18333 0.06944 -0.16888 0.10208 C -0.14921 0.11134 -0.12968 0.1125 -0.10989 0.12176 C -0.0776 0.11759 -0.04661 0.12778 -0.01419 0.12384 C 0.00808 0.10393 0.11823 0.13773 0.14141 0.11782 C 0.14727 0.07708 0.1379 0.05509 0.14441 0.01458 C 0.13555 -0.00533 0.14844 -0.00972 0.09206 -0.02292 C 0.03555 -0.03635 -0.14778 -0.06088 -0.19401 -0.06505 C -0.19205 -0.05301 -0.18958 -0.03959 -0.18763 -0.02639 Z " pathEditMode="relative" rAng="0" ptsTypes="AAAAAAAAA">
                                      <p:cBhvr>
                                        <p:cTn id="15" dur="10000" fill="hold"/>
                                        <p:tgtEl>
                                          <p:spTgt spid="53"/>
                                        </p:tgtEl>
                                        <p:attrNameLst>
                                          <p:attrName>ppt_x</p:attrName>
                                          <p:attrName>ppt_y</p:attrName>
                                        </p:attrNameLst>
                                      </p:cBhvr>
                                      <p:rCtr x="16276" y="562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3" grpId="0" animBg="1"/>
      <p:bldP spid="44" grpId="0" animBg="1"/>
      <p:bldP spid="4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D1DB16-3243-4916-96AE-0416B7586CF1}" type="slidenum">
              <a:rPr lang="en-IN" smtClean="0"/>
              <a:t>37</a:t>
            </a:fld>
            <a:endParaRPr lang="en-IN"/>
          </a:p>
        </p:txBody>
      </p:sp>
      <p:sp>
        <p:nvSpPr>
          <p:cNvPr id="3" name="TextBox 2"/>
          <p:cNvSpPr txBox="1"/>
          <p:nvPr/>
        </p:nvSpPr>
        <p:spPr>
          <a:xfrm>
            <a:off x="1799498" y="922203"/>
            <a:ext cx="7757651" cy="1384995"/>
          </a:xfrm>
          <a:prstGeom prst="rect">
            <a:avLst/>
          </a:prstGeom>
          <a:noFill/>
        </p:spPr>
        <p:txBody>
          <a:bodyPr wrap="square" rtlCol="0">
            <a:spAutoFit/>
          </a:bodyPr>
          <a:lstStyle/>
          <a:p>
            <a:pPr algn="ctr"/>
            <a:r>
              <a:rPr lang="en-US" sz="3600" b="1" dirty="0"/>
              <a:t>Writing a winning business plan</a:t>
            </a:r>
          </a:p>
          <a:p>
            <a:pPr algn="ctr"/>
            <a:r>
              <a:rPr lang="en-US" sz="2400" b="1" dirty="0"/>
              <a:t>The following slides are inspired by the book of Vaughan Evans </a:t>
            </a:r>
            <a:endParaRPr lang="en-IN" sz="2400" b="1" dirty="0"/>
          </a:p>
        </p:txBody>
      </p:sp>
      <p:sp>
        <p:nvSpPr>
          <p:cNvPr id="4" name="Rectangle 3"/>
          <p:cNvSpPr/>
          <p:nvPr/>
        </p:nvSpPr>
        <p:spPr>
          <a:xfrm>
            <a:off x="1737089" y="2727684"/>
            <a:ext cx="7882467" cy="1754326"/>
          </a:xfrm>
          <a:prstGeom prst="rect">
            <a:avLst/>
          </a:prstGeom>
        </p:spPr>
        <p:txBody>
          <a:bodyPr wrap="square">
            <a:spAutoFit/>
          </a:bodyPr>
          <a:lstStyle/>
          <a:p>
            <a:pPr algn="ctr"/>
            <a:r>
              <a:rPr lang="en-US" dirty="0"/>
              <a:t>The Financial Times (Pearson)</a:t>
            </a:r>
          </a:p>
          <a:p>
            <a:pPr algn="ctr"/>
            <a:r>
              <a:rPr lang="en-US" sz="2400" b="1" dirty="0"/>
              <a:t>Essential Guide to Writing a Business Plan</a:t>
            </a:r>
          </a:p>
          <a:p>
            <a:pPr algn="ctr"/>
            <a:r>
              <a:rPr lang="en-US" sz="2000" dirty="0"/>
              <a:t>How to win backing to start up or grow your business</a:t>
            </a:r>
          </a:p>
          <a:p>
            <a:pPr algn="ctr"/>
            <a:r>
              <a:rPr lang="en-US" sz="2800" dirty="0"/>
              <a:t>Vaughan Evans</a:t>
            </a:r>
          </a:p>
          <a:p>
            <a:pPr algn="ctr"/>
            <a:r>
              <a:rPr lang="en-US" dirty="0"/>
              <a:t>Second edition - 1 October 2015</a:t>
            </a:r>
          </a:p>
        </p:txBody>
      </p:sp>
      <p:pic>
        <p:nvPicPr>
          <p:cNvPr id="6" name="Picture 5">
            <a:extLst>
              <a:ext uri="{FF2B5EF4-FFF2-40B4-BE49-F238E27FC236}">
                <a16:creationId xmlns:a16="http://schemas.microsoft.com/office/drawing/2014/main" id="{9B47DBDA-5E69-475B-9AA9-491A8CDFAFAA}"/>
              </a:ext>
            </a:extLst>
          </p:cNvPr>
          <p:cNvPicPr>
            <a:picLocks noChangeAspect="1"/>
          </p:cNvPicPr>
          <p:nvPr/>
        </p:nvPicPr>
        <p:blipFill>
          <a:blip r:embed="rId2"/>
          <a:stretch>
            <a:fillRect/>
          </a:stretch>
        </p:blipFill>
        <p:spPr>
          <a:xfrm>
            <a:off x="8715375" y="2190383"/>
            <a:ext cx="2638425" cy="4124325"/>
          </a:xfrm>
          <a:prstGeom prst="rect">
            <a:avLst/>
          </a:prstGeom>
        </p:spPr>
      </p:pic>
    </p:spTree>
    <p:extLst>
      <p:ext uri="{BB962C8B-B14F-4D97-AF65-F5344CB8AC3E}">
        <p14:creationId xmlns:p14="http://schemas.microsoft.com/office/powerpoint/2010/main" val="2567369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90" y="1090869"/>
            <a:ext cx="9499776" cy="4862146"/>
          </a:xfrm>
        </p:spPr>
        <p:txBody>
          <a:bodyPr/>
          <a:lstStyle/>
          <a:p>
            <a:pPr algn="ctr"/>
            <a:r>
              <a:rPr lang="en-US" dirty="0">
                <a:solidFill>
                  <a:srgbClr val="002060"/>
                </a:solidFill>
                <a:latin typeface="Georgia" panose="02040502050405020303" pitchFamily="18" charset="0"/>
              </a:rPr>
              <a:t>Chapter 1</a:t>
            </a:r>
            <a:r>
              <a:rPr lang="en-US" dirty="0"/>
              <a:t>: Executive Summary </a:t>
            </a:r>
            <a:br>
              <a:rPr lang="en-US" dirty="0"/>
            </a:br>
            <a:r>
              <a:rPr lang="en-IN" dirty="0">
                <a:solidFill>
                  <a:srgbClr val="002060"/>
                </a:solidFill>
                <a:latin typeface="Georgia" panose="02040502050405020303" pitchFamily="18" charset="0"/>
              </a:rPr>
              <a:t>Chapter 2</a:t>
            </a:r>
            <a:r>
              <a:rPr lang="en-IN" dirty="0"/>
              <a:t>: The business </a:t>
            </a:r>
            <a:br>
              <a:rPr lang="en-IN" dirty="0"/>
            </a:br>
            <a:r>
              <a:rPr lang="en-IN" dirty="0">
                <a:solidFill>
                  <a:srgbClr val="002060"/>
                </a:solidFill>
                <a:latin typeface="Georgia" panose="02040502050405020303" pitchFamily="18" charset="0"/>
              </a:rPr>
              <a:t>Chapter 3</a:t>
            </a:r>
            <a:r>
              <a:rPr lang="en-IN" dirty="0"/>
              <a:t>: Market demand </a:t>
            </a:r>
            <a:br>
              <a:rPr lang="en-IN" dirty="0"/>
            </a:br>
            <a:r>
              <a:rPr lang="en-US" dirty="0">
                <a:solidFill>
                  <a:srgbClr val="002060"/>
                </a:solidFill>
                <a:latin typeface="Georgia" panose="02040502050405020303" pitchFamily="18" charset="0"/>
              </a:rPr>
              <a:t>Chapter 4</a:t>
            </a:r>
            <a:r>
              <a:rPr lang="en-US" dirty="0"/>
              <a:t>: Competition</a:t>
            </a:r>
            <a:br>
              <a:rPr lang="en-US" dirty="0"/>
            </a:br>
            <a:r>
              <a:rPr lang="en-US" dirty="0">
                <a:solidFill>
                  <a:srgbClr val="002060"/>
                </a:solidFill>
                <a:latin typeface="Georgia" panose="02040502050405020303" pitchFamily="18" charset="0"/>
              </a:rPr>
              <a:t>Chapter 5:</a:t>
            </a:r>
            <a:r>
              <a:rPr lang="en-US" dirty="0"/>
              <a:t> Strategy</a:t>
            </a:r>
            <a:br>
              <a:rPr lang="en-US" dirty="0"/>
            </a:br>
            <a:r>
              <a:rPr lang="en-US" dirty="0">
                <a:solidFill>
                  <a:srgbClr val="002060"/>
                </a:solidFill>
                <a:latin typeface="Georgia" panose="02040502050405020303" pitchFamily="18" charset="0"/>
              </a:rPr>
              <a:t>Chapter 6</a:t>
            </a:r>
            <a:r>
              <a:rPr lang="en-US" dirty="0"/>
              <a:t>: Resources </a:t>
            </a:r>
            <a:br>
              <a:rPr lang="en-US" dirty="0"/>
            </a:br>
            <a:r>
              <a:rPr lang="en-US" dirty="0">
                <a:solidFill>
                  <a:srgbClr val="002060"/>
                </a:solidFill>
                <a:latin typeface="Georgia" panose="02040502050405020303" pitchFamily="18" charset="0"/>
              </a:rPr>
              <a:t>Chapter 7: </a:t>
            </a:r>
            <a:r>
              <a:rPr lang="en-US" dirty="0"/>
              <a:t>Financial Outlay, Financial Closer, and Projected Financials </a:t>
            </a:r>
            <a:r>
              <a:rPr lang="en-US" dirty="0">
                <a:solidFill>
                  <a:srgbClr val="002060"/>
                </a:solidFill>
                <a:latin typeface="Georgia" panose="02040502050405020303" pitchFamily="18" charset="0"/>
              </a:rPr>
              <a:t/>
            </a:r>
            <a:br>
              <a:rPr lang="en-US" dirty="0">
                <a:solidFill>
                  <a:srgbClr val="002060"/>
                </a:solidFill>
                <a:latin typeface="Georgia" panose="02040502050405020303" pitchFamily="18" charset="0"/>
              </a:rPr>
            </a:br>
            <a:r>
              <a:rPr lang="en-US" dirty="0">
                <a:solidFill>
                  <a:srgbClr val="002060"/>
                </a:solidFill>
                <a:latin typeface="Georgia" panose="02040502050405020303" pitchFamily="18" charset="0"/>
              </a:rPr>
              <a:t>Chapter 8</a:t>
            </a:r>
            <a:r>
              <a:rPr lang="en-US" dirty="0"/>
              <a:t>: Risks, Opportunities, Rewards and Sensitivities</a:t>
            </a:r>
            <a:endParaRPr lang="en-IN" dirty="0"/>
          </a:p>
        </p:txBody>
      </p:sp>
      <p:sp>
        <p:nvSpPr>
          <p:cNvPr id="3" name="TextBox 2"/>
          <p:cNvSpPr txBox="1"/>
          <p:nvPr/>
        </p:nvSpPr>
        <p:spPr>
          <a:xfrm>
            <a:off x="1363133" y="448733"/>
            <a:ext cx="9380090" cy="369332"/>
          </a:xfrm>
          <a:prstGeom prst="rect">
            <a:avLst/>
          </a:prstGeom>
          <a:noFill/>
        </p:spPr>
        <p:txBody>
          <a:bodyPr wrap="square" rtlCol="0">
            <a:spAutoFit/>
          </a:bodyPr>
          <a:lstStyle/>
          <a:p>
            <a:pPr algn="ctr"/>
            <a:r>
              <a:rPr lang="en-US" dirty="0"/>
              <a:t>The following are the book chapters explaining different chapters of a business plan</a:t>
            </a:r>
            <a:endParaRPr lang="en-IN" dirty="0"/>
          </a:p>
        </p:txBody>
      </p:sp>
    </p:spTree>
    <p:extLst>
      <p:ext uri="{BB962C8B-B14F-4D97-AF65-F5344CB8AC3E}">
        <p14:creationId xmlns:p14="http://schemas.microsoft.com/office/powerpoint/2010/main" val="24466264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1: Executive Summary</a:t>
            </a: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48730459"/>
              </p:ext>
            </p:extLst>
          </p:nvPr>
        </p:nvGraphicFramePr>
        <p:xfrm>
          <a:off x="481361" y="1286578"/>
          <a:ext cx="10973220" cy="50453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08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500" fill="hold"/>
                                        <p:tgtEl>
                                          <p:spTgt spid="5">
                                            <p:graphicEl>
                                              <a:dgm id="{5C6D7AB0-56AF-4624-86C1-CAA83B324FB6}"/>
                                            </p:graphicEl>
                                          </p:spTgt>
                                        </p:tgtEl>
                                        <p:attrNameLst>
                                          <p:attrName>style.color</p:attrName>
                                        </p:attrNameLst>
                                      </p:cBhvr>
                                      <p:by>
                                        <p:hsl h="0" s="-12549" l="-25098"/>
                                      </p:by>
                                    </p:animClr>
                                    <p:animClr clrSpc="hsl" dir="cw">
                                      <p:cBhvr>
                                        <p:cTn id="7" dur="500" fill="hold"/>
                                        <p:tgtEl>
                                          <p:spTgt spid="5">
                                            <p:graphicEl>
                                              <a:dgm id="{5C6D7AB0-56AF-4624-86C1-CAA83B324FB6}"/>
                                            </p:graphicEl>
                                          </p:spTgt>
                                        </p:tgtEl>
                                        <p:attrNameLst>
                                          <p:attrName>fillcolor</p:attrName>
                                        </p:attrNameLst>
                                      </p:cBhvr>
                                      <p:by>
                                        <p:hsl h="0" s="-12549" l="-25098"/>
                                      </p:by>
                                    </p:animClr>
                                    <p:animClr clrSpc="hsl" dir="cw">
                                      <p:cBhvr>
                                        <p:cTn id="8" dur="500" fill="hold"/>
                                        <p:tgtEl>
                                          <p:spTgt spid="5">
                                            <p:graphicEl>
                                              <a:dgm id="{5C6D7AB0-56AF-4624-86C1-CAA83B324FB6}"/>
                                            </p:graphicEl>
                                          </p:spTgt>
                                        </p:tgtEl>
                                        <p:attrNameLst>
                                          <p:attrName>stroke.color</p:attrName>
                                        </p:attrNameLst>
                                      </p:cBhvr>
                                      <p:by>
                                        <p:hsl h="0" s="-12549" l="-25098"/>
                                      </p:by>
                                    </p:animClr>
                                    <p:set>
                                      <p:cBhvr>
                                        <p:cTn id="9" dur="500" fill="hold"/>
                                        <p:tgtEl>
                                          <p:spTgt spid="5">
                                            <p:graphicEl>
                                              <a:dgm id="{5C6D7AB0-56AF-4624-86C1-CAA83B324FB6}"/>
                                            </p:graphicEl>
                                          </p:spTgt>
                                        </p:tgtEl>
                                        <p:attrNameLst>
                                          <p:attrName>fill.type</p:attrName>
                                        </p:attrNameLst>
                                      </p:cBhvr>
                                      <p:to>
                                        <p:strVal val="solid"/>
                                      </p:to>
                                    </p:set>
                                  </p:childTnLst>
                                </p:cTn>
                              </p:par>
                              <p:par>
                                <p:cTn id="10" presetID="24" presetClass="emph" presetSubtype="0" fill="hold" grpId="0" nodeType="withEffect">
                                  <p:stCondLst>
                                    <p:cond delay="0"/>
                                  </p:stCondLst>
                                  <p:childTnLst>
                                    <p:animClr clrSpc="hsl" dir="cw">
                                      <p:cBhvr override="childStyle">
                                        <p:cTn id="11" dur="500" fill="hold"/>
                                        <p:tgtEl>
                                          <p:spTgt spid="5">
                                            <p:graphicEl>
                                              <a:dgm id="{976F818B-700B-414D-B4DE-679F3C256E9E}"/>
                                            </p:graphicEl>
                                          </p:spTgt>
                                        </p:tgtEl>
                                        <p:attrNameLst>
                                          <p:attrName>style.color</p:attrName>
                                        </p:attrNameLst>
                                      </p:cBhvr>
                                      <p:by>
                                        <p:hsl h="0" s="-12549" l="-25098"/>
                                      </p:by>
                                    </p:animClr>
                                    <p:animClr clrSpc="hsl" dir="cw">
                                      <p:cBhvr>
                                        <p:cTn id="12" dur="500" fill="hold"/>
                                        <p:tgtEl>
                                          <p:spTgt spid="5">
                                            <p:graphicEl>
                                              <a:dgm id="{976F818B-700B-414D-B4DE-679F3C256E9E}"/>
                                            </p:graphicEl>
                                          </p:spTgt>
                                        </p:tgtEl>
                                        <p:attrNameLst>
                                          <p:attrName>fillcolor</p:attrName>
                                        </p:attrNameLst>
                                      </p:cBhvr>
                                      <p:by>
                                        <p:hsl h="0" s="-12549" l="-25098"/>
                                      </p:by>
                                    </p:animClr>
                                    <p:animClr clrSpc="hsl" dir="cw">
                                      <p:cBhvr>
                                        <p:cTn id="13" dur="500" fill="hold"/>
                                        <p:tgtEl>
                                          <p:spTgt spid="5">
                                            <p:graphicEl>
                                              <a:dgm id="{976F818B-700B-414D-B4DE-679F3C256E9E}"/>
                                            </p:graphicEl>
                                          </p:spTgt>
                                        </p:tgtEl>
                                        <p:attrNameLst>
                                          <p:attrName>stroke.color</p:attrName>
                                        </p:attrNameLst>
                                      </p:cBhvr>
                                      <p:by>
                                        <p:hsl h="0" s="-12549" l="-25098"/>
                                      </p:by>
                                    </p:animClr>
                                    <p:set>
                                      <p:cBhvr>
                                        <p:cTn id="14" dur="500" fill="hold"/>
                                        <p:tgtEl>
                                          <p:spTgt spid="5">
                                            <p:graphicEl>
                                              <a:dgm id="{976F818B-700B-414D-B4DE-679F3C256E9E}"/>
                                            </p:graphicEl>
                                          </p:spTgt>
                                        </p:tgtEl>
                                        <p:attrNameLst>
                                          <p:attrName>fill.type</p:attrName>
                                        </p:attrNameLst>
                                      </p:cBhvr>
                                      <p:to>
                                        <p:strVal val="solid"/>
                                      </p:to>
                                    </p:set>
                                  </p:childTnLst>
                                </p:cTn>
                              </p:par>
                              <p:par>
                                <p:cTn id="15" presetID="24" presetClass="emph" presetSubtype="0" fill="hold" grpId="0" nodeType="withEffect">
                                  <p:stCondLst>
                                    <p:cond delay="0"/>
                                  </p:stCondLst>
                                  <p:childTnLst>
                                    <p:animClr clrSpc="hsl" dir="cw">
                                      <p:cBhvr override="childStyle">
                                        <p:cTn id="16" dur="500" fill="hold"/>
                                        <p:tgtEl>
                                          <p:spTgt spid="5">
                                            <p:graphicEl>
                                              <a:dgm id="{FE49DD63-2465-4E57-963D-812600181FD2}"/>
                                            </p:graphicEl>
                                          </p:spTgt>
                                        </p:tgtEl>
                                        <p:attrNameLst>
                                          <p:attrName>style.color</p:attrName>
                                        </p:attrNameLst>
                                      </p:cBhvr>
                                      <p:by>
                                        <p:hsl h="0" s="-12549" l="-25098"/>
                                      </p:by>
                                    </p:animClr>
                                    <p:animClr clrSpc="hsl" dir="cw">
                                      <p:cBhvr>
                                        <p:cTn id="17" dur="500" fill="hold"/>
                                        <p:tgtEl>
                                          <p:spTgt spid="5">
                                            <p:graphicEl>
                                              <a:dgm id="{FE49DD63-2465-4E57-963D-812600181FD2}"/>
                                            </p:graphicEl>
                                          </p:spTgt>
                                        </p:tgtEl>
                                        <p:attrNameLst>
                                          <p:attrName>fillcolor</p:attrName>
                                        </p:attrNameLst>
                                      </p:cBhvr>
                                      <p:by>
                                        <p:hsl h="0" s="-12549" l="-25098"/>
                                      </p:by>
                                    </p:animClr>
                                    <p:animClr clrSpc="hsl" dir="cw">
                                      <p:cBhvr>
                                        <p:cTn id="18" dur="500" fill="hold"/>
                                        <p:tgtEl>
                                          <p:spTgt spid="5">
                                            <p:graphicEl>
                                              <a:dgm id="{FE49DD63-2465-4E57-963D-812600181FD2}"/>
                                            </p:graphicEl>
                                          </p:spTgt>
                                        </p:tgtEl>
                                        <p:attrNameLst>
                                          <p:attrName>stroke.color</p:attrName>
                                        </p:attrNameLst>
                                      </p:cBhvr>
                                      <p:by>
                                        <p:hsl h="0" s="-12549" l="-25098"/>
                                      </p:by>
                                    </p:animClr>
                                    <p:set>
                                      <p:cBhvr>
                                        <p:cTn id="19" dur="500" fill="hold"/>
                                        <p:tgtEl>
                                          <p:spTgt spid="5">
                                            <p:graphicEl>
                                              <a:dgm id="{FE49DD63-2465-4E57-963D-812600181FD2}"/>
                                            </p:graphicEl>
                                          </p:spTgt>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24" presetClass="emph" presetSubtype="0" fill="hold" grpId="0" nodeType="clickEffect">
                                  <p:stCondLst>
                                    <p:cond delay="0"/>
                                  </p:stCondLst>
                                  <p:childTnLst>
                                    <p:animClr clrSpc="hsl" dir="cw">
                                      <p:cBhvr override="childStyle">
                                        <p:cTn id="23" dur="500" fill="hold"/>
                                        <p:tgtEl>
                                          <p:spTgt spid="5">
                                            <p:graphicEl>
                                              <a:dgm id="{41209540-CEFD-42BA-9F50-F6C7E755EE49}"/>
                                            </p:graphicEl>
                                          </p:spTgt>
                                        </p:tgtEl>
                                        <p:attrNameLst>
                                          <p:attrName>style.color</p:attrName>
                                        </p:attrNameLst>
                                      </p:cBhvr>
                                      <p:by>
                                        <p:hsl h="0" s="-12549" l="-25098"/>
                                      </p:by>
                                    </p:animClr>
                                    <p:animClr clrSpc="hsl" dir="cw">
                                      <p:cBhvr>
                                        <p:cTn id="24" dur="500" fill="hold"/>
                                        <p:tgtEl>
                                          <p:spTgt spid="5">
                                            <p:graphicEl>
                                              <a:dgm id="{41209540-CEFD-42BA-9F50-F6C7E755EE49}"/>
                                            </p:graphicEl>
                                          </p:spTgt>
                                        </p:tgtEl>
                                        <p:attrNameLst>
                                          <p:attrName>fillcolor</p:attrName>
                                        </p:attrNameLst>
                                      </p:cBhvr>
                                      <p:by>
                                        <p:hsl h="0" s="-12549" l="-25098"/>
                                      </p:by>
                                    </p:animClr>
                                    <p:animClr clrSpc="hsl" dir="cw">
                                      <p:cBhvr>
                                        <p:cTn id="25" dur="500" fill="hold"/>
                                        <p:tgtEl>
                                          <p:spTgt spid="5">
                                            <p:graphicEl>
                                              <a:dgm id="{41209540-CEFD-42BA-9F50-F6C7E755EE49}"/>
                                            </p:graphicEl>
                                          </p:spTgt>
                                        </p:tgtEl>
                                        <p:attrNameLst>
                                          <p:attrName>stroke.color</p:attrName>
                                        </p:attrNameLst>
                                      </p:cBhvr>
                                      <p:by>
                                        <p:hsl h="0" s="-12549" l="-25098"/>
                                      </p:by>
                                    </p:animClr>
                                    <p:set>
                                      <p:cBhvr>
                                        <p:cTn id="26" dur="500" fill="hold"/>
                                        <p:tgtEl>
                                          <p:spTgt spid="5">
                                            <p:graphicEl>
                                              <a:dgm id="{41209540-CEFD-42BA-9F50-F6C7E755EE49}"/>
                                            </p:graphicEl>
                                          </p:spTgt>
                                        </p:tgtEl>
                                        <p:attrNameLst>
                                          <p:attrName>fill.type</p:attrName>
                                        </p:attrNameLst>
                                      </p:cBhvr>
                                      <p:to>
                                        <p:strVal val="solid"/>
                                      </p:to>
                                    </p:set>
                                  </p:childTnLst>
                                </p:cTn>
                              </p:par>
                              <p:par>
                                <p:cTn id="27" presetID="24" presetClass="emph" presetSubtype="0" fill="hold" grpId="0" nodeType="withEffect">
                                  <p:stCondLst>
                                    <p:cond delay="0"/>
                                  </p:stCondLst>
                                  <p:childTnLst>
                                    <p:animClr clrSpc="hsl" dir="cw">
                                      <p:cBhvr override="childStyle">
                                        <p:cTn id="28" dur="500" fill="hold"/>
                                        <p:tgtEl>
                                          <p:spTgt spid="5">
                                            <p:graphicEl>
                                              <a:dgm id="{F55F74FF-C0F7-4C88-8649-CB5BCE7F8800}"/>
                                            </p:graphicEl>
                                          </p:spTgt>
                                        </p:tgtEl>
                                        <p:attrNameLst>
                                          <p:attrName>style.color</p:attrName>
                                        </p:attrNameLst>
                                      </p:cBhvr>
                                      <p:by>
                                        <p:hsl h="0" s="-12549" l="-25098"/>
                                      </p:by>
                                    </p:animClr>
                                    <p:animClr clrSpc="hsl" dir="cw">
                                      <p:cBhvr>
                                        <p:cTn id="29" dur="500" fill="hold"/>
                                        <p:tgtEl>
                                          <p:spTgt spid="5">
                                            <p:graphicEl>
                                              <a:dgm id="{F55F74FF-C0F7-4C88-8649-CB5BCE7F8800}"/>
                                            </p:graphicEl>
                                          </p:spTgt>
                                        </p:tgtEl>
                                        <p:attrNameLst>
                                          <p:attrName>fillcolor</p:attrName>
                                        </p:attrNameLst>
                                      </p:cBhvr>
                                      <p:by>
                                        <p:hsl h="0" s="-12549" l="-25098"/>
                                      </p:by>
                                    </p:animClr>
                                    <p:animClr clrSpc="hsl" dir="cw">
                                      <p:cBhvr>
                                        <p:cTn id="30" dur="500" fill="hold"/>
                                        <p:tgtEl>
                                          <p:spTgt spid="5">
                                            <p:graphicEl>
                                              <a:dgm id="{F55F74FF-C0F7-4C88-8649-CB5BCE7F8800}"/>
                                            </p:graphicEl>
                                          </p:spTgt>
                                        </p:tgtEl>
                                        <p:attrNameLst>
                                          <p:attrName>stroke.color</p:attrName>
                                        </p:attrNameLst>
                                      </p:cBhvr>
                                      <p:by>
                                        <p:hsl h="0" s="-12549" l="-25098"/>
                                      </p:by>
                                    </p:animClr>
                                    <p:set>
                                      <p:cBhvr>
                                        <p:cTn id="31" dur="500" fill="hold"/>
                                        <p:tgtEl>
                                          <p:spTgt spid="5">
                                            <p:graphicEl>
                                              <a:dgm id="{F55F74FF-C0F7-4C88-8649-CB5BCE7F8800}"/>
                                            </p:graphicEl>
                                          </p:spTgt>
                                        </p:tgtEl>
                                        <p:attrNameLst>
                                          <p:attrName>fill.type</p:attrName>
                                        </p:attrNameLst>
                                      </p:cBhvr>
                                      <p:to>
                                        <p:strVal val="solid"/>
                                      </p:to>
                                    </p:set>
                                  </p:childTnLst>
                                </p:cTn>
                              </p:par>
                            </p:childTnLst>
                          </p:cTn>
                        </p:par>
                      </p:childTnLst>
                    </p:cTn>
                  </p:par>
                  <p:par>
                    <p:cTn id="32" fill="hold">
                      <p:stCondLst>
                        <p:cond delay="indefinite"/>
                      </p:stCondLst>
                      <p:childTnLst>
                        <p:par>
                          <p:cTn id="33" fill="hold">
                            <p:stCondLst>
                              <p:cond delay="0"/>
                            </p:stCondLst>
                            <p:childTnLst>
                              <p:par>
                                <p:cTn id="34" presetID="24" presetClass="emph" presetSubtype="0" fill="hold" grpId="0" nodeType="clickEffect">
                                  <p:stCondLst>
                                    <p:cond delay="0"/>
                                  </p:stCondLst>
                                  <p:childTnLst>
                                    <p:animClr clrSpc="hsl" dir="cw">
                                      <p:cBhvr override="childStyle">
                                        <p:cTn id="35" dur="500" fill="hold"/>
                                        <p:tgtEl>
                                          <p:spTgt spid="5">
                                            <p:graphicEl>
                                              <a:dgm id="{84FF2FD5-37FC-466B-918A-46BA06DF7C2A}"/>
                                            </p:graphicEl>
                                          </p:spTgt>
                                        </p:tgtEl>
                                        <p:attrNameLst>
                                          <p:attrName>style.color</p:attrName>
                                        </p:attrNameLst>
                                      </p:cBhvr>
                                      <p:by>
                                        <p:hsl h="0" s="-12549" l="-25098"/>
                                      </p:by>
                                    </p:animClr>
                                    <p:animClr clrSpc="hsl" dir="cw">
                                      <p:cBhvr>
                                        <p:cTn id="36" dur="500" fill="hold"/>
                                        <p:tgtEl>
                                          <p:spTgt spid="5">
                                            <p:graphicEl>
                                              <a:dgm id="{84FF2FD5-37FC-466B-918A-46BA06DF7C2A}"/>
                                            </p:graphicEl>
                                          </p:spTgt>
                                        </p:tgtEl>
                                        <p:attrNameLst>
                                          <p:attrName>fillcolor</p:attrName>
                                        </p:attrNameLst>
                                      </p:cBhvr>
                                      <p:by>
                                        <p:hsl h="0" s="-12549" l="-25098"/>
                                      </p:by>
                                    </p:animClr>
                                    <p:animClr clrSpc="hsl" dir="cw">
                                      <p:cBhvr>
                                        <p:cTn id="37" dur="500" fill="hold"/>
                                        <p:tgtEl>
                                          <p:spTgt spid="5">
                                            <p:graphicEl>
                                              <a:dgm id="{84FF2FD5-37FC-466B-918A-46BA06DF7C2A}"/>
                                            </p:graphicEl>
                                          </p:spTgt>
                                        </p:tgtEl>
                                        <p:attrNameLst>
                                          <p:attrName>stroke.color</p:attrName>
                                        </p:attrNameLst>
                                      </p:cBhvr>
                                      <p:by>
                                        <p:hsl h="0" s="-12549" l="-25098"/>
                                      </p:by>
                                    </p:animClr>
                                    <p:set>
                                      <p:cBhvr>
                                        <p:cTn id="38" dur="500" fill="hold"/>
                                        <p:tgtEl>
                                          <p:spTgt spid="5">
                                            <p:graphicEl>
                                              <a:dgm id="{84FF2FD5-37FC-466B-918A-46BA06DF7C2A}"/>
                                            </p:graphicEl>
                                          </p:spTgt>
                                        </p:tgtEl>
                                        <p:attrNameLst>
                                          <p:attrName>fill.type</p:attrName>
                                        </p:attrNameLst>
                                      </p:cBhvr>
                                      <p:to>
                                        <p:strVal val="solid"/>
                                      </p:to>
                                    </p:set>
                                  </p:childTnLst>
                                </p:cTn>
                              </p:par>
                              <p:par>
                                <p:cTn id="39" presetID="24" presetClass="emph" presetSubtype="0" fill="hold" grpId="0" nodeType="withEffect">
                                  <p:stCondLst>
                                    <p:cond delay="0"/>
                                  </p:stCondLst>
                                  <p:childTnLst>
                                    <p:animClr clrSpc="hsl" dir="cw">
                                      <p:cBhvr override="childStyle">
                                        <p:cTn id="40" dur="500" fill="hold"/>
                                        <p:tgtEl>
                                          <p:spTgt spid="5">
                                            <p:graphicEl>
                                              <a:dgm id="{9AE9AD43-389F-403F-B1D7-25FBF65F46D7}"/>
                                            </p:graphicEl>
                                          </p:spTgt>
                                        </p:tgtEl>
                                        <p:attrNameLst>
                                          <p:attrName>style.color</p:attrName>
                                        </p:attrNameLst>
                                      </p:cBhvr>
                                      <p:by>
                                        <p:hsl h="0" s="-12549" l="-25098"/>
                                      </p:by>
                                    </p:animClr>
                                    <p:animClr clrSpc="hsl" dir="cw">
                                      <p:cBhvr>
                                        <p:cTn id="41" dur="500" fill="hold"/>
                                        <p:tgtEl>
                                          <p:spTgt spid="5">
                                            <p:graphicEl>
                                              <a:dgm id="{9AE9AD43-389F-403F-B1D7-25FBF65F46D7}"/>
                                            </p:graphicEl>
                                          </p:spTgt>
                                        </p:tgtEl>
                                        <p:attrNameLst>
                                          <p:attrName>fillcolor</p:attrName>
                                        </p:attrNameLst>
                                      </p:cBhvr>
                                      <p:by>
                                        <p:hsl h="0" s="-12549" l="-25098"/>
                                      </p:by>
                                    </p:animClr>
                                    <p:animClr clrSpc="hsl" dir="cw">
                                      <p:cBhvr>
                                        <p:cTn id="42" dur="500" fill="hold"/>
                                        <p:tgtEl>
                                          <p:spTgt spid="5">
                                            <p:graphicEl>
                                              <a:dgm id="{9AE9AD43-389F-403F-B1D7-25FBF65F46D7}"/>
                                            </p:graphicEl>
                                          </p:spTgt>
                                        </p:tgtEl>
                                        <p:attrNameLst>
                                          <p:attrName>stroke.color</p:attrName>
                                        </p:attrNameLst>
                                      </p:cBhvr>
                                      <p:by>
                                        <p:hsl h="0" s="-12549" l="-25098"/>
                                      </p:by>
                                    </p:animClr>
                                    <p:set>
                                      <p:cBhvr>
                                        <p:cTn id="43" dur="500" fill="hold"/>
                                        <p:tgtEl>
                                          <p:spTgt spid="5">
                                            <p:graphicEl>
                                              <a:dgm id="{9AE9AD43-389F-403F-B1D7-25FBF65F46D7}"/>
                                            </p:graphicEl>
                                          </p:spTgt>
                                        </p:tgtEl>
                                        <p:attrNameLst>
                                          <p:attrName>fill.type</p:attrName>
                                        </p:attrNameLst>
                                      </p:cBhvr>
                                      <p:to>
                                        <p:strVal val="solid"/>
                                      </p:to>
                                    </p:set>
                                  </p:childTnLst>
                                </p:cTn>
                              </p:par>
                            </p:childTnLst>
                          </p:cTn>
                        </p:par>
                      </p:childTnLst>
                    </p:cTn>
                  </p:par>
                  <p:par>
                    <p:cTn id="44" fill="hold">
                      <p:stCondLst>
                        <p:cond delay="indefinite"/>
                      </p:stCondLst>
                      <p:childTnLst>
                        <p:par>
                          <p:cTn id="45" fill="hold">
                            <p:stCondLst>
                              <p:cond delay="0"/>
                            </p:stCondLst>
                            <p:childTnLst>
                              <p:par>
                                <p:cTn id="46" presetID="24" presetClass="emph" presetSubtype="0" fill="hold" grpId="0" nodeType="clickEffect">
                                  <p:stCondLst>
                                    <p:cond delay="0"/>
                                  </p:stCondLst>
                                  <p:childTnLst>
                                    <p:animClr clrSpc="hsl" dir="cw">
                                      <p:cBhvr override="childStyle">
                                        <p:cTn id="47" dur="500" fill="hold"/>
                                        <p:tgtEl>
                                          <p:spTgt spid="5">
                                            <p:graphicEl>
                                              <a:dgm id="{F7EF0412-1288-49B4-B57A-E6F2214FF79B}"/>
                                            </p:graphicEl>
                                          </p:spTgt>
                                        </p:tgtEl>
                                        <p:attrNameLst>
                                          <p:attrName>style.color</p:attrName>
                                        </p:attrNameLst>
                                      </p:cBhvr>
                                      <p:by>
                                        <p:hsl h="0" s="-12549" l="-25098"/>
                                      </p:by>
                                    </p:animClr>
                                    <p:animClr clrSpc="hsl" dir="cw">
                                      <p:cBhvr>
                                        <p:cTn id="48" dur="500" fill="hold"/>
                                        <p:tgtEl>
                                          <p:spTgt spid="5">
                                            <p:graphicEl>
                                              <a:dgm id="{F7EF0412-1288-49B4-B57A-E6F2214FF79B}"/>
                                            </p:graphicEl>
                                          </p:spTgt>
                                        </p:tgtEl>
                                        <p:attrNameLst>
                                          <p:attrName>fillcolor</p:attrName>
                                        </p:attrNameLst>
                                      </p:cBhvr>
                                      <p:by>
                                        <p:hsl h="0" s="-12549" l="-25098"/>
                                      </p:by>
                                    </p:animClr>
                                    <p:animClr clrSpc="hsl" dir="cw">
                                      <p:cBhvr>
                                        <p:cTn id="49" dur="500" fill="hold"/>
                                        <p:tgtEl>
                                          <p:spTgt spid="5">
                                            <p:graphicEl>
                                              <a:dgm id="{F7EF0412-1288-49B4-B57A-E6F2214FF79B}"/>
                                            </p:graphicEl>
                                          </p:spTgt>
                                        </p:tgtEl>
                                        <p:attrNameLst>
                                          <p:attrName>stroke.color</p:attrName>
                                        </p:attrNameLst>
                                      </p:cBhvr>
                                      <p:by>
                                        <p:hsl h="0" s="-12549" l="-25098"/>
                                      </p:by>
                                    </p:animClr>
                                    <p:set>
                                      <p:cBhvr>
                                        <p:cTn id="50" dur="500" fill="hold"/>
                                        <p:tgtEl>
                                          <p:spTgt spid="5">
                                            <p:graphicEl>
                                              <a:dgm id="{F7EF0412-1288-49B4-B57A-E6F2214FF79B}"/>
                                            </p:graphicEl>
                                          </p:spTgt>
                                        </p:tgtEl>
                                        <p:attrNameLst>
                                          <p:attrName>fill.type</p:attrName>
                                        </p:attrNameLst>
                                      </p:cBhvr>
                                      <p:to>
                                        <p:strVal val="solid"/>
                                      </p:to>
                                    </p:set>
                                  </p:childTnLst>
                                </p:cTn>
                              </p:par>
                              <p:par>
                                <p:cTn id="51" presetID="24" presetClass="emph" presetSubtype="0" fill="hold" grpId="0" nodeType="withEffect">
                                  <p:stCondLst>
                                    <p:cond delay="0"/>
                                  </p:stCondLst>
                                  <p:childTnLst>
                                    <p:animClr clrSpc="hsl" dir="cw">
                                      <p:cBhvr override="childStyle">
                                        <p:cTn id="52" dur="500" fill="hold"/>
                                        <p:tgtEl>
                                          <p:spTgt spid="5">
                                            <p:graphicEl>
                                              <a:dgm id="{84260938-52B0-49E6-943B-4307FBE10D8F}"/>
                                            </p:graphicEl>
                                          </p:spTgt>
                                        </p:tgtEl>
                                        <p:attrNameLst>
                                          <p:attrName>style.color</p:attrName>
                                        </p:attrNameLst>
                                      </p:cBhvr>
                                      <p:by>
                                        <p:hsl h="0" s="-12549" l="-25098"/>
                                      </p:by>
                                    </p:animClr>
                                    <p:animClr clrSpc="hsl" dir="cw">
                                      <p:cBhvr>
                                        <p:cTn id="53" dur="500" fill="hold"/>
                                        <p:tgtEl>
                                          <p:spTgt spid="5">
                                            <p:graphicEl>
                                              <a:dgm id="{84260938-52B0-49E6-943B-4307FBE10D8F}"/>
                                            </p:graphicEl>
                                          </p:spTgt>
                                        </p:tgtEl>
                                        <p:attrNameLst>
                                          <p:attrName>fillcolor</p:attrName>
                                        </p:attrNameLst>
                                      </p:cBhvr>
                                      <p:by>
                                        <p:hsl h="0" s="-12549" l="-25098"/>
                                      </p:by>
                                    </p:animClr>
                                    <p:animClr clrSpc="hsl" dir="cw">
                                      <p:cBhvr>
                                        <p:cTn id="54" dur="500" fill="hold"/>
                                        <p:tgtEl>
                                          <p:spTgt spid="5">
                                            <p:graphicEl>
                                              <a:dgm id="{84260938-52B0-49E6-943B-4307FBE10D8F}"/>
                                            </p:graphicEl>
                                          </p:spTgt>
                                        </p:tgtEl>
                                        <p:attrNameLst>
                                          <p:attrName>stroke.color</p:attrName>
                                        </p:attrNameLst>
                                      </p:cBhvr>
                                      <p:by>
                                        <p:hsl h="0" s="-12549" l="-25098"/>
                                      </p:by>
                                    </p:animClr>
                                    <p:set>
                                      <p:cBhvr>
                                        <p:cTn id="55" dur="500" fill="hold"/>
                                        <p:tgtEl>
                                          <p:spTgt spid="5">
                                            <p:graphicEl>
                                              <a:dgm id="{84260938-52B0-49E6-943B-4307FBE10D8F}"/>
                                            </p:graphicEl>
                                          </p:spTgt>
                                        </p:tgtEl>
                                        <p:attrNameLst>
                                          <p:attrName>fill.type</p:attrName>
                                        </p:attrNameLst>
                                      </p:cBhvr>
                                      <p:to>
                                        <p:strVal val="solid"/>
                                      </p:to>
                                    </p:set>
                                  </p:childTnLst>
                                </p:cTn>
                              </p:par>
                            </p:childTnLst>
                          </p:cTn>
                        </p:par>
                      </p:childTnLst>
                    </p:cTn>
                  </p:par>
                  <p:par>
                    <p:cTn id="56" fill="hold">
                      <p:stCondLst>
                        <p:cond delay="indefinite"/>
                      </p:stCondLst>
                      <p:childTnLst>
                        <p:par>
                          <p:cTn id="57" fill="hold">
                            <p:stCondLst>
                              <p:cond delay="0"/>
                            </p:stCondLst>
                            <p:childTnLst>
                              <p:par>
                                <p:cTn id="58" presetID="24" presetClass="emph" presetSubtype="0" fill="hold" grpId="0" nodeType="clickEffect">
                                  <p:stCondLst>
                                    <p:cond delay="0"/>
                                  </p:stCondLst>
                                  <p:childTnLst>
                                    <p:animClr clrSpc="hsl" dir="cw">
                                      <p:cBhvr override="childStyle">
                                        <p:cTn id="59" dur="500" fill="hold"/>
                                        <p:tgtEl>
                                          <p:spTgt spid="5">
                                            <p:graphicEl>
                                              <a:dgm id="{01C1EA1D-C4A1-4D03-819D-55F9FF4F04DC}"/>
                                            </p:graphicEl>
                                          </p:spTgt>
                                        </p:tgtEl>
                                        <p:attrNameLst>
                                          <p:attrName>style.color</p:attrName>
                                        </p:attrNameLst>
                                      </p:cBhvr>
                                      <p:by>
                                        <p:hsl h="0" s="-12549" l="-25098"/>
                                      </p:by>
                                    </p:animClr>
                                    <p:animClr clrSpc="hsl" dir="cw">
                                      <p:cBhvr>
                                        <p:cTn id="60" dur="500" fill="hold"/>
                                        <p:tgtEl>
                                          <p:spTgt spid="5">
                                            <p:graphicEl>
                                              <a:dgm id="{01C1EA1D-C4A1-4D03-819D-55F9FF4F04DC}"/>
                                            </p:graphicEl>
                                          </p:spTgt>
                                        </p:tgtEl>
                                        <p:attrNameLst>
                                          <p:attrName>fillcolor</p:attrName>
                                        </p:attrNameLst>
                                      </p:cBhvr>
                                      <p:by>
                                        <p:hsl h="0" s="-12549" l="-25098"/>
                                      </p:by>
                                    </p:animClr>
                                    <p:animClr clrSpc="hsl" dir="cw">
                                      <p:cBhvr>
                                        <p:cTn id="61" dur="500" fill="hold"/>
                                        <p:tgtEl>
                                          <p:spTgt spid="5">
                                            <p:graphicEl>
                                              <a:dgm id="{01C1EA1D-C4A1-4D03-819D-55F9FF4F04DC}"/>
                                            </p:graphicEl>
                                          </p:spTgt>
                                        </p:tgtEl>
                                        <p:attrNameLst>
                                          <p:attrName>stroke.color</p:attrName>
                                        </p:attrNameLst>
                                      </p:cBhvr>
                                      <p:by>
                                        <p:hsl h="0" s="-12549" l="-25098"/>
                                      </p:by>
                                    </p:animClr>
                                    <p:set>
                                      <p:cBhvr>
                                        <p:cTn id="62" dur="500" fill="hold"/>
                                        <p:tgtEl>
                                          <p:spTgt spid="5">
                                            <p:graphicEl>
                                              <a:dgm id="{01C1EA1D-C4A1-4D03-819D-55F9FF4F04DC}"/>
                                            </p:graphicEl>
                                          </p:spTgt>
                                        </p:tgtEl>
                                        <p:attrNameLst>
                                          <p:attrName>fill.type</p:attrName>
                                        </p:attrNameLst>
                                      </p:cBhvr>
                                      <p:to>
                                        <p:strVal val="solid"/>
                                      </p:to>
                                    </p:set>
                                  </p:childTnLst>
                                </p:cTn>
                              </p:par>
                              <p:par>
                                <p:cTn id="63" presetID="24" presetClass="emph" presetSubtype="0" fill="hold" grpId="0" nodeType="withEffect">
                                  <p:stCondLst>
                                    <p:cond delay="0"/>
                                  </p:stCondLst>
                                  <p:childTnLst>
                                    <p:animClr clrSpc="hsl" dir="cw">
                                      <p:cBhvr override="childStyle">
                                        <p:cTn id="64" dur="500" fill="hold"/>
                                        <p:tgtEl>
                                          <p:spTgt spid="5">
                                            <p:graphicEl>
                                              <a:dgm id="{63A2A7D5-F08D-4CE0-96FC-DE052EDAE51B}"/>
                                            </p:graphicEl>
                                          </p:spTgt>
                                        </p:tgtEl>
                                        <p:attrNameLst>
                                          <p:attrName>style.color</p:attrName>
                                        </p:attrNameLst>
                                      </p:cBhvr>
                                      <p:by>
                                        <p:hsl h="0" s="-12549" l="-25098"/>
                                      </p:by>
                                    </p:animClr>
                                    <p:animClr clrSpc="hsl" dir="cw">
                                      <p:cBhvr>
                                        <p:cTn id="65" dur="500" fill="hold"/>
                                        <p:tgtEl>
                                          <p:spTgt spid="5">
                                            <p:graphicEl>
                                              <a:dgm id="{63A2A7D5-F08D-4CE0-96FC-DE052EDAE51B}"/>
                                            </p:graphicEl>
                                          </p:spTgt>
                                        </p:tgtEl>
                                        <p:attrNameLst>
                                          <p:attrName>fillcolor</p:attrName>
                                        </p:attrNameLst>
                                      </p:cBhvr>
                                      <p:by>
                                        <p:hsl h="0" s="-12549" l="-25098"/>
                                      </p:by>
                                    </p:animClr>
                                    <p:animClr clrSpc="hsl" dir="cw">
                                      <p:cBhvr>
                                        <p:cTn id="66" dur="500" fill="hold"/>
                                        <p:tgtEl>
                                          <p:spTgt spid="5">
                                            <p:graphicEl>
                                              <a:dgm id="{63A2A7D5-F08D-4CE0-96FC-DE052EDAE51B}"/>
                                            </p:graphicEl>
                                          </p:spTgt>
                                        </p:tgtEl>
                                        <p:attrNameLst>
                                          <p:attrName>stroke.color</p:attrName>
                                        </p:attrNameLst>
                                      </p:cBhvr>
                                      <p:by>
                                        <p:hsl h="0" s="-12549" l="-25098"/>
                                      </p:by>
                                    </p:animClr>
                                    <p:set>
                                      <p:cBhvr>
                                        <p:cTn id="67" dur="500" fill="hold"/>
                                        <p:tgtEl>
                                          <p:spTgt spid="5">
                                            <p:graphicEl>
                                              <a:dgm id="{63A2A7D5-F08D-4CE0-96FC-DE052EDAE51B}"/>
                                            </p:graphicEl>
                                          </p:spTgt>
                                        </p:tgtEl>
                                        <p:attrNameLst>
                                          <p:attrName>fill.type</p:attrName>
                                        </p:attrNameLst>
                                      </p:cBhvr>
                                      <p:to>
                                        <p:strVal val="solid"/>
                                      </p:to>
                                    </p:set>
                                  </p:childTnLst>
                                </p:cTn>
                              </p:par>
                            </p:childTnLst>
                          </p:cTn>
                        </p:par>
                      </p:childTnLst>
                    </p:cTn>
                  </p:par>
                  <p:par>
                    <p:cTn id="68" fill="hold">
                      <p:stCondLst>
                        <p:cond delay="indefinite"/>
                      </p:stCondLst>
                      <p:childTnLst>
                        <p:par>
                          <p:cTn id="69" fill="hold">
                            <p:stCondLst>
                              <p:cond delay="0"/>
                            </p:stCondLst>
                            <p:childTnLst>
                              <p:par>
                                <p:cTn id="70" presetID="24" presetClass="emph" presetSubtype="0" fill="hold" grpId="0" nodeType="clickEffect">
                                  <p:stCondLst>
                                    <p:cond delay="0"/>
                                  </p:stCondLst>
                                  <p:childTnLst>
                                    <p:animClr clrSpc="hsl" dir="cw">
                                      <p:cBhvr override="childStyle">
                                        <p:cTn id="71" dur="500" fill="hold"/>
                                        <p:tgtEl>
                                          <p:spTgt spid="5">
                                            <p:graphicEl>
                                              <a:dgm id="{2BF7A44A-8DF4-4358-93DE-772B4A6A46EE}"/>
                                            </p:graphicEl>
                                          </p:spTgt>
                                        </p:tgtEl>
                                        <p:attrNameLst>
                                          <p:attrName>style.color</p:attrName>
                                        </p:attrNameLst>
                                      </p:cBhvr>
                                      <p:by>
                                        <p:hsl h="0" s="-12549" l="-25098"/>
                                      </p:by>
                                    </p:animClr>
                                    <p:animClr clrSpc="hsl" dir="cw">
                                      <p:cBhvr>
                                        <p:cTn id="72" dur="500" fill="hold"/>
                                        <p:tgtEl>
                                          <p:spTgt spid="5">
                                            <p:graphicEl>
                                              <a:dgm id="{2BF7A44A-8DF4-4358-93DE-772B4A6A46EE}"/>
                                            </p:graphicEl>
                                          </p:spTgt>
                                        </p:tgtEl>
                                        <p:attrNameLst>
                                          <p:attrName>fillcolor</p:attrName>
                                        </p:attrNameLst>
                                      </p:cBhvr>
                                      <p:by>
                                        <p:hsl h="0" s="-12549" l="-25098"/>
                                      </p:by>
                                    </p:animClr>
                                    <p:animClr clrSpc="hsl" dir="cw">
                                      <p:cBhvr>
                                        <p:cTn id="73" dur="500" fill="hold"/>
                                        <p:tgtEl>
                                          <p:spTgt spid="5">
                                            <p:graphicEl>
                                              <a:dgm id="{2BF7A44A-8DF4-4358-93DE-772B4A6A46EE}"/>
                                            </p:graphicEl>
                                          </p:spTgt>
                                        </p:tgtEl>
                                        <p:attrNameLst>
                                          <p:attrName>stroke.color</p:attrName>
                                        </p:attrNameLst>
                                      </p:cBhvr>
                                      <p:by>
                                        <p:hsl h="0" s="-12549" l="-25098"/>
                                      </p:by>
                                    </p:animClr>
                                    <p:set>
                                      <p:cBhvr>
                                        <p:cTn id="74" dur="500" fill="hold"/>
                                        <p:tgtEl>
                                          <p:spTgt spid="5">
                                            <p:graphicEl>
                                              <a:dgm id="{2BF7A44A-8DF4-4358-93DE-772B4A6A46EE}"/>
                                            </p:graphicEl>
                                          </p:spTgt>
                                        </p:tgtEl>
                                        <p:attrNameLst>
                                          <p:attrName>fill.type</p:attrName>
                                        </p:attrNameLst>
                                      </p:cBhvr>
                                      <p:to>
                                        <p:strVal val="solid"/>
                                      </p:to>
                                    </p:set>
                                  </p:childTnLst>
                                </p:cTn>
                              </p:par>
                              <p:par>
                                <p:cTn id="75" presetID="24" presetClass="emph" presetSubtype="0" fill="hold" grpId="0" nodeType="withEffect">
                                  <p:stCondLst>
                                    <p:cond delay="0"/>
                                  </p:stCondLst>
                                  <p:childTnLst>
                                    <p:animClr clrSpc="hsl" dir="cw">
                                      <p:cBhvr override="childStyle">
                                        <p:cTn id="76" dur="500" fill="hold"/>
                                        <p:tgtEl>
                                          <p:spTgt spid="5">
                                            <p:graphicEl>
                                              <a:dgm id="{9828D08B-A5AA-4746-8303-AA97335F6FFB}"/>
                                            </p:graphicEl>
                                          </p:spTgt>
                                        </p:tgtEl>
                                        <p:attrNameLst>
                                          <p:attrName>style.color</p:attrName>
                                        </p:attrNameLst>
                                      </p:cBhvr>
                                      <p:by>
                                        <p:hsl h="0" s="-12549" l="-25098"/>
                                      </p:by>
                                    </p:animClr>
                                    <p:animClr clrSpc="hsl" dir="cw">
                                      <p:cBhvr>
                                        <p:cTn id="77" dur="500" fill="hold"/>
                                        <p:tgtEl>
                                          <p:spTgt spid="5">
                                            <p:graphicEl>
                                              <a:dgm id="{9828D08B-A5AA-4746-8303-AA97335F6FFB}"/>
                                            </p:graphicEl>
                                          </p:spTgt>
                                        </p:tgtEl>
                                        <p:attrNameLst>
                                          <p:attrName>fillcolor</p:attrName>
                                        </p:attrNameLst>
                                      </p:cBhvr>
                                      <p:by>
                                        <p:hsl h="0" s="-12549" l="-25098"/>
                                      </p:by>
                                    </p:animClr>
                                    <p:animClr clrSpc="hsl" dir="cw">
                                      <p:cBhvr>
                                        <p:cTn id="78" dur="500" fill="hold"/>
                                        <p:tgtEl>
                                          <p:spTgt spid="5">
                                            <p:graphicEl>
                                              <a:dgm id="{9828D08B-A5AA-4746-8303-AA97335F6FFB}"/>
                                            </p:graphicEl>
                                          </p:spTgt>
                                        </p:tgtEl>
                                        <p:attrNameLst>
                                          <p:attrName>stroke.color</p:attrName>
                                        </p:attrNameLst>
                                      </p:cBhvr>
                                      <p:by>
                                        <p:hsl h="0" s="-12549" l="-25098"/>
                                      </p:by>
                                    </p:animClr>
                                    <p:set>
                                      <p:cBhvr>
                                        <p:cTn id="79" dur="500" fill="hold"/>
                                        <p:tgtEl>
                                          <p:spTgt spid="5">
                                            <p:graphicEl>
                                              <a:dgm id="{9828D08B-A5AA-4746-8303-AA97335F6FFB}"/>
                                            </p:graphicEl>
                                          </p:spTgt>
                                        </p:tgtEl>
                                        <p:attrNameLst>
                                          <p:attrName>fill.type</p:attrName>
                                        </p:attrNameLst>
                                      </p:cBhvr>
                                      <p:to>
                                        <p:strVal val="solid"/>
                                      </p:to>
                                    </p:set>
                                  </p:childTnLst>
                                </p:cTn>
                              </p:par>
                            </p:childTnLst>
                          </p:cTn>
                        </p:par>
                      </p:childTnLst>
                    </p:cTn>
                  </p:par>
                  <p:par>
                    <p:cTn id="80" fill="hold">
                      <p:stCondLst>
                        <p:cond delay="indefinite"/>
                      </p:stCondLst>
                      <p:childTnLst>
                        <p:par>
                          <p:cTn id="81" fill="hold">
                            <p:stCondLst>
                              <p:cond delay="0"/>
                            </p:stCondLst>
                            <p:childTnLst>
                              <p:par>
                                <p:cTn id="82" presetID="24" presetClass="emph" presetSubtype="0" fill="hold" grpId="0" nodeType="clickEffect">
                                  <p:stCondLst>
                                    <p:cond delay="0"/>
                                  </p:stCondLst>
                                  <p:childTnLst>
                                    <p:animClr clrSpc="hsl" dir="cw">
                                      <p:cBhvr override="childStyle">
                                        <p:cTn id="83" dur="500" fill="hold"/>
                                        <p:tgtEl>
                                          <p:spTgt spid="5">
                                            <p:graphicEl>
                                              <a:dgm id="{6EAB1C16-4EE8-45D5-8B0B-00941756D0FB}"/>
                                            </p:graphicEl>
                                          </p:spTgt>
                                        </p:tgtEl>
                                        <p:attrNameLst>
                                          <p:attrName>style.color</p:attrName>
                                        </p:attrNameLst>
                                      </p:cBhvr>
                                      <p:by>
                                        <p:hsl h="0" s="-12549" l="-25098"/>
                                      </p:by>
                                    </p:animClr>
                                    <p:animClr clrSpc="hsl" dir="cw">
                                      <p:cBhvr>
                                        <p:cTn id="84" dur="500" fill="hold"/>
                                        <p:tgtEl>
                                          <p:spTgt spid="5">
                                            <p:graphicEl>
                                              <a:dgm id="{6EAB1C16-4EE8-45D5-8B0B-00941756D0FB}"/>
                                            </p:graphicEl>
                                          </p:spTgt>
                                        </p:tgtEl>
                                        <p:attrNameLst>
                                          <p:attrName>fillcolor</p:attrName>
                                        </p:attrNameLst>
                                      </p:cBhvr>
                                      <p:by>
                                        <p:hsl h="0" s="-12549" l="-25098"/>
                                      </p:by>
                                    </p:animClr>
                                    <p:animClr clrSpc="hsl" dir="cw">
                                      <p:cBhvr>
                                        <p:cTn id="85" dur="500" fill="hold"/>
                                        <p:tgtEl>
                                          <p:spTgt spid="5">
                                            <p:graphicEl>
                                              <a:dgm id="{6EAB1C16-4EE8-45D5-8B0B-00941756D0FB}"/>
                                            </p:graphicEl>
                                          </p:spTgt>
                                        </p:tgtEl>
                                        <p:attrNameLst>
                                          <p:attrName>stroke.color</p:attrName>
                                        </p:attrNameLst>
                                      </p:cBhvr>
                                      <p:by>
                                        <p:hsl h="0" s="-12549" l="-25098"/>
                                      </p:by>
                                    </p:animClr>
                                    <p:set>
                                      <p:cBhvr>
                                        <p:cTn id="86" dur="500" fill="hold"/>
                                        <p:tgtEl>
                                          <p:spTgt spid="5">
                                            <p:graphicEl>
                                              <a:dgm id="{6EAB1C16-4EE8-45D5-8B0B-00941756D0FB}"/>
                                            </p:graphicEl>
                                          </p:spTgt>
                                        </p:tgtEl>
                                        <p:attrNameLst>
                                          <p:attrName>fill.type</p:attrName>
                                        </p:attrNameLst>
                                      </p:cBhvr>
                                      <p:to>
                                        <p:strVal val="solid"/>
                                      </p:to>
                                    </p:set>
                                  </p:childTnLst>
                                </p:cTn>
                              </p:par>
                              <p:par>
                                <p:cTn id="87" presetID="24" presetClass="emph" presetSubtype="0" fill="hold" grpId="0" nodeType="withEffect">
                                  <p:stCondLst>
                                    <p:cond delay="0"/>
                                  </p:stCondLst>
                                  <p:childTnLst>
                                    <p:animClr clrSpc="hsl" dir="cw">
                                      <p:cBhvr override="childStyle">
                                        <p:cTn id="88" dur="500" fill="hold"/>
                                        <p:tgtEl>
                                          <p:spTgt spid="5">
                                            <p:graphicEl>
                                              <a:dgm id="{358DB8F3-C2B0-4108-B608-E45BF241DD0D}"/>
                                            </p:graphicEl>
                                          </p:spTgt>
                                        </p:tgtEl>
                                        <p:attrNameLst>
                                          <p:attrName>style.color</p:attrName>
                                        </p:attrNameLst>
                                      </p:cBhvr>
                                      <p:by>
                                        <p:hsl h="0" s="-12549" l="-25098"/>
                                      </p:by>
                                    </p:animClr>
                                    <p:animClr clrSpc="hsl" dir="cw">
                                      <p:cBhvr>
                                        <p:cTn id="89" dur="500" fill="hold"/>
                                        <p:tgtEl>
                                          <p:spTgt spid="5">
                                            <p:graphicEl>
                                              <a:dgm id="{358DB8F3-C2B0-4108-B608-E45BF241DD0D}"/>
                                            </p:graphicEl>
                                          </p:spTgt>
                                        </p:tgtEl>
                                        <p:attrNameLst>
                                          <p:attrName>fillcolor</p:attrName>
                                        </p:attrNameLst>
                                      </p:cBhvr>
                                      <p:by>
                                        <p:hsl h="0" s="-12549" l="-25098"/>
                                      </p:by>
                                    </p:animClr>
                                    <p:animClr clrSpc="hsl" dir="cw">
                                      <p:cBhvr>
                                        <p:cTn id="90" dur="500" fill="hold"/>
                                        <p:tgtEl>
                                          <p:spTgt spid="5">
                                            <p:graphicEl>
                                              <a:dgm id="{358DB8F3-C2B0-4108-B608-E45BF241DD0D}"/>
                                            </p:graphicEl>
                                          </p:spTgt>
                                        </p:tgtEl>
                                        <p:attrNameLst>
                                          <p:attrName>stroke.color</p:attrName>
                                        </p:attrNameLst>
                                      </p:cBhvr>
                                      <p:by>
                                        <p:hsl h="0" s="-12549" l="-25098"/>
                                      </p:by>
                                    </p:animClr>
                                    <p:set>
                                      <p:cBhvr>
                                        <p:cTn id="91" dur="500" fill="hold"/>
                                        <p:tgtEl>
                                          <p:spTgt spid="5">
                                            <p:graphicEl>
                                              <a:dgm id="{358DB8F3-C2B0-4108-B608-E45BF241DD0D}"/>
                                            </p:graphic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Century Gothic" panose="020B0502020202020204" pitchFamily="34" charset="0"/>
                <a:cs typeface="Aldhabi" panose="020F0502020204030204" pitchFamily="2" charset="-78"/>
              </a:rPr>
              <a:t>Executive Summary</a:t>
            </a:r>
            <a:endParaRPr lang="en-IN" dirty="0">
              <a:latin typeface="Century Gothic" panose="020B0502020202020204" pitchFamily="34" charset="0"/>
              <a:cs typeface="Aldhabi" panose="020F0502020204030204" pitchFamily="2" charset="-78"/>
            </a:endParaRPr>
          </a:p>
        </p:txBody>
      </p:sp>
      <p:sp>
        <p:nvSpPr>
          <p:cNvPr id="3" name="Content Placeholder 2"/>
          <p:cNvSpPr>
            <a:spLocks noGrp="1"/>
          </p:cNvSpPr>
          <p:nvPr>
            <p:ph idx="1"/>
          </p:nvPr>
        </p:nvSpPr>
        <p:spPr>
          <a:xfrm>
            <a:off x="519953" y="1511300"/>
            <a:ext cx="11152094" cy="3835400"/>
          </a:xfrm>
          <a:effectLst>
            <a:outerShdw blurRad="50800" dist="38100" dir="2700000" sx="42000" sy="42000" algn="tl" rotWithShape="0">
              <a:prstClr val="black">
                <a:alpha val="77000"/>
              </a:prstClr>
            </a:outerShdw>
          </a:effectLst>
          <a:scene3d>
            <a:camera prst="orthographicFront"/>
            <a:lightRig rig="threePt" dir="t"/>
          </a:scene3d>
          <a:sp3d extrusionH="6350">
            <a:bevelT w="95250"/>
          </a:sp3d>
        </p:spPr>
        <p:txBody>
          <a:bodyPr>
            <a:normAutofit/>
          </a:bodyPr>
          <a:lstStyle/>
          <a:p>
            <a:r>
              <a:rPr lang="en-US" sz="3200" dirty="0"/>
              <a:t>For most readers it will be the first few pages or the only pages they read. Some senior decision-makers will read nothing else.</a:t>
            </a:r>
          </a:p>
          <a:p>
            <a:pPr lvl="1"/>
            <a:endParaRPr lang="en-US" sz="3200" i="1" dirty="0"/>
          </a:p>
          <a:p>
            <a:r>
              <a:rPr lang="en-US" sz="3200" b="0" i="1" u="sng" dirty="0">
                <a:ln w="10160">
                  <a:solidFill>
                    <a:schemeClr val="accent5"/>
                  </a:solidFill>
                  <a:prstDash val="solid"/>
                </a:ln>
                <a:solidFill>
                  <a:schemeClr val="tx2">
                    <a:lumMod val="75000"/>
                  </a:schemeClr>
                </a:solidFill>
                <a:effectLst>
                  <a:outerShdw blurRad="38100" dist="22860" dir="5400000" algn="tl" rotWithShape="0">
                    <a:srgbClr val="000000">
                      <a:alpha val="30000"/>
                    </a:srgbClr>
                  </a:outerShdw>
                </a:effectLst>
              </a:rPr>
              <a:t>Spend time on it, nurture it, hone it and edit it remorselessly, even give it to a professional to edit. It may be the best investment you make. - </a:t>
            </a:r>
            <a:r>
              <a:rPr lang="en-US" sz="3200" b="0" u="sng" dirty="0">
                <a:ln w="10160">
                  <a:solidFill>
                    <a:schemeClr val="accent5"/>
                  </a:solidFill>
                  <a:prstDash val="solid"/>
                </a:ln>
                <a:solidFill>
                  <a:schemeClr val="tx2">
                    <a:lumMod val="75000"/>
                  </a:schemeClr>
                </a:solidFill>
                <a:effectLst>
                  <a:outerShdw blurRad="38100" dist="22860" dir="5400000" algn="tl" rotWithShape="0">
                    <a:srgbClr val="000000">
                      <a:alpha val="30000"/>
                    </a:srgbClr>
                  </a:outerShdw>
                </a:effectLst>
              </a:rPr>
              <a:t>Vaughan Evans</a:t>
            </a:r>
            <a:endParaRPr lang="en-IN" sz="3200" b="0" i="1" u="sng" dirty="0">
              <a:ln w="10160">
                <a:solidFill>
                  <a:schemeClr val="accent5"/>
                </a:solidFill>
                <a:prstDash val="solid"/>
              </a:ln>
              <a:solidFill>
                <a:schemeClr val="tx2">
                  <a:lumMod val="75000"/>
                </a:schemeClr>
              </a:solidFill>
              <a:effectLst>
                <a:outerShdw blurRad="38100" dist="22860" dir="5400000" algn="tl" rotWithShape="0">
                  <a:srgbClr val="000000">
                    <a:alpha val="30000"/>
                  </a:srgbClr>
                </a:outerShdw>
              </a:effectLst>
            </a:endParaRPr>
          </a:p>
        </p:txBody>
      </p:sp>
      <p:grpSp>
        <p:nvGrpSpPr>
          <p:cNvPr id="6" name="Group 5"/>
          <p:cNvGrpSpPr/>
          <p:nvPr/>
        </p:nvGrpSpPr>
        <p:grpSpPr>
          <a:xfrm>
            <a:off x="10388600" y="327836"/>
            <a:ext cx="1803400" cy="2908300"/>
            <a:chOff x="10223500" y="647700"/>
            <a:chExt cx="1803400" cy="2908300"/>
          </a:xfrm>
          <a:solidFill>
            <a:srgbClr val="0070C0"/>
          </a:solidFill>
        </p:grpSpPr>
        <p:sp>
          <p:nvSpPr>
            <p:cNvPr id="4" name="Rectangle 3"/>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1</a:t>
              </a:r>
              <a:endParaRPr lang="en-US" sz="2000" b="1" dirty="0"/>
            </a:p>
          </p:txBody>
        </p:sp>
        <p:sp>
          <p:nvSpPr>
            <p:cNvPr id="5" name="Rectangle 4"/>
            <p:cNvSpPr/>
            <p:nvPr/>
          </p:nvSpPr>
          <p:spPr>
            <a:xfrm>
              <a:off x="11366500" y="1295400"/>
              <a:ext cx="660400" cy="2260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000" b="1" dirty="0"/>
                <a:t>Executive Summary</a:t>
              </a:r>
              <a:endParaRPr lang="en-US" sz="2000" b="1" dirty="0"/>
            </a:p>
          </p:txBody>
        </p:sp>
      </p:grpSp>
    </p:spTree>
    <p:extLst>
      <p:ext uri="{BB962C8B-B14F-4D97-AF65-F5344CB8AC3E}">
        <p14:creationId xmlns:p14="http://schemas.microsoft.com/office/powerpoint/2010/main" val="7566955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45700" rIns="91425" bIns="45700" anchor="ctr" anchorCtr="0">
            <a:noAutofit/>
          </a:bodyPr>
          <a:lstStyle/>
          <a:p>
            <a:r>
              <a:rPr lang="en-US" dirty="0"/>
              <a:t>Summary – Makes the First Impression</a:t>
            </a:r>
            <a:endParaRPr lang="en-IN" dirty="0"/>
          </a:p>
        </p:txBody>
      </p:sp>
      <p:sp>
        <p:nvSpPr>
          <p:cNvPr id="3" name="Content Placeholder 2"/>
          <p:cNvSpPr>
            <a:spLocks noGrp="1"/>
          </p:cNvSpPr>
          <p:nvPr>
            <p:ph idx="1"/>
          </p:nvPr>
        </p:nvSpPr>
        <p:spPr>
          <a:xfrm>
            <a:off x="838200" y="1344735"/>
            <a:ext cx="10460567" cy="5123798"/>
          </a:xfrm>
        </p:spPr>
        <p:txBody>
          <a:bodyPr>
            <a:normAutofit/>
          </a:bodyPr>
          <a:lstStyle/>
          <a:p>
            <a:r>
              <a:rPr lang="en-US" b="1" dirty="0"/>
              <a:t>Research evidences that we create an impression about a person we meet in the first 15 seconds. If you are presenting for say 5 minutes, you create a lasting impression that is hard to shift later.</a:t>
            </a:r>
          </a:p>
          <a:p>
            <a:r>
              <a:rPr lang="en-US" b="1" dirty="0"/>
              <a:t>Must be persuasive.</a:t>
            </a:r>
          </a:p>
          <a:p>
            <a:r>
              <a:rPr lang="en-US" b="1" dirty="0"/>
              <a:t>Should cover all the key issues.</a:t>
            </a:r>
          </a:p>
          <a:p>
            <a:r>
              <a:rPr lang="en-US" b="1" dirty="0"/>
              <a:t>Try to be detailed but brief - provide all key information in a precise way.</a:t>
            </a:r>
          </a:p>
          <a:p>
            <a:r>
              <a:rPr lang="en-US" b="1" dirty="0"/>
              <a:t>Show your compelling reason for promoting the business.</a:t>
            </a:r>
          </a:p>
          <a:p>
            <a:r>
              <a:rPr lang="en-US" b="1" dirty="0"/>
              <a:t>Why now?</a:t>
            </a:r>
          </a:p>
          <a:p>
            <a:r>
              <a:rPr lang="en-US" b="1" dirty="0"/>
              <a:t>Make it short and interesting and keep people expecting more.</a:t>
            </a:r>
            <a:endParaRPr lang="en-IN" b="1" dirty="0"/>
          </a:p>
        </p:txBody>
      </p:sp>
      <p:grpSp>
        <p:nvGrpSpPr>
          <p:cNvPr id="4" name="Group 3"/>
          <p:cNvGrpSpPr/>
          <p:nvPr/>
        </p:nvGrpSpPr>
        <p:grpSpPr>
          <a:xfrm>
            <a:off x="10388600" y="345669"/>
            <a:ext cx="1803400" cy="2908300"/>
            <a:chOff x="10223500" y="647700"/>
            <a:chExt cx="1803400" cy="2908300"/>
          </a:xfrm>
          <a:solidFill>
            <a:srgbClr val="0070C0"/>
          </a:solidFill>
        </p:grpSpPr>
        <p:sp>
          <p:nvSpPr>
            <p:cNvPr id="5" name="Rectangle 4"/>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1</a:t>
              </a:r>
              <a:endParaRPr lang="en-US" sz="2000" b="1" dirty="0"/>
            </a:p>
          </p:txBody>
        </p:sp>
        <p:sp>
          <p:nvSpPr>
            <p:cNvPr id="6" name="Rectangle 5"/>
            <p:cNvSpPr/>
            <p:nvPr/>
          </p:nvSpPr>
          <p:spPr>
            <a:xfrm>
              <a:off x="11366500" y="1295400"/>
              <a:ext cx="660400" cy="2260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000" b="1" dirty="0"/>
                <a:t>Executive Summary</a:t>
              </a:r>
              <a:endParaRPr lang="en-US" sz="2000" b="1" dirty="0"/>
            </a:p>
          </p:txBody>
        </p:sp>
      </p:grpSp>
    </p:spTree>
    <p:extLst>
      <p:ext uri="{BB962C8B-B14F-4D97-AF65-F5344CB8AC3E}">
        <p14:creationId xmlns:p14="http://schemas.microsoft.com/office/powerpoint/2010/main" val="8316991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Chapter 2: The business </a:t>
            </a:r>
          </a:p>
        </p:txBody>
      </p:sp>
      <p:sp>
        <p:nvSpPr>
          <p:cNvPr id="3" name="Content Placeholder 2"/>
          <p:cNvSpPr>
            <a:spLocks noGrp="1"/>
          </p:cNvSpPr>
          <p:nvPr>
            <p:ph idx="1"/>
          </p:nvPr>
        </p:nvSpPr>
        <p:spPr>
          <a:xfrm>
            <a:off x="1918010" y="2082007"/>
            <a:ext cx="9435790" cy="4351338"/>
          </a:xfrm>
        </p:spPr>
        <p:txBody>
          <a:bodyPr/>
          <a:lstStyle/>
          <a:p>
            <a:r>
              <a:rPr lang="en-US" dirty="0"/>
              <a:t>Background</a:t>
            </a:r>
          </a:p>
          <a:p>
            <a:r>
              <a:rPr lang="en-US" dirty="0"/>
              <a:t>Business mix by segment  </a:t>
            </a:r>
          </a:p>
        </p:txBody>
      </p:sp>
      <p:grpSp>
        <p:nvGrpSpPr>
          <p:cNvPr id="4" name="Group 3"/>
          <p:cNvGrpSpPr/>
          <p:nvPr/>
        </p:nvGrpSpPr>
        <p:grpSpPr>
          <a:xfrm>
            <a:off x="10388600" y="304007"/>
            <a:ext cx="1803400" cy="2908300"/>
            <a:chOff x="10223500" y="647700"/>
            <a:chExt cx="1803400" cy="2908300"/>
          </a:xfrm>
          <a:solidFill>
            <a:srgbClr val="0070C0"/>
          </a:solidFill>
        </p:grpSpPr>
        <p:sp>
          <p:nvSpPr>
            <p:cNvPr id="5" name="Rectangle 4"/>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2</a:t>
              </a:r>
              <a:endParaRPr lang="en-US" sz="2000" b="1" dirty="0"/>
            </a:p>
          </p:txBody>
        </p:sp>
        <p:sp>
          <p:nvSpPr>
            <p:cNvPr id="6" name="Rectangle 5"/>
            <p:cNvSpPr/>
            <p:nvPr/>
          </p:nvSpPr>
          <p:spPr>
            <a:xfrm>
              <a:off x="11366500" y="1295400"/>
              <a:ext cx="660400" cy="2260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000" b="1" dirty="0"/>
                <a:t>The Business</a:t>
              </a:r>
              <a:endParaRPr lang="en-US" sz="2000" b="1" dirty="0"/>
            </a:p>
          </p:txBody>
        </p:sp>
      </p:grpSp>
    </p:spTree>
    <p:extLst>
      <p:ext uri="{BB962C8B-B14F-4D97-AF65-F5344CB8AC3E}">
        <p14:creationId xmlns:p14="http://schemas.microsoft.com/office/powerpoint/2010/main" val="17329294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65848"/>
            <a:ext cx="10515600" cy="593880"/>
          </a:xfrm>
        </p:spPr>
        <p:txBody>
          <a:bodyPr/>
          <a:lstStyle/>
          <a:p>
            <a:r>
              <a:rPr lang="en-IN" dirty="0"/>
              <a:t>Background</a:t>
            </a:r>
          </a:p>
        </p:txBody>
      </p:sp>
      <p:sp>
        <p:nvSpPr>
          <p:cNvPr id="3" name="Content Placeholder 2"/>
          <p:cNvSpPr>
            <a:spLocks noGrp="1"/>
          </p:cNvSpPr>
          <p:nvPr>
            <p:ph idx="1"/>
          </p:nvPr>
        </p:nvSpPr>
        <p:spPr>
          <a:xfrm>
            <a:off x="514844" y="1389161"/>
            <a:ext cx="10641847" cy="4351338"/>
          </a:xfrm>
        </p:spPr>
        <p:txBody>
          <a:bodyPr>
            <a:normAutofit lnSpcReduction="10000"/>
          </a:bodyPr>
          <a:lstStyle/>
          <a:p>
            <a:r>
              <a:rPr lang="en-US" dirty="0"/>
              <a:t>You brief your audience on the bare essentials – what the company does, for whom, why, where, with whom, with what and how it got to where it is now. </a:t>
            </a:r>
          </a:p>
          <a:p>
            <a:r>
              <a:rPr lang="en-US" dirty="0">
                <a:solidFill>
                  <a:srgbClr val="008080"/>
                </a:solidFill>
              </a:rPr>
              <a:t>Highlight the traction</a:t>
            </a:r>
            <a:r>
              <a:rPr lang="en-US" dirty="0"/>
              <a:t>. You’ll briefly set out why the business is poised to enjoy a sustainable competitive advantage.</a:t>
            </a:r>
          </a:p>
          <a:p>
            <a:r>
              <a:rPr lang="en-US" dirty="0"/>
              <a:t>Introduce more detail on the background to your business than you will have set out in the executive summary. Remember that your plan is to be a </a:t>
            </a:r>
            <a:r>
              <a:rPr lang="en-US" u="sng" dirty="0">
                <a:solidFill>
                  <a:srgbClr val="0070C0"/>
                </a:solidFill>
              </a:rPr>
              <a:t>short, sharp, punchy document </a:t>
            </a:r>
            <a:r>
              <a:rPr lang="en-US" dirty="0"/>
              <a:t>aimed at hooking your audience. </a:t>
            </a:r>
          </a:p>
          <a:p>
            <a:r>
              <a:rPr lang="en-US" dirty="0"/>
              <a:t>This is where the reader is introduced to the business, where you set </a:t>
            </a:r>
            <a:br>
              <a:rPr lang="en-US" dirty="0"/>
            </a:br>
            <a:r>
              <a:rPr lang="en-US" dirty="0"/>
              <a:t>out clearly and concisely what makes the business tick.</a:t>
            </a:r>
          </a:p>
          <a:p>
            <a:endParaRPr lang="en-IN" dirty="0"/>
          </a:p>
        </p:txBody>
      </p:sp>
      <p:grpSp>
        <p:nvGrpSpPr>
          <p:cNvPr id="7" name="Group 6"/>
          <p:cNvGrpSpPr/>
          <p:nvPr/>
        </p:nvGrpSpPr>
        <p:grpSpPr>
          <a:xfrm>
            <a:off x="10388600" y="336415"/>
            <a:ext cx="1803400" cy="3530600"/>
            <a:chOff x="10223500" y="647700"/>
            <a:chExt cx="1803400" cy="3530600"/>
          </a:xfrm>
          <a:solidFill>
            <a:srgbClr val="0070C0"/>
          </a:solidFill>
        </p:grpSpPr>
        <p:sp>
          <p:nvSpPr>
            <p:cNvPr id="8" name="Rectangle 7"/>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2</a:t>
              </a:r>
              <a:endParaRPr lang="en-US" sz="2000" b="1" dirty="0"/>
            </a:p>
          </p:txBody>
        </p:sp>
        <p:sp>
          <p:nvSpPr>
            <p:cNvPr id="9" name="Rectangle 8"/>
            <p:cNvSpPr/>
            <p:nvPr/>
          </p:nvSpPr>
          <p:spPr>
            <a:xfrm>
              <a:off x="11366500" y="1295400"/>
              <a:ext cx="660400" cy="2882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000" b="1" dirty="0"/>
                <a:t>The Business: </a:t>
              </a:r>
              <a:r>
                <a:rPr lang="en-IN" sz="2000" b="1" dirty="0">
                  <a:solidFill>
                    <a:srgbClr val="FFC000"/>
                  </a:solidFill>
                </a:rPr>
                <a:t>Background</a:t>
              </a:r>
              <a:endParaRPr lang="en-US" sz="2000" b="1" dirty="0">
                <a:solidFill>
                  <a:srgbClr val="FFC000"/>
                </a:solidFill>
              </a:endParaRPr>
            </a:p>
          </p:txBody>
        </p:sp>
      </p:grpSp>
    </p:spTree>
    <p:extLst>
      <p:ext uri="{BB962C8B-B14F-4D97-AF65-F5344CB8AC3E}">
        <p14:creationId xmlns:p14="http://schemas.microsoft.com/office/powerpoint/2010/main" val="10824493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items in the ‘Background’</a:t>
            </a:r>
            <a:endParaRPr lang="en-IN" dirty="0"/>
          </a:p>
        </p:txBody>
      </p:sp>
      <p:sp>
        <p:nvSpPr>
          <p:cNvPr id="3" name="Content Placeholder 2"/>
          <p:cNvSpPr>
            <a:spLocks noGrp="1"/>
          </p:cNvSpPr>
          <p:nvPr>
            <p:ph idx="1"/>
          </p:nvPr>
        </p:nvSpPr>
        <p:spPr>
          <a:xfrm>
            <a:off x="1561170" y="1874263"/>
            <a:ext cx="9792629" cy="3359218"/>
          </a:xfrm>
        </p:spPr>
        <p:txBody>
          <a:bodyPr/>
          <a:lstStyle/>
          <a:p>
            <a:r>
              <a:rPr lang="en-US" dirty="0"/>
              <a:t>The opener</a:t>
            </a:r>
          </a:p>
          <a:p>
            <a:r>
              <a:rPr lang="en-US" dirty="0"/>
              <a:t>Goals and objectives</a:t>
            </a:r>
          </a:p>
          <a:p>
            <a:r>
              <a:rPr lang="en-US" dirty="0"/>
              <a:t>Strategies</a:t>
            </a:r>
          </a:p>
          <a:p>
            <a:r>
              <a:rPr lang="en-US" dirty="0"/>
              <a:t>Resources</a:t>
            </a:r>
          </a:p>
          <a:p>
            <a:r>
              <a:rPr lang="en-US" dirty="0"/>
              <a:t>Basic financials.</a:t>
            </a:r>
          </a:p>
          <a:p>
            <a:endParaRPr lang="en-IN" dirty="0"/>
          </a:p>
        </p:txBody>
      </p:sp>
      <p:sp>
        <p:nvSpPr>
          <p:cNvPr id="5" name="Rectangle 4"/>
          <p:cNvSpPr/>
          <p:nvPr/>
        </p:nvSpPr>
        <p:spPr>
          <a:xfrm>
            <a:off x="10391573" y="345669"/>
            <a:ext cx="1803400" cy="6477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2</a:t>
            </a:r>
            <a:endParaRPr lang="en-US" sz="2000" b="1" dirty="0"/>
          </a:p>
        </p:txBody>
      </p:sp>
      <p:sp>
        <p:nvSpPr>
          <p:cNvPr id="6" name="Rectangle 5"/>
          <p:cNvSpPr/>
          <p:nvPr/>
        </p:nvSpPr>
        <p:spPr>
          <a:xfrm>
            <a:off x="11541328" y="983641"/>
            <a:ext cx="660400" cy="28829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000" b="1" dirty="0"/>
              <a:t>The Business: </a:t>
            </a:r>
            <a:r>
              <a:rPr lang="en-IN" sz="2000" b="1" dirty="0">
                <a:solidFill>
                  <a:srgbClr val="FFC000"/>
                </a:solidFill>
              </a:rPr>
              <a:t>Background</a:t>
            </a:r>
            <a:endParaRPr lang="en-US" sz="2000" b="1" dirty="0">
              <a:solidFill>
                <a:srgbClr val="FFC000"/>
              </a:solidFill>
            </a:endParaRPr>
          </a:p>
        </p:txBody>
      </p:sp>
    </p:spTree>
    <p:extLst>
      <p:ext uri="{BB962C8B-B14F-4D97-AF65-F5344CB8AC3E}">
        <p14:creationId xmlns:p14="http://schemas.microsoft.com/office/powerpoint/2010/main" val="5631688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2676" y="1578676"/>
            <a:ext cx="10515600" cy="694506"/>
          </a:xfrm>
        </p:spPr>
        <p:txBody>
          <a:bodyPr>
            <a:normAutofit/>
          </a:bodyPr>
          <a:lstStyle/>
          <a:p>
            <a:r>
              <a:rPr lang="en-IN" dirty="0"/>
              <a:t>The</a:t>
            </a:r>
            <a:r>
              <a:rPr lang="en-IN" i="1" dirty="0"/>
              <a:t> opener</a:t>
            </a:r>
            <a:r>
              <a:rPr lang="en-IN" dirty="0"/>
              <a:t> should be just one paragraph containing:</a:t>
            </a:r>
          </a:p>
        </p:txBody>
      </p:sp>
      <p:sp>
        <p:nvSpPr>
          <p:cNvPr id="3" name="Content Placeholder 2"/>
          <p:cNvSpPr>
            <a:spLocks noGrp="1"/>
          </p:cNvSpPr>
          <p:nvPr>
            <p:ph idx="1"/>
          </p:nvPr>
        </p:nvSpPr>
        <p:spPr>
          <a:xfrm>
            <a:off x="902676" y="2339519"/>
            <a:ext cx="10515600" cy="2939805"/>
          </a:xfrm>
        </p:spPr>
        <p:txBody>
          <a:bodyPr>
            <a:normAutofit fontScale="85000" lnSpcReduction="20000"/>
          </a:bodyPr>
          <a:lstStyle/>
          <a:p>
            <a:r>
              <a:rPr lang="en-IN" dirty="0"/>
              <a:t>Who you are – the name (or code name, if yours is a confidential plan) of your business. </a:t>
            </a:r>
          </a:p>
          <a:p>
            <a:r>
              <a:rPr lang="en-IN" dirty="0"/>
              <a:t>What products or services it focuses on.  </a:t>
            </a:r>
          </a:p>
          <a:p>
            <a:r>
              <a:rPr lang="en-IN" dirty="0"/>
              <a:t>Which main customer groups your business serves.</a:t>
            </a:r>
          </a:p>
          <a:p>
            <a:r>
              <a:rPr lang="en-IN" dirty="0"/>
              <a:t>Where it is based, where else it has operations and where it sells. </a:t>
            </a:r>
          </a:p>
          <a:p>
            <a:r>
              <a:rPr lang="en-IN" dirty="0"/>
              <a:t>With what success, in terms of revenues and operating margin (operating profit divided by sales), and </a:t>
            </a:r>
          </a:p>
          <a:p>
            <a:r>
              <a:rPr lang="en-IN" dirty="0"/>
              <a:t>By Which year you will achieve.</a:t>
            </a:r>
          </a:p>
          <a:p>
            <a:endParaRPr lang="en-IN" dirty="0"/>
          </a:p>
        </p:txBody>
      </p:sp>
      <p:sp>
        <p:nvSpPr>
          <p:cNvPr id="10" name="TextBox 9"/>
          <p:cNvSpPr txBox="1"/>
          <p:nvPr/>
        </p:nvSpPr>
        <p:spPr>
          <a:xfrm>
            <a:off x="0" y="525012"/>
            <a:ext cx="11914987" cy="1008000"/>
          </a:xfrm>
          <a:prstGeom prst="rect">
            <a:avLst/>
          </a:prstGeom>
          <a:solidFill>
            <a:srgbClr val="002060">
              <a:alpha val="20000"/>
            </a:srgbClr>
          </a:solidFill>
        </p:spPr>
        <p:txBody>
          <a:bodyPr wrap="square" rtlCol="0">
            <a:spAutoFit/>
          </a:bodyPr>
          <a:lstStyle/>
          <a:p>
            <a:r>
              <a:rPr lang="en-US" sz="2800" b="1" dirty="0"/>
              <a:t>Chapter 2: The Business: </a:t>
            </a:r>
            <a:r>
              <a:rPr lang="en-US" sz="2800" b="1" dirty="0">
                <a:solidFill>
                  <a:srgbClr val="002060"/>
                </a:solidFill>
              </a:rPr>
              <a:t>Background</a:t>
            </a:r>
            <a:endParaRPr lang="en-IN" sz="2800" b="1" dirty="0">
              <a:solidFill>
                <a:srgbClr val="002060"/>
              </a:solidFill>
            </a:endParaRPr>
          </a:p>
          <a:p>
            <a:endParaRPr lang="en-IN" sz="2800" b="1" dirty="0"/>
          </a:p>
        </p:txBody>
      </p:sp>
      <p:sp>
        <p:nvSpPr>
          <p:cNvPr id="6" name="TextBox 5"/>
          <p:cNvSpPr txBox="1"/>
          <p:nvPr/>
        </p:nvSpPr>
        <p:spPr>
          <a:xfrm>
            <a:off x="0" y="986645"/>
            <a:ext cx="1805353" cy="486000"/>
          </a:xfrm>
          <a:prstGeom prst="rect">
            <a:avLst/>
          </a:prstGeom>
          <a:solidFill>
            <a:schemeClr val="accent1">
              <a:lumMod val="40000"/>
              <a:lumOff val="60000"/>
            </a:schemeClr>
          </a:solidFill>
          <a:ln>
            <a:solidFill>
              <a:srgbClr val="0070C0"/>
            </a:solidFill>
          </a:ln>
        </p:spPr>
        <p:txBody>
          <a:bodyPr wrap="square" rtlCol="0">
            <a:spAutoFit/>
          </a:bodyPr>
          <a:lstStyle/>
          <a:p>
            <a:r>
              <a:rPr lang="en-US" sz="2000" b="1" dirty="0"/>
              <a:t>The opener</a:t>
            </a:r>
          </a:p>
        </p:txBody>
      </p:sp>
      <p:sp>
        <p:nvSpPr>
          <p:cNvPr id="7" name="TextBox 6"/>
          <p:cNvSpPr txBox="1"/>
          <p:nvPr/>
        </p:nvSpPr>
        <p:spPr>
          <a:xfrm>
            <a:off x="1805353" y="986264"/>
            <a:ext cx="2863312" cy="468000"/>
          </a:xfrm>
          <a:prstGeom prst="rect">
            <a:avLst/>
          </a:prstGeom>
          <a:solidFill>
            <a:schemeClr val="accent5">
              <a:lumMod val="50000"/>
            </a:schemeClr>
          </a:solidFill>
          <a:ln>
            <a:solidFill>
              <a:srgbClr val="0070C0"/>
            </a:solidFill>
          </a:ln>
        </p:spPr>
        <p:txBody>
          <a:bodyPr wrap="square" rtlCol="0">
            <a:spAutoFit/>
          </a:bodyPr>
          <a:lstStyle/>
          <a:p>
            <a:r>
              <a:rPr lang="en-US" sz="2000" b="1" dirty="0">
                <a:solidFill>
                  <a:schemeClr val="bg1">
                    <a:lumMod val="50000"/>
                  </a:schemeClr>
                </a:solidFill>
              </a:rPr>
              <a:t>Goals and objectives</a:t>
            </a:r>
          </a:p>
        </p:txBody>
      </p:sp>
      <p:sp>
        <p:nvSpPr>
          <p:cNvPr id="8" name="TextBox 7"/>
          <p:cNvSpPr txBox="1"/>
          <p:nvPr/>
        </p:nvSpPr>
        <p:spPr>
          <a:xfrm>
            <a:off x="4668665" y="986263"/>
            <a:ext cx="1880650" cy="461665"/>
          </a:xfrm>
          <a:prstGeom prst="rect">
            <a:avLst/>
          </a:prstGeom>
          <a:solidFill>
            <a:schemeClr val="accent5">
              <a:lumMod val="50000"/>
            </a:schemeClr>
          </a:solidFill>
          <a:ln>
            <a:solidFill>
              <a:srgbClr val="0070C0"/>
            </a:solidFill>
          </a:ln>
        </p:spPr>
        <p:txBody>
          <a:bodyPr wrap="square" rtlCol="0">
            <a:spAutoFit/>
          </a:bodyPr>
          <a:lstStyle/>
          <a:p>
            <a:r>
              <a:rPr lang="en-US" sz="2400" b="1" dirty="0">
                <a:solidFill>
                  <a:schemeClr val="bg1">
                    <a:lumMod val="50000"/>
                  </a:schemeClr>
                </a:solidFill>
              </a:rPr>
              <a:t>Strategy</a:t>
            </a:r>
          </a:p>
        </p:txBody>
      </p:sp>
      <p:sp>
        <p:nvSpPr>
          <p:cNvPr id="9" name="TextBox 8"/>
          <p:cNvSpPr txBox="1"/>
          <p:nvPr/>
        </p:nvSpPr>
        <p:spPr>
          <a:xfrm>
            <a:off x="6549315" y="986263"/>
            <a:ext cx="2000857" cy="461665"/>
          </a:xfrm>
          <a:prstGeom prst="rect">
            <a:avLst/>
          </a:prstGeom>
          <a:solidFill>
            <a:schemeClr val="accent5">
              <a:lumMod val="50000"/>
            </a:schemeClr>
          </a:solidFill>
          <a:ln>
            <a:solidFill>
              <a:srgbClr val="0070C0"/>
            </a:solidFill>
          </a:ln>
        </p:spPr>
        <p:txBody>
          <a:bodyPr wrap="square" rtlCol="0">
            <a:spAutoFit/>
          </a:bodyPr>
          <a:lstStyle/>
          <a:p>
            <a:r>
              <a:rPr lang="en-US" sz="2400" b="1" dirty="0">
                <a:solidFill>
                  <a:schemeClr val="bg1">
                    <a:lumMod val="50000"/>
                  </a:schemeClr>
                </a:solidFill>
              </a:rPr>
              <a:t>Resources</a:t>
            </a:r>
          </a:p>
        </p:txBody>
      </p:sp>
      <p:sp>
        <p:nvSpPr>
          <p:cNvPr id="11" name="TextBox 10"/>
          <p:cNvSpPr txBox="1"/>
          <p:nvPr/>
        </p:nvSpPr>
        <p:spPr>
          <a:xfrm>
            <a:off x="8550172" y="988198"/>
            <a:ext cx="2662428" cy="461665"/>
          </a:xfrm>
          <a:prstGeom prst="rect">
            <a:avLst/>
          </a:prstGeom>
          <a:solidFill>
            <a:schemeClr val="accent5">
              <a:lumMod val="50000"/>
            </a:schemeClr>
          </a:solidFill>
          <a:ln>
            <a:solidFill>
              <a:srgbClr val="0070C0"/>
            </a:solidFill>
          </a:ln>
        </p:spPr>
        <p:txBody>
          <a:bodyPr wrap="square" rtlCol="0">
            <a:spAutoFit/>
          </a:bodyPr>
          <a:lstStyle/>
          <a:p>
            <a:r>
              <a:rPr lang="en-US" sz="2400" b="1" dirty="0">
                <a:solidFill>
                  <a:schemeClr val="bg1">
                    <a:lumMod val="50000"/>
                  </a:schemeClr>
                </a:solidFill>
              </a:rPr>
              <a:t>Basic financials.</a:t>
            </a:r>
          </a:p>
        </p:txBody>
      </p:sp>
    </p:spTree>
    <p:extLst>
      <p:ext uri="{BB962C8B-B14F-4D97-AF65-F5344CB8AC3E}">
        <p14:creationId xmlns:p14="http://schemas.microsoft.com/office/powerpoint/2010/main" val="27301988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6715"/>
            <a:ext cx="10515600" cy="1325563"/>
          </a:xfrm>
        </p:spPr>
        <p:txBody>
          <a:bodyPr/>
          <a:lstStyle/>
          <a:p>
            <a:r>
              <a:rPr lang="en-IN" i="1" dirty="0"/>
              <a:t>The Goals and Objectives</a:t>
            </a:r>
            <a:endParaRPr lang="en-IN" dirty="0"/>
          </a:p>
        </p:txBody>
      </p:sp>
      <p:sp>
        <p:nvSpPr>
          <p:cNvPr id="3" name="Content Placeholder 2"/>
          <p:cNvSpPr>
            <a:spLocks noGrp="1"/>
          </p:cNvSpPr>
          <p:nvPr>
            <p:ph idx="1"/>
          </p:nvPr>
        </p:nvSpPr>
        <p:spPr>
          <a:xfrm>
            <a:off x="556943" y="2081611"/>
            <a:ext cx="10882582" cy="4112183"/>
          </a:xfrm>
        </p:spPr>
        <p:txBody>
          <a:bodyPr>
            <a:normAutofit/>
          </a:bodyPr>
          <a:lstStyle/>
          <a:p>
            <a:r>
              <a:rPr lang="en-IN" dirty="0"/>
              <a:t>Your goal is to become </a:t>
            </a:r>
            <a:r>
              <a:rPr lang="en-IN" dirty="0">
                <a:solidFill>
                  <a:srgbClr val="00B050"/>
                </a:solidFill>
              </a:rPr>
              <a:t>customer-centric.</a:t>
            </a:r>
            <a:r>
              <a:rPr lang="en-IN" dirty="0"/>
              <a:t> So your objective may be %satisfied customers. Put a number: say 40% of our customers will rate highly satisfied </a:t>
            </a:r>
            <a:r>
              <a:rPr lang="en-IN" dirty="0" smtClean="0"/>
              <a:t>2027. </a:t>
            </a:r>
            <a:endParaRPr lang="en-IN" dirty="0"/>
          </a:p>
          <a:p>
            <a:r>
              <a:rPr lang="en-IN" dirty="0"/>
              <a:t>You may set the goal in terms of market share. Now put data to set the objective: you are working to gain 10% market share by the end of </a:t>
            </a:r>
            <a:r>
              <a:rPr lang="en-IN" dirty="0" smtClean="0"/>
              <a:t>2026.</a:t>
            </a:r>
            <a:endParaRPr lang="en-IN" dirty="0"/>
          </a:p>
          <a:p>
            <a:r>
              <a:rPr lang="en-IN" dirty="0"/>
              <a:t>Goals are directional, objectives are specific. You may have come across the useful acronym </a:t>
            </a:r>
            <a:r>
              <a:rPr lang="en-IN" dirty="0">
                <a:solidFill>
                  <a:srgbClr val="0070C0"/>
                </a:solidFill>
              </a:rPr>
              <a:t>SMART</a:t>
            </a:r>
            <a:r>
              <a:rPr lang="en-IN" dirty="0"/>
              <a:t> for setting objectives, which stands for Specific, Measurable, Attainable, Relevant, and Time-limited.</a:t>
            </a:r>
          </a:p>
        </p:txBody>
      </p:sp>
      <p:sp>
        <p:nvSpPr>
          <p:cNvPr id="4" name="TextBox 3"/>
          <p:cNvSpPr txBox="1"/>
          <p:nvPr/>
        </p:nvSpPr>
        <p:spPr>
          <a:xfrm>
            <a:off x="0" y="481956"/>
            <a:ext cx="11914987" cy="954107"/>
          </a:xfrm>
          <a:prstGeom prst="rect">
            <a:avLst/>
          </a:prstGeom>
          <a:solidFill>
            <a:srgbClr val="002060">
              <a:alpha val="20000"/>
            </a:srgbClr>
          </a:solidFill>
        </p:spPr>
        <p:txBody>
          <a:bodyPr wrap="square" rtlCol="0">
            <a:spAutoFit/>
          </a:bodyPr>
          <a:lstStyle/>
          <a:p>
            <a:r>
              <a:rPr lang="en-US" sz="2800" b="1" dirty="0">
                <a:solidFill>
                  <a:schemeClr val="bg1"/>
                </a:solidFill>
              </a:rPr>
              <a:t>Chapter 2: </a:t>
            </a:r>
            <a:r>
              <a:rPr lang="en-IN" sz="2800" b="1" dirty="0">
                <a:solidFill>
                  <a:schemeClr val="bg1"/>
                </a:solidFill>
              </a:rPr>
              <a:t>The business: </a:t>
            </a:r>
            <a:r>
              <a:rPr lang="en-US" sz="2800" b="1" dirty="0">
                <a:solidFill>
                  <a:schemeClr val="bg1"/>
                </a:solidFill>
              </a:rPr>
              <a:t>Background</a:t>
            </a:r>
          </a:p>
          <a:p>
            <a:endParaRPr lang="en-IN" sz="2800" b="1" dirty="0">
              <a:solidFill>
                <a:schemeClr val="bg1"/>
              </a:solidFill>
            </a:endParaRPr>
          </a:p>
        </p:txBody>
      </p:sp>
      <p:sp>
        <p:nvSpPr>
          <p:cNvPr id="5" name="TextBox 4"/>
          <p:cNvSpPr txBox="1"/>
          <p:nvPr/>
        </p:nvSpPr>
        <p:spPr>
          <a:xfrm>
            <a:off x="19882" y="944937"/>
            <a:ext cx="1805353" cy="400110"/>
          </a:xfrm>
          <a:prstGeom prst="rect">
            <a:avLst/>
          </a:prstGeom>
          <a:solidFill>
            <a:schemeClr val="accent5">
              <a:lumMod val="50000"/>
            </a:schemeClr>
          </a:solidFill>
          <a:ln>
            <a:solidFill>
              <a:srgbClr val="0070C0"/>
            </a:solidFill>
          </a:ln>
        </p:spPr>
        <p:txBody>
          <a:bodyPr wrap="square" rtlCol="0">
            <a:spAutoFit/>
          </a:bodyPr>
          <a:lstStyle>
            <a:defPPr>
              <a:defRPr lang="en-US"/>
            </a:defPPr>
            <a:lvl1pPr>
              <a:defRPr sz="2400" b="1"/>
            </a:lvl1pPr>
          </a:lstStyle>
          <a:p>
            <a:r>
              <a:rPr lang="en-US" sz="2000" dirty="0">
                <a:solidFill>
                  <a:schemeClr val="bg1">
                    <a:lumMod val="50000"/>
                  </a:schemeClr>
                </a:solidFill>
              </a:rPr>
              <a:t>The opener</a:t>
            </a:r>
          </a:p>
        </p:txBody>
      </p:sp>
      <p:sp>
        <p:nvSpPr>
          <p:cNvPr id="6" name="TextBox 5"/>
          <p:cNvSpPr txBox="1"/>
          <p:nvPr/>
        </p:nvSpPr>
        <p:spPr>
          <a:xfrm>
            <a:off x="1825235" y="942796"/>
            <a:ext cx="2863312" cy="400110"/>
          </a:xfrm>
          <a:prstGeom prst="rect">
            <a:avLst/>
          </a:prstGeom>
          <a:solidFill>
            <a:schemeClr val="accent1">
              <a:lumMod val="40000"/>
              <a:lumOff val="60000"/>
            </a:schemeClr>
          </a:solidFill>
          <a:ln>
            <a:solidFill>
              <a:srgbClr val="0070C0"/>
            </a:solidFill>
          </a:ln>
        </p:spPr>
        <p:txBody>
          <a:bodyPr wrap="square" rtlCol="0">
            <a:spAutoFit/>
          </a:bodyPr>
          <a:lstStyle>
            <a:defPPr>
              <a:defRPr lang="en-US"/>
            </a:defPPr>
            <a:lvl1pPr>
              <a:defRPr sz="2400" b="1"/>
            </a:lvl1pPr>
          </a:lstStyle>
          <a:p>
            <a:r>
              <a:rPr lang="en-US" sz="2000" dirty="0"/>
              <a:t>Goals and objectives</a:t>
            </a:r>
          </a:p>
        </p:txBody>
      </p:sp>
      <p:sp>
        <p:nvSpPr>
          <p:cNvPr id="7" name="TextBox 6"/>
          <p:cNvSpPr txBox="1"/>
          <p:nvPr/>
        </p:nvSpPr>
        <p:spPr>
          <a:xfrm>
            <a:off x="4688547" y="943177"/>
            <a:ext cx="1880650" cy="461665"/>
          </a:xfrm>
          <a:prstGeom prst="rect">
            <a:avLst/>
          </a:prstGeom>
          <a:solidFill>
            <a:schemeClr val="accent5">
              <a:lumMod val="50000"/>
            </a:schemeClr>
          </a:solidFill>
          <a:ln>
            <a:solidFill>
              <a:srgbClr val="0070C0"/>
            </a:solidFill>
          </a:ln>
        </p:spPr>
        <p:txBody>
          <a:bodyPr wrap="square" rtlCol="0">
            <a:spAutoFit/>
          </a:bodyPr>
          <a:lstStyle/>
          <a:p>
            <a:r>
              <a:rPr lang="en-US" sz="2400" b="1" dirty="0">
                <a:solidFill>
                  <a:schemeClr val="bg1">
                    <a:lumMod val="50000"/>
                  </a:schemeClr>
                </a:solidFill>
              </a:rPr>
              <a:t>Strategy</a:t>
            </a:r>
          </a:p>
        </p:txBody>
      </p:sp>
      <p:sp>
        <p:nvSpPr>
          <p:cNvPr id="8" name="TextBox 7"/>
          <p:cNvSpPr txBox="1"/>
          <p:nvPr/>
        </p:nvSpPr>
        <p:spPr>
          <a:xfrm>
            <a:off x="6569197" y="942796"/>
            <a:ext cx="2000857" cy="461665"/>
          </a:xfrm>
          <a:prstGeom prst="rect">
            <a:avLst/>
          </a:prstGeom>
          <a:solidFill>
            <a:schemeClr val="accent5">
              <a:lumMod val="50000"/>
            </a:schemeClr>
          </a:solidFill>
          <a:ln>
            <a:solidFill>
              <a:srgbClr val="0070C0"/>
            </a:solidFill>
          </a:ln>
        </p:spPr>
        <p:txBody>
          <a:bodyPr wrap="square" rtlCol="0">
            <a:spAutoFit/>
          </a:bodyPr>
          <a:lstStyle/>
          <a:p>
            <a:r>
              <a:rPr lang="en-US" sz="2400" b="1" dirty="0">
                <a:solidFill>
                  <a:schemeClr val="bg1">
                    <a:lumMod val="50000"/>
                  </a:schemeClr>
                </a:solidFill>
              </a:rPr>
              <a:t>Resources</a:t>
            </a:r>
          </a:p>
        </p:txBody>
      </p:sp>
      <p:sp>
        <p:nvSpPr>
          <p:cNvPr id="9" name="TextBox 8"/>
          <p:cNvSpPr txBox="1"/>
          <p:nvPr/>
        </p:nvSpPr>
        <p:spPr>
          <a:xfrm>
            <a:off x="8570054" y="944731"/>
            <a:ext cx="2662428" cy="461665"/>
          </a:xfrm>
          <a:prstGeom prst="rect">
            <a:avLst/>
          </a:prstGeom>
          <a:solidFill>
            <a:schemeClr val="accent5">
              <a:lumMod val="50000"/>
            </a:schemeClr>
          </a:solidFill>
          <a:ln>
            <a:solidFill>
              <a:srgbClr val="0070C0"/>
            </a:solidFill>
          </a:ln>
        </p:spPr>
        <p:txBody>
          <a:bodyPr wrap="square" rtlCol="0">
            <a:spAutoFit/>
          </a:bodyPr>
          <a:lstStyle/>
          <a:p>
            <a:r>
              <a:rPr lang="en-US" sz="2400" b="1" dirty="0">
                <a:solidFill>
                  <a:schemeClr val="bg1">
                    <a:lumMod val="50000"/>
                  </a:schemeClr>
                </a:solidFill>
              </a:rPr>
              <a:t>Basic financials.</a:t>
            </a:r>
          </a:p>
        </p:txBody>
      </p:sp>
    </p:spTree>
    <p:extLst>
      <p:ext uri="{BB962C8B-B14F-4D97-AF65-F5344CB8AC3E}">
        <p14:creationId xmlns:p14="http://schemas.microsoft.com/office/powerpoint/2010/main" val="17520768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411" y="1924635"/>
            <a:ext cx="10515600" cy="708997"/>
          </a:xfrm>
        </p:spPr>
        <p:txBody>
          <a:bodyPr/>
          <a:lstStyle/>
          <a:p>
            <a:r>
              <a:rPr lang="en-US" dirty="0"/>
              <a:t>Strategy</a:t>
            </a:r>
            <a:endParaRPr lang="en-IN" dirty="0"/>
          </a:p>
        </p:txBody>
      </p:sp>
      <p:sp>
        <p:nvSpPr>
          <p:cNvPr id="3" name="Content Placeholder 2"/>
          <p:cNvSpPr>
            <a:spLocks noGrp="1"/>
          </p:cNvSpPr>
          <p:nvPr>
            <p:ph idx="1"/>
          </p:nvPr>
        </p:nvSpPr>
        <p:spPr>
          <a:xfrm>
            <a:off x="397119" y="2602855"/>
            <a:ext cx="10515600" cy="1890590"/>
          </a:xfrm>
        </p:spPr>
        <p:txBody>
          <a:bodyPr>
            <a:normAutofit fontScale="92500"/>
          </a:bodyPr>
          <a:lstStyle/>
          <a:p>
            <a:r>
              <a:rPr lang="en-US" dirty="0"/>
              <a:t>What strategy you adopt to build and maintain competitive advantage. </a:t>
            </a:r>
          </a:p>
          <a:p>
            <a:r>
              <a:rPr lang="en-US" dirty="0"/>
              <a:t>How is your offering differentiated, unique features that customers love, technically superior, convenient purchase &amp; delivery, hassle-free maintenance, and many more. </a:t>
            </a:r>
          </a:p>
          <a:p>
            <a:endParaRPr lang="en-IN" dirty="0"/>
          </a:p>
        </p:txBody>
      </p:sp>
      <p:sp>
        <p:nvSpPr>
          <p:cNvPr id="4" name="TextBox 3"/>
          <p:cNvSpPr txBox="1"/>
          <p:nvPr/>
        </p:nvSpPr>
        <p:spPr>
          <a:xfrm>
            <a:off x="0" y="481956"/>
            <a:ext cx="11914987" cy="954107"/>
          </a:xfrm>
          <a:prstGeom prst="rect">
            <a:avLst/>
          </a:prstGeom>
          <a:solidFill>
            <a:srgbClr val="002060">
              <a:alpha val="20000"/>
            </a:srgbClr>
          </a:solidFill>
        </p:spPr>
        <p:txBody>
          <a:bodyPr wrap="square" rtlCol="0">
            <a:spAutoFit/>
          </a:bodyPr>
          <a:lstStyle/>
          <a:p>
            <a:r>
              <a:rPr lang="en-US" sz="2800" b="1" dirty="0"/>
              <a:t>Chapter 2: </a:t>
            </a:r>
            <a:r>
              <a:rPr lang="en-IN" sz="2800" b="1" dirty="0"/>
              <a:t>The business: </a:t>
            </a:r>
            <a:r>
              <a:rPr lang="en-US" sz="2800" b="1" dirty="0"/>
              <a:t>Background</a:t>
            </a:r>
          </a:p>
          <a:p>
            <a:endParaRPr lang="en-IN" sz="2800" b="1" dirty="0"/>
          </a:p>
        </p:txBody>
      </p:sp>
      <p:sp>
        <p:nvSpPr>
          <p:cNvPr id="5" name="TextBox 4"/>
          <p:cNvSpPr txBox="1"/>
          <p:nvPr/>
        </p:nvSpPr>
        <p:spPr>
          <a:xfrm>
            <a:off x="0" y="993864"/>
            <a:ext cx="1805353" cy="400110"/>
          </a:xfrm>
          <a:prstGeom prst="rect">
            <a:avLst/>
          </a:prstGeom>
          <a:solidFill>
            <a:srgbClr val="0070C0"/>
          </a:solidFill>
          <a:ln>
            <a:solidFill>
              <a:srgbClr val="0070C0"/>
            </a:solidFill>
          </a:ln>
        </p:spPr>
        <p:txBody>
          <a:bodyPr wrap="square" rtlCol="0">
            <a:spAutoFit/>
          </a:bodyPr>
          <a:lstStyle>
            <a:defPPr>
              <a:defRPr lang="en-US"/>
            </a:defPPr>
            <a:lvl1pPr>
              <a:defRPr sz="2400" b="1"/>
            </a:lvl1pPr>
          </a:lstStyle>
          <a:p>
            <a:r>
              <a:rPr lang="en-US" sz="2000" dirty="0">
                <a:solidFill>
                  <a:schemeClr val="bg1">
                    <a:lumMod val="65000"/>
                  </a:schemeClr>
                </a:solidFill>
              </a:rPr>
              <a:t>The opener</a:t>
            </a:r>
          </a:p>
        </p:txBody>
      </p:sp>
      <p:sp>
        <p:nvSpPr>
          <p:cNvPr id="6" name="TextBox 5"/>
          <p:cNvSpPr txBox="1"/>
          <p:nvPr/>
        </p:nvSpPr>
        <p:spPr>
          <a:xfrm>
            <a:off x="1805353" y="1003240"/>
            <a:ext cx="2863312" cy="400110"/>
          </a:xfrm>
          <a:prstGeom prst="rect">
            <a:avLst/>
          </a:prstGeom>
          <a:solidFill>
            <a:srgbClr val="0070C0"/>
          </a:solidFill>
          <a:ln>
            <a:solidFill>
              <a:srgbClr val="0070C0"/>
            </a:solidFill>
          </a:ln>
        </p:spPr>
        <p:txBody>
          <a:bodyPr wrap="square" rtlCol="0">
            <a:spAutoFit/>
          </a:bodyPr>
          <a:lstStyle/>
          <a:p>
            <a:r>
              <a:rPr lang="en-US" sz="2000" b="1" dirty="0">
                <a:solidFill>
                  <a:schemeClr val="bg1">
                    <a:lumMod val="65000"/>
                  </a:schemeClr>
                </a:solidFill>
              </a:rPr>
              <a:t>Goals and objectives</a:t>
            </a:r>
          </a:p>
        </p:txBody>
      </p:sp>
      <p:sp>
        <p:nvSpPr>
          <p:cNvPr id="7" name="TextBox 6"/>
          <p:cNvSpPr txBox="1"/>
          <p:nvPr/>
        </p:nvSpPr>
        <p:spPr>
          <a:xfrm>
            <a:off x="4668665" y="972844"/>
            <a:ext cx="1880650" cy="461665"/>
          </a:xfrm>
          <a:prstGeom prst="rect">
            <a:avLst/>
          </a:prstGeom>
          <a:solidFill>
            <a:schemeClr val="accent1">
              <a:lumMod val="40000"/>
              <a:lumOff val="60000"/>
            </a:schemeClr>
          </a:solidFill>
          <a:ln>
            <a:solidFill>
              <a:srgbClr val="0070C0"/>
            </a:solidFill>
          </a:ln>
        </p:spPr>
        <p:txBody>
          <a:bodyPr wrap="square" rtlCol="0">
            <a:spAutoFit/>
          </a:bodyPr>
          <a:lstStyle>
            <a:defPPr>
              <a:defRPr lang="en-US"/>
            </a:defPPr>
            <a:lvl1pPr>
              <a:defRPr sz="2400" b="1"/>
            </a:lvl1pPr>
          </a:lstStyle>
          <a:p>
            <a:r>
              <a:rPr lang="en-US" dirty="0"/>
              <a:t>Strategy</a:t>
            </a:r>
          </a:p>
        </p:txBody>
      </p:sp>
      <p:sp>
        <p:nvSpPr>
          <p:cNvPr id="8" name="TextBox 7"/>
          <p:cNvSpPr txBox="1"/>
          <p:nvPr/>
        </p:nvSpPr>
        <p:spPr>
          <a:xfrm>
            <a:off x="6549315" y="1003993"/>
            <a:ext cx="2000857" cy="400110"/>
          </a:xfrm>
          <a:prstGeom prst="rect">
            <a:avLst/>
          </a:prstGeom>
          <a:solidFill>
            <a:srgbClr val="0070C0"/>
          </a:solidFill>
          <a:ln>
            <a:solidFill>
              <a:srgbClr val="0070C0"/>
            </a:solidFill>
          </a:ln>
        </p:spPr>
        <p:txBody>
          <a:bodyPr wrap="square" rtlCol="0">
            <a:spAutoFit/>
          </a:bodyPr>
          <a:lstStyle/>
          <a:p>
            <a:r>
              <a:rPr lang="en-US" sz="2000" b="1" dirty="0">
                <a:solidFill>
                  <a:schemeClr val="bg1">
                    <a:lumMod val="65000"/>
                  </a:schemeClr>
                </a:solidFill>
              </a:rPr>
              <a:t>Resources</a:t>
            </a:r>
          </a:p>
        </p:txBody>
      </p:sp>
      <p:sp>
        <p:nvSpPr>
          <p:cNvPr id="9" name="TextBox 8"/>
          <p:cNvSpPr txBox="1"/>
          <p:nvPr/>
        </p:nvSpPr>
        <p:spPr>
          <a:xfrm>
            <a:off x="8550172" y="1005928"/>
            <a:ext cx="2662428" cy="400110"/>
          </a:xfrm>
          <a:prstGeom prst="rect">
            <a:avLst/>
          </a:prstGeom>
          <a:solidFill>
            <a:srgbClr val="0070C0"/>
          </a:solidFill>
          <a:ln>
            <a:solidFill>
              <a:srgbClr val="0070C0"/>
            </a:solidFill>
          </a:ln>
        </p:spPr>
        <p:txBody>
          <a:bodyPr wrap="square" rtlCol="0">
            <a:spAutoFit/>
          </a:bodyPr>
          <a:lstStyle/>
          <a:p>
            <a:r>
              <a:rPr lang="en-US" sz="2000" b="1" dirty="0">
                <a:solidFill>
                  <a:schemeClr val="bg1">
                    <a:lumMod val="65000"/>
                  </a:schemeClr>
                </a:solidFill>
              </a:rPr>
              <a:t>Basic financials.</a:t>
            </a:r>
          </a:p>
        </p:txBody>
      </p:sp>
    </p:spTree>
    <p:extLst>
      <p:ext uri="{BB962C8B-B14F-4D97-AF65-F5344CB8AC3E}">
        <p14:creationId xmlns:p14="http://schemas.microsoft.com/office/powerpoint/2010/main" val="6364645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060" y="1264961"/>
            <a:ext cx="10515600" cy="827907"/>
          </a:xfrm>
        </p:spPr>
        <p:txBody>
          <a:bodyPr/>
          <a:lstStyle/>
          <a:p>
            <a:r>
              <a:rPr lang="en-US" dirty="0"/>
              <a:t>Resources</a:t>
            </a:r>
            <a:endParaRPr lang="en-IN" dirty="0"/>
          </a:p>
        </p:txBody>
      </p:sp>
      <p:sp>
        <p:nvSpPr>
          <p:cNvPr id="3" name="Content Placeholder 2"/>
          <p:cNvSpPr>
            <a:spLocks noGrp="1"/>
          </p:cNvSpPr>
          <p:nvPr>
            <p:ph idx="1"/>
          </p:nvPr>
        </p:nvSpPr>
        <p:spPr>
          <a:xfrm>
            <a:off x="816077" y="2271872"/>
            <a:ext cx="10924740" cy="3881438"/>
          </a:xfrm>
        </p:spPr>
        <p:txBody>
          <a:bodyPr>
            <a:normAutofit lnSpcReduction="10000"/>
          </a:bodyPr>
          <a:lstStyle/>
          <a:p>
            <a:r>
              <a:rPr lang="en-US" dirty="0"/>
              <a:t>Highlight the key resources such as strategic location, existing infrastructure including office, access to strategic assets, technologies, IP, team and mix of skills, mentors, key employees, any arrangement with suppliers and distribution, any acquisition plan. </a:t>
            </a:r>
          </a:p>
          <a:p>
            <a:r>
              <a:rPr lang="en-US" dirty="0"/>
              <a:t>Good to have an </a:t>
            </a:r>
            <a:r>
              <a:rPr lang="en-US" dirty="0">
                <a:solidFill>
                  <a:srgbClr val="0070C0"/>
                </a:solidFill>
              </a:rPr>
              <a:t>infographics</a:t>
            </a:r>
            <a:r>
              <a:rPr lang="en-US" dirty="0"/>
              <a:t> and </a:t>
            </a:r>
            <a:r>
              <a:rPr lang="en-US" dirty="0">
                <a:solidFill>
                  <a:srgbClr val="0070C0"/>
                </a:solidFill>
              </a:rPr>
              <a:t>timeline</a:t>
            </a:r>
            <a:r>
              <a:rPr lang="en-US" dirty="0"/>
              <a:t>. </a:t>
            </a:r>
          </a:p>
          <a:p>
            <a:r>
              <a:rPr lang="en-US" dirty="0"/>
              <a:t>Write a separate paragraph on your </a:t>
            </a:r>
            <a:r>
              <a:rPr lang="en-US" u="sng" dirty="0">
                <a:solidFill>
                  <a:srgbClr val="0070C0"/>
                </a:solidFill>
              </a:rPr>
              <a:t>team</a:t>
            </a:r>
            <a:r>
              <a:rPr lang="en-US" dirty="0"/>
              <a:t> including key employees. Highlight the credentials of the team and how the skillset and experience will help in executing the business model. </a:t>
            </a:r>
          </a:p>
          <a:p>
            <a:r>
              <a:rPr lang="en-US" dirty="0"/>
              <a:t>You may also mention their key responsibilities and ownership.</a:t>
            </a:r>
          </a:p>
          <a:p>
            <a:endParaRPr lang="en-IN" dirty="0"/>
          </a:p>
        </p:txBody>
      </p:sp>
      <p:sp>
        <p:nvSpPr>
          <p:cNvPr id="4" name="TextBox 3"/>
          <p:cNvSpPr txBox="1"/>
          <p:nvPr/>
        </p:nvSpPr>
        <p:spPr>
          <a:xfrm>
            <a:off x="0" y="481956"/>
            <a:ext cx="11914987" cy="954107"/>
          </a:xfrm>
          <a:prstGeom prst="rect">
            <a:avLst/>
          </a:prstGeom>
          <a:solidFill>
            <a:srgbClr val="002060">
              <a:alpha val="20000"/>
            </a:srgbClr>
          </a:solidFill>
        </p:spPr>
        <p:txBody>
          <a:bodyPr wrap="square" rtlCol="0">
            <a:spAutoFit/>
          </a:bodyPr>
          <a:lstStyle/>
          <a:p>
            <a:r>
              <a:rPr lang="en-US" sz="2800" b="1" dirty="0"/>
              <a:t>Chapter 2: </a:t>
            </a:r>
            <a:r>
              <a:rPr lang="en-IN" sz="2800" b="1" dirty="0"/>
              <a:t>The business: </a:t>
            </a:r>
            <a:r>
              <a:rPr lang="en-US" sz="2800" b="1" dirty="0"/>
              <a:t>Background</a:t>
            </a:r>
          </a:p>
          <a:p>
            <a:endParaRPr lang="en-IN" sz="2800" b="1" dirty="0"/>
          </a:p>
        </p:txBody>
      </p:sp>
      <p:sp>
        <p:nvSpPr>
          <p:cNvPr id="5" name="TextBox 4"/>
          <p:cNvSpPr txBox="1"/>
          <p:nvPr/>
        </p:nvSpPr>
        <p:spPr>
          <a:xfrm>
            <a:off x="0" y="1005928"/>
            <a:ext cx="1805353" cy="400110"/>
          </a:xfrm>
          <a:prstGeom prst="rect">
            <a:avLst/>
          </a:prstGeom>
          <a:solidFill>
            <a:srgbClr val="0070C0"/>
          </a:solidFill>
          <a:ln>
            <a:solidFill>
              <a:srgbClr val="0070C0"/>
            </a:solidFill>
          </a:ln>
        </p:spPr>
        <p:txBody>
          <a:bodyPr wrap="square" rtlCol="0">
            <a:spAutoFit/>
          </a:bodyPr>
          <a:lstStyle>
            <a:defPPr>
              <a:defRPr lang="en-US"/>
            </a:defPPr>
            <a:lvl1pPr>
              <a:defRPr sz="2400" b="1"/>
            </a:lvl1pPr>
          </a:lstStyle>
          <a:p>
            <a:r>
              <a:rPr lang="en-US" sz="2000" dirty="0"/>
              <a:t>The opener</a:t>
            </a:r>
          </a:p>
        </p:txBody>
      </p:sp>
      <p:sp>
        <p:nvSpPr>
          <p:cNvPr id="6" name="TextBox 5"/>
          <p:cNvSpPr txBox="1"/>
          <p:nvPr/>
        </p:nvSpPr>
        <p:spPr>
          <a:xfrm>
            <a:off x="1805353" y="1005547"/>
            <a:ext cx="2863312" cy="400110"/>
          </a:xfrm>
          <a:prstGeom prst="rect">
            <a:avLst/>
          </a:prstGeom>
          <a:solidFill>
            <a:srgbClr val="0070C0"/>
          </a:solidFill>
          <a:ln>
            <a:solidFill>
              <a:srgbClr val="0070C0"/>
            </a:solidFill>
          </a:ln>
        </p:spPr>
        <p:txBody>
          <a:bodyPr wrap="square" rtlCol="0">
            <a:spAutoFit/>
          </a:bodyPr>
          <a:lstStyle/>
          <a:p>
            <a:r>
              <a:rPr lang="en-US" sz="2000" b="1" dirty="0"/>
              <a:t>Goals and objectives</a:t>
            </a:r>
          </a:p>
        </p:txBody>
      </p:sp>
      <p:sp>
        <p:nvSpPr>
          <p:cNvPr id="7" name="TextBox 6"/>
          <p:cNvSpPr txBox="1"/>
          <p:nvPr/>
        </p:nvSpPr>
        <p:spPr>
          <a:xfrm>
            <a:off x="4668665" y="1005928"/>
            <a:ext cx="1880650" cy="400110"/>
          </a:xfrm>
          <a:prstGeom prst="rect">
            <a:avLst/>
          </a:prstGeom>
          <a:solidFill>
            <a:srgbClr val="0070C0"/>
          </a:solidFill>
          <a:ln>
            <a:solidFill>
              <a:srgbClr val="0070C0"/>
            </a:solidFill>
          </a:ln>
        </p:spPr>
        <p:txBody>
          <a:bodyPr wrap="square" rtlCol="0">
            <a:spAutoFit/>
          </a:bodyPr>
          <a:lstStyle/>
          <a:p>
            <a:r>
              <a:rPr lang="en-US" sz="2000" b="1" dirty="0"/>
              <a:t>Strategy</a:t>
            </a:r>
          </a:p>
        </p:txBody>
      </p:sp>
      <p:sp>
        <p:nvSpPr>
          <p:cNvPr id="8" name="TextBox 7"/>
          <p:cNvSpPr txBox="1"/>
          <p:nvPr/>
        </p:nvSpPr>
        <p:spPr>
          <a:xfrm>
            <a:off x="6549315" y="974017"/>
            <a:ext cx="2000857" cy="461665"/>
          </a:xfrm>
          <a:prstGeom prst="rect">
            <a:avLst/>
          </a:prstGeom>
          <a:solidFill>
            <a:schemeClr val="accent1">
              <a:lumMod val="40000"/>
              <a:lumOff val="60000"/>
            </a:schemeClr>
          </a:solidFill>
          <a:ln>
            <a:solidFill>
              <a:srgbClr val="0070C0"/>
            </a:solidFill>
          </a:ln>
        </p:spPr>
        <p:txBody>
          <a:bodyPr wrap="square" rtlCol="0">
            <a:spAutoFit/>
          </a:bodyPr>
          <a:lstStyle>
            <a:defPPr>
              <a:defRPr lang="en-US"/>
            </a:defPPr>
            <a:lvl1pPr>
              <a:defRPr sz="2400" b="1"/>
            </a:lvl1pPr>
          </a:lstStyle>
          <a:p>
            <a:r>
              <a:rPr lang="en-US" dirty="0"/>
              <a:t>Resources</a:t>
            </a:r>
          </a:p>
        </p:txBody>
      </p:sp>
      <p:sp>
        <p:nvSpPr>
          <p:cNvPr id="9" name="TextBox 8"/>
          <p:cNvSpPr txBox="1"/>
          <p:nvPr/>
        </p:nvSpPr>
        <p:spPr>
          <a:xfrm>
            <a:off x="8550172" y="1007482"/>
            <a:ext cx="2662428" cy="400110"/>
          </a:xfrm>
          <a:prstGeom prst="rect">
            <a:avLst/>
          </a:prstGeom>
          <a:solidFill>
            <a:srgbClr val="0070C0"/>
          </a:solidFill>
          <a:ln>
            <a:solidFill>
              <a:srgbClr val="0070C0"/>
            </a:solidFill>
          </a:ln>
        </p:spPr>
        <p:txBody>
          <a:bodyPr wrap="square" rtlCol="0">
            <a:spAutoFit/>
          </a:bodyPr>
          <a:lstStyle/>
          <a:p>
            <a:r>
              <a:rPr lang="en-US" sz="2000" b="1" dirty="0"/>
              <a:t>Basic financials.</a:t>
            </a:r>
          </a:p>
        </p:txBody>
      </p:sp>
    </p:spTree>
    <p:extLst>
      <p:ext uri="{BB962C8B-B14F-4D97-AF65-F5344CB8AC3E}">
        <p14:creationId xmlns:p14="http://schemas.microsoft.com/office/powerpoint/2010/main" val="24723352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697000" y="1623219"/>
            <a:ext cx="10515600" cy="4351338"/>
          </a:xfrm>
        </p:spPr>
        <p:txBody>
          <a:bodyPr/>
          <a:lstStyle/>
          <a:p>
            <a:pPr eaLnBrk="1" hangingPunct="1"/>
            <a:r>
              <a:rPr lang="en-US" altLang="en-US" dirty="0"/>
              <a:t>List requirements and availability for the following resources:</a:t>
            </a:r>
          </a:p>
          <a:p>
            <a:pPr lvl="1" eaLnBrk="1" hangingPunct="1"/>
            <a:r>
              <a:rPr lang="en-US" altLang="en-US" b="1" dirty="0"/>
              <a:t>Personnel</a:t>
            </a:r>
          </a:p>
          <a:p>
            <a:pPr lvl="1" eaLnBrk="1" hangingPunct="1"/>
            <a:r>
              <a:rPr lang="en-US" altLang="en-US" b="1" dirty="0"/>
              <a:t>Technology</a:t>
            </a:r>
          </a:p>
          <a:p>
            <a:pPr lvl="1" eaLnBrk="1" hangingPunct="1"/>
            <a:r>
              <a:rPr lang="en-US" altLang="en-US" b="1" dirty="0"/>
              <a:t>Finances</a:t>
            </a:r>
          </a:p>
          <a:p>
            <a:pPr lvl="1" eaLnBrk="1" hangingPunct="1"/>
            <a:r>
              <a:rPr lang="en-US" altLang="en-US" b="1" dirty="0"/>
              <a:t>Distribution</a:t>
            </a:r>
          </a:p>
          <a:p>
            <a:pPr lvl="1" eaLnBrk="1" hangingPunct="1"/>
            <a:r>
              <a:rPr lang="en-US" altLang="en-US" b="1" dirty="0"/>
              <a:t>Promotion</a:t>
            </a:r>
          </a:p>
          <a:p>
            <a:pPr lvl="1" eaLnBrk="1" hangingPunct="1"/>
            <a:r>
              <a:rPr lang="en-US" altLang="en-US" b="1" dirty="0"/>
              <a:t>Products</a:t>
            </a:r>
          </a:p>
          <a:p>
            <a:pPr lvl="1" eaLnBrk="1" hangingPunct="1"/>
            <a:r>
              <a:rPr lang="en-US" altLang="en-US" b="1" dirty="0"/>
              <a:t>Services</a:t>
            </a:r>
          </a:p>
        </p:txBody>
      </p:sp>
      <p:sp>
        <p:nvSpPr>
          <p:cNvPr id="4" name="TextBox 3"/>
          <p:cNvSpPr txBox="1"/>
          <p:nvPr/>
        </p:nvSpPr>
        <p:spPr>
          <a:xfrm>
            <a:off x="0" y="481956"/>
            <a:ext cx="11914987" cy="954107"/>
          </a:xfrm>
          <a:prstGeom prst="rect">
            <a:avLst/>
          </a:prstGeom>
          <a:solidFill>
            <a:srgbClr val="002060">
              <a:alpha val="20000"/>
            </a:srgbClr>
          </a:solidFill>
        </p:spPr>
        <p:txBody>
          <a:bodyPr wrap="square" rtlCol="0">
            <a:spAutoFit/>
          </a:bodyPr>
          <a:lstStyle/>
          <a:p>
            <a:r>
              <a:rPr lang="en-US" sz="2800" b="1" dirty="0"/>
              <a:t>Chapter 2: </a:t>
            </a:r>
            <a:r>
              <a:rPr lang="en-IN" sz="2800" b="1" dirty="0"/>
              <a:t>The business: </a:t>
            </a:r>
            <a:r>
              <a:rPr lang="en-US" sz="2800" b="1" dirty="0"/>
              <a:t>Background</a:t>
            </a:r>
          </a:p>
          <a:p>
            <a:endParaRPr lang="en-IN" sz="2800" b="1" dirty="0"/>
          </a:p>
        </p:txBody>
      </p:sp>
      <p:sp>
        <p:nvSpPr>
          <p:cNvPr id="5" name="TextBox 4"/>
          <p:cNvSpPr txBox="1"/>
          <p:nvPr/>
        </p:nvSpPr>
        <p:spPr>
          <a:xfrm>
            <a:off x="0" y="1005928"/>
            <a:ext cx="1805353" cy="400110"/>
          </a:xfrm>
          <a:prstGeom prst="rect">
            <a:avLst/>
          </a:prstGeom>
          <a:solidFill>
            <a:srgbClr val="0070C0"/>
          </a:solidFill>
          <a:ln>
            <a:solidFill>
              <a:srgbClr val="0070C0"/>
            </a:solidFill>
          </a:ln>
        </p:spPr>
        <p:txBody>
          <a:bodyPr wrap="square" rtlCol="0">
            <a:spAutoFit/>
          </a:bodyPr>
          <a:lstStyle>
            <a:defPPr>
              <a:defRPr lang="en-US"/>
            </a:defPPr>
            <a:lvl1pPr>
              <a:defRPr sz="2400" b="1"/>
            </a:lvl1pPr>
          </a:lstStyle>
          <a:p>
            <a:r>
              <a:rPr lang="en-US" sz="2000" dirty="0"/>
              <a:t>The opener</a:t>
            </a:r>
          </a:p>
        </p:txBody>
      </p:sp>
      <p:sp>
        <p:nvSpPr>
          <p:cNvPr id="6" name="TextBox 5"/>
          <p:cNvSpPr txBox="1"/>
          <p:nvPr/>
        </p:nvSpPr>
        <p:spPr>
          <a:xfrm>
            <a:off x="1805353" y="1005547"/>
            <a:ext cx="2863312" cy="400110"/>
          </a:xfrm>
          <a:prstGeom prst="rect">
            <a:avLst/>
          </a:prstGeom>
          <a:solidFill>
            <a:srgbClr val="0070C0"/>
          </a:solidFill>
          <a:ln>
            <a:solidFill>
              <a:srgbClr val="0070C0"/>
            </a:solidFill>
          </a:ln>
        </p:spPr>
        <p:txBody>
          <a:bodyPr wrap="square" rtlCol="0">
            <a:spAutoFit/>
          </a:bodyPr>
          <a:lstStyle/>
          <a:p>
            <a:r>
              <a:rPr lang="en-US" sz="2000" b="1" dirty="0"/>
              <a:t>Goals and objectives</a:t>
            </a:r>
          </a:p>
        </p:txBody>
      </p:sp>
      <p:sp>
        <p:nvSpPr>
          <p:cNvPr id="7" name="TextBox 6"/>
          <p:cNvSpPr txBox="1"/>
          <p:nvPr/>
        </p:nvSpPr>
        <p:spPr>
          <a:xfrm>
            <a:off x="4668665" y="1005928"/>
            <a:ext cx="1880650" cy="400110"/>
          </a:xfrm>
          <a:prstGeom prst="rect">
            <a:avLst/>
          </a:prstGeom>
          <a:solidFill>
            <a:srgbClr val="0070C0"/>
          </a:solidFill>
          <a:ln>
            <a:solidFill>
              <a:srgbClr val="0070C0"/>
            </a:solidFill>
          </a:ln>
        </p:spPr>
        <p:txBody>
          <a:bodyPr wrap="square" rtlCol="0">
            <a:spAutoFit/>
          </a:bodyPr>
          <a:lstStyle/>
          <a:p>
            <a:r>
              <a:rPr lang="en-US" sz="2000" b="1" dirty="0"/>
              <a:t>Strategy</a:t>
            </a:r>
          </a:p>
        </p:txBody>
      </p:sp>
      <p:sp>
        <p:nvSpPr>
          <p:cNvPr id="8" name="TextBox 7"/>
          <p:cNvSpPr txBox="1"/>
          <p:nvPr/>
        </p:nvSpPr>
        <p:spPr>
          <a:xfrm>
            <a:off x="6549315" y="974017"/>
            <a:ext cx="2000857" cy="461665"/>
          </a:xfrm>
          <a:prstGeom prst="rect">
            <a:avLst/>
          </a:prstGeom>
          <a:solidFill>
            <a:schemeClr val="accent1">
              <a:lumMod val="40000"/>
              <a:lumOff val="60000"/>
            </a:schemeClr>
          </a:solidFill>
          <a:ln>
            <a:solidFill>
              <a:srgbClr val="0070C0"/>
            </a:solidFill>
          </a:ln>
        </p:spPr>
        <p:txBody>
          <a:bodyPr wrap="square" rtlCol="0">
            <a:spAutoFit/>
          </a:bodyPr>
          <a:lstStyle>
            <a:defPPr>
              <a:defRPr lang="en-US"/>
            </a:defPPr>
            <a:lvl1pPr>
              <a:defRPr sz="2400" b="1"/>
            </a:lvl1pPr>
          </a:lstStyle>
          <a:p>
            <a:r>
              <a:rPr lang="en-US" dirty="0"/>
              <a:t>Resources</a:t>
            </a:r>
          </a:p>
        </p:txBody>
      </p:sp>
      <p:sp>
        <p:nvSpPr>
          <p:cNvPr id="9" name="TextBox 8"/>
          <p:cNvSpPr txBox="1"/>
          <p:nvPr/>
        </p:nvSpPr>
        <p:spPr>
          <a:xfrm>
            <a:off x="8550172" y="1007482"/>
            <a:ext cx="2662428" cy="400110"/>
          </a:xfrm>
          <a:prstGeom prst="rect">
            <a:avLst/>
          </a:prstGeom>
          <a:solidFill>
            <a:srgbClr val="0070C0"/>
          </a:solidFill>
          <a:ln>
            <a:solidFill>
              <a:srgbClr val="0070C0"/>
            </a:solidFill>
          </a:ln>
        </p:spPr>
        <p:txBody>
          <a:bodyPr wrap="square" rtlCol="0">
            <a:spAutoFit/>
          </a:bodyPr>
          <a:lstStyle/>
          <a:p>
            <a:r>
              <a:rPr lang="en-US" sz="2000" b="1" dirty="0"/>
              <a:t>Basic financials.</a:t>
            </a:r>
          </a:p>
        </p:txBody>
      </p:sp>
    </p:spTree>
    <p:extLst>
      <p:ext uri="{BB962C8B-B14F-4D97-AF65-F5344CB8AC3E}">
        <p14:creationId xmlns:p14="http://schemas.microsoft.com/office/powerpoint/2010/main" val="42343235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6769"/>
            <a:ext cx="10515600" cy="1325563"/>
          </a:xfrm>
        </p:spPr>
        <p:txBody>
          <a:bodyPr/>
          <a:lstStyle/>
          <a:p>
            <a:r>
              <a:rPr lang="en-US" dirty="0"/>
              <a:t>Basic financials </a:t>
            </a:r>
            <a:endParaRPr lang="en-IN" dirty="0"/>
          </a:p>
        </p:txBody>
      </p:sp>
      <p:sp>
        <p:nvSpPr>
          <p:cNvPr id="3" name="Content Placeholder 2"/>
          <p:cNvSpPr>
            <a:spLocks noGrp="1"/>
          </p:cNvSpPr>
          <p:nvPr>
            <p:ph idx="1"/>
          </p:nvPr>
        </p:nvSpPr>
        <p:spPr>
          <a:xfrm>
            <a:off x="838200" y="2324100"/>
            <a:ext cx="10515600" cy="2466976"/>
          </a:xfrm>
        </p:spPr>
        <p:txBody>
          <a:bodyPr/>
          <a:lstStyle/>
          <a:p>
            <a:r>
              <a:rPr lang="en-US" dirty="0"/>
              <a:t>Provide a summary of key financial metrics such as sales and operating profit.</a:t>
            </a:r>
          </a:p>
          <a:p>
            <a:r>
              <a:rPr lang="en-US" dirty="0"/>
              <a:t>In case no sales has been made so far, state the major expenses incurred, the source thereof and the time it required.</a:t>
            </a:r>
          </a:p>
          <a:p>
            <a:endParaRPr lang="en-IN" dirty="0"/>
          </a:p>
        </p:txBody>
      </p:sp>
      <p:sp>
        <p:nvSpPr>
          <p:cNvPr id="4" name="TextBox 3"/>
          <p:cNvSpPr txBox="1"/>
          <p:nvPr/>
        </p:nvSpPr>
        <p:spPr>
          <a:xfrm>
            <a:off x="0" y="481956"/>
            <a:ext cx="11914987" cy="954107"/>
          </a:xfrm>
          <a:prstGeom prst="rect">
            <a:avLst/>
          </a:prstGeom>
          <a:solidFill>
            <a:srgbClr val="002060">
              <a:alpha val="20000"/>
            </a:srgbClr>
          </a:solidFill>
        </p:spPr>
        <p:txBody>
          <a:bodyPr wrap="square" rtlCol="0">
            <a:spAutoFit/>
          </a:bodyPr>
          <a:lstStyle/>
          <a:p>
            <a:r>
              <a:rPr lang="en-US" sz="2800" b="1" dirty="0"/>
              <a:t>Chapter 2: </a:t>
            </a:r>
            <a:r>
              <a:rPr lang="en-IN" sz="2800" b="1" dirty="0"/>
              <a:t>The business: </a:t>
            </a:r>
            <a:r>
              <a:rPr lang="en-US" sz="2800" b="1" dirty="0"/>
              <a:t>Background</a:t>
            </a:r>
          </a:p>
          <a:p>
            <a:endParaRPr lang="en-IN" sz="2800" b="1" dirty="0"/>
          </a:p>
        </p:txBody>
      </p:sp>
      <p:sp>
        <p:nvSpPr>
          <p:cNvPr id="5" name="TextBox 4"/>
          <p:cNvSpPr txBox="1"/>
          <p:nvPr/>
        </p:nvSpPr>
        <p:spPr>
          <a:xfrm>
            <a:off x="0" y="1009395"/>
            <a:ext cx="1805353" cy="400110"/>
          </a:xfrm>
          <a:prstGeom prst="rect">
            <a:avLst/>
          </a:prstGeom>
          <a:solidFill>
            <a:srgbClr val="0070C0"/>
          </a:solidFill>
          <a:ln>
            <a:solidFill>
              <a:srgbClr val="0070C0"/>
            </a:solidFill>
          </a:ln>
        </p:spPr>
        <p:txBody>
          <a:bodyPr wrap="square" rtlCol="0">
            <a:spAutoFit/>
          </a:bodyPr>
          <a:lstStyle>
            <a:defPPr>
              <a:defRPr lang="en-US"/>
            </a:defPPr>
            <a:lvl1pPr>
              <a:defRPr sz="2400" b="1"/>
            </a:lvl1pPr>
          </a:lstStyle>
          <a:p>
            <a:r>
              <a:rPr lang="en-US" sz="2000" dirty="0"/>
              <a:t>The opener</a:t>
            </a:r>
          </a:p>
        </p:txBody>
      </p:sp>
      <p:sp>
        <p:nvSpPr>
          <p:cNvPr id="6" name="TextBox 5"/>
          <p:cNvSpPr txBox="1"/>
          <p:nvPr/>
        </p:nvSpPr>
        <p:spPr>
          <a:xfrm>
            <a:off x="1805353" y="1009014"/>
            <a:ext cx="2863312" cy="400110"/>
          </a:xfrm>
          <a:prstGeom prst="rect">
            <a:avLst/>
          </a:prstGeom>
          <a:solidFill>
            <a:srgbClr val="0070C0"/>
          </a:solidFill>
          <a:ln>
            <a:solidFill>
              <a:srgbClr val="0070C0"/>
            </a:solidFill>
          </a:ln>
        </p:spPr>
        <p:txBody>
          <a:bodyPr wrap="square" rtlCol="0">
            <a:spAutoFit/>
          </a:bodyPr>
          <a:lstStyle/>
          <a:p>
            <a:r>
              <a:rPr lang="en-US" sz="2000" b="1" dirty="0"/>
              <a:t>Goals and objectives</a:t>
            </a:r>
          </a:p>
        </p:txBody>
      </p:sp>
      <p:sp>
        <p:nvSpPr>
          <p:cNvPr id="7" name="TextBox 6"/>
          <p:cNvSpPr txBox="1"/>
          <p:nvPr/>
        </p:nvSpPr>
        <p:spPr>
          <a:xfrm>
            <a:off x="4668665" y="1009395"/>
            <a:ext cx="1880650" cy="400110"/>
          </a:xfrm>
          <a:prstGeom prst="rect">
            <a:avLst/>
          </a:prstGeom>
          <a:solidFill>
            <a:srgbClr val="0070C0"/>
          </a:solidFill>
          <a:ln>
            <a:solidFill>
              <a:srgbClr val="0070C0"/>
            </a:solidFill>
          </a:ln>
        </p:spPr>
        <p:txBody>
          <a:bodyPr wrap="square" rtlCol="0">
            <a:spAutoFit/>
          </a:bodyPr>
          <a:lstStyle/>
          <a:p>
            <a:r>
              <a:rPr lang="en-US" sz="2000" b="1" dirty="0"/>
              <a:t>Strategy</a:t>
            </a:r>
          </a:p>
        </p:txBody>
      </p:sp>
      <p:sp>
        <p:nvSpPr>
          <p:cNvPr id="8" name="TextBox 7"/>
          <p:cNvSpPr txBox="1"/>
          <p:nvPr/>
        </p:nvSpPr>
        <p:spPr>
          <a:xfrm>
            <a:off x="6549315" y="1009014"/>
            <a:ext cx="2000857" cy="400110"/>
          </a:xfrm>
          <a:prstGeom prst="rect">
            <a:avLst/>
          </a:prstGeom>
          <a:solidFill>
            <a:srgbClr val="0070C0"/>
          </a:solidFill>
          <a:ln>
            <a:solidFill>
              <a:srgbClr val="0070C0"/>
            </a:solidFill>
          </a:ln>
        </p:spPr>
        <p:txBody>
          <a:bodyPr wrap="square" rtlCol="0">
            <a:spAutoFit/>
          </a:bodyPr>
          <a:lstStyle/>
          <a:p>
            <a:r>
              <a:rPr lang="en-US" sz="2000" b="1" dirty="0"/>
              <a:t>Resources</a:t>
            </a:r>
          </a:p>
        </p:txBody>
      </p:sp>
      <p:sp>
        <p:nvSpPr>
          <p:cNvPr id="9" name="TextBox 8"/>
          <p:cNvSpPr txBox="1"/>
          <p:nvPr/>
        </p:nvSpPr>
        <p:spPr>
          <a:xfrm>
            <a:off x="8550172" y="958399"/>
            <a:ext cx="2662428" cy="461665"/>
          </a:xfrm>
          <a:prstGeom prst="rect">
            <a:avLst/>
          </a:prstGeom>
          <a:solidFill>
            <a:schemeClr val="accent1">
              <a:lumMod val="40000"/>
              <a:lumOff val="60000"/>
            </a:schemeClr>
          </a:solidFill>
          <a:ln>
            <a:solidFill>
              <a:srgbClr val="0070C0"/>
            </a:solidFill>
          </a:ln>
        </p:spPr>
        <p:txBody>
          <a:bodyPr wrap="square" rtlCol="0">
            <a:spAutoFit/>
          </a:bodyPr>
          <a:lstStyle>
            <a:defPPr>
              <a:defRPr lang="en-US"/>
            </a:defPPr>
            <a:lvl1pPr>
              <a:defRPr sz="2400" b="1"/>
            </a:lvl1pPr>
          </a:lstStyle>
          <a:p>
            <a:r>
              <a:rPr lang="en-US" dirty="0"/>
              <a:t>Basic financials.</a:t>
            </a:r>
          </a:p>
        </p:txBody>
      </p:sp>
    </p:spTree>
    <p:extLst>
      <p:ext uri="{BB962C8B-B14F-4D97-AF65-F5344CB8AC3E}">
        <p14:creationId xmlns:p14="http://schemas.microsoft.com/office/powerpoint/2010/main" val="8980915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9925"/>
            <a:ext cx="10515600" cy="1325563"/>
          </a:xfrm>
        </p:spPr>
        <p:txBody>
          <a:bodyPr/>
          <a:lstStyle/>
          <a:p>
            <a:r>
              <a:rPr lang="en-IN" dirty="0"/>
              <a:t>The business </a:t>
            </a:r>
            <a:r>
              <a:rPr lang="en-IN" i="1" dirty="0"/>
              <a:t>mix by segment</a:t>
            </a:r>
            <a:endParaRPr lang="en-IN" dirty="0"/>
          </a:p>
        </p:txBody>
      </p:sp>
      <p:sp>
        <p:nvSpPr>
          <p:cNvPr id="3" name="Content Placeholder 2"/>
          <p:cNvSpPr>
            <a:spLocks noGrp="1"/>
          </p:cNvSpPr>
          <p:nvPr>
            <p:ph idx="1"/>
          </p:nvPr>
        </p:nvSpPr>
        <p:spPr>
          <a:xfrm>
            <a:off x="395732" y="1950743"/>
            <a:ext cx="9855200" cy="2066151"/>
          </a:xfrm>
        </p:spPr>
        <p:txBody>
          <a:bodyPr/>
          <a:lstStyle/>
          <a:p>
            <a:r>
              <a:rPr lang="en-IN" dirty="0"/>
              <a:t>Clearly define which group of people or businesses constitute your main customers. </a:t>
            </a:r>
          </a:p>
          <a:p>
            <a:r>
              <a:rPr lang="en-IN" dirty="0"/>
              <a:t>What products or services you are offering them. Which of them will critically contribute to your business success? </a:t>
            </a:r>
          </a:p>
          <a:p>
            <a:endParaRPr lang="en-IN" dirty="0"/>
          </a:p>
        </p:txBody>
      </p:sp>
      <p:grpSp>
        <p:nvGrpSpPr>
          <p:cNvPr id="4" name="Group 3"/>
          <p:cNvGrpSpPr/>
          <p:nvPr/>
        </p:nvGrpSpPr>
        <p:grpSpPr>
          <a:xfrm>
            <a:off x="10339832" y="346337"/>
            <a:ext cx="1852168" cy="3530600"/>
            <a:chOff x="10174732" y="647700"/>
            <a:chExt cx="1852168" cy="3530600"/>
          </a:xfrm>
          <a:solidFill>
            <a:srgbClr val="0070C0"/>
          </a:solidFill>
        </p:grpSpPr>
        <p:sp>
          <p:nvSpPr>
            <p:cNvPr id="5" name="Rectangle 4"/>
            <p:cNvSpPr/>
            <p:nvPr/>
          </p:nvSpPr>
          <p:spPr>
            <a:xfrm>
              <a:off x="10174732" y="647700"/>
              <a:ext cx="1852168"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2</a:t>
              </a:r>
              <a:endParaRPr lang="en-US" sz="2000" b="1" dirty="0"/>
            </a:p>
          </p:txBody>
        </p:sp>
        <p:sp>
          <p:nvSpPr>
            <p:cNvPr id="6" name="Rectangle 5"/>
            <p:cNvSpPr/>
            <p:nvPr/>
          </p:nvSpPr>
          <p:spPr>
            <a:xfrm>
              <a:off x="11366500" y="1295400"/>
              <a:ext cx="660400" cy="2882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r"/>
              <a:r>
                <a:rPr lang="en-IN" sz="2000" b="1" dirty="0">
                  <a:solidFill>
                    <a:schemeClr val="bg1"/>
                  </a:solidFill>
                </a:rPr>
                <a:t>Business mix by segment</a:t>
              </a:r>
              <a:endParaRPr lang="en-US" sz="2000" b="1" dirty="0">
                <a:solidFill>
                  <a:schemeClr val="bg1"/>
                </a:solidFill>
              </a:endParaRPr>
            </a:p>
          </p:txBody>
        </p:sp>
      </p:grpSp>
      <p:sp>
        <p:nvSpPr>
          <p:cNvPr id="7" name="Rectangle 6"/>
          <p:cNvSpPr/>
          <p:nvPr/>
        </p:nvSpPr>
        <p:spPr>
          <a:xfrm>
            <a:off x="10935716" y="987110"/>
            <a:ext cx="595884" cy="22500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r"/>
            <a:r>
              <a:rPr lang="en-US" b="1" dirty="0">
                <a:solidFill>
                  <a:srgbClr val="00B0F0"/>
                </a:solidFill>
              </a:rPr>
              <a:t>Background</a:t>
            </a:r>
            <a:endParaRPr lang="en-IN" b="1" dirty="0">
              <a:solidFill>
                <a:srgbClr val="00B0F0"/>
              </a:solidFill>
            </a:endParaRPr>
          </a:p>
        </p:txBody>
      </p:sp>
      <p:sp>
        <p:nvSpPr>
          <p:cNvPr id="8" name="Rectangle 7"/>
          <p:cNvSpPr/>
          <p:nvPr/>
        </p:nvSpPr>
        <p:spPr>
          <a:xfrm>
            <a:off x="10339832" y="987110"/>
            <a:ext cx="595884" cy="174821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r"/>
            <a:r>
              <a:rPr lang="en-US" b="1" dirty="0"/>
              <a:t>The Business</a:t>
            </a:r>
            <a:endParaRPr lang="en-IN" b="1" dirty="0"/>
          </a:p>
        </p:txBody>
      </p:sp>
    </p:spTree>
    <p:extLst>
      <p:ext uri="{BB962C8B-B14F-4D97-AF65-F5344CB8AC3E}">
        <p14:creationId xmlns:p14="http://schemas.microsoft.com/office/powerpoint/2010/main" val="31257945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business: </a:t>
            </a:r>
            <a:r>
              <a:rPr lang="en-IN" i="1" dirty="0"/>
              <a:t>Customer segment</a:t>
            </a:r>
            <a:endParaRPr lang="en-IN" dirty="0"/>
          </a:p>
        </p:txBody>
      </p:sp>
      <p:sp>
        <p:nvSpPr>
          <p:cNvPr id="3" name="Content Placeholder 2"/>
          <p:cNvSpPr>
            <a:spLocks noGrp="1"/>
          </p:cNvSpPr>
          <p:nvPr>
            <p:ph idx="1"/>
          </p:nvPr>
        </p:nvSpPr>
        <p:spPr>
          <a:xfrm>
            <a:off x="838200" y="1577975"/>
            <a:ext cx="10515600" cy="4816514"/>
          </a:xfrm>
        </p:spPr>
        <p:txBody>
          <a:bodyPr>
            <a:normAutofit/>
          </a:bodyPr>
          <a:lstStyle/>
          <a:p>
            <a:r>
              <a:rPr lang="en-IN" dirty="0"/>
              <a:t>Who are the target customers (define customer persona)? </a:t>
            </a:r>
          </a:p>
          <a:p>
            <a:r>
              <a:rPr lang="en-IN" dirty="0"/>
              <a:t>In which way will they benefit from your offering? </a:t>
            </a:r>
          </a:p>
          <a:p>
            <a:r>
              <a:rPr lang="en-IN" dirty="0"/>
              <a:t>How do you offer a superior product-market-fit compared to your competitors? </a:t>
            </a:r>
          </a:p>
          <a:p>
            <a:r>
              <a:rPr lang="en-IN" dirty="0"/>
              <a:t>How do you target them and position your product? </a:t>
            </a:r>
          </a:p>
          <a:p>
            <a:r>
              <a:rPr lang="en-IN" dirty="0"/>
              <a:t>You need to mention evidence such as market research data or validation by number of users and their responses.</a:t>
            </a:r>
          </a:p>
        </p:txBody>
      </p:sp>
      <p:grpSp>
        <p:nvGrpSpPr>
          <p:cNvPr id="7" name="Group 6"/>
          <p:cNvGrpSpPr/>
          <p:nvPr/>
        </p:nvGrpSpPr>
        <p:grpSpPr>
          <a:xfrm>
            <a:off x="10223500" y="647700"/>
            <a:ext cx="1803400" cy="3530600"/>
            <a:chOff x="10223500" y="647700"/>
            <a:chExt cx="1803400" cy="3530600"/>
          </a:xfrm>
          <a:solidFill>
            <a:srgbClr val="0070C0"/>
          </a:solidFill>
        </p:grpSpPr>
        <p:sp>
          <p:nvSpPr>
            <p:cNvPr id="8" name="Rectangle 7"/>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2</a:t>
              </a:r>
              <a:endParaRPr lang="en-US" sz="2000" b="1" dirty="0"/>
            </a:p>
          </p:txBody>
        </p:sp>
        <p:sp>
          <p:nvSpPr>
            <p:cNvPr id="9" name="Rectangle 8"/>
            <p:cNvSpPr/>
            <p:nvPr/>
          </p:nvSpPr>
          <p:spPr>
            <a:xfrm>
              <a:off x="11098924" y="1295400"/>
              <a:ext cx="927976" cy="2882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000" b="1" dirty="0"/>
                <a:t>The Business: </a:t>
              </a:r>
              <a:r>
                <a:rPr lang="en-IN" sz="2000" b="1" dirty="0">
                  <a:solidFill>
                    <a:srgbClr val="FFC000"/>
                  </a:solidFill>
                </a:rPr>
                <a:t>Business mix by segment</a:t>
              </a:r>
              <a:endParaRPr lang="en-US" sz="2000" b="1" dirty="0">
                <a:solidFill>
                  <a:srgbClr val="FFC000"/>
                </a:solidFill>
              </a:endParaRPr>
            </a:p>
          </p:txBody>
        </p:sp>
      </p:grpSp>
    </p:spTree>
    <p:extLst>
      <p:ext uri="{BB962C8B-B14F-4D97-AF65-F5344CB8AC3E}">
        <p14:creationId xmlns:p14="http://schemas.microsoft.com/office/powerpoint/2010/main" val="38027086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business: </a:t>
            </a:r>
            <a:r>
              <a:rPr lang="en-IN" i="1" dirty="0"/>
              <a:t>Customer segment</a:t>
            </a:r>
            <a:endParaRPr lang="en-IN" dirty="0"/>
          </a:p>
        </p:txBody>
      </p:sp>
      <p:sp>
        <p:nvSpPr>
          <p:cNvPr id="3" name="Content Placeholder 2"/>
          <p:cNvSpPr>
            <a:spLocks noGrp="1"/>
          </p:cNvSpPr>
          <p:nvPr>
            <p:ph idx="1"/>
          </p:nvPr>
        </p:nvSpPr>
        <p:spPr>
          <a:xfrm>
            <a:off x="417786" y="1690688"/>
            <a:ext cx="10515600" cy="4351338"/>
          </a:xfrm>
        </p:spPr>
        <p:txBody>
          <a:bodyPr/>
          <a:lstStyle/>
          <a:p>
            <a:r>
              <a:rPr lang="en-IN" dirty="0"/>
              <a:t>Try identifying niche and creating sub-segments to offer differentiated products to target customers of specific needs (features). </a:t>
            </a:r>
          </a:p>
          <a:p>
            <a:r>
              <a:rPr lang="en-IN" dirty="0"/>
              <a:t>But focus on the product-segment that will make or break your business.</a:t>
            </a:r>
          </a:p>
          <a:p>
            <a:endParaRPr lang="en-IN" dirty="0"/>
          </a:p>
        </p:txBody>
      </p:sp>
      <p:grpSp>
        <p:nvGrpSpPr>
          <p:cNvPr id="4" name="Group 3"/>
          <p:cNvGrpSpPr/>
          <p:nvPr/>
        </p:nvGrpSpPr>
        <p:grpSpPr>
          <a:xfrm>
            <a:off x="10223500" y="647700"/>
            <a:ext cx="1803400" cy="3530600"/>
            <a:chOff x="10223500" y="647700"/>
            <a:chExt cx="1803400" cy="3530600"/>
          </a:xfrm>
          <a:solidFill>
            <a:srgbClr val="0070C0"/>
          </a:solidFill>
        </p:grpSpPr>
        <p:sp>
          <p:nvSpPr>
            <p:cNvPr id="5" name="Rectangle 4"/>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2</a:t>
              </a:r>
              <a:endParaRPr lang="en-US" sz="2000" b="1" dirty="0"/>
            </a:p>
          </p:txBody>
        </p:sp>
        <p:sp>
          <p:nvSpPr>
            <p:cNvPr id="6" name="Rectangle 5"/>
            <p:cNvSpPr/>
            <p:nvPr/>
          </p:nvSpPr>
          <p:spPr>
            <a:xfrm>
              <a:off x="11366500" y="1295400"/>
              <a:ext cx="660400" cy="2882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800" b="1" dirty="0"/>
                <a:t>The Business: </a:t>
              </a:r>
              <a:r>
                <a:rPr lang="en-IN" sz="1800" b="1" dirty="0">
                  <a:solidFill>
                    <a:srgbClr val="FFC000"/>
                  </a:solidFill>
                </a:rPr>
                <a:t>Business mix by segment</a:t>
              </a:r>
              <a:endParaRPr lang="en-US" sz="1800" b="1" dirty="0">
                <a:solidFill>
                  <a:srgbClr val="FFC000"/>
                </a:solidFill>
              </a:endParaRPr>
            </a:p>
          </p:txBody>
        </p:sp>
      </p:grpSp>
    </p:spTree>
    <p:extLst>
      <p:ext uri="{BB962C8B-B14F-4D97-AF65-F5344CB8AC3E}">
        <p14:creationId xmlns:p14="http://schemas.microsoft.com/office/powerpoint/2010/main" val="18431741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7292"/>
          </a:xfrm>
        </p:spPr>
        <p:txBody>
          <a:bodyPr>
            <a:normAutofit/>
          </a:bodyPr>
          <a:lstStyle/>
          <a:p>
            <a:r>
              <a:rPr lang="en-IN" sz="3600" dirty="0"/>
              <a:t>Chapter 3: Market demand</a:t>
            </a:r>
          </a:p>
        </p:txBody>
      </p:sp>
      <p:sp>
        <p:nvSpPr>
          <p:cNvPr id="3" name="Content Placeholder 2"/>
          <p:cNvSpPr>
            <a:spLocks noGrp="1"/>
          </p:cNvSpPr>
          <p:nvPr>
            <p:ph idx="1"/>
          </p:nvPr>
        </p:nvSpPr>
        <p:spPr>
          <a:xfrm>
            <a:off x="417009" y="1342418"/>
            <a:ext cx="11357982" cy="4671548"/>
          </a:xfrm>
        </p:spPr>
        <p:txBody>
          <a:bodyPr>
            <a:normAutofit lnSpcReduction="10000"/>
          </a:bodyPr>
          <a:lstStyle/>
          <a:p>
            <a:r>
              <a:rPr lang="en-IN" dirty="0"/>
              <a:t>It is important that there are enough customer to buy your product at a profitable price. Else, your plan will not materialize.</a:t>
            </a:r>
          </a:p>
          <a:p>
            <a:r>
              <a:rPr lang="en-IN" dirty="0"/>
              <a:t>Thus, this section is one of the most important and you must make all out effort to make it as convincing as possible with real data. Do not try to suppress facts. If it is declining you must have a plan to reverse the trend. </a:t>
            </a:r>
          </a:p>
          <a:p>
            <a:r>
              <a:rPr lang="en-IN" dirty="0"/>
              <a:t>Market size  </a:t>
            </a:r>
          </a:p>
          <a:p>
            <a:r>
              <a:rPr lang="en-IN" dirty="0"/>
              <a:t>Market growth</a:t>
            </a:r>
          </a:p>
          <a:p>
            <a:r>
              <a:rPr lang="en-IN" dirty="0"/>
              <a:t>Market demand for a start-up</a:t>
            </a:r>
          </a:p>
          <a:p>
            <a:r>
              <a:rPr lang="en-IN" dirty="0"/>
              <a:t>Test marketing</a:t>
            </a:r>
          </a:p>
          <a:p>
            <a:r>
              <a:rPr lang="en-IN" dirty="0"/>
              <a:t>Estimate your addressable and obtainable market</a:t>
            </a:r>
          </a:p>
        </p:txBody>
      </p:sp>
    </p:spTree>
    <p:extLst>
      <p:ext uri="{BB962C8B-B14F-4D97-AF65-F5344CB8AC3E}">
        <p14:creationId xmlns:p14="http://schemas.microsoft.com/office/powerpoint/2010/main" val="27839224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175" y="165100"/>
            <a:ext cx="10515600" cy="1325563"/>
          </a:xfrm>
        </p:spPr>
        <p:txBody>
          <a:bodyPr/>
          <a:lstStyle/>
          <a:p>
            <a:r>
              <a:rPr lang="en-IN" dirty="0"/>
              <a:t>Market demand</a:t>
            </a:r>
            <a:endParaRPr lang="en-US" dirty="0"/>
          </a:p>
        </p:txBody>
      </p:sp>
      <p:sp>
        <p:nvSpPr>
          <p:cNvPr id="3" name="Content Placeholder 2"/>
          <p:cNvSpPr>
            <a:spLocks noGrp="1"/>
          </p:cNvSpPr>
          <p:nvPr>
            <p:ph idx="1"/>
          </p:nvPr>
        </p:nvSpPr>
        <p:spPr>
          <a:xfrm>
            <a:off x="609600" y="1386347"/>
            <a:ext cx="10515600" cy="4729163"/>
          </a:xfrm>
        </p:spPr>
        <p:txBody>
          <a:bodyPr>
            <a:normAutofit lnSpcReduction="10000"/>
          </a:bodyPr>
          <a:lstStyle/>
          <a:p>
            <a:r>
              <a:rPr lang="en-IN" dirty="0"/>
              <a:t>Market demand, risks and opportunities</a:t>
            </a:r>
          </a:p>
          <a:p>
            <a:r>
              <a:rPr lang="en-IN" dirty="0"/>
              <a:t>Market share change – give a competitive intensity of your market and your competitive position.</a:t>
            </a:r>
          </a:p>
          <a:p>
            <a:r>
              <a:rPr lang="en-IN" dirty="0"/>
              <a:t>That market must be of sufficient size, now and in the future, to support at least your business, not to mention your competitors.</a:t>
            </a:r>
          </a:p>
          <a:p>
            <a:r>
              <a:rPr lang="en-IN" dirty="0"/>
              <a:t>Your market must buy your product for you to have a business. Your market must look attractive. Else you should not pursue it.</a:t>
            </a:r>
          </a:p>
          <a:p>
            <a:r>
              <a:rPr lang="en-IN" dirty="0"/>
              <a:t>Your reader wants to know, before all else, who these buyers are, how much they are buying, how much they are paying, why they are buying, what has been influencing them, how those influences may change and how much they are likely to buy in the future.</a:t>
            </a:r>
          </a:p>
          <a:p>
            <a:endParaRPr lang="en-US" dirty="0"/>
          </a:p>
        </p:txBody>
      </p:sp>
      <p:grpSp>
        <p:nvGrpSpPr>
          <p:cNvPr id="4" name="Group 3"/>
          <p:cNvGrpSpPr/>
          <p:nvPr/>
        </p:nvGrpSpPr>
        <p:grpSpPr>
          <a:xfrm>
            <a:off x="10223500" y="647700"/>
            <a:ext cx="1803400" cy="3530600"/>
            <a:chOff x="10223500" y="647700"/>
            <a:chExt cx="1803400" cy="3530600"/>
          </a:xfrm>
          <a:solidFill>
            <a:srgbClr val="0070C0"/>
          </a:solidFill>
        </p:grpSpPr>
        <p:sp>
          <p:nvSpPr>
            <p:cNvPr id="5" name="Rectangle 4"/>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3</a:t>
              </a:r>
              <a:endParaRPr lang="en-US" sz="2000" b="1" dirty="0"/>
            </a:p>
          </p:txBody>
        </p:sp>
        <p:sp>
          <p:nvSpPr>
            <p:cNvPr id="6" name="Rectangle 5"/>
            <p:cNvSpPr/>
            <p:nvPr/>
          </p:nvSpPr>
          <p:spPr>
            <a:xfrm>
              <a:off x="11366500" y="1295400"/>
              <a:ext cx="660400" cy="2882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000" b="1" dirty="0"/>
                <a:t>The market demand</a:t>
              </a:r>
              <a:endParaRPr lang="en-US" sz="2000" b="1" dirty="0">
                <a:solidFill>
                  <a:srgbClr val="FFC000"/>
                </a:solidFill>
              </a:endParaRPr>
            </a:p>
          </p:txBody>
        </p:sp>
      </p:grpSp>
      <p:sp>
        <p:nvSpPr>
          <p:cNvPr id="7" name="Oval 6"/>
          <p:cNvSpPr/>
          <p:nvPr/>
        </p:nvSpPr>
        <p:spPr>
          <a:xfrm>
            <a:off x="11478932" y="4178300"/>
            <a:ext cx="435535" cy="4303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036695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9482"/>
          </a:xfrm>
        </p:spPr>
        <p:txBody>
          <a:bodyPr/>
          <a:lstStyle/>
          <a:p>
            <a:r>
              <a:rPr lang="en-US" dirty="0"/>
              <a:t>Chapter 4: Competition</a:t>
            </a:r>
            <a:endParaRPr lang="en-IN" dirty="0"/>
          </a:p>
        </p:txBody>
      </p:sp>
      <p:sp>
        <p:nvSpPr>
          <p:cNvPr id="3" name="Content Placeholder 2"/>
          <p:cNvSpPr>
            <a:spLocks noGrp="1"/>
          </p:cNvSpPr>
          <p:nvPr>
            <p:ph idx="1"/>
          </p:nvPr>
        </p:nvSpPr>
        <p:spPr>
          <a:xfrm>
            <a:off x="838200" y="1274835"/>
            <a:ext cx="10914888" cy="4732211"/>
          </a:xfrm>
        </p:spPr>
        <p:txBody>
          <a:bodyPr>
            <a:normAutofit/>
          </a:bodyPr>
          <a:lstStyle/>
          <a:p>
            <a:r>
              <a:rPr lang="en-US" i="1" dirty="0"/>
              <a:t>“ Competition’s a bitch – but that’s what gives us puppies.” – </a:t>
            </a:r>
            <a:r>
              <a:rPr lang="en-US" sz="1800" dirty="0"/>
              <a:t>Unattributed</a:t>
            </a:r>
          </a:p>
          <a:p>
            <a:endParaRPr lang="en-US" dirty="0"/>
          </a:p>
          <a:p>
            <a:r>
              <a:rPr lang="en-US" dirty="0">
                <a:solidFill>
                  <a:srgbClr val="0070C0"/>
                </a:solidFill>
              </a:rPr>
              <a:t>Understand and respect the competition </a:t>
            </a:r>
            <a:r>
              <a:rPr lang="en-US" dirty="0"/>
              <a:t>&amp; competitive intensity. Give competitors the space they merit in your plan. </a:t>
            </a:r>
            <a:r>
              <a:rPr lang="en-US" dirty="0">
                <a:solidFill>
                  <a:srgbClr val="0070C0"/>
                </a:solidFill>
              </a:rPr>
              <a:t>Dismiss them and your readers will dismiss you.</a:t>
            </a:r>
          </a:p>
          <a:p>
            <a:r>
              <a:rPr lang="en-US" dirty="0">
                <a:solidFill>
                  <a:srgbClr val="0070C0"/>
                </a:solidFill>
              </a:rPr>
              <a:t>Your USP</a:t>
            </a:r>
            <a:r>
              <a:rPr lang="en-US" dirty="0"/>
              <a:t>: How you are going to stand out in the competition? What product features, quality, technology, service differentiator you </a:t>
            </a:r>
            <a:br>
              <a:rPr lang="en-US" dirty="0"/>
            </a:br>
            <a:r>
              <a:rPr lang="en-US" dirty="0"/>
              <a:t>have to beat competition.  </a:t>
            </a:r>
          </a:p>
          <a:p>
            <a:r>
              <a:rPr lang="en-US" dirty="0"/>
              <a:t>Porter’s five forces analysis of your business.</a:t>
            </a:r>
          </a:p>
          <a:p>
            <a:r>
              <a:rPr lang="en-US" dirty="0"/>
              <a:t>Your value proposition.</a:t>
            </a:r>
            <a:endParaRPr lang="en-IN" dirty="0"/>
          </a:p>
          <a:p>
            <a:endParaRPr lang="en-IN" dirty="0"/>
          </a:p>
        </p:txBody>
      </p:sp>
    </p:spTree>
    <p:extLst>
      <p:ext uri="{BB962C8B-B14F-4D97-AF65-F5344CB8AC3E}">
        <p14:creationId xmlns:p14="http://schemas.microsoft.com/office/powerpoint/2010/main" val="28556418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23776"/>
          </a:xfrm>
        </p:spPr>
        <p:txBody>
          <a:bodyPr>
            <a:normAutofit/>
          </a:bodyPr>
          <a:lstStyle/>
          <a:p>
            <a:r>
              <a:rPr lang="en-US" sz="3600" dirty="0"/>
              <a:t>Chapter 5: Strategy</a:t>
            </a:r>
            <a:endParaRPr lang="en-IN" sz="3600" dirty="0"/>
          </a:p>
        </p:txBody>
      </p:sp>
      <p:sp>
        <p:nvSpPr>
          <p:cNvPr id="3" name="Content Placeholder 2"/>
          <p:cNvSpPr>
            <a:spLocks noGrp="1"/>
          </p:cNvSpPr>
          <p:nvPr>
            <p:ph idx="1"/>
          </p:nvPr>
        </p:nvSpPr>
        <p:spPr>
          <a:xfrm>
            <a:off x="537807" y="1488901"/>
            <a:ext cx="10515600" cy="4351338"/>
          </a:xfrm>
        </p:spPr>
        <p:txBody>
          <a:bodyPr/>
          <a:lstStyle/>
          <a:p>
            <a:r>
              <a:rPr lang="en-US" i="1" dirty="0"/>
              <a:t>“ We shall either find a way or make one.” </a:t>
            </a:r>
            <a:r>
              <a:rPr lang="en-US" dirty="0"/>
              <a:t>- Hannibal </a:t>
            </a:r>
          </a:p>
          <a:p>
            <a:r>
              <a:rPr lang="en-US" dirty="0"/>
              <a:t>you assess what your competitive position will be upon entering this market and how that may improve over the next three years. </a:t>
            </a:r>
          </a:p>
          <a:p>
            <a:r>
              <a:rPr lang="en-US" dirty="0"/>
              <a:t>How competitive is your business in each of its main segments? What is your strategy for strengthening competitiveness in key segments? Or boosting the balance of your overall portfolio of segments? What risks may you face and what opportunities can you exploit? </a:t>
            </a:r>
            <a:endParaRPr lang="en-IN" dirty="0"/>
          </a:p>
        </p:txBody>
      </p:sp>
    </p:spTree>
    <p:extLst>
      <p:ext uri="{BB962C8B-B14F-4D97-AF65-F5344CB8AC3E}">
        <p14:creationId xmlns:p14="http://schemas.microsoft.com/office/powerpoint/2010/main" val="34621476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Strategy</a:t>
            </a:r>
            <a:endParaRPr lang="en-IN" dirty="0"/>
          </a:p>
        </p:txBody>
      </p:sp>
      <p:sp>
        <p:nvSpPr>
          <p:cNvPr id="3" name="Content Placeholder 2"/>
          <p:cNvSpPr>
            <a:spLocks noGrp="1"/>
          </p:cNvSpPr>
          <p:nvPr>
            <p:ph idx="1"/>
          </p:nvPr>
        </p:nvSpPr>
        <p:spPr>
          <a:xfrm>
            <a:off x="497264" y="1927754"/>
            <a:ext cx="11542336" cy="2283920"/>
          </a:xfrm>
        </p:spPr>
        <p:txBody>
          <a:bodyPr/>
          <a:lstStyle/>
          <a:p>
            <a:r>
              <a:rPr lang="en-US" dirty="0"/>
              <a:t>Neither you exaggerate your opportunities, nor you gloss over the risks.  </a:t>
            </a:r>
          </a:p>
          <a:p>
            <a:r>
              <a:rPr lang="en-US" dirty="0"/>
              <a:t>Be realistic. </a:t>
            </a:r>
          </a:p>
          <a:p>
            <a:r>
              <a:rPr lang="en-US" dirty="0"/>
              <a:t>Tell your strategies to beat the competition.</a:t>
            </a:r>
            <a:endParaRPr lang="en-IN" dirty="0"/>
          </a:p>
        </p:txBody>
      </p:sp>
    </p:spTree>
    <p:extLst>
      <p:ext uri="{BB962C8B-B14F-4D97-AF65-F5344CB8AC3E}">
        <p14:creationId xmlns:p14="http://schemas.microsoft.com/office/powerpoint/2010/main" val="20875530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There are several ways you can try to sustain your competitive advantage</a:t>
            </a:r>
            <a:endParaRPr lang="en-IN" dirty="0"/>
          </a:p>
        </p:txBody>
      </p:sp>
      <p:sp>
        <p:nvSpPr>
          <p:cNvPr id="3" name="Content Placeholder 2"/>
          <p:cNvSpPr>
            <a:spLocks noGrp="1"/>
          </p:cNvSpPr>
          <p:nvPr>
            <p:ph idx="1"/>
          </p:nvPr>
        </p:nvSpPr>
        <p:spPr>
          <a:xfrm>
            <a:off x="990431" y="2064313"/>
            <a:ext cx="10515600" cy="4351338"/>
          </a:xfrm>
        </p:spPr>
        <p:txBody>
          <a:bodyPr>
            <a:normAutofit/>
          </a:bodyPr>
          <a:lstStyle/>
          <a:p>
            <a:r>
              <a:rPr lang="en-US" dirty="0"/>
              <a:t>Patent protection of key products you have innovated. </a:t>
            </a:r>
          </a:p>
          <a:p>
            <a:r>
              <a:rPr lang="en-US" dirty="0"/>
              <a:t>Sustained innovation to stay ahead in product development. </a:t>
            </a:r>
          </a:p>
          <a:p>
            <a:r>
              <a:rPr lang="en-US" dirty="0"/>
              <a:t>Continuous improvement of the process to reduce cost.</a:t>
            </a:r>
          </a:p>
          <a:p>
            <a:r>
              <a:rPr lang="en-US" dirty="0"/>
              <a:t>Content marketing.</a:t>
            </a:r>
          </a:p>
          <a:p>
            <a:r>
              <a:rPr lang="en-US" dirty="0"/>
              <a:t>Investment in branding and creating loyal customers.  </a:t>
            </a:r>
          </a:p>
          <a:p>
            <a:r>
              <a:rPr lang="en-US" dirty="0"/>
              <a:t>Investment in customer relationships, particularly for </a:t>
            </a:r>
            <a:br>
              <a:rPr lang="en-US" dirty="0"/>
            </a:br>
            <a:r>
              <a:rPr lang="en-US" dirty="0"/>
              <a:t>business-to-business ventures. </a:t>
            </a:r>
            <a:endParaRPr lang="en-IN" dirty="0"/>
          </a:p>
        </p:txBody>
      </p:sp>
    </p:spTree>
    <p:extLst>
      <p:ext uri="{BB962C8B-B14F-4D97-AF65-F5344CB8AC3E}">
        <p14:creationId xmlns:p14="http://schemas.microsoft.com/office/powerpoint/2010/main" val="38555669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6: Resources</a:t>
            </a:r>
            <a:endParaRPr lang="en-IN" dirty="0"/>
          </a:p>
        </p:txBody>
      </p:sp>
      <p:sp>
        <p:nvSpPr>
          <p:cNvPr id="3" name="Content Placeholder 2"/>
          <p:cNvSpPr>
            <a:spLocks noGrp="1"/>
          </p:cNvSpPr>
          <p:nvPr>
            <p:ph idx="1"/>
          </p:nvPr>
        </p:nvSpPr>
        <p:spPr>
          <a:xfrm>
            <a:off x="365235" y="1342149"/>
            <a:ext cx="11403432" cy="4351338"/>
          </a:xfrm>
        </p:spPr>
        <p:txBody>
          <a:bodyPr/>
          <a:lstStyle/>
          <a:p>
            <a:pPr marL="0" indent="0">
              <a:buNone/>
            </a:pPr>
            <a:r>
              <a:rPr lang="en-US" i="1" dirty="0"/>
              <a:t>“ It’s not the size of the dog in the fight, it’s the size of the fight in the dog.” – </a:t>
            </a:r>
            <a:r>
              <a:rPr lang="en-US" dirty="0"/>
              <a:t>Mark Twain</a:t>
            </a:r>
          </a:p>
          <a:p>
            <a:pPr marL="0" indent="0">
              <a:buNone/>
            </a:pPr>
            <a:endParaRPr lang="en-US" dirty="0"/>
          </a:p>
          <a:p>
            <a:pPr marL="0" indent="0">
              <a:buNone/>
            </a:pPr>
            <a:r>
              <a:rPr lang="en-US" dirty="0"/>
              <a:t>Most investors say that they back the team.</a:t>
            </a:r>
          </a:p>
          <a:p>
            <a:r>
              <a:rPr lang="en-US" dirty="0"/>
              <a:t> In startups, investors do not look for managers. They look for visionary leaders, a person who believes wholly in the product or service, who will inspire and motivate others in the team. </a:t>
            </a:r>
            <a:endParaRPr lang="en-IN" dirty="0"/>
          </a:p>
        </p:txBody>
      </p:sp>
    </p:spTree>
    <p:extLst>
      <p:ext uri="{BB962C8B-B14F-4D97-AF65-F5344CB8AC3E}">
        <p14:creationId xmlns:p14="http://schemas.microsoft.com/office/powerpoint/2010/main" val="7100128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Resources</a:t>
            </a:r>
            <a:endParaRPr lang="en-US" dirty="0"/>
          </a:p>
        </p:txBody>
      </p:sp>
      <p:sp>
        <p:nvSpPr>
          <p:cNvPr id="3" name="Content Placeholder 2"/>
          <p:cNvSpPr>
            <a:spLocks noGrp="1"/>
          </p:cNvSpPr>
          <p:nvPr>
            <p:ph idx="1"/>
          </p:nvPr>
        </p:nvSpPr>
        <p:spPr>
          <a:xfrm>
            <a:off x="838200" y="1564564"/>
            <a:ext cx="10515600" cy="4351338"/>
          </a:xfrm>
        </p:spPr>
        <p:txBody>
          <a:bodyPr/>
          <a:lstStyle/>
          <a:p>
            <a:r>
              <a:rPr lang="en-IN" dirty="0"/>
              <a:t>Technology requirement</a:t>
            </a:r>
          </a:p>
          <a:p>
            <a:r>
              <a:rPr lang="en-IN" dirty="0"/>
              <a:t>Personnel requirement</a:t>
            </a:r>
          </a:p>
          <a:p>
            <a:r>
              <a:rPr lang="en-IN" dirty="0"/>
              <a:t>Inputs requirements – raw-materials, services, and utilities</a:t>
            </a:r>
          </a:p>
          <a:p>
            <a:r>
              <a:rPr lang="en-IN" dirty="0"/>
              <a:t>Logistic requirements – distribution, sale, delivery and aftersales services.</a:t>
            </a:r>
          </a:p>
          <a:p>
            <a:r>
              <a:rPr lang="en-IN" dirty="0"/>
              <a:t>Financial requirements</a:t>
            </a:r>
          </a:p>
          <a:p>
            <a:endParaRPr lang="en-US" dirty="0"/>
          </a:p>
        </p:txBody>
      </p:sp>
    </p:spTree>
    <p:extLst>
      <p:ext uri="{BB962C8B-B14F-4D97-AF65-F5344CB8AC3E}">
        <p14:creationId xmlns:p14="http://schemas.microsoft.com/office/powerpoint/2010/main" val="34206035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03300"/>
          </a:xfrm>
        </p:spPr>
        <p:txBody>
          <a:bodyPr/>
          <a:lstStyle/>
          <a:p>
            <a:r>
              <a:rPr lang="en-US" dirty="0"/>
              <a:t>Resources - Personnel</a:t>
            </a:r>
            <a:endParaRPr lang="en-IN" dirty="0"/>
          </a:p>
        </p:txBody>
      </p:sp>
      <p:sp>
        <p:nvSpPr>
          <p:cNvPr id="3" name="Content Placeholder 2"/>
          <p:cNvSpPr>
            <a:spLocks noGrp="1"/>
          </p:cNvSpPr>
          <p:nvPr>
            <p:ph idx="1"/>
          </p:nvPr>
        </p:nvSpPr>
        <p:spPr>
          <a:xfrm>
            <a:off x="541867" y="1221280"/>
            <a:ext cx="11125200" cy="4351338"/>
          </a:xfrm>
        </p:spPr>
        <p:txBody>
          <a:bodyPr>
            <a:normAutofit/>
          </a:bodyPr>
          <a:lstStyle/>
          <a:p>
            <a:r>
              <a:rPr lang="en-US" dirty="0"/>
              <a:t>Management  – how you will have the right team of managers, with the right experience, qualifications and skills to implement the strategy. </a:t>
            </a:r>
          </a:p>
          <a:p>
            <a:r>
              <a:rPr lang="en-US" dirty="0"/>
              <a:t>Marketing  – how you will create sufficient awareness of the firm’s offering over the plan period, a crucial issue in a start-up. </a:t>
            </a:r>
          </a:p>
          <a:p>
            <a:r>
              <a:rPr lang="en-US" dirty="0"/>
              <a:t>Operations  – how you will deploy your resources to ensure that supplies, purchasing, manufacturing/service provision, R&amp;D, distribution, sales, customer service, systems, control and compliance are sufficiently aligned to deliver the plan.</a:t>
            </a:r>
            <a:endParaRPr lang="en-IN" dirty="0"/>
          </a:p>
        </p:txBody>
      </p:sp>
    </p:spTree>
    <p:extLst>
      <p:ext uri="{BB962C8B-B14F-4D97-AF65-F5344CB8AC3E}">
        <p14:creationId xmlns:p14="http://schemas.microsoft.com/office/powerpoint/2010/main" val="40189543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75" y="494665"/>
            <a:ext cx="10515600" cy="1325563"/>
          </a:xfrm>
        </p:spPr>
        <p:txBody>
          <a:bodyPr vert="horz" lIns="91440" tIns="45720" rIns="91440" bIns="45720" rtlCol="0" anchor="ctr">
            <a:normAutofit/>
          </a:bodyPr>
          <a:lstStyle/>
          <a:p>
            <a:r>
              <a:rPr lang="en-US" sz="3600" b="1" dirty="0">
                <a:solidFill>
                  <a:srgbClr val="002060"/>
                </a:solidFill>
                <a:latin typeface="Georgia" panose="02040502050405020303" pitchFamily="18" charset="0"/>
              </a:rPr>
              <a:t>Chapter 7: Financial Outlay, Financial Closer, and Projected Financials  </a:t>
            </a:r>
            <a:endParaRPr lang="en-IN" sz="3600" b="1" dirty="0">
              <a:solidFill>
                <a:srgbClr val="002060"/>
              </a:solidFill>
              <a:latin typeface="Georgia" panose="02040502050405020303" pitchFamily="18" charset="0"/>
            </a:endParaRPr>
          </a:p>
        </p:txBody>
      </p:sp>
      <p:graphicFrame>
        <p:nvGraphicFramePr>
          <p:cNvPr id="3" name="Table 3">
            <a:extLst>
              <a:ext uri="{FF2B5EF4-FFF2-40B4-BE49-F238E27FC236}">
                <a16:creationId xmlns:a16="http://schemas.microsoft.com/office/drawing/2014/main" id="{EE9F56FB-0FBB-4553-A773-F534A80997DF}"/>
              </a:ext>
            </a:extLst>
          </p:cNvPr>
          <p:cNvGraphicFramePr>
            <a:graphicFrameLocks noGrp="1"/>
          </p:cNvGraphicFramePr>
          <p:nvPr>
            <p:extLst>
              <p:ext uri="{D42A27DB-BD31-4B8C-83A1-F6EECF244321}">
                <p14:modId xmlns:p14="http://schemas.microsoft.com/office/powerpoint/2010/main" val="4171836277"/>
              </p:ext>
            </p:extLst>
          </p:nvPr>
        </p:nvGraphicFramePr>
        <p:xfrm>
          <a:off x="876300" y="1934528"/>
          <a:ext cx="9886948" cy="4748926"/>
        </p:xfrm>
        <a:graphic>
          <a:graphicData uri="http://schemas.openxmlformats.org/drawingml/2006/table">
            <a:tbl>
              <a:tblPr firstRow="1" bandRow="1">
                <a:tableStyleId>{5C22544A-7EE6-4342-B048-85BDC9FD1C3A}</a:tableStyleId>
              </a:tblPr>
              <a:tblGrid>
                <a:gridCol w="4402710">
                  <a:extLst>
                    <a:ext uri="{9D8B030D-6E8A-4147-A177-3AD203B41FA5}">
                      <a16:colId xmlns:a16="http://schemas.microsoft.com/office/drawing/2014/main" val="2119307020"/>
                    </a:ext>
                  </a:extLst>
                </a:gridCol>
                <a:gridCol w="1461155">
                  <a:extLst>
                    <a:ext uri="{9D8B030D-6E8A-4147-A177-3AD203B41FA5}">
                      <a16:colId xmlns:a16="http://schemas.microsoft.com/office/drawing/2014/main" val="2313549512"/>
                    </a:ext>
                  </a:extLst>
                </a:gridCol>
                <a:gridCol w="1551346">
                  <a:extLst>
                    <a:ext uri="{9D8B030D-6E8A-4147-A177-3AD203B41FA5}">
                      <a16:colId xmlns:a16="http://schemas.microsoft.com/office/drawing/2014/main" val="3370771274"/>
                    </a:ext>
                  </a:extLst>
                </a:gridCol>
                <a:gridCol w="2471737">
                  <a:extLst>
                    <a:ext uri="{9D8B030D-6E8A-4147-A177-3AD203B41FA5}">
                      <a16:colId xmlns:a16="http://schemas.microsoft.com/office/drawing/2014/main" val="4020403869"/>
                    </a:ext>
                  </a:extLst>
                </a:gridCol>
              </a:tblGrid>
              <a:tr h="678418">
                <a:tc>
                  <a:txBody>
                    <a:bodyPr/>
                    <a:lstStyle/>
                    <a:p>
                      <a:pPr algn="ctr"/>
                      <a:r>
                        <a:rPr lang="en-US" dirty="0"/>
                        <a:t>Year</a:t>
                      </a:r>
                      <a:endParaRPr lang="en-IN" dirty="0"/>
                    </a:p>
                  </a:txBody>
                  <a:tcPr anchor="ctr"/>
                </a:tc>
                <a:tc>
                  <a:txBody>
                    <a:bodyPr/>
                    <a:lstStyle/>
                    <a:p>
                      <a:pPr algn="ctr"/>
                      <a:r>
                        <a:rPr lang="en-US" dirty="0"/>
                        <a:t>I</a:t>
                      </a:r>
                      <a:endParaRPr lang="en-IN" dirty="0"/>
                    </a:p>
                  </a:txBody>
                  <a:tcPr anchor="ctr"/>
                </a:tc>
                <a:tc>
                  <a:txBody>
                    <a:bodyPr/>
                    <a:lstStyle/>
                    <a:p>
                      <a:pPr algn="ctr"/>
                      <a:r>
                        <a:rPr lang="en-US" dirty="0"/>
                        <a:t>II</a:t>
                      </a:r>
                      <a:endParaRPr lang="en-IN" dirty="0"/>
                    </a:p>
                  </a:txBody>
                  <a:tcPr anchor="ctr"/>
                </a:tc>
                <a:tc>
                  <a:txBody>
                    <a:bodyPr/>
                    <a:lstStyle/>
                    <a:p>
                      <a:pPr algn="ctr"/>
                      <a:r>
                        <a:rPr lang="en-US" dirty="0"/>
                        <a:t>III</a:t>
                      </a:r>
                      <a:endParaRPr lang="en-IN" dirty="0"/>
                    </a:p>
                  </a:txBody>
                  <a:tcPr anchor="ctr"/>
                </a:tc>
                <a:extLst>
                  <a:ext uri="{0D108BD9-81ED-4DB2-BD59-A6C34878D82A}">
                    <a16:rowId xmlns:a16="http://schemas.microsoft.com/office/drawing/2014/main" val="2490008057"/>
                  </a:ext>
                </a:extLst>
              </a:tr>
              <a:tr h="678418">
                <a:tc>
                  <a:txBody>
                    <a:bodyPr/>
                    <a:lstStyle/>
                    <a:p>
                      <a:r>
                        <a:rPr lang="en-US" dirty="0"/>
                        <a:t>Total requirement of fund</a:t>
                      </a:r>
                      <a:endParaRPr lang="en-IN" dirty="0"/>
                    </a:p>
                  </a:txBody>
                  <a:tcPr anchor="ct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893058067"/>
                  </a:ext>
                </a:extLst>
              </a:tr>
              <a:tr h="678418">
                <a:tc>
                  <a:txBody>
                    <a:bodyPr/>
                    <a:lstStyle/>
                    <a:p>
                      <a:r>
                        <a:rPr lang="en-US" dirty="0"/>
                        <a:t>Number of Customers/ registered users</a:t>
                      </a:r>
                      <a:endParaRPr lang="en-IN" dirty="0"/>
                    </a:p>
                  </a:txBody>
                  <a:tcPr anchor="ct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914467158"/>
                  </a:ext>
                </a:extLst>
              </a:tr>
              <a:tr h="678418">
                <a:tc>
                  <a:txBody>
                    <a:bodyPr/>
                    <a:lstStyle/>
                    <a:p>
                      <a:r>
                        <a:rPr lang="en-US" dirty="0"/>
                        <a:t>Revenue</a:t>
                      </a:r>
                      <a:endParaRPr lang="en-IN" dirty="0"/>
                    </a:p>
                  </a:txBody>
                  <a:tcPr anchor="ct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565743497"/>
                  </a:ext>
                </a:extLst>
              </a:tr>
              <a:tr h="678418">
                <a:tc>
                  <a:txBody>
                    <a:bodyPr/>
                    <a:lstStyle/>
                    <a:p>
                      <a:r>
                        <a:rPr lang="en-US" dirty="0"/>
                        <a:t>Gross profit</a:t>
                      </a:r>
                      <a:endParaRPr lang="en-IN" dirty="0"/>
                    </a:p>
                  </a:txBody>
                  <a:tcPr anchor="ct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790046954"/>
                  </a:ext>
                </a:extLst>
              </a:tr>
              <a:tr h="678418">
                <a:tc>
                  <a:txBody>
                    <a:bodyPr/>
                    <a:lstStyle/>
                    <a:p>
                      <a:r>
                        <a:rPr lang="en-US" dirty="0"/>
                        <a:t>Operating profit</a:t>
                      </a:r>
                      <a:endParaRPr lang="en-IN" dirty="0"/>
                    </a:p>
                  </a:txBody>
                  <a:tcPr anchor="ct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352357007"/>
                  </a:ext>
                </a:extLst>
              </a:tr>
              <a:tr h="678418">
                <a:tc>
                  <a:txBody>
                    <a:bodyPr/>
                    <a:lstStyle/>
                    <a:p>
                      <a:r>
                        <a:rPr lang="en-US" dirty="0"/>
                        <a:t>Net profit</a:t>
                      </a:r>
                      <a:endParaRPr lang="en-IN" dirty="0"/>
                    </a:p>
                  </a:txBody>
                  <a:tcPr anchor="ct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9768431"/>
                  </a:ext>
                </a:extLst>
              </a:tr>
            </a:tbl>
          </a:graphicData>
        </a:graphic>
      </p:graphicFrame>
    </p:spTree>
    <p:extLst>
      <p:ext uri="{BB962C8B-B14F-4D97-AF65-F5344CB8AC3E}">
        <p14:creationId xmlns:p14="http://schemas.microsoft.com/office/powerpoint/2010/main" val="17196000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85616" y="365125"/>
            <a:ext cx="8406384" cy="1043051"/>
          </a:xfrm>
        </p:spPr>
        <p:txBody>
          <a:bodyPr vert="horz" lIns="91440" tIns="45720" rIns="91440" bIns="45720" rtlCol="0" anchor="ctr">
            <a:normAutofit fontScale="90000"/>
          </a:bodyPr>
          <a:lstStyle/>
          <a:p>
            <a:r>
              <a:rPr lang="en-US" sz="3600" b="1" dirty="0">
                <a:solidFill>
                  <a:srgbClr val="002060"/>
                </a:solidFill>
                <a:latin typeface="Georgia" panose="02040502050405020303" pitchFamily="18" charset="0"/>
              </a:rPr>
              <a:t>Financial Outlay before commercial operation: to be given in </a:t>
            </a:r>
            <a:r>
              <a:rPr lang="en-US" sz="3600" b="1" dirty="0">
                <a:solidFill>
                  <a:schemeClr val="accent5">
                    <a:lumMod val="75000"/>
                  </a:schemeClr>
                </a:solidFill>
                <a:latin typeface="Georgia" panose="02040502050405020303" pitchFamily="18" charset="0"/>
              </a:rPr>
              <a:t>Appendix</a:t>
            </a:r>
            <a:endParaRPr lang="en-IN" sz="3600" b="1" dirty="0">
              <a:solidFill>
                <a:schemeClr val="accent5">
                  <a:lumMod val="75000"/>
                </a:schemeClr>
              </a:solidFill>
              <a:latin typeface="Georgia" panose="02040502050405020303"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992653568"/>
              </p:ext>
            </p:extLst>
          </p:nvPr>
        </p:nvGraphicFramePr>
        <p:xfrm>
          <a:off x="466725" y="403225"/>
          <a:ext cx="3209925" cy="5681663"/>
        </p:xfrm>
        <a:graphic>
          <a:graphicData uri="http://schemas.openxmlformats.org/presentationml/2006/ole">
            <mc:AlternateContent xmlns:mc="http://schemas.openxmlformats.org/markup-compatibility/2006">
              <mc:Choice xmlns:v="urn:schemas-microsoft-com:vml" Requires="v">
                <p:oleObj spid="_x0000_s2071" name="Worksheet" r:id="rId3" imgW="2842295" imgH="5029389" progId="Excel.Sheet.12">
                  <p:embed/>
                </p:oleObj>
              </mc:Choice>
              <mc:Fallback>
                <p:oleObj name="Worksheet" r:id="rId3" imgW="2842295" imgH="5029389" progId="Excel.Sheet.12">
                  <p:embed/>
                  <p:pic>
                    <p:nvPicPr>
                      <p:cNvPr id="5" name="Object 4"/>
                      <p:cNvPicPr/>
                      <p:nvPr/>
                    </p:nvPicPr>
                    <p:blipFill>
                      <a:blip r:embed="rId4"/>
                      <a:stretch>
                        <a:fillRect/>
                      </a:stretch>
                    </p:blipFill>
                    <p:spPr>
                      <a:xfrm>
                        <a:off x="466725" y="403225"/>
                        <a:ext cx="3209925" cy="5681663"/>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302322535"/>
              </p:ext>
            </p:extLst>
          </p:nvPr>
        </p:nvGraphicFramePr>
        <p:xfrm>
          <a:off x="3785616" y="1408176"/>
          <a:ext cx="2841625" cy="4175125"/>
        </p:xfrm>
        <a:graphic>
          <a:graphicData uri="http://schemas.openxmlformats.org/presentationml/2006/ole">
            <mc:AlternateContent xmlns:mc="http://schemas.openxmlformats.org/markup-compatibility/2006">
              <mc:Choice xmlns:v="urn:schemas-microsoft-com:vml" Requires="v">
                <p:oleObj spid="_x0000_s2072" name="Worksheet" r:id="rId5" imgW="2842295" imgH="4175886" progId="Excel.Sheet.12">
                  <p:embed/>
                </p:oleObj>
              </mc:Choice>
              <mc:Fallback>
                <p:oleObj name="Worksheet" r:id="rId5" imgW="2842295" imgH="4175886" progId="Excel.Sheet.12">
                  <p:embed/>
                  <p:pic>
                    <p:nvPicPr>
                      <p:cNvPr id="7" name="Object 6"/>
                      <p:cNvPicPr/>
                      <p:nvPr/>
                    </p:nvPicPr>
                    <p:blipFill>
                      <a:blip r:embed="rId6"/>
                      <a:stretch>
                        <a:fillRect/>
                      </a:stretch>
                    </p:blipFill>
                    <p:spPr>
                      <a:xfrm>
                        <a:off x="3785616" y="1408176"/>
                        <a:ext cx="2841625" cy="4175125"/>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627241" y="1408176"/>
          <a:ext cx="2613025" cy="4137025"/>
        </p:xfrm>
        <a:graphic>
          <a:graphicData uri="http://schemas.openxmlformats.org/presentationml/2006/ole">
            <mc:AlternateContent xmlns:mc="http://schemas.openxmlformats.org/markup-compatibility/2006">
              <mc:Choice xmlns:v="urn:schemas-microsoft-com:vml" Requires="v">
                <p:oleObj spid="_x0000_s2073" name="Worksheet" r:id="rId7" imgW="2613483" imgH="4137707" progId="Excel.Sheet.12">
                  <p:embed/>
                </p:oleObj>
              </mc:Choice>
              <mc:Fallback>
                <p:oleObj name="Worksheet" r:id="rId7" imgW="2613483" imgH="4137707" progId="Excel.Sheet.12">
                  <p:embed/>
                  <p:pic>
                    <p:nvPicPr>
                      <p:cNvPr id="8" name="Object 7"/>
                      <p:cNvPicPr/>
                      <p:nvPr/>
                    </p:nvPicPr>
                    <p:blipFill>
                      <a:blip r:embed="rId8"/>
                      <a:stretch>
                        <a:fillRect/>
                      </a:stretch>
                    </p:blipFill>
                    <p:spPr>
                      <a:xfrm>
                        <a:off x="6627241" y="1408176"/>
                        <a:ext cx="2613025" cy="4137025"/>
                      </a:xfrm>
                      <a:prstGeom prst="rect">
                        <a:avLst/>
                      </a:prstGeom>
                    </p:spPr>
                  </p:pic>
                </p:oleObj>
              </mc:Fallback>
            </mc:AlternateContent>
          </a:graphicData>
        </a:graphic>
      </p:graphicFrame>
      <p:sp>
        <p:nvSpPr>
          <p:cNvPr id="4" name="Freeform 3"/>
          <p:cNvSpPr/>
          <p:nvPr/>
        </p:nvSpPr>
        <p:spPr>
          <a:xfrm>
            <a:off x="6189030" y="5496909"/>
            <a:ext cx="2929053" cy="423091"/>
          </a:xfrm>
          <a:custGeom>
            <a:avLst/>
            <a:gdLst>
              <a:gd name="connsiteX0" fmla="*/ 214035 w 3078063"/>
              <a:gd name="connsiteY0" fmla="*/ 21021 h 389899"/>
              <a:gd name="connsiteX1" fmla="*/ 266587 w 3078063"/>
              <a:gd name="connsiteY1" fmla="*/ 357352 h 389899"/>
              <a:gd name="connsiteX2" fmla="*/ 2852131 w 3078063"/>
              <a:gd name="connsiteY2" fmla="*/ 336331 h 389899"/>
              <a:gd name="connsiteX3" fmla="*/ 2778559 w 3078063"/>
              <a:gd name="connsiteY3" fmla="*/ 0 h 389899"/>
              <a:gd name="connsiteX0" fmla="*/ 153366 w 3017394"/>
              <a:gd name="connsiteY0" fmla="*/ 21021 h 389899"/>
              <a:gd name="connsiteX1" fmla="*/ 205918 w 3017394"/>
              <a:gd name="connsiteY1" fmla="*/ 357352 h 389899"/>
              <a:gd name="connsiteX2" fmla="*/ 2791462 w 3017394"/>
              <a:gd name="connsiteY2" fmla="*/ 336331 h 389899"/>
              <a:gd name="connsiteX3" fmla="*/ 2717890 w 3017394"/>
              <a:gd name="connsiteY3" fmla="*/ 0 h 389899"/>
              <a:gd name="connsiteX0" fmla="*/ 10742 w 2874770"/>
              <a:gd name="connsiteY0" fmla="*/ 21021 h 491551"/>
              <a:gd name="connsiteX1" fmla="*/ 63294 w 2874770"/>
              <a:gd name="connsiteY1" fmla="*/ 357352 h 491551"/>
              <a:gd name="connsiteX2" fmla="*/ 2648838 w 2874770"/>
              <a:gd name="connsiteY2" fmla="*/ 336331 h 491551"/>
              <a:gd name="connsiteX3" fmla="*/ 2575266 w 2874770"/>
              <a:gd name="connsiteY3" fmla="*/ 0 h 491551"/>
              <a:gd name="connsiteX0" fmla="*/ 10742 w 2687186"/>
              <a:gd name="connsiteY0" fmla="*/ 21021 h 566341"/>
              <a:gd name="connsiteX1" fmla="*/ 63294 w 2687186"/>
              <a:gd name="connsiteY1" fmla="*/ 357352 h 566341"/>
              <a:gd name="connsiteX2" fmla="*/ 2648838 w 2687186"/>
              <a:gd name="connsiteY2" fmla="*/ 336331 h 566341"/>
              <a:gd name="connsiteX3" fmla="*/ 2575266 w 2687186"/>
              <a:gd name="connsiteY3" fmla="*/ 0 h 566341"/>
              <a:gd name="connsiteX0" fmla="*/ 10742 w 2650476"/>
              <a:gd name="connsiteY0" fmla="*/ 21021 h 566341"/>
              <a:gd name="connsiteX1" fmla="*/ 63294 w 2650476"/>
              <a:gd name="connsiteY1" fmla="*/ 357352 h 566341"/>
              <a:gd name="connsiteX2" fmla="*/ 2648838 w 2650476"/>
              <a:gd name="connsiteY2" fmla="*/ 336331 h 566341"/>
              <a:gd name="connsiteX3" fmla="*/ 2575266 w 2650476"/>
              <a:gd name="connsiteY3" fmla="*/ 0 h 566341"/>
              <a:gd name="connsiteX0" fmla="*/ 148708 w 2725657"/>
              <a:gd name="connsiteY0" fmla="*/ 21021 h 489280"/>
              <a:gd name="connsiteX1" fmla="*/ 201260 w 2725657"/>
              <a:gd name="connsiteY1" fmla="*/ 357352 h 489280"/>
              <a:gd name="connsiteX2" fmla="*/ 2723742 w 2725657"/>
              <a:gd name="connsiteY2" fmla="*/ 336331 h 489280"/>
              <a:gd name="connsiteX3" fmla="*/ 2713232 w 2725657"/>
              <a:gd name="connsiteY3" fmla="*/ 0 h 489280"/>
              <a:gd name="connsiteX0" fmla="*/ 148708 w 2929053"/>
              <a:gd name="connsiteY0" fmla="*/ 52552 h 423091"/>
              <a:gd name="connsiteX1" fmla="*/ 201260 w 2929053"/>
              <a:gd name="connsiteY1" fmla="*/ 388883 h 423091"/>
              <a:gd name="connsiteX2" fmla="*/ 2723742 w 2929053"/>
              <a:gd name="connsiteY2" fmla="*/ 367862 h 423091"/>
              <a:gd name="connsiteX3" fmla="*/ 2744763 w 2929053"/>
              <a:gd name="connsiteY3" fmla="*/ 0 h 423091"/>
            </a:gdLst>
            <a:ahLst/>
            <a:cxnLst>
              <a:cxn ang="0">
                <a:pos x="connsiteX0" y="connsiteY0"/>
              </a:cxn>
              <a:cxn ang="0">
                <a:pos x="connsiteX1" y="connsiteY1"/>
              </a:cxn>
              <a:cxn ang="0">
                <a:pos x="connsiteX2" y="connsiteY2"/>
              </a:cxn>
              <a:cxn ang="0">
                <a:pos x="connsiteX3" y="connsiteY3"/>
              </a:cxn>
            </a:cxnLst>
            <a:rect l="l" t="t" r="r" b="b"/>
            <a:pathLst>
              <a:path w="2929053" h="423091">
                <a:moveTo>
                  <a:pt x="148708" y="52552"/>
                </a:moveTo>
                <a:cubicBezTo>
                  <a:pt x="165349" y="194441"/>
                  <a:pt x="-227912" y="336331"/>
                  <a:pt x="201260" y="388883"/>
                </a:cubicBezTo>
                <a:cubicBezTo>
                  <a:pt x="630432" y="441435"/>
                  <a:pt x="2299825" y="432676"/>
                  <a:pt x="2723742" y="367862"/>
                </a:cubicBezTo>
                <a:cubicBezTo>
                  <a:pt x="3147659" y="303048"/>
                  <a:pt x="2791184" y="253999"/>
                  <a:pt x="2744763" y="0"/>
                </a:cubicBezTo>
              </a:path>
            </a:pathLst>
          </a:custGeom>
          <a:noFill/>
          <a:ln w="44450" cmpd="dbl">
            <a:solidFill>
              <a:srgbClr val="760000"/>
            </a:solidFill>
            <a:prstDash val="sysDash"/>
            <a:headEnd type="stealth" w="lg" len="lg"/>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AE438B2E-45FC-074D-2055-507B58967B5A}"/>
              </a:ext>
            </a:extLst>
          </p:cNvPr>
          <p:cNvCxnSpPr/>
          <p:nvPr/>
        </p:nvCxnSpPr>
        <p:spPr>
          <a:xfrm flipV="1">
            <a:off x="405353" y="527901"/>
            <a:ext cx="11378152" cy="5649062"/>
          </a:xfrm>
          <a:prstGeom prst="line">
            <a:avLst/>
          </a:prstGeom>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D4FC6A76-7B83-9F91-352E-F2E1BFB4A622}"/>
              </a:ext>
            </a:extLst>
          </p:cNvPr>
          <p:cNvCxnSpPr>
            <a:cxnSpLocks/>
          </p:cNvCxnSpPr>
          <p:nvPr/>
        </p:nvCxnSpPr>
        <p:spPr>
          <a:xfrm>
            <a:off x="94268" y="365125"/>
            <a:ext cx="11547835" cy="5991225"/>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4951378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1456" y="721741"/>
            <a:ext cx="3590544" cy="2213483"/>
          </a:xfrm>
        </p:spPr>
        <p:txBody>
          <a:bodyPr vert="horz" lIns="91440" tIns="45720" rIns="91440" bIns="45720" rtlCol="0" anchor="ctr">
            <a:normAutofit/>
          </a:bodyPr>
          <a:lstStyle/>
          <a:p>
            <a:r>
              <a:rPr lang="en-US" sz="3600" b="1" dirty="0">
                <a:solidFill>
                  <a:srgbClr val="002060"/>
                </a:solidFill>
                <a:latin typeface="Georgia" panose="02040502050405020303" pitchFamily="18" charset="0"/>
              </a:rPr>
              <a:t>Financial Outlay and Financial Closure</a:t>
            </a:r>
            <a:endParaRPr lang="en-IN" sz="3600" b="1" dirty="0">
              <a:solidFill>
                <a:srgbClr val="002060"/>
              </a:solidFill>
              <a:latin typeface="Georgia" panose="02040502050405020303" pitchFamily="18" charset="0"/>
            </a:endParaRPr>
          </a:p>
        </p:txBody>
      </p:sp>
      <p:graphicFrame>
        <p:nvGraphicFramePr>
          <p:cNvPr id="5" name="Object 4"/>
          <p:cNvGraphicFramePr>
            <a:graphicFrameLocks noChangeAspect="1"/>
          </p:cNvGraphicFramePr>
          <p:nvPr/>
        </p:nvGraphicFramePr>
        <p:xfrm>
          <a:off x="185928" y="448056"/>
          <a:ext cx="8353425" cy="5459413"/>
        </p:xfrm>
        <a:graphic>
          <a:graphicData uri="http://schemas.openxmlformats.org/presentationml/2006/ole">
            <mc:AlternateContent xmlns:mc="http://schemas.openxmlformats.org/markup-compatibility/2006">
              <mc:Choice xmlns:v="urn:schemas-microsoft-com:vml" Requires="v">
                <p:oleObj spid="_x0000_s3081" name="Worksheet" r:id="rId3" imgW="6888622" imgH="4998846" progId="Excel.Sheet.12">
                  <p:embed/>
                </p:oleObj>
              </mc:Choice>
              <mc:Fallback>
                <p:oleObj name="Worksheet" r:id="rId3" imgW="6888622" imgH="4998846" progId="Excel.Sheet.12">
                  <p:embed/>
                  <p:pic>
                    <p:nvPicPr>
                      <p:cNvPr id="5" name="Object 4"/>
                      <p:cNvPicPr/>
                      <p:nvPr/>
                    </p:nvPicPr>
                    <p:blipFill>
                      <a:blip r:embed="rId4"/>
                      <a:stretch>
                        <a:fillRect/>
                      </a:stretch>
                    </p:blipFill>
                    <p:spPr>
                      <a:xfrm>
                        <a:off x="185928" y="448056"/>
                        <a:ext cx="8353425" cy="5459413"/>
                      </a:xfrm>
                      <a:prstGeom prst="rect">
                        <a:avLst/>
                      </a:prstGeom>
                    </p:spPr>
                  </p:pic>
                </p:oleObj>
              </mc:Fallback>
            </mc:AlternateContent>
          </a:graphicData>
        </a:graphic>
      </p:graphicFrame>
      <p:sp>
        <p:nvSpPr>
          <p:cNvPr id="6" name="Flowchart: Process 5"/>
          <p:cNvSpPr/>
          <p:nvPr/>
        </p:nvSpPr>
        <p:spPr>
          <a:xfrm>
            <a:off x="7506081" y="4267635"/>
            <a:ext cx="1033272" cy="429768"/>
          </a:xfrm>
          <a:prstGeom prst="flowChartProcess">
            <a:avLst/>
          </a:prstGeom>
          <a:solidFill>
            <a:schemeClr val="accent1">
              <a:alpha val="2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8477250" y="2935224"/>
            <a:ext cx="3311870" cy="1015663"/>
          </a:xfrm>
          <a:prstGeom prst="rect">
            <a:avLst/>
          </a:prstGeom>
          <a:noFill/>
          <a:ln>
            <a:solidFill>
              <a:schemeClr val="accent1">
                <a:lumMod val="75000"/>
              </a:schemeClr>
            </a:solidFill>
          </a:ln>
        </p:spPr>
        <p:txBody>
          <a:bodyPr wrap="square" rtlCol="0">
            <a:spAutoFit/>
          </a:bodyPr>
          <a:lstStyle/>
          <a:p>
            <a:r>
              <a:rPr lang="en-IN" sz="2000" b="1" dirty="0"/>
              <a:t>This part is for the Appendix.</a:t>
            </a:r>
          </a:p>
          <a:p>
            <a:r>
              <a:rPr lang="en-IN" sz="2000" b="1" dirty="0"/>
              <a:t>Only the brief should be provided in the main body.</a:t>
            </a:r>
            <a:endParaRPr lang="en-US" sz="2000" b="1" dirty="0"/>
          </a:p>
        </p:txBody>
      </p:sp>
      <p:cxnSp>
        <p:nvCxnSpPr>
          <p:cNvPr id="4" name="Straight Connector 3">
            <a:extLst>
              <a:ext uri="{FF2B5EF4-FFF2-40B4-BE49-F238E27FC236}">
                <a16:creationId xmlns:a16="http://schemas.microsoft.com/office/drawing/2014/main" id="{CD006944-1675-E28E-78F5-C19E2CA75419}"/>
              </a:ext>
            </a:extLst>
          </p:cNvPr>
          <p:cNvCxnSpPr/>
          <p:nvPr/>
        </p:nvCxnSpPr>
        <p:spPr>
          <a:xfrm flipV="1">
            <a:off x="405353" y="527901"/>
            <a:ext cx="11378152" cy="5649062"/>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9DFFCD5B-4440-7B8A-2C51-8F935B6E553F}"/>
              </a:ext>
            </a:extLst>
          </p:cNvPr>
          <p:cNvCxnSpPr>
            <a:cxnSpLocks/>
          </p:cNvCxnSpPr>
          <p:nvPr/>
        </p:nvCxnSpPr>
        <p:spPr>
          <a:xfrm>
            <a:off x="94268" y="365125"/>
            <a:ext cx="11547835" cy="5991225"/>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45770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repeatCount="indefinite" fill="remove" grpId="0" nodeType="clickEffect">
                                  <p:stCondLst>
                                    <p:cond delay="0"/>
                                  </p:stCondLst>
                                  <p:childTnLst>
                                    <p:animClr clrSpc="rgb" dir="cw">
                                      <p:cBhvr override="childStyle">
                                        <p:cTn id="6" dur="250" autoRev="1" fill="remove"/>
                                        <p:tgtEl>
                                          <p:spTgt spid="6"/>
                                        </p:tgtEl>
                                        <p:attrNameLst>
                                          <p:attrName>style.color</p:attrName>
                                        </p:attrNameLst>
                                      </p:cBhvr>
                                      <p:to>
                                        <a:schemeClr val="bg1"/>
                                      </p:to>
                                    </p:animClr>
                                    <p:animClr clrSpc="rgb" dir="cw">
                                      <p:cBhvr>
                                        <p:cTn id="7" dur="250" autoRev="1" fill="remove"/>
                                        <p:tgtEl>
                                          <p:spTgt spid="6"/>
                                        </p:tgtEl>
                                        <p:attrNameLst>
                                          <p:attrName>fillcolor</p:attrName>
                                        </p:attrNameLst>
                                      </p:cBhvr>
                                      <p:to>
                                        <a:schemeClr val="bg1"/>
                                      </p:to>
                                    </p:animClr>
                                    <p:set>
                                      <p:cBhvr>
                                        <p:cTn id="8" dur="250" autoRev="1" fill="remove"/>
                                        <p:tgtEl>
                                          <p:spTgt spid="6"/>
                                        </p:tgtEl>
                                        <p:attrNameLst>
                                          <p:attrName>fill.type</p:attrName>
                                        </p:attrNameLst>
                                      </p:cBhvr>
                                      <p:to>
                                        <p:strVal val="solid"/>
                                      </p:to>
                                    </p:set>
                                    <p:set>
                                      <p:cBhvr>
                                        <p:cTn id="9" dur="250" autoRev="1" fill="remove"/>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You should present the following financial projections</a:t>
            </a:r>
            <a:endParaRPr lang="en-IN" dirty="0"/>
          </a:p>
        </p:txBody>
      </p:sp>
      <p:sp>
        <p:nvSpPr>
          <p:cNvPr id="5" name="Content Placeholder 4"/>
          <p:cNvSpPr>
            <a:spLocks noGrp="1"/>
          </p:cNvSpPr>
          <p:nvPr>
            <p:ph idx="1"/>
          </p:nvPr>
        </p:nvSpPr>
        <p:spPr>
          <a:xfrm>
            <a:off x="983344" y="1348589"/>
            <a:ext cx="10647556" cy="4984478"/>
          </a:xfrm>
        </p:spPr>
        <p:txBody>
          <a:bodyPr>
            <a:normAutofit/>
          </a:bodyPr>
          <a:lstStyle/>
          <a:p>
            <a:r>
              <a:rPr lang="en-US" dirty="0"/>
              <a:t>A </a:t>
            </a:r>
            <a:r>
              <a:rPr lang="en-US" dirty="0">
                <a:solidFill>
                  <a:srgbClr val="0070C0"/>
                </a:solidFill>
              </a:rPr>
              <a:t>forecast P&amp;L account  </a:t>
            </a:r>
            <a:r>
              <a:rPr lang="en-US" dirty="0"/>
              <a:t>–the sales is framed using market research data and profit margins is determined based on competition. </a:t>
            </a:r>
          </a:p>
          <a:p>
            <a:r>
              <a:rPr lang="en-US" dirty="0"/>
              <a:t>A </a:t>
            </a:r>
            <a:r>
              <a:rPr lang="en-US" dirty="0">
                <a:solidFill>
                  <a:srgbClr val="0070C0"/>
                </a:solidFill>
              </a:rPr>
              <a:t>forecast cash flow statement  </a:t>
            </a:r>
            <a:r>
              <a:rPr lang="en-US" dirty="0"/>
              <a:t>– this will indicate liquidity. </a:t>
            </a:r>
          </a:p>
          <a:p>
            <a:r>
              <a:rPr lang="en-US" dirty="0"/>
              <a:t>A </a:t>
            </a:r>
            <a:r>
              <a:rPr lang="en-US" dirty="0">
                <a:solidFill>
                  <a:srgbClr val="0070C0"/>
                </a:solidFill>
              </a:rPr>
              <a:t>forecast balance sheet  </a:t>
            </a:r>
            <a:r>
              <a:rPr lang="en-US" dirty="0"/>
              <a:t>– will show that forecasts is achievable with an acceptable capital structure (the balance of debt and equity).</a:t>
            </a:r>
          </a:p>
          <a:p>
            <a:pPr marL="0" indent="0">
              <a:buNone/>
            </a:pPr>
            <a:endParaRPr lang="en-US" dirty="0"/>
          </a:p>
          <a:p>
            <a:pPr marL="0" indent="0">
              <a:buNone/>
            </a:pPr>
            <a:r>
              <a:rPr lang="en-US" dirty="0"/>
              <a:t>Present here only the gist and give the details in the Appendices.</a:t>
            </a:r>
          </a:p>
          <a:p>
            <a:pPr marL="0" indent="0">
              <a:buNone/>
            </a:pPr>
            <a:r>
              <a:rPr lang="en-US" i="1" dirty="0">
                <a:solidFill>
                  <a:srgbClr val="0070C0"/>
                </a:solidFill>
              </a:rPr>
              <a:t>The actual performance may be far different and investors know it very well. But the way you prepare them shows your understanding of the business. So, prepare them diligently. Mind your assumptions.   </a:t>
            </a:r>
          </a:p>
          <a:p>
            <a:endParaRPr lang="en-IN" dirty="0"/>
          </a:p>
        </p:txBody>
      </p:sp>
    </p:spTree>
    <p:extLst>
      <p:ext uri="{BB962C8B-B14F-4D97-AF65-F5344CB8AC3E}">
        <p14:creationId xmlns:p14="http://schemas.microsoft.com/office/powerpoint/2010/main" val="11167035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24" y="400208"/>
            <a:ext cx="10515600" cy="1325563"/>
          </a:xfrm>
        </p:spPr>
        <p:txBody>
          <a:bodyPr/>
          <a:lstStyle/>
          <a:p>
            <a:r>
              <a:rPr lang="en-US" dirty="0"/>
              <a:t>Chapter 8: Risks, Opportunities, Rewards and Sensitivities</a:t>
            </a:r>
            <a:endParaRPr lang="en-IN" dirty="0"/>
          </a:p>
        </p:txBody>
      </p:sp>
      <p:sp>
        <p:nvSpPr>
          <p:cNvPr id="3" name="Content Placeholder 2"/>
          <p:cNvSpPr>
            <a:spLocks noGrp="1"/>
          </p:cNvSpPr>
          <p:nvPr>
            <p:ph idx="1"/>
          </p:nvPr>
        </p:nvSpPr>
        <p:spPr>
          <a:xfrm>
            <a:off x="483362" y="1725771"/>
            <a:ext cx="10515600" cy="4351338"/>
          </a:xfrm>
        </p:spPr>
        <p:txBody>
          <a:bodyPr>
            <a:normAutofit lnSpcReduction="10000"/>
          </a:bodyPr>
          <a:lstStyle/>
          <a:p>
            <a:pPr marL="0" indent="0">
              <a:buNone/>
            </a:pPr>
            <a:r>
              <a:rPr lang="en-US" i="1" dirty="0"/>
              <a:t>“ When written in Chinese the word ‘crisis’ is composed of two characters. One represents </a:t>
            </a:r>
            <a:r>
              <a:rPr lang="en-US" i="1" dirty="0">
                <a:solidFill>
                  <a:srgbClr val="0070C0"/>
                </a:solidFill>
              </a:rPr>
              <a:t>danger</a:t>
            </a:r>
            <a:r>
              <a:rPr lang="en-US" i="1" dirty="0"/>
              <a:t>, and the other represents </a:t>
            </a:r>
            <a:r>
              <a:rPr lang="en-US" i="1" dirty="0">
                <a:solidFill>
                  <a:srgbClr val="0070C0"/>
                </a:solidFill>
              </a:rPr>
              <a:t>opportunity.</a:t>
            </a:r>
            <a:r>
              <a:rPr lang="en-US" i="1" dirty="0"/>
              <a:t>” </a:t>
            </a:r>
            <a:r>
              <a:rPr lang="en-US" dirty="0"/>
              <a:t>-  </a:t>
            </a:r>
            <a:r>
              <a:rPr lang="en-US" i="1" dirty="0"/>
              <a:t>John F. Kennedy</a:t>
            </a:r>
          </a:p>
          <a:p>
            <a:pPr marL="0" indent="0">
              <a:buNone/>
            </a:pPr>
            <a:endParaRPr lang="en-US" dirty="0"/>
          </a:p>
          <a:p>
            <a:pPr marL="0" indent="0">
              <a:buNone/>
            </a:pPr>
            <a:r>
              <a:rPr lang="en-US" dirty="0">
                <a:solidFill>
                  <a:srgbClr val="008080"/>
                </a:solidFill>
              </a:rPr>
              <a:t>Opportunities</a:t>
            </a:r>
            <a:r>
              <a:rPr lang="en-US" dirty="0"/>
              <a:t> are hidden in </a:t>
            </a:r>
            <a:r>
              <a:rPr lang="en-US" dirty="0">
                <a:solidFill>
                  <a:srgbClr val="008080"/>
                </a:solidFill>
              </a:rPr>
              <a:t>adversities</a:t>
            </a:r>
            <a:r>
              <a:rPr lang="en-US" dirty="0"/>
              <a:t>. Explain how you are transforming challenges into opportunities. </a:t>
            </a:r>
          </a:p>
          <a:p>
            <a:pPr marL="0" indent="0">
              <a:buNone/>
            </a:pPr>
            <a:endParaRPr lang="en-US" dirty="0"/>
          </a:p>
          <a:p>
            <a:pPr marL="0" indent="0">
              <a:buNone/>
            </a:pPr>
            <a:r>
              <a:rPr lang="en-US" dirty="0">
                <a:solidFill>
                  <a:srgbClr val="008080"/>
                </a:solidFill>
              </a:rPr>
              <a:t>Sensitivities</a:t>
            </a:r>
            <a:r>
              <a:rPr lang="en-US" dirty="0"/>
              <a:t> – how sensitive is the projected performance on changes of some of the critical factors such as input cost, price of the product, interest rates, customer acquisition cost, etc. </a:t>
            </a:r>
          </a:p>
          <a:p>
            <a:endParaRPr lang="en-IN" dirty="0"/>
          </a:p>
        </p:txBody>
      </p:sp>
      <p:grpSp>
        <p:nvGrpSpPr>
          <p:cNvPr id="4" name="Group 3"/>
          <p:cNvGrpSpPr/>
          <p:nvPr/>
        </p:nvGrpSpPr>
        <p:grpSpPr>
          <a:xfrm>
            <a:off x="10223500" y="647700"/>
            <a:ext cx="1803400" cy="3530600"/>
            <a:chOff x="10223500" y="647700"/>
            <a:chExt cx="1803400" cy="3530600"/>
          </a:xfrm>
          <a:solidFill>
            <a:srgbClr val="0070C0"/>
          </a:solidFill>
        </p:grpSpPr>
        <p:sp>
          <p:nvSpPr>
            <p:cNvPr id="5" name="Rectangle 4"/>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8</a:t>
              </a:r>
              <a:endParaRPr lang="en-US" sz="2000" b="1" dirty="0"/>
            </a:p>
          </p:txBody>
        </p:sp>
        <p:sp>
          <p:nvSpPr>
            <p:cNvPr id="6" name="Rectangle 5"/>
            <p:cNvSpPr/>
            <p:nvPr/>
          </p:nvSpPr>
          <p:spPr>
            <a:xfrm>
              <a:off x="11366500" y="1295400"/>
              <a:ext cx="660400" cy="2882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dirty="0"/>
                <a:t>Risk, Opportunities and Sensitivities</a:t>
              </a:r>
              <a:endParaRPr lang="en-US" sz="2000" b="1" dirty="0">
                <a:solidFill>
                  <a:srgbClr val="FFC000"/>
                </a:solidFill>
              </a:endParaRPr>
            </a:p>
          </p:txBody>
        </p:sp>
      </p:grpSp>
    </p:spTree>
    <p:extLst>
      <p:ext uri="{BB962C8B-B14F-4D97-AF65-F5344CB8AC3E}">
        <p14:creationId xmlns:p14="http://schemas.microsoft.com/office/powerpoint/2010/main" val="33364518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246" y="447308"/>
            <a:ext cx="10515600" cy="1325563"/>
          </a:xfrm>
        </p:spPr>
        <p:txBody>
          <a:bodyPr/>
          <a:lstStyle/>
          <a:p>
            <a:r>
              <a:rPr lang="en-US" dirty="0"/>
              <a:t>Chapter 8: Risk, Opportunities, Rewards and Sensitivities</a:t>
            </a:r>
            <a:endParaRPr lang="en-IN" dirty="0"/>
          </a:p>
        </p:txBody>
      </p:sp>
      <p:sp>
        <p:nvSpPr>
          <p:cNvPr id="3" name="Content Placeholder 2"/>
          <p:cNvSpPr>
            <a:spLocks noGrp="1"/>
          </p:cNvSpPr>
          <p:nvPr>
            <p:ph idx="1"/>
          </p:nvPr>
        </p:nvSpPr>
        <p:spPr>
          <a:xfrm>
            <a:off x="328246" y="1772871"/>
            <a:ext cx="10515600" cy="2773807"/>
          </a:xfrm>
        </p:spPr>
        <p:txBody>
          <a:bodyPr/>
          <a:lstStyle/>
          <a:p>
            <a:r>
              <a:rPr lang="en-US" dirty="0"/>
              <a:t>Having forecasted the projected financials, provide the risks that you may encounter, what are the likelihood of their manifesting, how are you preparing to alleviate them? What are the worst and the best-case scenario?</a:t>
            </a:r>
          </a:p>
          <a:p>
            <a:r>
              <a:rPr lang="en-US" strike="sngStrike" dirty="0"/>
              <a:t>You can depict the risk in a canvas with likelihood in one axis and impact on the other.</a:t>
            </a:r>
          </a:p>
        </p:txBody>
      </p:sp>
      <p:grpSp>
        <p:nvGrpSpPr>
          <p:cNvPr id="4" name="Group 3"/>
          <p:cNvGrpSpPr/>
          <p:nvPr/>
        </p:nvGrpSpPr>
        <p:grpSpPr>
          <a:xfrm>
            <a:off x="10223500" y="647700"/>
            <a:ext cx="1803400" cy="3530600"/>
            <a:chOff x="10223500" y="647700"/>
            <a:chExt cx="1803400" cy="3530600"/>
          </a:xfrm>
          <a:solidFill>
            <a:srgbClr val="0070C0"/>
          </a:solidFill>
        </p:grpSpPr>
        <p:sp>
          <p:nvSpPr>
            <p:cNvPr id="5" name="Rectangle 4"/>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8</a:t>
              </a:r>
              <a:endParaRPr lang="en-US" sz="2000" b="1" dirty="0"/>
            </a:p>
          </p:txBody>
        </p:sp>
        <p:sp>
          <p:nvSpPr>
            <p:cNvPr id="6" name="Rectangle 5"/>
            <p:cNvSpPr/>
            <p:nvPr/>
          </p:nvSpPr>
          <p:spPr>
            <a:xfrm>
              <a:off x="11366500" y="1295400"/>
              <a:ext cx="660400" cy="2882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dirty="0"/>
                <a:t>Risk, Opportunities and Sensitivities</a:t>
              </a:r>
              <a:endParaRPr lang="en-US" sz="2000" b="1" dirty="0">
                <a:solidFill>
                  <a:srgbClr val="FFC000"/>
                </a:solidFill>
              </a:endParaRPr>
            </a:p>
          </p:txBody>
        </p:sp>
      </p:grpSp>
    </p:spTree>
    <p:extLst>
      <p:ext uri="{BB962C8B-B14F-4D97-AF65-F5344CB8AC3E}">
        <p14:creationId xmlns:p14="http://schemas.microsoft.com/office/powerpoint/2010/main" val="1899644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038" y="333186"/>
            <a:ext cx="10515600" cy="1325563"/>
          </a:xfrm>
        </p:spPr>
        <p:txBody>
          <a:bodyPr/>
          <a:lstStyle/>
          <a:p>
            <a:r>
              <a:rPr lang="en-US" dirty="0"/>
              <a:t>Risk Opportunities Canvas</a:t>
            </a:r>
            <a:r>
              <a:rPr lang="en-IN" dirty="0"/>
              <a:t/>
            </a:r>
            <a:br>
              <a:rPr lang="en-IN" dirty="0"/>
            </a:br>
            <a:endParaRPr lang="en-IN" dirty="0"/>
          </a:p>
        </p:txBody>
      </p:sp>
      <p:cxnSp>
        <p:nvCxnSpPr>
          <p:cNvPr id="5" name="Elbow Connector 4"/>
          <p:cNvCxnSpPr/>
          <p:nvPr/>
        </p:nvCxnSpPr>
        <p:spPr>
          <a:xfrm>
            <a:off x="941101" y="685800"/>
            <a:ext cx="10577291" cy="4990401"/>
          </a:xfrm>
          <a:prstGeom prst="bentConnector3">
            <a:avLst>
              <a:gd name="adj1" fmla="val -69"/>
            </a:avLst>
          </a:prstGeom>
          <a:ln w="47625">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Striped Right Arrow 7"/>
          <p:cNvSpPr/>
          <p:nvPr/>
        </p:nvSpPr>
        <p:spPr>
          <a:xfrm>
            <a:off x="5377542" y="5831360"/>
            <a:ext cx="2477154" cy="890884"/>
          </a:xfrm>
          <a:prstGeom prst="stripedRightArrow">
            <a:avLst>
              <a:gd name="adj1" fmla="val 73461"/>
              <a:gd name="adj2" fmla="val 50000"/>
            </a:avLst>
          </a:prstGeom>
          <a:solidFill>
            <a:srgbClr val="1D497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Likelihood</a:t>
            </a:r>
            <a:endParaRPr lang="en-US" sz="2400" b="1" dirty="0"/>
          </a:p>
        </p:txBody>
      </p:sp>
      <p:sp>
        <p:nvSpPr>
          <p:cNvPr id="9" name="Striped Right Arrow 8"/>
          <p:cNvSpPr/>
          <p:nvPr/>
        </p:nvSpPr>
        <p:spPr>
          <a:xfrm rot="16200000">
            <a:off x="-588411" y="3268090"/>
            <a:ext cx="2168139" cy="890884"/>
          </a:xfrm>
          <a:prstGeom prst="stripedRightArrow">
            <a:avLst>
              <a:gd name="adj1" fmla="val 76394"/>
              <a:gd name="adj2" fmla="val 45601"/>
            </a:avLst>
          </a:prstGeom>
          <a:solidFill>
            <a:srgbClr val="1D497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Impact</a:t>
            </a:r>
            <a:endParaRPr lang="en-US" sz="2400" b="1" dirty="0"/>
          </a:p>
        </p:txBody>
      </p:sp>
      <p:sp>
        <p:nvSpPr>
          <p:cNvPr id="14" name="10-Point Star 13"/>
          <p:cNvSpPr/>
          <p:nvPr/>
        </p:nvSpPr>
        <p:spPr>
          <a:xfrm>
            <a:off x="7067550" y="685801"/>
            <a:ext cx="1476375" cy="1181100"/>
          </a:xfrm>
          <a:prstGeom prst="star1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Cloud Callout 14"/>
          <p:cNvSpPr/>
          <p:nvPr/>
        </p:nvSpPr>
        <p:spPr>
          <a:xfrm>
            <a:off x="950699" y="2347373"/>
            <a:ext cx="1685925" cy="1208087"/>
          </a:xfrm>
          <a:prstGeom prst="cloudCallout">
            <a:avLst>
              <a:gd name="adj1" fmla="val -2189"/>
              <a:gd name="adj2" fmla="val 13617"/>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10-Point Star 15"/>
          <p:cNvSpPr/>
          <p:nvPr/>
        </p:nvSpPr>
        <p:spPr>
          <a:xfrm>
            <a:off x="7458075" y="2709512"/>
            <a:ext cx="1085850" cy="885825"/>
          </a:xfrm>
          <a:prstGeom prst="star1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10-Point Star 16"/>
          <p:cNvSpPr/>
          <p:nvPr/>
        </p:nvSpPr>
        <p:spPr>
          <a:xfrm>
            <a:off x="2039755" y="837230"/>
            <a:ext cx="1466379" cy="1618010"/>
          </a:xfrm>
          <a:prstGeom prst="star1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10-Point Star 17"/>
          <p:cNvSpPr/>
          <p:nvPr/>
        </p:nvSpPr>
        <p:spPr>
          <a:xfrm>
            <a:off x="3873578" y="2732451"/>
            <a:ext cx="1085850" cy="885825"/>
          </a:xfrm>
          <a:prstGeom prst="star1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Cloud Callout 18"/>
          <p:cNvSpPr/>
          <p:nvPr/>
        </p:nvSpPr>
        <p:spPr>
          <a:xfrm>
            <a:off x="3191003" y="2241177"/>
            <a:ext cx="970683" cy="622880"/>
          </a:xfrm>
          <a:prstGeom prst="cloudCallout">
            <a:avLst>
              <a:gd name="adj1" fmla="val -26721"/>
              <a:gd name="adj2" fmla="val 41142"/>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10-Point Star 19"/>
          <p:cNvSpPr/>
          <p:nvPr/>
        </p:nvSpPr>
        <p:spPr>
          <a:xfrm>
            <a:off x="2745299" y="4520483"/>
            <a:ext cx="697346" cy="431573"/>
          </a:xfrm>
          <a:prstGeom prst="star1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Cloud Callout 20"/>
          <p:cNvSpPr/>
          <p:nvPr/>
        </p:nvSpPr>
        <p:spPr>
          <a:xfrm>
            <a:off x="2772944" y="3235827"/>
            <a:ext cx="1015426" cy="631596"/>
          </a:xfrm>
          <a:prstGeom prst="cloudCallout">
            <a:avLst>
              <a:gd name="adj1" fmla="val -5003"/>
              <a:gd name="adj2" fmla="val 34730"/>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Cloud Callout 21"/>
          <p:cNvSpPr/>
          <p:nvPr/>
        </p:nvSpPr>
        <p:spPr>
          <a:xfrm>
            <a:off x="5747412" y="4602494"/>
            <a:ext cx="1558058" cy="1073707"/>
          </a:xfrm>
          <a:prstGeom prst="cloudCallout">
            <a:avLst>
              <a:gd name="adj1" fmla="val 14317"/>
              <a:gd name="adj2" fmla="val 30472"/>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10-Point Star 22"/>
          <p:cNvSpPr/>
          <p:nvPr/>
        </p:nvSpPr>
        <p:spPr>
          <a:xfrm>
            <a:off x="3606228" y="4797602"/>
            <a:ext cx="842816" cy="723201"/>
          </a:xfrm>
          <a:prstGeom prst="star1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Line Callout 1 2"/>
          <p:cNvSpPr/>
          <p:nvPr/>
        </p:nvSpPr>
        <p:spPr>
          <a:xfrm>
            <a:off x="4027636" y="1273854"/>
            <a:ext cx="1655329" cy="285912"/>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Opportunity</a:t>
            </a:r>
            <a:endParaRPr lang="en-US" dirty="0"/>
          </a:p>
        </p:txBody>
      </p:sp>
      <p:sp>
        <p:nvSpPr>
          <p:cNvPr id="24" name="Line Callout 1 23"/>
          <p:cNvSpPr/>
          <p:nvPr/>
        </p:nvSpPr>
        <p:spPr>
          <a:xfrm>
            <a:off x="4772638" y="1961556"/>
            <a:ext cx="1655329" cy="285912"/>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Risk</a:t>
            </a:r>
            <a:endParaRPr lang="en-US" dirty="0"/>
          </a:p>
        </p:txBody>
      </p:sp>
      <p:cxnSp>
        <p:nvCxnSpPr>
          <p:cNvPr id="6" name="Straight Connector 5">
            <a:extLst>
              <a:ext uri="{FF2B5EF4-FFF2-40B4-BE49-F238E27FC236}">
                <a16:creationId xmlns:a16="http://schemas.microsoft.com/office/drawing/2014/main" id="{D850246B-C7B7-4ECD-88E5-14C25339E717}"/>
              </a:ext>
            </a:extLst>
          </p:cNvPr>
          <p:cNvCxnSpPr/>
          <p:nvPr/>
        </p:nvCxnSpPr>
        <p:spPr>
          <a:xfrm flipV="1">
            <a:off x="161365" y="685800"/>
            <a:ext cx="11357027" cy="5889812"/>
          </a:xfrm>
          <a:prstGeom prst="line">
            <a:avLst/>
          </a:prstGeom>
        </p:spPr>
        <p:style>
          <a:lnRef idx="3">
            <a:schemeClr val="accent2"/>
          </a:lnRef>
          <a:fillRef idx="0">
            <a:schemeClr val="accent2"/>
          </a:fillRef>
          <a:effectRef idx="2">
            <a:schemeClr val="accent2"/>
          </a:effectRef>
          <a:fontRef idx="minor">
            <a:schemeClr val="tx1"/>
          </a:fontRef>
        </p:style>
      </p:cxnSp>
      <p:cxnSp>
        <p:nvCxnSpPr>
          <p:cNvPr id="25" name="Straight Connector 24">
            <a:extLst>
              <a:ext uri="{FF2B5EF4-FFF2-40B4-BE49-F238E27FC236}">
                <a16:creationId xmlns:a16="http://schemas.microsoft.com/office/drawing/2014/main" id="{1D213C72-D8A2-4C1B-940C-978921E63A87}"/>
              </a:ext>
            </a:extLst>
          </p:cNvPr>
          <p:cNvCxnSpPr>
            <a:cxnSpLocks/>
          </p:cNvCxnSpPr>
          <p:nvPr/>
        </p:nvCxnSpPr>
        <p:spPr>
          <a:xfrm>
            <a:off x="50216" y="282388"/>
            <a:ext cx="11675619" cy="520661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4006291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Checklist on Risks and Opportunities</a:t>
            </a:r>
            <a:endParaRPr lang="en-IN" dirty="0"/>
          </a:p>
        </p:txBody>
      </p:sp>
      <p:sp>
        <p:nvSpPr>
          <p:cNvPr id="3" name="Content Placeholder 2"/>
          <p:cNvSpPr>
            <a:spLocks noGrp="1"/>
          </p:cNvSpPr>
          <p:nvPr>
            <p:ph idx="1"/>
          </p:nvPr>
        </p:nvSpPr>
        <p:spPr>
          <a:xfrm>
            <a:off x="273050" y="1295400"/>
            <a:ext cx="10515600" cy="4351338"/>
          </a:xfrm>
        </p:spPr>
        <p:txBody>
          <a:bodyPr/>
          <a:lstStyle/>
          <a:p>
            <a:r>
              <a:rPr lang="en-US" dirty="0"/>
              <a:t>Set out and weigh up the big risks and key opportunities on your way to achieving the targeted success.</a:t>
            </a:r>
          </a:p>
          <a:p>
            <a:r>
              <a:rPr lang="en-US" dirty="0"/>
              <a:t>Their likelihood of occurrence</a:t>
            </a:r>
          </a:p>
          <a:p>
            <a:r>
              <a:rPr lang="en-US" dirty="0"/>
              <a:t>The impact on bottom-line and cash flow if they do occur.</a:t>
            </a:r>
          </a:p>
          <a:p>
            <a:r>
              <a:rPr lang="en-US" dirty="0"/>
              <a:t>Check if there is any risk that can potentially kill your business. You must have a clear and comprehensive plan to beat it.</a:t>
            </a:r>
          </a:p>
          <a:p>
            <a:r>
              <a:rPr lang="en-US" dirty="0"/>
              <a:t>On balance, size and likelihood of opportunities should beat the foreseeable risks.  Opportunities should outshine the risks.</a:t>
            </a:r>
            <a:endParaRPr lang="en-IN" dirty="0"/>
          </a:p>
        </p:txBody>
      </p:sp>
      <p:grpSp>
        <p:nvGrpSpPr>
          <p:cNvPr id="4" name="Group 3"/>
          <p:cNvGrpSpPr/>
          <p:nvPr/>
        </p:nvGrpSpPr>
        <p:grpSpPr>
          <a:xfrm>
            <a:off x="10223500" y="647700"/>
            <a:ext cx="1803400" cy="3530600"/>
            <a:chOff x="10223500" y="647700"/>
            <a:chExt cx="1803400" cy="3530600"/>
          </a:xfrm>
          <a:solidFill>
            <a:srgbClr val="0070C0"/>
          </a:solidFill>
        </p:grpSpPr>
        <p:sp>
          <p:nvSpPr>
            <p:cNvPr id="5" name="Rectangle 4"/>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8</a:t>
              </a:r>
              <a:endParaRPr lang="en-US" sz="2000" b="1" dirty="0"/>
            </a:p>
          </p:txBody>
        </p:sp>
        <p:sp>
          <p:nvSpPr>
            <p:cNvPr id="6" name="Rectangle 5"/>
            <p:cNvSpPr/>
            <p:nvPr/>
          </p:nvSpPr>
          <p:spPr>
            <a:xfrm>
              <a:off x="11366500" y="1295400"/>
              <a:ext cx="660400" cy="2882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dirty="0"/>
                <a:t>Risk, Opportunities and Sensitivities</a:t>
              </a:r>
              <a:endParaRPr lang="en-US" sz="2000" b="1" dirty="0">
                <a:solidFill>
                  <a:srgbClr val="FFC000"/>
                </a:solidFill>
              </a:endParaRPr>
            </a:p>
          </p:txBody>
        </p:sp>
      </p:grpSp>
      <p:cxnSp>
        <p:nvCxnSpPr>
          <p:cNvPr id="7" name="Straight Connector 6">
            <a:extLst>
              <a:ext uri="{FF2B5EF4-FFF2-40B4-BE49-F238E27FC236}">
                <a16:creationId xmlns:a16="http://schemas.microsoft.com/office/drawing/2014/main" id="{0ABE20BD-845E-4E52-8C30-9BB21F6C8670}"/>
              </a:ext>
            </a:extLst>
          </p:cNvPr>
          <p:cNvCxnSpPr/>
          <p:nvPr/>
        </p:nvCxnSpPr>
        <p:spPr>
          <a:xfrm flipV="1">
            <a:off x="161365" y="685800"/>
            <a:ext cx="11357027" cy="5889812"/>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411DB623-D546-4974-880C-1A8D51930CDF}"/>
              </a:ext>
            </a:extLst>
          </p:cNvPr>
          <p:cNvCxnSpPr>
            <a:cxnSpLocks/>
          </p:cNvCxnSpPr>
          <p:nvPr/>
        </p:nvCxnSpPr>
        <p:spPr>
          <a:xfrm>
            <a:off x="50216" y="282388"/>
            <a:ext cx="11675619" cy="520661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5288798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344" y="767461"/>
            <a:ext cx="10515600" cy="1325563"/>
          </a:xfrm>
        </p:spPr>
        <p:txBody>
          <a:bodyPr/>
          <a:lstStyle/>
          <a:p>
            <a:r>
              <a:rPr lang="en-IN" dirty="0"/>
              <a:t>Rewards</a:t>
            </a:r>
            <a:endParaRPr lang="en-US" dirty="0"/>
          </a:p>
        </p:txBody>
      </p:sp>
      <p:sp>
        <p:nvSpPr>
          <p:cNvPr id="3" name="Content Placeholder 2"/>
          <p:cNvSpPr>
            <a:spLocks noGrp="1"/>
          </p:cNvSpPr>
          <p:nvPr>
            <p:ph idx="1"/>
          </p:nvPr>
        </p:nvSpPr>
        <p:spPr>
          <a:xfrm>
            <a:off x="253688" y="2350702"/>
            <a:ext cx="10911840" cy="2051431"/>
          </a:xfrm>
        </p:spPr>
        <p:txBody>
          <a:bodyPr/>
          <a:lstStyle/>
          <a:p>
            <a:r>
              <a:rPr lang="en-IN" dirty="0"/>
              <a:t>Provide some estimates of the pay-off to the investors and founders.</a:t>
            </a:r>
            <a:endParaRPr lang="en-US" dirty="0"/>
          </a:p>
          <a:p>
            <a:r>
              <a:rPr lang="en-IN" dirty="0"/>
              <a:t>This is important if you are pitching for fund.</a:t>
            </a:r>
            <a:endParaRPr lang="en-US" dirty="0"/>
          </a:p>
        </p:txBody>
      </p:sp>
    </p:spTree>
    <p:extLst>
      <p:ext uri="{BB962C8B-B14F-4D97-AF65-F5344CB8AC3E}">
        <p14:creationId xmlns:p14="http://schemas.microsoft.com/office/powerpoint/2010/main" val="18693457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Sensitivities</a:t>
            </a:r>
            <a:endParaRPr lang="en-IN" dirty="0"/>
          </a:p>
        </p:txBody>
      </p:sp>
      <p:sp>
        <p:nvSpPr>
          <p:cNvPr id="3" name="Content Placeholder 2"/>
          <p:cNvSpPr>
            <a:spLocks noGrp="1"/>
          </p:cNvSpPr>
          <p:nvPr>
            <p:ph idx="1"/>
          </p:nvPr>
        </p:nvSpPr>
        <p:spPr>
          <a:xfrm>
            <a:off x="720901" y="1518572"/>
            <a:ext cx="10515600" cy="4351338"/>
          </a:xfrm>
        </p:spPr>
        <p:txBody>
          <a:bodyPr/>
          <a:lstStyle/>
          <a:p>
            <a:r>
              <a:rPr lang="en-US" dirty="0"/>
              <a:t>Sensitivities is numerical estimation of how your cash flow is affected if any of the big risks manifest.</a:t>
            </a:r>
          </a:p>
          <a:p>
            <a:r>
              <a:rPr lang="en-US" dirty="0"/>
              <a:t>Say, selling price is down by 5%, estimate the cash flow and show how your business is affected.</a:t>
            </a:r>
          </a:p>
          <a:p>
            <a:r>
              <a:rPr lang="en-US" dirty="0"/>
              <a:t>You can actually place a value to the negative impact of some of the key risks.</a:t>
            </a:r>
          </a:p>
          <a:p>
            <a:r>
              <a:rPr lang="en-US" dirty="0"/>
              <a:t>You can also draw attention to the upside of something going more favorable than projected. </a:t>
            </a:r>
            <a:endParaRPr lang="en-IN" dirty="0"/>
          </a:p>
        </p:txBody>
      </p:sp>
      <p:grpSp>
        <p:nvGrpSpPr>
          <p:cNvPr id="4" name="Group 3"/>
          <p:cNvGrpSpPr/>
          <p:nvPr/>
        </p:nvGrpSpPr>
        <p:grpSpPr>
          <a:xfrm>
            <a:off x="10223500" y="647700"/>
            <a:ext cx="1803400" cy="3530600"/>
            <a:chOff x="10223500" y="647700"/>
            <a:chExt cx="1803400" cy="3530600"/>
          </a:xfrm>
          <a:solidFill>
            <a:srgbClr val="0070C0"/>
          </a:solidFill>
        </p:grpSpPr>
        <p:sp>
          <p:nvSpPr>
            <p:cNvPr id="5" name="Rectangle 4"/>
            <p:cNvSpPr/>
            <p:nvPr/>
          </p:nvSpPr>
          <p:spPr>
            <a:xfrm>
              <a:off x="10223500" y="647700"/>
              <a:ext cx="1803400" cy="647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Chapter 8</a:t>
              </a:r>
              <a:endParaRPr lang="en-US" sz="2000" b="1" dirty="0"/>
            </a:p>
          </p:txBody>
        </p:sp>
        <p:sp>
          <p:nvSpPr>
            <p:cNvPr id="6" name="Rectangle 5"/>
            <p:cNvSpPr/>
            <p:nvPr/>
          </p:nvSpPr>
          <p:spPr>
            <a:xfrm>
              <a:off x="11366500" y="1295400"/>
              <a:ext cx="660400" cy="2882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dirty="0"/>
                <a:t>Risk, Opportunities and Sensitivities</a:t>
              </a:r>
              <a:endParaRPr lang="en-US" sz="2000" b="1" dirty="0">
                <a:solidFill>
                  <a:srgbClr val="FFC000"/>
                </a:solidFill>
              </a:endParaRPr>
            </a:p>
          </p:txBody>
        </p:sp>
      </p:grpSp>
    </p:spTree>
    <p:extLst>
      <p:ext uri="{BB962C8B-B14F-4D97-AF65-F5344CB8AC3E}">
        <p14:creationId xmlns:p14="http://schemas.microsoft.com/office/powerpoint/2010/main" val="3821996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section of the business plan</a:t>
            </a:r>
            <a:endParaRPr lang="en-IN" dirty="0"/>
          </a:p>
        </p:txBody>
      </p:sp>
      <p:sp>
        <p:nvSpPr>
          <p:cNvPr id="3" name="Content Placeholder 2"/>
          <p:cNvSpPr>
            <a:spLocks noGrp="1"/>
          </p:cNvSpPr>
          <p:nvPr>
            <p:ph idx="1"/>
          </p:nvPr>
        </p:nvSpPr>
        <p:spPr>
          <a:xfrm>
            <a:off x="838200" y="1491425"/>
            <a:ext cx="10515600" cy="5096188"/>
          </a:xfrm>
        </p:spPr>
        <p:txBody>
          <a:bodyPr>
            <a:normAutofit fontScale="85000" lnSpcReduction="10000"/>
          </a:bodyPr>
          <a:lstStyle/>
          <a:p>
            <a:r>
              <a:rPr lang="en-US" dirty="0"/>
              <a:t>The overall conclusion on why your business is worthy of backing (in which you summarize, preferably in bold, the main findings from the headlines below): </a:t>
            </a:r>
          </a:p>
          <a:p>
            <a:r>
              <a:rPr lang="en-US" dirty="0"/>
              <a:t>Market demand prospects.  State your conclusions on what’s going to happen to market demand, by key business segment (Chapter 3 of your plan). </a:t>
            </a:r>
          </a:p>
          <a:p>
            <a:r>
              <a:rPr lang="en-US" dirty="0"/>
              <a:t>Competition.  Your conclusions on whether competition is intense and set to get tougher (Chapter 4). </a:t>
            </a:r>
          </a:p>
          <a:p>
            <a:r>
              <a:rPr lang="en-US" dirty="0"/>
              <a:t>Strategy.  Your conclusions on your firm’s competitive position and its strategy for further developing competitive advantage (Chapter 5). </a:t>
            </a:r>
          </a:p>
          <a:p>
            <a:r>
              <a:rPr lang="en-US" dirty="0"/>
              <a:t>Resources.  Your conclusions on the resources your firm will deploy to implement that strategy and meet its goals (Chapter 6). </a:t>
            </a:r>
          </a:p>
          <a:p>
            <a:r>
              <a:rPr lang="en-US" dirty="0"/>
              <a:t>Financials and forecasts.  Your conclusions on how your firm will grow revenues and operating margin over the next few years (Chapter 7). </a:t>
            </a:r>
          </a:p>
          <a:p>
            <a:r>
              <a:rPr lang="en-US" dirty="0"/>
              <a:t>Risk, opportunity and sensitivity.  Your conclusions on why opportunities before your firm outshine risks in your plan.</a:t>
            </a:r>
            <a:endParaRPr lang="en-IN" dirty="0"/>
          </a:p>
        </p:txBody>
      </p:sp>
    </p:spTree>
    <p:extLst>
      <p:ext uri="{BB962C8B-B14F-4D97-AF65-F5344CB8AC3E}">
        <p14:creationId xmlns:p14="http://schemas.microsoft.com/office/powerpoint/2010/main" val="16726081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Concluding remarks should be directly addressed to the audience.</a:t>
            </a:r>
          </a:p>
          <a:p>
            <a:r>
              <a:rPr lang="en-US" dirty="0"/>
              <a:t>Conclusion should be some music to the ears of the audience. </a:t>
            </a:r>
          </a:p>
          <a:p>
            <a:r>
              <a:rPr lang="en-US" dirty="0"/>
              <a:t>Make a one-line summary of the best part of your plan. </a:t>
            </a:r>
          </a:p>
          <a:p>
            <a:r>
              <a:rPr lang="en-US" dirty="0"/>
              <a:t>Last line should talk about the value they can expect and the value to the society. </a:t>
            </a:r>
            <a:r>
              <a:rPr lang="en-US" dirty="0">
                <a:solidFill>
                  <a:srgbClr val="00B050"/>
                </a:solidFill>
              </a:rPr>
              <a:t>“While our business will potentially do great service to the </a:t>
            </a:r>
            <a:r>
              <a:rPr lang="en-US" dirty="0">
                <a:solidFill>
                  <a:srgbClr val="C00000"/>
                </a:solidFill>
              </a:rPr>
              <a:t>society at large</a:t>
            </a:r>
            <a:r>
              <a:rPr lang="en-US" dirty="0">
                <a:solidFill>
                  <a:srgbClr val="00B050"/>
                </a:solidFill>
              </a:rPr>
              <a:t>, our investors may expect a </a:t>
            </a:r>
            <a:r>
              <a:rPr lang="en-US" dirty="0">
                <a:solidFill>
                  <a:schemeClr val="accent2">
                    <a:lumMod val="50000"/>
                  </a:schemeClr>
                </a:solidFill>
              </a:rPr>
              <a:t>10X returns in three years</a:t>
            </a:r>
            <a:r>
              <a:rPr lang="en-US" dirty="0">
                <a:solidFill>
                  <a:srgbClr val="00B050"/>
                </a:solidFill>
              </a:rPr>
              <a:t>.”</a:t>
            </a:r>
          </a:p>
          <a:p>
            <a:r>
              <a:rPr lang="en-US" dirty="0">
                <a:solidFill>
                  <a:schemeClr val="accent6">
                    <a:lumMod val="75000"/>
                  </a:schemeClr>
                </a:solidFill>
              </a:rPr>
              <a:t>Together, we can bring about great change to lives of our target customers.</a:t>
            </a:r>
            <a:endParaRPr lang="en-IN"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8FD1DB16-3243-4916-96AE-0416B7586CF1}" type="slidenum">
              <a:rPr lang="en-IN" smtClean="0"/>
              <a:t>74</a:t>
            </a:fld>
            <a:endParaRPr lang="en-IN"/>
          </a:p>
        </p:txBody>
      </p:sp>
    </p:spTree>
    <p:extLst>
      <p:ext uri="{BB962C8B-B14F-4D97-AF65-F5344CB8AC3E}">
        <p14:creationId xmlns:p14="http://schemas.microsoft.com/office/powerpoint/2010/main" val="8219517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length </a:t>
            </a:r>
            <a:endParaRPr lang="en-IN" dirty="0"/>
          </a:p>
        </p:txBody>
      </p:sp>
      <p:sp>
        <p:nvSpPr>
          <p:cNvPr id="3" name="Content Placeholder 2"/>
          <p:cNvSpPr>
            <a:spLocks noGrp="1"/>
          </p:cNvSpPr>
          <p:nvPr>
            <p:ph idx="1"/>
          </p:nvPr>
        </p:nvSpPr>
        <p:spPr>
          <a:xfrm>
            <a:off x="549174" y="2141537"/>
            <a:ext cx="10515600" cy="4351338"/>
          </a:xfrm>
        </p:spPr>
        <p:txBody>
          <a:bodyPr/>
          <a:lstStyle/>
          <a:p>
            <a:r>
              <a:rPr lang="en-US" dirty="0"/>
              <a:t>The main document should be 25–30 pages of A4, maximum 35 pages. </a:t>
            </a:r>
          </a:p>
          <a:p>
            <a:r>
              <a:rPr lang="en-US" dirty="0"/>
              <a:t>The main chapters on market demand, competition and strategy should be three–four pages each; those on resources and financials/ forecasts perhaps a bit longer at four–six pages each. </a:t>
            </a:r>
          </a:p>
          <a:p>
            <a:r>
              <a:rPr lang="en-US" dirty="0"/>
              <a:t>Chapters 2 and 8, should be just two pages each, while the conclusion should be a  masterfully written, upbeat half a page.</a:t>
            </a:r>
            <a:endParaRPr lang="en-IN" dirty="0"/>
          </a:p>
        </p:txBody>
      </p:sp>
    </p:spTree>
    <p:extLst>
      <p:ext uri="{BB962C8B-B14F-4D97-AF65-F5344CB8AC3E}">
        <p14:creationId xmlns:p14="http://schemas.microsoft.com/office/powerpoint/2010/main" val="22442925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a:t>
            </a:r>
            <a:endParaRPr lang="en-IN" dirty="0"/>
          </a:p>
        </p:txBody>
      </p:sp>
      <p:sp>
        <p:nvSpPr>
          <p:cNvPr id="3" name="Content Placeholder 2"/>
          <p:cNvSpPr>
            <a:spLocks noGrp="1"/>
          </p:cNvSpPr>
          <p:nvPr>
            <p:ph idx="1"/>
          </p:nvPr>
        </p:nvSpPr>
        <p:spPr>
          <a:xfrm>
            <a:off x="298704" y="1272326"/>
            <a:ext cx="10515600" cy="4351338"/>
          </a:xfrm>
        </p:spPr>
        <p:txBody>
          <a:bodyPr/>
          <a:lstStyle/>
          <a:p>
            <a:r>
              <a:rPr lang="en-US" dirty="0"/>
              <a:t>Style matters. </a:t>
            </a:r>
          </a:p>
          <a:p>
            <a:r>
              <a:rPr lang="en-US" dirty="0"/>
              <a:t>Use words sparingly. No word should appear unnecessary. But do not sacrifice on communicating key information.</a:t>
            </a:r>
          </a:p>
          <a:p>
            <a:r>
              <a:rPr lang="en-US" dirty="0"/>
              <a:t>Keep sentences simple but informative and of optimal carrying capacity. Remove any sentence if absence of it does not matter.</a:t>
            </a:r>
          </a:p>
          <a:p>
            <a:r>
              <a:rPr lang="en-US" dirty="0"/>
              <a:t>Make the most of design elements: headings, subheads, lists, and graphics. A time-constrained reader can get pretty good idea </a:t>
            </a:r>
            <a:br>
              <a:rPr lang="en-US" dirty="0"/>
            </a:br>
            <a:r>
              <a:rPr lang="en-US" dirty="0"/>
              <a:t>even in 15 seconds to look through.</a:t>
            </a:r>
          </a:p>
          <a:p>
            <a:r>
              <a:rPr lang="en-US" dirty="0"/>
              <a:t>Use graphics judiciously.</a:t>
            </a:r>
            <a:endParaRPr lang="en-IN" dirty="0"/>
          </a:p>
        </p:txBody>
      </p:sp>
    </p:spTree>
    <p:extLst>
      <p:ext uri="{BB962C8B-B14F-4D97-AF65-F5344CB8AC3E}">
        <p14:creationId xmlns:p14="http://schemas.microsoft.com/office/powerpoint/2010/main" val="17458550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vert="horz" lIns="91440" tIns="45720" rIns="91440" bIns="45720" rtlCol="0" anchor="ctr">
            <a:normAutofit/>
          </a:bodyPr>
          <a:lstStyle/>
          <a:p>
            <a:r>
              <a:rPr lang="en-US" sz="3600" b="1" dirty="0">
                <a:solidFill>
                  <a:srgbClr val="002060"/>
                </a:solidFill>
                <a:latin typeface="Georgia" panose="02040502050405020303" pitchFamily="18" charset="0"/>
              </a:rPr>
              <a:t>Information in ‘Text’ vis-a-vis ‘Graphics’</a:t>
            </a:r>
            <a:endParaRPr lang="en-IN" sz="3600" b="1" dirty="0">
              <a:solidFill>
                <a:srgbClr val="002060"/>
              </a:solidFill>
              <a:latin typeface="Georgia" panose="02040502050405020303" pitchFamily="18" charset="0"/>
            </a:endParaRPr>
          </a:p>
        </p:txBody>
      </p:sp>
      <p:sp>
        <p:nvSpPr>
          <p:cNvPr id="7" name="Content Placeholder 6"/>
          <p:cNvSpPr>
            <a:spLocks noGrp="1"/>
          </p:cNvSpPr>
          <p:nvPr>
            <p:ph sz="half" idx="1"/>
          </p:nvPr>
        </p:nvSpPr>
        <p:spPr>
          <a:xfrm>
            <a:off x="54637" y="1434656"/>
            <a:ext cx="3791204" cy="4486275"/>
          </a:xfrm>
          <a:ln>
            <a:solidFill>
              <a:srgbClr val="002060"/>
            </a:solidFill>
          </a:ln>
        </p:spPr>
        <p:txBody>
          <a:bodyPr/>
          <a:lstStyle/>
          <a:p>
            <a:r>
              <a:rPr lang="en-US" b="1" dirty="0"/>
              <a:t>Our market research shows that 16% of the population of 500, i.e. 80 families, can be classified as middle-income and forms our target customers.</a:t>
            </a:r>
            <a:endParaRPr lang="en-IN" b="1" dirty="0"/>
          </a:p>
        </p:txBody>
      </p:sp>
      <p:sp>
        <p:nvSpPr>
          <p:cNvPr id="4" name="Content Placeholder 2"/>
          <p:cNvSpPr txBox="1">
            <a:spLocks/>
          </p:cNvSpPr>
          <p:nvPr/>
        </p:nvSpPr>
        <p:spPr>
          <a:xfrm>
            <a:off x="6359106" y="1825625"/>
            <a:ext cx="407885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5" name="Content Placeholder 2"/>
          <p:cNvSpPr txBox="1">
            <a:spLocks/>
          </p:cNvSpPr>
          <p:nvPr/>
        </p:nvSpPr>
        <p:spPr>
          <a:xfrm>
            <a:off x="5708852" y="1825625"/>
            <a:ext cx="407885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graphicFrame>
        <p:nvGraphicFramePr>
          <p:cNvPr id="12" name="Chart 11"/>
          <p:cNvGraphicFramePr>
            <a:graphicFrameLocks/>
          </p:cNvGraphicFramePr>
          <p:nvPr>
            <p:extLst>
              <p:ext uri="{D42A27DB-BD31-4B8C-83A1-F6EECF244321}">
                <p14:modId xmlns:p14="http://schemas.microsoft.com/office/powerpoint/2010/main" val="2586950899"/>
              </p:ext>
            </p:extLst>
          </p:nvPr>
        </p:nvGraphicFramePr>
        <p:xfrm>
          <a:off x="4048465" y="1434656"/>
          <a:ext cx="5088990" cy="4446815"/>
        </p:xfrm>
        <a:graphic>
          <a:graphicData uri="http://schemas.openxmlformats.org/drawingml/2006/chart">
            <c:chart xmlns:c="http://schemas.openxmlformats.org/drawingml/2006/chart" xmlns:r="http://schemas.openxmlformats.org/officeDocument/2006/relationships" r:id="rId2"/>
          </a:graphicData>
        </a:graphic>
      </p:graphicFrame>
      <p:sp>
        <p:nvSpPr>
          <p:cNvPr id="22" name="Freeform 21"/>
          <p:cNvSpPr/>
          <p:nvPr/>
        </p:nvSpPr>
        <p:spPr>
          <a:xfrm rot="3714369">
            <a:off x="4638231" y="1993028"/>
            <a:ext cx="1087036" cy="1317236"/>
          </a:xfrm>
          <a:custGeom>
            <a:avLst/>
            <a:gdLst>
              <a:gd name="connsiteX0" fmla="*/ 520707 w 965207"/>
              <a:gd name="connsiteY0" fmla="*/ 0 h 1321135"/>
              <a:gd name="connsiteX1" fmla="*/ 63507 w 965207"/>
              <a:gd name="connsiteY1" fmla="*/ 723900 h 1321135"/>
              <a:gd name="connsiteX2" fmla="*/ 101607 w 965207"/>
              <a:gd name="connsiteY2" fmla="*/ 1244600 h 1321135"/>
              <a:gd name="connsiteX3" fmla="*/ 965207 w 965207"/>
              <a:gd name="connsiteY3" fmla="*/ 1308100 h 1321135"/>
              <a:gd name="connsiteX0" fmla="*/ 457600 w 902100"/>
              <a:gd name="connsiteY0" fmla="*/ 0 h 1319457"/>
              <a:gd name="connsiteX1" fmla="*/ 400 w 902100"/>
              <a:gd name="connsiteY1" fmla="*/ 723900 h 1319457"/>
              <a:gd name="connsiteX2" fmla="*/ 371305 w 902100"/>
              <a:gd name="connsiteY2" fmla="*/ 762410 h 1319457"/>
              <a:gd name="connsiteX3" fmla="*/ 38500 w 902100"/>
              <a:gd name="connsiteY3" fmla="*/ 1244600 h 1319457"/>
              <a:gd name="connsiteX4" fmla="*/ 902100 w 902100"/>
              <a:gd name="connsiteY4" fmla="*/ 1308100 h 1319457"/>
              <a:gd name="connsiteX0" fmla="*/ 457600 w 902100"/>
              <a:gd name="connsiteY0" fmla="*/ 0 h 1309329"/>
              <a:gd name="connsiteX1" fmla="*/ 400 w 902100"/>
              <a:gd name="connsiteY1" fmla="*/ 723900 h 1309329"/>
              <a:gd name="connsiteX2" fmla="*/ 371305 w 902100"/>
              <a:gd name="connsiteY2" fmla="*/ 762410 h 1309329"/>
              <a:gd name="connsiteX3" fmla="*/ 472993 w 902100"/>
              <a:gd name="connsiteY3" fmla="*/ 1072051 h 1309329"/>
              <a:gd name="connsiteX4" fmla="*/ 902100 w 902100"/>
              <a:gd name="connsiteY4" fmla="*/ 1308100 h 1309329"/>
              <a:gd name="connsiteX0" fmla="*/ 222811 w 667311"/>
              <a:gd name="connsiteY0" fmla="*/ 0 h 1309329"/>
              <a:gd name="connsiteX1" fmla="*/ 1013 w 667311"/>
              <a:gd name="connsiteY1" fmla="*/ 330573 h 1309329"/>
              <a:gd name="connsiteX2" fmla="*/ 136516 w 667311"/>
              <a:gd name="connsiteY2" fmla="*/ 762410 h 1309329"/>
              <a:gd name="connsiteX3" fmla="*/ 238204 w 667311"/>
              <a:gd name="connsiteY3" fmla="*/ 1072051 h 1309329"/>
              <a:gd name="connsiteX4" fmla="*/ 667311 w 667311"/>
              <a:gd name="connsiteY4" fmla="*/ 1308100 h 1309329"/>
              <a:gd name="connsiteX0" fmla="*/ 222811 w 667311"/>
              <a:gd name="connsiteY0" fmla="*/ 0 h 1309217"/>
              <a:gd name="connsiteX1" fmla="*/ 1013 w 667311"/>
              <a:gd name="connsiteY1" fmla="*/ 330573 h 1309217"/>
              <a:gd name="connsiteX2" fmla="*/ 136516 w 667311"/>
              <a:gd name="connsiteY2" fmla="*/ 762410 h 1309217"/>
              <a:gd name="connsiteX3" fmla="*/ 206497 w 667311"/>
              <a:gd name="connsiteY3" fmla="*/ 1054457 h 1309217"/>
              <a:gd name="connsiteX4" fmla="*/ 667311 w 667311"/>
              <a:gd name="connsiteY4" fmla="*/ 1308100 h 1309217"/>
              <a:gd name="connsiteX0" fmla="*/ 222811 w 667311"/>
              <a:gd name="connsiteY0" fmla="*/ 0 h 1309977"/>
              <a:gd name="connsiteX1" fmla="*/ 1013 w 667311"/>
              <a:gd name="connsiteY1" fmla="*/ 330573 h 1309977"/>
              <a:gd name="connsiteX2" fmla="*/ 136516 w 667311"/>
              <a:gd name="connsiteY2" fmla="*/ 762410 h 1309977"/>
              <a:gd name="connsiteX3" fmla="*/ 206497 w 667311"/>
              <a:gd name="connsiteY3" fmla="*/ 1054457 h 1309977"/>
              <a:gd name="connsiteX4" fmla="*/ 667311 w 667311"/>
              <a:gd name="connsiteY4" fmla="*/ 1308100 h 1309977"/>
              <a:gd name="connsiteX0" fmla="*/ 226243 w 670743"/>
              <a:gd name="connsiteY0" fmla="*/ 0 h 1309175"/>
              <a:gd name="connsiteX1" fmla="*/ 4445 w 670743"/>
              <a:gd name="connsiteY1" fmla="*/ 330573 h 1309175"/>
              <a:gd name="connsiteX2" fmla="*/ 75244 w 670743"/>
              <a:gd name="connsiteY2" fmla="*/ 809236 h 1309175"/>
              <a:gd name="connsiteX3" fmla="*/ 209929 w 670743"/>
              <a:gd name="connsiteY3" fmla="*/ 1054457 h 1309175"/>
              <a:gd name="connsiteX4" fmla="*/ 670743 w 670743"/>
              <a:gd name="connsiteY4" fmla="*/ 1308100 h 1309175"/>
              <a:gd name="connsiteX0" fmla="*/ 226243 w 670743"/>
              <a:gd name="connsiteY0" fmla="*/ 0 h 1309175"/>
              <a:gd name="connsiteX1" fmla="*/ 4445 w 670743"/>
              <a:gd name="connsiteY1" fmla="*/ 330573 h 1309175"/>
              <a:gd name="connsiteX2" fmla="*/ 75244 w 670743"/>
              <a:gd name="connsiteY2" fmla="*/ 809236 h 1309175"/>
              <a:gd name="connsiteX3" fmla="*/ 209929 w 670743"/>
              <a:gd name="connsiteY3" fmla="*/ 1054457 h 1309175"/>
              <a:gd name="connsiteX4" fmla="*/ 670743 w 670743"/>
              <a:gd name="connsiteY4" fmla="*/ 1308100 h 1309175"/>
              <a:gd name="connsiteX0" fmla="*/ 226243 w 670743"/>
              <a:gd name="connsiteY0" fmla="*/ 0 h 1309175"/>
              <a:gd name="connsiteX1" fmla="*/ 4445 w 670743"/>
              <a:gd name="connsiteY1" fmla="*/ 330573 h 1309175"/>
              <a:gd name="connsiteX2" fmla="*/ 75244 w 670743"/>
              <a:gd name="connsiteY2" fmla="*/ 809236 h 1309175"/>
              <a:gd name="connsiteX3" fmla="*/ 209929 w 670743"/>
              <a:gd name="connsiteY3" fmla="*/ 1054457 h 1309175"/>
              <a:gd name="connsiteX4" fmla="*/ 670743 w 670743"/>
              <a:gd name="connsiteY4" fmla="*/ 1308100 h 1309175"/>
              <a:gd name="connsiteX0" fmla="*/ 226243 w 670743"/>
              <a:gd name="connsiteY0" fmla="*/ 0 h 1309175"/>
              <a:gd name="connsiteX1" fmla="*/ 4445 w 670743"/>
              <a:gd name="connsiteY1" fmla="*/ 330573 h 1309175"/>
              <a:gd name="connsiteX2" fmla="*/ 75244 w 670743"/>
              <a:gd name="connsiteY2" fmla="*/ 809236 h 1309175"/>
              <a:gd name="connsiteX3" fmla="*/ 209929 w 670743"/>
              <a:gd name="connsiteY3" fmla="*/ 1054457 h 1309175"/>
              <a:gd name="connsiteX4" fmla="*/ 670743 w 670743"/>
              <a:gd name="connsiteY4" fmla="*/ 1308100 h 1309175"/>
              <a:gd name="connsiteX0" fmla="*/ 226243 w 670743"/>
              <a:gd name="connsiteY0" fmla="*/ 0 h 1309175"/>
              <a:gd name="connsiteX1" fmla="*/ 4445 w 670743"/>
              <a:gd name="connsiteY1" fmla="*/ 330573 h 1309175"/>
              <a:gd name="connsiteX2" fmla="*/ 75244 w 670743"/>
              <a:gd name="connsiteY2" fmla="*/ 809236 h 1309175"/>
              <a:gd name="connsiteX3" fmla="*/ 209929 w 670743"/>
              <a:gd name="connsiteY3" fmla="*/ 1054457 h 1309175"/>
              <a:gd name="connsiteX4" fmla="*/ 670743 w 670743"/>
              <a:gd name="connsiteY4" fmla="*/ 1308100 h 1309175"/>
              <a:gd name="connsiteX0" fmla="*/ 228664 w 673164"/>
              <a:gd name="connsiteY0" fmla="*/ 0 h 1309127"/>
              <a:gd name="connsiteX1" fmla="*/ 6866 w 673164"/>
              <a:gd name="connsiteY1" fmla="*/ 330573 h 1309127"/>
              <a:gd name="connsiteX2" fmla="*/ 55452 w 673164"/>
              <a:gd name="connsiteY2" fmla="*/ 865850 h 1309127"/>
              <a:gd name="connsiteX3" fmla="*/ 212350 w 673164"/>
              <a:gd name="connsiteY3" fmla="*/ 1054457 h 1309127"/>
              <a:gd name="connsiteX4" fmla="*/ 673164 w 673164"/>
              <a:gd name="connsiteY4" fmla="*/ 1308100 h 1309127"/>
              <a:gd name="connsiteX0" fmla="*/ 230338 w 674838"/>
              <a:gd name="connsiteY0" fmla="*/ 0 h 1309993"/>
              <a:gd name="connsiteX1" fmla="*/ 8540 w 674838"/>
              <a:gd name="connsiteY1" fmla="*/ 330573 h 1309993"/>
              <a:gd name="connsiteX2" fmla="*/ 57126 w 674838"/>
              <a:gd name="connsiteY2" fmla="*/ 865850 h 1309993"/>
              <a:gd name="connsiteX3" fmla="*/ 164529 w 674838"/>
              <a:gd name="connsiteY3" fmla="*/ 1151087 h 1309993"/>
              <a:gd name="connsiteX4" fmla="*/ 674838 w 674838"/>
              <a:gd name="connsiteY4" fmla="*/ 1308100 h 1309993"/>
              <a:gd name="connsiteX0" fmla="*/ 230338 w 674838"/>
              <a:gd name="connsiteY0" fmla="*/ 0 h 1311630"/>
              <a:gd name="connsiteX1" fmla="*/ 8540 w 674838"/>
              <a:gd name="connsiteY1" fmla="*/ 330573 h 1311630"/>
              <a:gd name="connsiteX2" fmla="*/ 57126 w 674838"/>
              <a:gd name="connsiteY2" fmla="*/ 865850 h 1311630"/>
              <a:gd name="connsiteX3" fmla="*/ 164529 w 674838"/>
              <a:gd name="connsiteY3" fmla="*/ 1151087 h 1311630"/>
              <a:gd name="connsiteX4" fmla="*/ 674838 w 674838"/>
              <a:gd name="connsiteY4" fmla="*/ 1308100 h 1311630"/>
              <a:gd name="connsiteX0" fmla="*/ 230829 w 675329"/>
              <a:gd name="connsiteY0" fmla="*/ 0 h 1310291"/>
              <a:gd name="connsiteX1" fmla="*/ 9031 w 675329"/>
              <a:gd name="connsiteY1" fmla="*/ 330573 h 1310291"/>
              <a:gd name="connsiteX2" fmla="*/ 57617 w 675329"/>
              <a:gd name="connsiteY2" fmla="*/ 865850 h 1310291"/>
              <a:gd name="connsiteX3" fmla="*/ 192303 w 675329"/>
              <a:gd name="connsiteY3" fmla="*/ 1111074 h 1310291"/>
              <a:gd name="connsiteX4" fmla="*/ 675329 w 675329"/>
              <a:gd name="connsiteY4" fmla="*/ 1308100 h 1310291"/>
              <a:gd name="connsiteX0" fmla="*/ 230408 w 674908"/>
              <a:gd name="connsiteY0" fmla="*/ 0 h 1310718"/>
              <a:gd name="connsiteX1" fmla="*/ 8610 w 674908"/>
              <a:gd name="connsiteY1" fmla="*/ 330573 h 1310718"/>
              <a:gd name="connsiteX2" fmla="*/ 57196 w 674908"/>
              <a:gd name="connsiteY2" fmla="*/ 865850 h 1310718"/>
              <a:gd name="connsiteX3" fmla="*/ 168588 w 674908"/>
              <a:gd name="connsiteY3" fmla="*/ 1127931 h 1310718"/>
              <a:gd name="connsiteX4" fmla="*/ 674908 w 674908"/>
              <a:gd name="connsiteY4" fmla="*/ 1308100 h 1310718"/>
              <a:gd name="connsiteX0" fmla="*/ 230408 w 674908"/>
              <a:gd name="connsiteY0" fmla="*/ 0 h 1310718"/>
              <a:gd name="connsiteX1" fmla="*/ 8610 w 674908"/>
              <a:gd name="connsiteY1" fmla="*/ 330573 h 1310718"/>
              <a:gd name="connsiteX2" fmla="*/ 57196 w 674908"/>
              <a:gd name="connsiteY2" fmla="*/ 865850 h 1310718"/>
              <a:gd name="connsiteX3" fmla="*/ 168588 w 674908"/>
              <a:gd name="connsiteY3" fmla="*/ 1127931 h 1310718"/>
              <a:gd name="connsiteX4" fmla="*/ 674908 w 674908"/>
              <a:gd name="connsiteY4" fmla="*/ 1308100 h 1310718"/>
              <a:gd name="connsiteX0" fmla="*/ 254825 w 699325"/>
              <a:gd name="connsiteY0" fmla="*/ 0 h 1310718"/>
              <a:gd name="connsiteX1" fmla="*/ 33027 w 699325"/>
              <a:gd name="connsiteY1" fmla="*/ 330573 h 1310718"/>
              <a:gd name="connsiteX2" fmla="*/ 17557 w 699325"/>
              <a:gd name="connsiteY2" fmla="*/ 912207 h 1310718"/>
              <a:gd name="connsiteX3" fmla="*/ 193005 w 699325"/>
              <a:gd name="connsiteY3" fmla="*/ 1127931 h 1310718"/>
              <a:gd name="connsiteX4" fmla="*/ 699325 w 699325"/>
              <a:gd name="connsiteY4" fmla="*/ 1308100 h 1310718"/>
              <a:gd name="connsiteX0" fmla="*/ 254750 w 699250"/>
              <a:gd name="connsiteY0" fmla="*/ 0 h 1426974"/>
              <a:gd name="connsiteX1" fmla="*/ 32952 w 699250"/>
              <a:gd name="connsiteY1" fmla="*/ 330573 h 1426974"/>
              <a:gd name="connsiteX2" fmla="*/ 17482 w 699250"/>
              <a:gd name="connsiteY2" fmla="*/ 912207 h 1426974"/>
              <a:gd name="connsiteX3" fmla="*/ 191837 w 699250"/>
              <a:gd name="connsiteY3" fmla="*/ 1380474 h 1426974"/>
              <a:gd name="connsiteX4" fmla="*/ 699250 w 699250"/>
              <a:gd name="connsiteY4" fmla="*/ 1308100 h 1426974"/>
              <a:gd name="connsiteX0" fmla="*/ 222935 w 667435"/>
              <a:gd name="connsiteY0" fmla="*/ 0 h 1426974"/>
              <a:gd name="connsiteX1" fmla="*/ 1137 w 667435"/>
              <a:gd name="connsiteY1" fmla="*/ 330573 h 1426974"/>
              <a:gd name="connsiteX2" fmla="*/ 137422 w 667435"/>
              <a:gd name="connsiteY2" fmla="*/ 780492 h 1426974"/>
              <a:gd name="connsiteX3" fmla="*/ 160022 w 667435"/>
              <a:gd name="connsiteY3" fmla="*/ 1380474 h 1426974"/>
              <a:gd name="connsiteX4" fmla="*/ 667435 w 667435"/>
              <a:gd name="connsiteY4" fmla="*/ 1308100 h 1426974"/>
              <a:gd name="connsiteX0" fmla="*/ 320456 w 764956"/>
              <a:gd name="connsiteY0" fmla="*/ 0 h 1426974"/>
              <a:gd name="connsiteX1" fmla="*/ 706 w 764956"/>
              <a:gd name="connsiteY1" fmla="*/ 335786 h 1426974"/>
              <a:gd name="connsiteX2" fmla="*/ 234943 w 764956"/>
              <a:gd name="connsiteY2" fmla="*/ 780492 h 1426974"/>
              <a:gd name="connsiteX3" fmla="*/ 257543 w 764956"/>
              <a:gd name="connsiteY3" fmla="*/ 1380474 h 1426974"/>
              <a:gd name="connsiteX4" fmla="*/ 764956 w 764956"/>
              <a:gd name="connsiteY4" fmla="*/ 1308100 h 14269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4956" h="1426974">
                <a:moveTo>
                  <a:pt x="320456" y="0"/>
                </a:moveTo>
                <a:cubicBezTo>
                  <a:pt x="126781" y="258233"/>
                  <a:pt x="14958" y="205704"/>
                  <a:pt x="706" y="335786"/>
                </a:cubicBezTo>
                <a:cubicBezTo>
                  <a:pt x="-13546" y="465868"/>
                  <a:pt x="192137" y="606377"/>
                  <a:pt x="234943" y="780492"/>
                </a:cubicBezTo>
                <a:cubicBezTo>
                  <a:pt x="277749" y="954607"/>
                  <a:pt x="215069" y="1266134"/>
                  <a:pt x="257543" y="1380474"/>
                </a:cubicBezTo>
                <a:cubicBezTo>
                  <a:pt x="364921" y="1511789"/>
                  <a:pt x="408297" y="1325033"/>
                  <a:pt x="764956" y="1308100"/>
                </a:cubicBezTo>
              </a:path>
            </a:pathLst>
          </a:custGeom>
          <a:noFill/>
          <a:ln w="69850" cmpd="thickThin">
            <a:headEnd type="stealth" w="lg" len="lg"/>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36170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sz="3600" b="1" dirty="0">
                <a:solidFill>
                  <a:srgbClr val="002060"/>
                </a:solidFill>
                <a:latin typeface="Georgia" panose="02040502050405020303" pitchFamily="18" charset="0"/>
              </a:rPr>
              <a:t>Should Be Able to Grab the Attention and Keep It</a:t>
            </a:r>
            <a:endParaRPr lang="en-IN" sz="3600" b="1" dirty="0">
              <a:solidFill>
                <a:srgbClr val="002060"/>
              </a:solidFill>
              <a:latin typeface="Georgia" panose="02040502050405020303" pitchFamily="18" charset="0"/>
            </a:endParaRPr>
          </a:p>
        </p:txBody>
      </p:sp>
      <p:sp>
        <p:nvSpPr>
          <p:cNvPr id="3" name="Content Placeholder 2"/>
          <p:cNvSpPr>
            <a:spLocks noGrp="1"/>
          </p:cNvSpPr>
          <p:nvPr>
            <p:ph idx="1"/>
          </p:nvPr>
        </p:nvSpPr>
        <p:spPr>
          <a:xfrm>
            <a:off x="289559" y="1551305"/>
            <a:ext cx="11665373" cy="4351338"/>
          </a:xfrm>
        </p:spPr>
        <p:txBody>
          <a:bodyPr/>
          <a:lstStyle/>
          <a:p>
            <a:r>
              <a:rPr lang="en-US" b="1" dirty="0"/>
              <a:t>Serial entrepreneur and investor Steve Blank says that 99.7% of the applications for funding are rejected and only 0.3% are accepted.</a:t>
            </a:r>
          </a:p>
          <a:p>
            <a:r>
              <a:rPr lang="en-US" b="1" dirty="0"/>
              <a:t>That means that they receive &amp; scrutinize 300 times more business plans than they eventually fund.</a:t>
            </a:r>
          </a:p>
          <a:p>
            <a:r>
              <a:rPr lang="en-US" b="1" dirty="0"/>
              <a:t>Obviously, they would neither have the time nor tenacity to thoroughly scrutinize all proposals.</a:t>
            </a:r>
          </a:p>
          <a:p>
            <a:r>
              <a:rPr lang="en-US" b="1" dirty="0"/>
              <a:t>Therefore, business plan should be precise but focused and should convey the winning elements in minimum words.</a:t>
            </a:r>
          </a:p>
          <a:p>
            <a:endParaRPr lang="en-US" b="1" dirty="0"/>
          </a:p>
          <a:p>
            <a:endParaRPr lang="en-IN" b="1" dirty="0"/>
          </a:p>
        </p:txBody>
      </p:sp>
    </p:spTree>
    <p:extLst>
      <p:ext uri="{BB962C8B-B14F-4D97-AF65-F5344CB8AC3E}">
        <p14:creationId xmlns:p14="http://schemas.microsoft.com/office/powerpoint/2010/main" val="42264191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0178" y="425510"/>
            <a:ext cx="10515600" cy="928837"/>
          </a:xfrm>
        </p:spPr>
        <p:txBody>
          <a:bodyPr vert="horz" lIns="91440" tIns="45720" rIns="91440" bIns="45720" rtlCol="0" anchor="ctr">
            <a:normAutofit/>
          </a:bodyPr>
          <a:lstStyle/>
          <a:p>
            <a:r>
              <a:rPr lang="en-US" sz="3600" b="1" dirty="0">
                <a:solidFill>
                  <a:srgbClr val="002060"/>
                </a:solidFill>
                <a:latin typeface="Georgia" panose="02040502050405020303" pitchFamily="18" charset="0"/>
              </a:rPr>
              <a:t>Tell Your Story</a:t>
            </a:r>
            <a:endParaRPr lang="en-IN" sz="3600" b="1" dirty="0">
              <a:solidFill>
                <a:srgbClr val="002060"/>
              </a:solidFill>
              <a:latin typeface="Georgia" panose="02040502050405020303" pitchFamily="18" charset="0"/>
            </a:endParaRPr>
          </a:p>
        </p:txBody>
      </p:sp>
      <p:sp>
        <p:nvSpPr>
          <p:cNvPr id="3" name="Content Placeholder 2"/>
          <p:cNvSpPr>
            <a:spLocks noGrp="1"/>
          </p:cNvSpPr>
          <p:nvPr>
            <p:ph idx="1"/>
          </p:nvPr>
        </p:nvSpPr>
        <p:spPr>
          <a:xfrm>
            <a:off x="598577" y="2409084"/>
            <a:ext cx="11483355" cy="4351338"/>
          </a:xfrm>
        </p:spPr>
        <p:txBody>
          <a:bodyPr/>
          <a:lstStyle/>
          <a:p>
            <a:r>
              <a:rPr lang="en-US" dirty="0"/>
              <a:t>Do you have a compelling story?</a:t>
            </a:r>
          </a:p>
          <a:p>
            <a:r>
              <a:rPr lang="en-US" dirty="0"/>
              <a:t>Story does not mean the progression of events till date.</a:t>
            </a:r>
          </a:p>
          <a:p>
            <a:r>
              <a:rPr lang="en-US" dirty="0"/>
              <a:t>Story relates to your why, how and why now.</a:t>
            </a:r>
          </a:p>
          <a:p>
            <a:r>
              <a:rPr lang="en-US" dirty="0"/>
              <a:t>It may have some drama, but must have a compelling motivational reason</a:t>
            </a:r>
          </a:p>
          <a:p>
            <a:r>
              <a:rPr lang="en-US" dirty="0">
                <a:solidFill>
                  <a:schemeClr val="accent6">
                    <a:lumMod val="75000"/>
                  </a:schemeClr>
                </a:solidFill>
              </a:rPr>
              <a:t>Companies are positioned within a </a:t>
            </a:r>
            <a:r>
              <a:rPr lang="en-US" dirty="0">
                <a:solidFill>
                  <a:srgbClr val="820000"/>
                </a:solidFill>
              </a:rPr>
              <a:t>narrative</a:t>
            </a:r>
            <a:r>
              <a:rPr lang="en-US" dirty="0">
                <a:solidFill>
                  <a:schemeClr val="accent6">
                    <a:lumMod val="75000"/>
                  </a:schemeClr>
                </a:solidFill>
              </a:rPr>
              <a:t>. How your audience perceives that narrative will influence how they get invested in your vision.</a:t>
            </a:r>
          </a:p>
          <a:p>
            <a:endParaRPr lang="en-IN" dirty="0"/>
          </a:p>
        </p:txBody>
      </p:sp>
      <p:sp>
        <p:nvSpPr>
          <p:cNvPr id="4" name="TextBox 3"/>
          <p:cNvSpPr txBox="1"/>
          <p:nvPr/>
        </p:nvSpPr>
        <p:spPr>
          <a:xfrm>
            <a:off x="770467" y="1183725"/>
            <a:ext cx="10574866" cy="954107"/>
          </a:xfrm>
          <a:prstGeom prst="rect">
            <a:avLst/>
          </a:prstGeom>
          <a:noFill/>
        </p:spPr>
        <p:txBody>
          <a:bodyPr wrap="square" rtlCol="0">
            <a:spAutoFit/>
          </a:bodyPr>
          <a:lstStyle/>
          <a:p>
            <a:r>
              <a:rPr lang="en-US" sz="2800" b="1" i="1" dirty="0">
                <a:solidFill>
                  <a:srgbClr val="0070C0"/>
                </a:solidFill>
              </a:rPr>
              <a:t>“Stories are the single most powerful weapon in a leader’s arsenal.” </a:t>
            </a:r>
          </a:p>
          <a:p>
            <a:r>
              <a:rPr lang="en-US" sz="2800" b="1" dirty="0">
                <a:solidFill>
                  <a:srgbClr val="0070C0"/>
                </a:solidFill>
              </a:rPr>
              <a:t>– Howard Gardner </a:t>
            </a:r>
            <a:endParaRPr lang="en-IN" sz="2800" b="1" dirty="0">
              <a:solidFill>
                <a:srgbClr val="0070C0"/>
              </a:solidFill>
            </a:endParaRPr>
          </a:p>
        </p:txBody>
      </p:sp>
    </p:spTree>
    <p:extLst>
      <p:ext uri="{BB962C8B-B14F-4D97-AF65-F5344CB8AC3E}">
        <p14:creationId xmlns:p14="http://schemas.microsoft.com/office/powerpoint/2010/main" val="24139968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733" y="1983434"/>
            <a:ext cx="10515600" cy="1325563"/>
          </a:xfrm>
        </p:spPr>
        <p:txBody>
          <a:bodyPr vert="horz" lIns="91440" tIns="45720" rIns="91440" bIns="45720" rtlCol="0" anchor="ctr">
            <a:normAutofit/>
          </a:bodyPr>
          <a:lstStyle/>
          <a:p>
            <a:pPr algn="ctr"/>
            <a:r>
              <a:rPr lang="en-US" sz="3600" b="1" dirty="0">
                <a:solidFill>
                  <a:srgbClr val="002060"/>
                </a:solidFill>
                <a:latin typeface="Georgia" panose="02040502050405020303" pitchFamily="18" charset="0"/>
              </a:rPr>
              <a:t>Know Your Audience and Give the Information They Need to Make Decision</a:t>
            </a:r>
            <a:endParaRPr lang="en-IN" sz="3600" b="1" dirty="0">
              <a:solidFill>
                <a:srgbClr val="002060"/>
              </a:solidFill>
              <a:latin typeface="Georgia" panose="02040502050405020303" pitchFamily="18" charset="0"/>
            </a:endParaRPr>
          </a:p>
        </p:txBody>
      </p:sp>
      <p:sp>
        <p:nvSpPr>
          <p:cNvPr id="3" name="Content Placeholder 2"/>
          <p:cNvSpPr>
            <a:spLocks noGrp="1"/>
          </p:cNvSpPr>
          <p:nvPr>
            <p:ph idx="1"/>
          </p:nvPr>
        </p:nvSpPr>
        <p:spPr>
          <a:xfrm>
            <a:off x="307848" y="1377569"/>
            <a:ext cx="10515600" cy="4351338"/>
          </a:xfrm>
        </p:spPr>
        <p:txBody>
          <a:bodyPr/>
          <a:lstStyle/>
          <a:p>
            <a:endParaRPr lang="en-IN" dirty="0"/>
          </a:p>
        </p:txBody>
      </p:sp>
      <p:cxnSp>
        <p:nvCxnSpPr>
          <p:cNvPr id="4" name="Straight Connector 3">
            <a:extLst>
              <a:ext uri="{FF2B5EF4-FFF2-40B4-BE49-F238E27FC236}">
                <a16:creationId xmlns:a16="http://schemas.microsoft.com/office/drawing/2014/main" id="{B333E77C-2A05-4F7F-A145-0EC363D1BA18}"/>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61872F9C-C318-0107-BF6D-79BF53DF6DEB}"/>
              </a:ext>
            </a:extLst>
          </p:cNvPr>
          <p:cNvCxnSpPr/>
          <p:nvPr/>
        </p:nvCxnSpPr>
        <p:spPr>
          <a:xfrm flipV="1">
            <a:off x="405353" y="527901"/>
            <a:ext cx="11378152" cy="5649062"/>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AFAC923A-D8D0-7FCB-9F8C-759E2DB4CBAF}"/>
              </a:ext>
            </a:extLst>
          </p:cNvPr>
          <p:cNvCxnSpPr>
            <a:cxnSpLocks/>
          </p:cNvCxnSpPr>
          <p:nvPr/>
        </p:nvCxnSpPr>
        <p:spPr>
          <a:xfrm>
            <a:off x="94268" y="365125"/>
            <a:ext cx="11547835" cy="5991225"/>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5517630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 y="365125"/>
            <a:ext cx="12063984" cy="703065"/>
          </a:xfrm>
        </p:spPr>
        <p:txBody>
          <a:bodyPr/>
          <a:lstStyle/>
          <a:p>
            <a:r>
              <a:rPr lang="en-US" sz="2800" dirty="0"/>
              <a:t>Experts say that your business plan journey should traverse the Seven Cs</a:t>
            </a:r>
            <a:endParaRPr lang="en-IN" sz="2800" dirty="0"/>
          </a:p>
        </p:txBody>
      </p:sp>
      <p:sp>
        <p:nvSpPr>
          <p:cNvPr id="6" name="Freeform 5"/>
          <p:cNvSpPr/>
          <p:nvPr/>
        </p:nvSpPr>
        <p:spPr>
          <a:xfrm>
            <a:off x="1596360" y="1068191"/>
            <a:ext cx="6992874" cy="580529"/>
          </a:xfrm>
          <a:custGeom>
            <a:avLst/>
            <a:gdLst>
              <a:gd name="connsiteX0" fmla="*/ 0 w 6992874"/>
              <a:gd name="connsiteY0" fmla="*/ 0 h 580527"/>
              <a:gd name="connsiteX1" fmla="*/ 6702611 w 6992874"/>
              <a:gd name="connsiteY1" fmla="*/ 0 h 580527"/>
              <a:gd name="connsiteX2" fmla="*/ 6992874 w 6992874"/>
              <a:gd name="connsiteY2" fmla="*/ 290264 h 580527"/>
              <a:gd name="connsiteX3" fmla="*/ 6702611 w 6992874"/>
              <a:gd name="connsiteY3" fmla="*/ 580527 h 580527"/>
              <a:gd name="connsiteX4" fmla="*/ 0 w 6992874"/>
              <a:gd name="connsiteY4" fmla="*/ 580527 h 580527"/>
              <a:gd name="connsiteX5" fmla="*/ 0 w 6992874"/>
              <a:gd name="connsiteY5" fmla="*/ 0 h 58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2874" h="580527">
                <a:moveTo>
                  <a:pt x="6992874" y="580526"/>
                </a:moveTo>
                <a:lnTo>
                  <a:pt x="290263" y="580526"/>
                </a:lnTo>
                <a:lnTo>
                  <a:pt x="0" y="290263"/>
                </a:lnTo>
                <a:lnTo>
                  <a:pt x="290263" y="1"/>
                </a:lnTo>
                <a:lnTo>
                  <a:pt x="6992874" y="1"/>
                </a:lnTo>
                <a:lnTo>
                  <a:pt x="6992874" y="580526"/>
                </a:lnTo>
                <a:close/>
              </a:path>
            </a:pathLst>
          </a:custGeom>
          <a:solidFill>
            <a:srgbClr val="0070C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1128" tIns="99061" rIns="184912" bIns="99061" numCol="1" spcCol="1270" anchor="ctr" anchorCtr="0">
            <a:noAutofit/>
          </a:bodyPr>
          <a:lstStyle/>
          <a:p>
            <a:pPr lvl="0" algn="ctr" defTabSz="1155700">
              <a:lnSpc>
                <a:spcPct val="90000"/>
              </a:lnSpc>
              <a:spcBef>
                <a:spcPct val="0"/>
              </a:spcBef>
              <a:spcAft>
                <a:spcPct val="35000"/>
              </a:spcAft>
            </a:pPr>
            <a:r>
              <a:rPr lang="en-US" sz="2600" b="1" dirty="0"/>
              <a:t>Clear</a:t>
            </a:r>
            <a:r>
              <a:rPr lang="en-US" sz="2600" b="1" kern="1200" dirty="0"/>
              <a:t> good plan </a:t>
            </a:r>
            <a:endParaRPr lang="en-IN" sz="2600" b="1" kern="1200" dirty="0"/>
          </a:p>
        </p:txBody>
      </p:sp>
      <p:sp>
        <p:nvSpPr>
          <p:cNvPr id="8" name="Freeform 7"/>
          <p:cNvSpPr/>
          <p:nvPr/>
        </p:nvSpPr>
        <p:spPr>
          <a:xfrm>
            <a:off x="1596360" y="1822010"/>
            <a:ext cx="6992874" cy="580529"/>
          </a:xfrm>
          <a:custGeom>
            <a:avLst/>
            <a:gdLst>
              <a:gd name="connsiteX0" fmla="*/ 0 w 6992874"/>
              <a:gd name="connsiteY0" fmla="*/ 0 h 580527"/>
              <a:gd name="connsiteX1" fmla="*/ 6702611 w 6992874"/>
              <a:gd name="connsiteY1" fmla="*/ 0 h 580527"/>
              <a:gd name="connsiteX2" fmla="*/ 6992874 w 6992874"/>
              <a:gd name="connsiteY2" fmla="*/ 290264 h 580527"/>
              <a:gd name="connsiteX3" fmla="*/ 6702611 w 6992874"/>
              <a:gd name="connsiteY3" fmla="*/ 580527 h 580527"/>
              <a:gd name="connsiteX4" fmla="*/ 0 w 6992874"/>
              <a:gd name="connsiteY4" fmla="*/ 580527 h 580527"/>
              <a:gd name="connsiteX5" fmla="*/ 0 w 6992874"/>
              <a:gd name="connsiteY5" fmla="*/ 0 h 58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2874" h="580527">
                <a:moveTo>
                  <a:pt x="6992874" y="580526"/>
                </a:moveTo>
                <a:lnTo>
                  <a:pt x="290263" y="580526"/>
                </a:lnTo>
                <a:lnTo>
                  <a:pt x="0" y="290263"/>
                </a:lnTo>
                <a:lnTo>
                  <a:pt x="290263" y="1"/>
                </a:lnTo>
                <a:lnTo>
                  <a:pt x="6992874" y="1"/>
                </a:lnTo>
                <a:lnTo>
                  <a:pt x="6992874" y="580526"/>
                </a:lnTo>
                <a:close/>
              </a:path>
            </a:pathLst>
          </a:custGeom>
          <a:solidFill>
            <a:srgbClr val="0070C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1128" tIns="99061" rIns="184912" bIns="99061" numCol="1" spcCol="1270" anchor="ctr" anchorCtr="0">
            <a:noAutofit/>
          </a:bodyPr>
          <a:lstStyle/>
          <a:p>
            <a:pPr lvl="0" algn="ctr" defTabSz="1155700" rtl="0">
              <a:lnSpc>
                <a:spcPct val="90000"/>
              </a:lnSpc>
              <a:spcBef>
                <a:spcPct val="0"/>
              </a:spcBef>
              <a:spcAft>
                <a:spcPct val="35000"/>
              </a:spcAft>
            </a:pPr>
            <a:r>
              <a:rPr lang="en-US" sz="2600" b="1" kern="1200"/>
              <a:t>Crisp  </a:t>
            </a:r>
            <a:endParaRPr lang="en-IN" sz="2600" b="1" kern="1200"/>
          </a:p>
        </p:txBody>
      </p:sp>
      <p:sp>
        <p:nvSpPr>
          <p:cNvPr id="10" name="Freeform 9"/>
          <p:cNvSpPr/>
          <p:nvPr/>
        </p:nvSpPr>
        <p:spPr>
          <a:xfrm>
            <a:off x="1596360" y="2575829"/>
            <a:ext cx="6992874" cy="580529"/>
          </a:xfrm>
          <a:custGeom>
            <a:avLst/>
            <a:gdLst>
              <a:gd name="connsiteX0" fmla="*/ 0 w 6992874"/>
              <a:gd name="connsiteY0" fmla="*/ 0 h 580527"/>
              <a:gd name="connsiteX1" fmla="*/ 6702611 w 6992874"/>
              <a:gd name="connsiteY1" fmla="*/ 0 h 580527"/>
              <a:gd name="connsiteX2" fmla="*/ 6992874 w 6992874"/>
              <a:gd name="connsiteY2" fmla="*/ 290264 h 580527"/>
              <a:gd name="connsiteX3" fmla="*/ 6702611 w 6992874"/>
              <a:gd name="connsiteY3" fmla="*/ 580527 h 580527"/>
              <a:gd name="connsiteX4" fmla="*/ 0 w 6992874"/>
              <a:gd name="connsiteY4" fmla="*/ 580527 h 580527"/>
              <a:gd name="connsiteX5" fmla="*/ 0 w 6992874"/>
              <a:gd name="connsiteY5" fmla="*/ 0 h 58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2874" h="580527">
                <a:moveTo>
                  <a:pt x="6992874" y="580526"/>
                </a:moveTo>
                <a:lnTo>
                  <a:pt x="290263" y="580526"/>
                </a:lnTo>
                <a:lnTo>
                  <a:pt x="0" y="290263"/>
                </a:lnTo>
                <a:lnTo>
                  <a:pt x="290263" y="1"/>
                </a:lnTo>
                <a:lnTo>
                  <a:pt x="6992874" y="1"/>
                </a:lnTo>
                <a:lnTo>
                  <a:pt x="6992874" y="580526"/>
                </a:lnTo>
                <a:close/>
              </a:path>
            </a:pathLst>
          </a:custGeom>
          <a:solidFill>
            <a:srgbClr val="0070C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1128" tIns="99061" rIns="184912" bIns="99061" numCol="1" spcCol="1270" anchor="ctr" anchorCtr="0">
            <a:noAutofit/>
          </a:bodyPr>
          <a:lstStyle/>
          <a:p>
            <a:pPr lvl="0" algn="ctr" defTabSz="1155700" rtl="0">
              <a:lnSpc>
                <a:spcPct val="90000"/>
              </a:lnSpc>
              <a:spcBef>
                <a:spcPct val="0"/>
              </a:spcBef>
              <a:spcAft>
                <a:spcPct val="35000"/>
              </a:spcAft>
            </a:pPr>
            <a:r>
              <a:rPr lang="en-US" sz="2600" b="1" kern="1200"/>
              <a:t>Concise  </a:t>
            </a:r>
            <a:endParaRPr lang="en-IN" sz="2600" b="1" kern="1200"/>
          </a:p>
        </p:txBody>
      </p:sp>
      <p:sp>
        <p:nvSpPr>
          <p:cNvPr id="12" name="Freeform 11"/>
          <p:cNvSpPr/>
          <p:nvPr/>
        </p:nvSpPr>
        <p:spPr>
          <a:xfrm>
            <a:off x="1596360" y="3329648"/>
            <a:ext cx="6992874" cy="580528"/>
          </a:xfrm>
          <a:custGeom>
            <a:avLst/>
            <a:gdLst>
              <a:gd name="connsiteX0" fmla="*/ 0 w 6992874"/>
              <a:gd name="connsiteY0" fmla="*/ 0 h 580527"/>
              <a:gd name="connsiteX1" fmla="*/ 6702611 w 6992874"/>
              <a:gd name="connsiteY1" fmla="*/ 0 h 580527"/>
              <a:gd name="connsiteX2" fmla="*/ 6992874 w 6992874"/>
              <a:gd name="connsiteY2" fmla="*/ 290264 h 580527"/>
              <a:gd name="connsiteX3" fmla="*/ 6702611 w 6992874"/>
              <a:gd name="connsiteY3" fmla="*/ 580527 h 580527"/>
              <a:gd name="connsiteX4" fmla="*/ 0 w 6992874"/>
              <a:gd name="connsiteY4" fmla="*/ 580527 h 580527"/>
              <a:gd name="connsiteX5" fmla="*/ 0 w 6992874"/>
              <a:gd name="connsiteY5" fmla="*/ 0 h 58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2874" h="580527">
                <a:moveTo>
                  <a:pt x="6992874" y="580526"/>
                </a:moveTo>
                <a:lnTo>
                  <a:pt x="290263" y="580526"/>
                </a:lnTo>
                <a:lnTo>
                  <a:pt x="0" y="290263"/>
                </a:lnTo>
                <a:lnTo>
                  <a:pt x="290263" y="1"/>
                </a:lnTo>
                <a:lnTo>
                  <a:pt x="6992874" y="1"/>
                </a:lnTo>
                <a:lnTo>
                  <a:pt x="6992874" y="580526"/>
                </a:lnTo>
                <a:close/>
              </a:path>
            </a:pathLst>
          </a:custGeom>
          <a:solidFill>
            <a:srgbClr val="0070C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1128" tIns="99061" rIns="184912" bIns="99060" numCol="1" spcCol="1270" anchor="ctr" anchorCtr="0">
            <a:noAutofit/>
          </a:bodyPr>
          <a:lstStyle/>
          <a:p>
            <a:pPr lvl="0" algn="ctr" defTabSz="1155700" rtl="0">
              <a:lnSpc>
                <a:spcPct val="90000"/>
              </a:lnSpc>
              <a:spcBef>
                <a:spcPct val="0"/>
              </a:spcBef>
              <a:spcAft>
                <a:spcPct val="35000"/>
              </a:spcAft>
            </a:pPr>
            <a:r>
              <a:rPr lang="en-US" sz="2600" b="1" kern="1200" dirty="0"/>
              <a:t>Consistent  </a:t>
            </a:r>
            <a:endParaRPr lang="en-IN" sz="2600" b="1" kern="1200" dirty="0"/>
          </a:p>
        </p:txBody>
      </p:sp>
      <p:sp>
        <p:nvSpPr>
          <p:cNvPr id="14" name="Freeform 13"/>
          <p:cNvSpPr/>
          <p:nvPr/>
        </p:nvSpPr>
        <p:spPr>
          <a:xfrm>
            <a:off x="1596360" y="4083467"/>
            <a:ext cx="6992874" cy="580528"/>
          </a:xfrm>
          <a:custGeom>
            <a:avLst/>
            <a:gdLst>
              <a:gd name="connsiteX0" fmla="*/ 0 w 6992874"/>
              <a:gd name="connsiteY0" fmla="*/ 0 h 580527"/>
              <a:gd name="connsiteX1" fmla="*/ 6702611 w 6992874"/>
              <a:gd name="connsiteY1" fmla="*/ 0 h 580527"/>
              <a:gd name="connsiteX2" fmla="*/ 6992874 w 6992874"/>
              <a:gd name="connsiteY2" fmla="*/ 290264 h 580527"/>
              <a:gd name="connsiteX3" fmla="*/ 6702611 w 6992874"/>
              <a:gd name="connsiteY3" fmla="*/ 580527 h 580527"/>
              <a:gd name="connsiteX4" fmla="*/ 0 w 6992874"/>
              <a:gd name="connsiteY4" fmla="*/ 580527 h 580527"/>
              <a:gd name="connsiteX5" fmla="*/ 0 w 6992874"/>
              <a:gd name="connsiteY5" fmla="*/ 0 h 58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2874" h="580527">
                <a:moveTo>
                  <a:pt x="6992874" y="580526"/>
                </a:moveTo>
                <a:lnTo>
                  <a:pt x="290263" y="580526"/>
                </a:lnTo>
                <a:lnTo>
                  <a:pt x="0" y="290263"/>
                </a:lnTo>
                <a:lnTo>
                  <a:pt x="290263" y="1"/>
                </a:lnTo>
                <a:lnTo>
                  <a:pt x="6992874" y="1"/>
                </a:lnTo>
                <a:lnTo>
                  <a:pt x="6992874" y="580526"/>
                </a:lnTo>
                <a:close/>
              </a:path>
            </a:pathLst>
          </a:custGeom>
          <a:solidFill>
            <a:srgbClr val="0070C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1128" tIns="99061" rIns="184912" bIns="99060" numCol="1" spcCol="1270" anchor="ctr" anchorCtr="0">
            <a:noAutofit/>
          </a:bodyPr>
          <a:lstStyle/>
          <a:p>
            <a:pPr lvl="0" algn="ctr" defTabSz="1155700" rtl="0">
              <a:lnSpc>
                <a:spcPct val="90000"/>
              </a:lnSpc>
              <a:spcBef>
                <a:spcPct val="0"/>
              </a:spcBef>
              <a:spcAft>
                <a:spcPct val="35000"/>
              </a:spcAft>
            </a:pPr>
            <a:r>
              <a:rPr lang="en-US" sz="2600" b="1" kern="1200" dirty="0"/>
              <a:t>Coherent</a:t>
            </a:r>
            <a:endParaRPr lang="en-IN" sz="2600" b="1" kern="1200" dirty="0"/>
          </a:p>
        </p:txBody>
      </p:sp>
      <p:sp>
        <p:nvSpPr>
          <p:cNvPr id="16" name="Freeform 15"/>
          <p:cNvSpPr/>
          <p:nvPr/>
        </p:nvSpPr>
        <p:spPr>
          <a:xfrm>
            <a:off x="1596360" y="4837287"/>
            <a:ext cx="6992874" cy="580528"/>
          </a:xfrm>
          <a:custGeom>
            <a:avLst/>
            <a:gdLst>
              <a:gd name="connsiteX0" fmla="*/ 0 w 6992874"/>
              <a:gd name="connsiteY0" fmla="*/ 0 h 580527"/>
              <a:gd name="connsiteX1" fmla="*/ 6702611 w 6992874"/>
              <a:gd name="connsiteY1" fmla="*/ 0 h 580527"/>
              <a:gd name="connsiteX2" fmla="*/ 6992874 w 6992874"/>
              <a:gd name="connsiteY2" fmla="*/ 290264 h 580527"/>
              <a:gd name="connsiteX3" fmla="*/ 6702611 w 6992874"/>
              <a:gd name="connsiteY3" fmla="*/ 580527 h 580527"/>
              <a:gd name="connsiteX4" fmla="*/ 0 w 6992874"/>
              <a:gd name="connsiteY4" fmla="*/ 580527 h 580527"/>
              <a:gd name="connsiteX5" fmla="*/ 0 w 6992874"/>
              <a:gd name="connsiteY5" fmla="*/ 0 h 58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2874" h="580527">
                <a:moveTo>
                  <a:pt x="6992874" y="580526"/>
                </a:moveTo>
                <a:lnTo>
                  <a:pt x="290263" y="580526"/>
                </a:lnTo>
                <a:lnTo>
                  <a:pt x="0" y="290263"/>
                </a:lnTo>
                <a:lnTo>
                  <a:pt x="290263" y="1"/>
                </a:lnTo>
                <a:lnTo>
                  <a:pt x="6992874" y="1"/>
                </a:lnTo>
                <a:lnTo>
                  <a:pt x="6992874" y="580526"/>
                </a:lnTo>
                <a:close/>
              </a:path>
            </a:pathLst>
          </a:custGeom>
          <a:solidFill>
            <a:srgbClr val="0070C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1128" tIns="99061" rIns="184912" bIns="99060" numCol="1" spcCol="1270" anchor="ctr" anchorCtr="0">
            <a:noAutofit/>
          </a:bodyPr>
          <a:lstStyle/>
          <a:p>
            <a:pPr algn="ctr" defTabSz="1155700">
              <a:lnSpc>
                <a:spcPct val="90000"/>
              </a:lnSpc>
              <a:spcBef>
                <a:spcPct val="0"/>
              </a:spcBef>
              <a:spcAft>
                <a:spcPct val="35000"/>
              </a:spcAft>
            </a:pPr>
            <a:r>
              <a:rPr lang="en-US" sz="2600" b="1" dirty="0"/>
              <a:t>Credible and </a:t>
            </a:r>
            <a:r>
              <a:rPr lang="en-US" sz="2600" b="1" kern="1200" dirty="0"/>
              <a:t> </a:t>
            </a:r>
            <a:endParaRPr lang="en-IN" sz="2600" b="1" kern="1200" dirty="0"/>
          </a:p>
        </p:txBody>
      </p:sp>
      <p:grpSp>
        <p:nvGrpSpPr>
          <p:cNvPr id="21" name="Group 20"/>
          <p:cNvGrpSpPr/>
          <p:nvPr/>
        </p:nvGrpSpPr>
        <p:grpSpPr>
          <a:xfrm>
            <a:off x="1430867" y="1059725"/>
            <a:ext cx="672253" cy="4433560"/>
            <a:chOff x="1406681" y="1690689"/>
            <a:chExt cx="797023" cy="4433560"/>
          </a:xfrm>
          <a:solidFill>
            <a:srgbClr val="002060"/>
          </a:solidFill>
        </p:grpSpPr>
        <p:sp>
          <p:nvSpPr>
            <p:cNvPr id="7" name="Oval 6"/>
            <p:cNvSpPr/>
            <p:nvPr/>
          </p:nvSpPr>
          <p:spPr>
            <a:xfrm>
              <a:off x="1406681" y="1690689"/>
              <a:ext cx="797023" cy="664464"/>
            </a:xfrm>
            <a:prstGeom prst="ellipse">
              <a:avLst/>
            </a:prstGeom>
            <a:grp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sz="1600" b="1" dirty="0"/>
                <a:t>C1</a:t>
              </a:r>
              <a:endParaRPr lang="en-IN" sz="1600" b="1" dirty="0"/>
            </a:p>
          </p:txBody>
        </p:sp>
        <p:sp>
          <p:nvSpPr>
            <p:cNvPr id="9" name="Oval 8"/>
            <p:cNvSpPr/>
            <p:nvPr/>
          </p:nvSpPr>
          <p:spPr>
            <a:xfrm>
              <a:off x="1406681" y="2444508"/>
              <a:ext cx="797023" cy="664464"/>
            </a:xfrm>
            <a:prstGeom prst="ellipse">
              <a:avLst/>
            </a:prstGeom>
            <a:grp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sz="1600" b="1" dirty="0"/>
                <a:t>C2</a:t>
              </a:r>
              <a:endParaRPr lang="en-IN" sz="1600" b="1" dirty="0"/>
            </a:p>
          </p:txBody>
        </p:sp>
        <p:sp>
          <p:nvSpPr>
            <p:cNvPr id="11" name="Oval 10"/>
            <p:cNvSpPr/>
            <p:nvPr/>
          </p:nvSpPr>
          <p:spPr>
            <a:xfrm>
              <a:off x="1406681" y="3198327"/>
              <a:ext cx="797023" cy="664464"/>
            </a:xfrm>
            <a:prstGeom prst="ellipse">
              <a:avLst/>
            </a:prstGeom>
            <a:grp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sz="1600" b="1" dirty="0"/>
                <a:t>C3</a:t>
              </a:r>
              <a:endParaRPr lang="en-IN" sz="1600" b="1" dirty="0"/>
            </a:p>
          </p:txBody>
        </p:sp>
        <p:sp>
          <p:nvSpPr>
            <p:cNvPr id="13" name="Oval 12"/>
            <p:cNvSpPr/>
            <p:nvPr/>
          </p:nvSpPr>
          <p:spPr>
            <a:xfrm>
              <a:off x="1406681" y="3952146"/>
              <a:ext cx="797023" cy="664464"/>
            </a:xfrm>
            <a:prstGeom prst="ellipse">
              <a:avLst/>
            </a:prstGeom>
            <a:grp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sz="1600" b="1" dirty="0"/>
                <a:t>C4</a:t>
              </a:r>
              <a:endParaRPr lang="en-IN" sz="1600" b="1" dirty="0"/>
            </a:p>
          </p:txBody>
        </p:sp>
        <p:sp>
          <p:nvSpPr>
            <p:cNvPr id="15" name="Oval 14"/>
            <p:cNvSpPr/>
            <p:nvPr/>
          </p:nvSpPr>
          <p:spPr>
            <a:xfrm>
              <a:off x="1406681" y="4705965"/>
              <a:ext cx="797023" cy="664464"/>
            </a:xfrm>
            <a:prstGeom prst="ellipse">
              <a:avLst/>
            </a:prstGeom>
            <a:grp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sz="1600" b="1" dirty="0"/>
                <a:t>C5</a:t>
              </a:r>
              <a:endParaRPr lang="en-IN" sz="1600" b="1" dirty="0"/>
            </a:p>
          </p:txBody>
        </p:sp>
        <p:sp>
          <p:nvSpPr>
            <p:cNvPr id="17" name="Oval 16"/>
            <p:cNvSpPr/>
            <p:nvPr/>
          </p:nvSpPr>
          <p:spPr>
            <a:xfrm>
              <a:off x="1406681" y="5459785"/>
              <a:ext cx="797023" cy="664464"/>
            </a:xfrm>
            <a:prstGeom prst="ellipse">
              <a:avLst/>
            </a:prstGeom>
            <a:grp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sz="1600" b="1" dirty="0"/>
                <a:t>C6</a:t>
              </a:r>
              <a:endParaRPr lang="en-IN" sz="1600" b="1" dirty="0"/>
            </a:p>
          </p:txBody>
        </p:sp>
      </p:grpSp>
      <p:sp>
        <p:nvSpPr>
          <p:cNvPr id="18" name="Freeform 17"/>
          <p:cNvSpPr/>
          <p:nvPr/>
        </p:nvSpPr>
        <p:spPr>
          <a:xfrm>
            <a:off x="1596360" y="5501751"/>
            <a:ext cx="6992874" cy="580528"/>
          </a:xfrm>
          <a:custGeom>
            <a:avLst/>
            <a:gdLst>
              <a:gd name="connsiteX0" fmla="*/ 0 w 6992874"/>
              <a:gd name="connsiteY0" fmla="*/ 0 h 580527"/>
              <a:gd name="connsiteX1" fmla="*/ 6702611 w 6992874"/>
              <a:gd name="connsiteY1" fmla="*/ 0 h 580527"/>
              <a:gd name="connsiteX2" fmla="*/ 6992874 w 6992874"/>
              <a:gd name="connsiteY2" fmla="*/ 290264 h 580527"/>
              <a:gd name="connsiteX3" fmla="*/ 6702611 w 6992874"/>
              <a:gd name="connsiteY3" fmla="*/ 580527 h 580527"/>
              <a:gd name="connsiteX4" fmla="*/ 0 w 6992874"/>
              <a:gd name="connsiteY4" fmla="*/ 580527 h 580527"/>
              <a:gd name="connsiteX5" fmla="*/ 0 w 6992874"/>
              <a:gd name="connsiteY5" fmla="*/ 0 h 58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2874" h="580527">
                <a:moveTo>
                  <a:pt x="6992874" y="580526"/>
                </a:moveTo>
                <a:lnTo>
                  <a:pt x="290263" y="580526"/>
                </a:lnTo>
                <a:lnTo>
                  <a:pt x="0" y="290263"/>
                </a:lnTo>
                <a:lnTo>
                  <a:pt x="290263" y="1"/>
                </a:lnTo>
                <a:lnTo>
                  <a:pt x="6992874" y="1"/>
                </a:lnTo>
                <a:lnTo>
                  <a:pt x="6992874" y="580526"/>
                </a:lnTo>
                <a:close/>
              </a:path>
            </a:pathLst>
          </a:custGeom>
          <a:solidFill>
            <a:srgbClr val="0070C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1128" tIns="99061" rIns="184912" bIns="99060" numCol="1" spcCol="1270" anchor="ctr" anchorCtr="0">
            <a:noAutofit/>
          </a:bodyPr>
          <a:lstStyle/>
          <a:p>
            <a:pPr lvl="0" algn="ctr" defTabSz="1155700" rtl="0">
              <a:lnSpc>
                <a:spcPct val="90000"/>
              </a:lnSpc>
              <a:spcBef>
                <a:spcPct val="0"/>
              </a:spcBef>
              <a:spcAft>
                <a:spcPct val="35000"/>
              </a:spcAft>
            </a:pPr>
            <a:r>
              <a:rPr lang="en-US" sz="2600" b="1" kern="1200" dirty="0"/>
              <a:t>Correctness. </a:t>
            </a:r>
            <a:endParaRPr lang="en-IN" sz="2600" b="1" kern="1200" dirty="0"/>
          </a:p>
        </p:txBody>
      </p:sp>
      <p:sp>
        <p:nvSpPr>
          <p:cNvPr id="19" name="Oval 18"/>
          <p:cNvSpPr/>
          <p:nvPr/>
        </p:nvSpPr>
        <p:spPr>
          <a:xfrm>
            <a:off x="1401527" y="5501751"/>
            <a:ext cx="701593" cy="664464"/>
          </a:xfrm>
          <a:prstGeom prst="ellipse">
            <a:avLst/>
          </a:prstGeom>
          <a:solidFill>
            <a:srgbClr val="002060"/>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r>
              <a:rPr lang="en-US" sz="1600" b="1" dirty="0"/>
              <a:t>C7</a:t>
            </a:r>
            <a:endParaRPr lang="en-IN" sz="1600" b="1" dirty="0"/>
          </a:p>
        </p:txBody>
      </p:sp>
      <p:cxnSp>
        <p:nvCxnSpPr>
          <p:cNvPr id="4" name="Straight Connector 3">
            <a:extLst>
              <a:ext uri="{FF2B5EF4-FFF2-40B4-BE49-F238E27FC236}">
                <a16:creationId xmlns:a16="http://schemas.microsoft.com/office/drawing/2014/main" id="{068018D9-130A-46FE-A807-8F91EC88B900}"/>
              </a:ext>
            </a:extLst>
          </p:cNvPr>
          <p:cNvCxnSpPr>
            <a:cxnSpLocks/>
          </p:cNvCxnSpPr>
          <p:nvPr/>
        </p:nvCxnSpPr>
        <p:spPr>
          <a:xfrm flipV="1">
            <a:off x="438150" y="1068190"/>
            <a:ext cx="10944225" cy="5332610"/>
          </a:xfrm>
          <a:prstGeom prst="line">
            <a:avLst/>
          </a:prstGeom>
        </p:spPr>
        <p:style>
          <a:lnRef idx="3">
            <a:schemeClr val="accent2"/>
          </a:lnRef>
          <a:fillRef idx="0">
            <a:schemeClr val="accent2"/>
          </a:fillRef>
          <a:effectRef idx="2">
            <a:schemeClr val="accent2"/>
          </a:effectRef>
          <a:fontRef idx="minor">
            <a:schemeClr val="tx1"/>
          </a:fontRef>
        </p:style>
      </p:cxnSp>
      <p:cxnSp>
        <p:nvCxnSpPr>
          <p:cNvPr id="3" name="Straight Connector 2">
            <a:extLst>
              <a:ext uri="{FF2B5EF4-FFF2-40B4-BE49-F238E27FC236}">
                <a16:creationId xmlns:a16="http://schemas.microsoft.com/office/drawing/2014/main" id="{50CC7AC6-5D80-4C21-9022-90A5BB226EE0}"/>
              </a:ext>
            </a:extLst>
          </p:cNvPr>
          <p:cNvCxnSpPr/>
          <p:nvPr/>
        </p:nvCxnSpPr>
        <p:spPr>
          <a:xfrm flipV="1">
            <a:off x="405353" y="527901"/>
            <a:ext cx="11378152" cy="5649062"/>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BA2C4A8C-6858-A705-1183-1892887FADA0}"/>
              </a:ext>
            </a:extLst>
          </p:cNvPr>
          <p:cNvCxnSpPr>
            <a:cxnSpLocks/>
          </p:cNvCxnSpPr>
          <p:nvPr/>
        </p:nvCxnSpPr>
        <p:spPr>
          <a:xfrm>
            <a:off x="94268" y="365125"/>
            <a:ext cx="11547835" cy="5991225"/>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29680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6"/>
                                        </p:tgtEl>
                                        <p:attrNameLst>
                                          <p:attrName>fillcolor</p:attrName>
                                        </p:attrNameLst>
                                      </p:cBhvr>
                                      <p:to>
                                        <a:srgbClr val="002060"/>
                                      </p:to>
                                    </p:animClr>
                                    <p:set>
                                      <p:cBhvr>
                                        <p:cTn id="7" dur="500" fill="hold"/>
                                        <p:tgtEl>
                                          <p:spTgt spid="6"/>
                                        </p:tgtEl>
                                        <p:attrNameLst>
                                          <p:attrName>fill.type</p:attrName>
                                        </p:attrNameLst>
                                      </p:cBhvr>
                                      <p:to>
                                        <p:strVal val="solid"/>
                                      </p:to>
                                    </p:set>
                                    <p:set>
                                      <p:cBhvr>
                                        <p:cTn id="8" dur="500" fill="hold"/>
                                        <p:tgtEl>
                                          <p:spTgt spid="6"/>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500" fill="hold"/>
                                        <p:tgtEl>
                                          <p:spTgt spid="8"/>
                                        </p:tgtEl>
                                        <p:attrNameLst>
                                          <p:attrName>fillcolor</p:attrName>
                                        </p:attrNameLst>
                                      </p:cBhvr>
                                      <p:to>
                                        <a:srgbClr val="002060"/>
                                      </p:to>
                                    </p:animClr>
                                    <p:set>
                                      <p:cBhvr>
                                        <p:cTn id="13" dur="500" fill="hold"/>
                                        <p:tgtEl>
                                          <p:spTgt spid="8"/>
                                        </p:tgtEl>
                                        <p:attrNameLst>
                                          <p:attrName>fill.type</p:attrName>
                                        </p:attrNameLst>
                                      </p:cBhvr>
                                      <p:to>
                                        <p:strVal val="solid"/>
                                      </p:to>
                                    </p:set>
                                    <p:set>
                                      <p:cBhvr>
                                        <p:cTn id="14" dur="500" fill="hold"/>
                                        <p:tgtEl>
                                          <p:spTgt spid="8"/>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 presetClass="emph" presetSubtype="2" fill="hold" nodeType="clickEffect">
                                  <p:stCondLst>
                                    <p:cond delay="0"/>
                                  </p:stCondLst>
                                  <p:childTnLst>
                                    <p:animClr clrSpc="rgb" dir="cw">
                                      <p:cBhvr>
                                        <p:cTn id="18" dur="500" fill="hold"/>
                                        <p:tgtEl>
                                          <p:spTgt spid="10"/>
                                        </p:tgtEl>
                                        <p:attrNameLst>
                                          <p:attrName>fillcolor</p:attrName>
                                        </p:attrNameLst>
                                      </p:cBhvr>
                                      <p:to>
                                        <a:srgbClr val="002060"/>
                                      </p:to>
                                    </p:animClr>
                                    <p:set>
                                      <p:cBhvr>
                                        <p:cTn id="19" dur="500" fill="hold"/>
                                        <p:tgtEl>
                                          <p:spTgt spid="10"/>
                                        </p:tgtEl>
                                        <p:attrNameLst>
                                          <p:attrName>fill.type</p:attrName>
                                        </p:attrNameLst>
                                      </p:cBhvr>
                                      <p:to>
                                        <p:strVal val="solid"/>
                                      </p:to>
                                    </p:set>
                                    <p:set>
                                      <p:cBhvr>
                                        <p:cTn id="20" dur="500" fill="hold"/>
                                        <p:tgtEl>
                                          <p:spTgt spid="10"/>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1" presetClass="emph" presetSubtype="2" fill="hold" nodeType="clickEffect">
                                  <p:stCondLst>
                                    <p:cond delay="0"/>
                                  </p:stCondLst>
                                  <p:childTnLst>
                                    <p:animClr clrSpc="rgb" dir="cw">
                                      <p:cBhvr>
                                        <p:cTn id="24" dur="500" fill="hold"/>
                                        <p:tgtEl>
                                          <p:spTgt spid="12"/>
                                        </p:tgtEl>
                                        <p:attrNameLst>
                                          <p:attrName>fillcolor</p:attrName>
                                        </p:attrNameLst>
                                      </p:cBhvr>
                                      <p:to>
                                        <a:srgbClr val="002060"/>
                                      </p:to>
                                    </p:animClr>
                                    <p:set>
                                      <p:cBhvr>
                                        <p:cTn id="25" dur="500" fill="hold"/>
                                        <p:tgtEl>
                                          <p:spTgt spid="12"/>
                                        </p:tgtEl>
                                        <p:attrNameLst>
                                          <p:attrName>fill.type</p:attrName>
                                        </p:attrNameLst>
                                      </p:cBhvr>
                                      <p:to>
                                        <p:strVal val="solid"/>
                                      </p:to>
                                    </p:set>
                                    <p:set>
                                      <p:cBhvr>
                                        <p:cTn id="26" dur="500" fill="hold"/>
                                        <p:tgtEl>
                                          <p:spTgt spid="12"/>
                                        </p:tgtEl>
                                        <p:attrNameLst>
                                          <p:attrName>fill.on</p:attrName>
                                        </p:attrNameLst>
                                      </p:cBhvr>
                                      <p:to>
                                        <p:strVal val="true"/>
                                      </p:to>
                                    </p:set>
                                  </p:childTnLst>
                                </p:cTn>
                              </p:par>
                            </p:childTnLst>
                          </p:cTn>
                        </p:par>
                      </p:childTnLst>
                    </p:cTn>
                  </p:par>
                  <p:par>
                    <p:cTn id="27" fill="hold">
                      <p:stCondLst>
                        <p:cond delay="indefinite"/>
                      </p:stCondLst>
                      <p:childTnLst>
                        <p:par>
                          <p:cTn id="28" fill="hold">
                            <p:stCondLst>
                              <p:cond delay="0"/>
                            </p:stCondLst>
                            <p:childTnLst>
                              <p:par>
                                <p:cTn id="29" presetID="1" presetClass="emph" presetSubtype="2" fill="hold" nodeType="clickEffect">
                                  <p:stCondLst>
                                    <p:cond delay="0"/>
                                  </p:stCondLst>
                                  <p:childTnLst>
                                    <p:animClr clrSpc="rgb" dir="cw">
                                      <p:cBhvr>
                                        <p:cTn id="30" dur="500" fill="hold"/>
                                        <p:tgtEl>
                                          <p:spTgt spid="14"/>
                                        </p:tgtEl>
                                        <p:attrNameLst>
                                          <p:attrName>fillcolor</p:attrName>
                                        </p:attrNameLst>
                                      </p:cBhvr>
                                      <p:to>
                                        <a:srgbClr val="002060"/>
                                      </p:to>
                                    </p:animClr>
                                    <p:set>
                                      <p:cBhvr>
                                        <p:cTn id="31" dur="500" fill="hold"/>
                                        <p:tgtEl>
                                          <p:spTgt spid="14"/>
                                        </p:tgtEl>
                                        <p:attrNameLst>
                                          <p:attrName>fill.type</p:attrName>
                                        </p:attrNameLst>
                                      </p:cBhvr>
                                      <p:to>
                                        <p:strVal val="solid"/>
                                      </p:to>
                                    </p:set>
                                    <p:set>
                                      <p:cBhvr>
                                        <p:cTn id="32" dur="500" fill="hold"/>
                                        <p:tgtEl>
                                          <p:spTgt spid="14"/>
                                        </p:tgtEl>
                                        <p:attrNameLst>
                                          <p:attrName>fill.on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1" presetClass="emph" presetSubtype="2" fill="hold" grpId="0" nodeType="clickEffect">
                                  <p:stCondLst>
                                    <p:cond delay="0"/>
                                  </p:stCondLst>
                                  <p:childTnLst>
                                    <p:animClr clrSpc="rgb" dir="cw">
                                      <p:cBhvr>
                                        <p:cTn id="36" dur="500" fill="hold"/>
                                        <p:tgtEl>
                                          <p:spTgt spid="16"/>
                                        </p:tgtEl>
                                        <p:attrNameLst>
                                          <p:attrName>fillcolor</p:attrName>
                                        </p:attrNameLst>
                                      </p:cBhvr>
                                      <p:to>
                                        <a:srgbClr val="002060"/>
                                      </p:to>
                                    </p:animClr>
                                    <p:set>
                                      <p:cBhvr>
                                        <p:cTn id="37" dur="500" fill="hold"/>
                                        <p:tgtEl>
                                          <p:spTgt spid="16"/>
                                        </p:tgtEl>
                                        <p:attrNameLst>
                                          <p:attrName>fill.type</p:attrName>
                                        </p:attrNameLst>
                                      </p:cBhvr>
                                      <p:to>
                                        <p:strVal val="solid"/>
                                      </p:to>
                                    </p:set>
                                    <p:set>
                                      <p:cBhvr>
                                        <p:cTn id="38" dur="500" fill="hold"/>
                                        <p:tgtEl>
                                          <p:spTgt spid="16"/>
                                        </p:tgtEl>
                                        <p:attrNameLst>
                                          <p:attrName>fill.on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1" presetClass="emph" presetSubtype="2" fill="hold" grpId="0" nodeType="clickEffect">
                                  <p:stCondLst>
                                    <p:cond delay="0"/>
                                  </p:stCondLst>
                                  <p:childTnLst>
                                    <p:animClr clrSpc="rgb" dir="cw">
                                      <p:cBhvr>
                                        <p:cTn id="42" dur="500" fill="hold"/>
                                        <p:tgtEl>
                                          <p:spTgt spid="18"/>
                                        </p:tgtEl>
                                        <p:attrNameLst>
                                          <p:attrName>fillcolor</p:attrName>
                                        </p:attrNameLst>
                                      </p:cBhvr>
                                      <p:to>
                                        <a:srgbClr val="002060"/>
                                      </p:to>
                                    </p:animClr>
                                    <p:set>
                                      <p:cBhvr>
                                        <p:cTn id="43" dur="500" fill="hold"/>
                                        <p:tgtEl>
                                          <p:spTgt spid="18"/>
                                        </p:tgtEl>
                                        <p:attrNameLst>
                                          <p:attrName>fill.type</p:attrName>
                                        </p:attrNameLst>
                                      </p:cBhvr>
                                      <p:to>
                                        <p:strVal val="solid"/>
                                      </p:to>
                                    </p:set>
                                    <p:set>
                                      <p:cBhvr>
                                        <p:cTn id="44" dur="500" fill="hold"/>
                                        <p:tgtEl>
                                          <p:spTgt spid="1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2241"/>
          </a:xfrm>
          <a:noFill/>
          <a:ln>
            <a:noFill/>
          </a:ln>
        </p:spPr>
        <p:txBody>
          <a:bodyPr spcFirstLastPara="1" vert="horz" wrap="square" lIns="91440" tIns="45720" rIns="91440" bIns="45720" rtlCol="0" anchor="ctr" anchorCtr="0">
            <a:normAutofit/>
          </a:bodyPr>
          <a:lstStyle/>
          <a:p>
            <a:r>
              <a:rPr lang="en-IN" sz="3200" b="1" dirty="0">
                <a:solidFill>
                  <a:schemeClr val="accent5">
                    <a:lumMod val="75000"/>
                  </a:schemeClr>
                </a:solidFill>
                <a:latin typeface="Georgia" panose="02040502050405020303" pitchFamily="18" charset="0"/>
              </a:rPr>
              <a:t>Growth Hacker Marketing</a:t>
            </a:r>
          </a:p>
        </p:txBody>
      </p:sp>
      <p:sp>
        <p:nvSpPr>
          <p:cNvPr id="3" name="Content Placeholder 2"/>
          <p:cNvSpPr>
            <a:spLocks noGrp="1"/>
          </p:cNvSpPr>
          <p:nvPr>
            <p:ph idx="1"/>
          </p:nvPr>
        </p:nvSpPr>
        <p:spPr>
          <a:xfrm>
            <a:off x="748660" y="1387366"/>
            <a:ext cx="9677399" cy="4351338"/>
          </a:xfrm>
        </p:spPr>
        <p:txBody>
          <a:bodyPr>
            <a:normAutofit fontScale="92500" lnSpcReduction="10000"/>
          </a:bodyPr>
          <a:lstStyle/>
          <a:p>
            <a:r>
              <a:rPr lang="en-US" b="1" dirty="0">
                <a:solidFill>
                  <a:srgbClr val="002060"/>
                </a:solidFill>
              </a:rPr>
              <a:t>It is possible to start a company on a shoestring budget and create product that customers will love.</a:t>
            </a:r>
          </a:p>
          <a:p>
            <a:r>
              <a:rPr lang="en-US" b="1" dirty="0">
                <a:solidFill>
                  <a:srgbClr val="002060"/>
                </a:solidFill>
              </a:rPr>
              <a:t>New generation companies such as Facebook, Dropbox, Airbnb, Twitter have not been spending a dime on traditional marketing. </a:t>
            </a:r>
          </a:p>
          <a:p>
            <a:r>
              <a:rPr lang="en-US" b="1" dirty="0">
                <a:solidFill>
                  <a:srgbClr val="002060"/>
                </a:solidFill>
              </a:rPr>
              <a:t>They do not advertise on TV, no billboards, no newspaper ad. </a:t>
            </a:r>
          </a:p>
          <a:p>
            <a:r>
              <a:rPr lang="en-US" b="1" dirty="0">
                <a:solidFill>
                  <a:srgbClr val="002060"/>
                </a:solidFill>
              </a:rPr>
              <a:t>They rely on a new strategy — growth hacking — to reach many more people despite modest marketing budgets. </a:t>
            </a:r>
          </a:p>
          <a:p>
            <a:r>
              <a:rPr lang="en-US" b="1" dirty="0">
                <a:solidFill>
                  <a:srgbClr val="002060"/>
                </a:solidFill>
              </a:rPr>
              <a:t>Growth hackers have thrown out the old playbook and replaced it with tools that are </a:t>
            </a:r>
            <a:r>
              <a:rPr lang="en-US" b="1" dirty="0">
                <a:solidFill>
                  <a:schemeClr val="accent5">
                    <a:lumMod val="75000"/>
                  </a:schemeClr>
                </a:solidFill>
              </a:rPr>
              <a:t>testable, trackable, and scalable</a:t>
            </a:r>
            <a:r>
              <a:rPr lang="en-US" b="1" dirty="0">
                <a:solidFill>
                  <a:schemeClr val="accent5">
                    <a:lumMod val="50000"/>
                  </a:schemeClr>
                </a:solidFill>
              </a:rPr>
              <a:t>. </a:t>
            </a:r>
          </a:p>
          <a:p>
            <a:r>
              <a:rPr lang="en-US" b="1" dirty="0">
                <a:solidFill>
                  <a:srgbClr val="002060"/>
                </a:solidFill>
              </a:rPr>
              <a:t>They believe that products and businesses should be modified repeatedly until they're primed to generate explosive reactions</a:t>
            </a:r>
            <a:r>
              <a:rPr lang="en-US" b="1" dirty="0">
                <a:solidFill>
                  <a:schemeClr val="accent5">
                    <a:lumMod val="50000"/>
                  </a:schemeClr>
                </a:solidFill>
              </a:rPr>
              <a:t>.</a:t>
            </a:r>
            <a:endParaRPr lang="en-IN" b="1" dirty="0">
              <a:solidFill>
                <a:schemeClr val="accent5">
                  <a:lumMod val="50000"/>
                </a:schemeClr>
              </a:solidFill>
            </a:endParaRPr>
          </a:p>
        </p:txBody>
      </p:sp>
      <p:cxnSp>
        <p:nvCxnSpPr>
          <p:cNvPr id="4" name="Straight Connector 3">
            <a:extLst>
              <a:ext uri="{FF2B5EF4-FFF2-40B4-BE49-F238E27FC236}">
                <a16:creationId xmlns:a16="http://schemas.microsoft.com/office/drawing/2014/main" id="{BB17E6EC-671F-A754-1E87-27C5F710B248}"/>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FE1B45A6-6158-4965-8DE4-D93D45AAF1ED}"/>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4718991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586" y="575332"/>
            <a:ext cx="10515600" cy="980199"/>
          </a:xfrm>
          <a:noFill/>
          <a:ln>
            <a:noFill/>
          </a:ln>
        </p:spPr>
        <p:txBody>
          <a:bodyPr spcFirstLastPara="1" vert="horz" wrap="square" lIns="91440" tIns="45720" rIns="91440" bIns="45720" rtlCol="0" anchor="ctr" anchorCtr="0">
            <a:normAutofit/>
          </a:bodyPr>
          <a:lstStyle/>
          <a:p>
            <a:r>
              <a:rPr lang="en-US" sz="3200" b="1" dirty="0">
                <a:solidFill>
                  <a:schemeClr val="accent5">
                    <a:lumMod val="75000"/>
                  </a:schemeClr>
                </a:solidFill>
                <a:latin typeface="Georgia" panose="02040502050405020303" pitchFamily="18" charset="0"/>
              </a:rPr>
              <a:t>Growth hacking </a:t>
            </a:r>
            <a:endParaRPr lang="en-IN" sz="3200" b="1" dirty="0">
              <a:solidFill>
                <a:schemeClr val="accent5">
                  <a:lumMod val="75000"/>
                </a:schemeClr>
              </a:solidFill>
              <a:latin typeface="Georgia" panose="02040502050405020303" pitchFamily="18" charset="0"/>
            </a:endParaRPr>
          </a:p>
        </p:txBody>
      </p:sp>
      <p:sp>
        <p:nvSpPr>
          <p:cNvPr id="3" name="Content Placeholder 2"/>
          <p:cNvSpPr>
            <a:spLocks noGrp="1"/>
          </p:cNvSpPr>
          <p:nvPr>
            <p:ph idx="1"/>
          </p:nvPr>
        </p:nvSpPr>
        <p:spPr>
          <a:xfrm>
            <a:off x="722586" y="1442604"/>
            <a:ext cx="9516916" cy="4351338"/>
          </a:xfrm>
        </p:spPr>
        <p:txBody>
          <a:bodyPr>
            <a:normAutofit fontScale="92500"/>
          </a:bodyPr>
          <a:lstStyle/>
          <a:p>
            <a:r>
              <a:rPr lang="en-US" b="1" dirty="0">
                <a:solidFill>
                  <a:srgbClr val="002060"/>
                </a:solidFill>
              </a:rPr>
              <a:t>A new marketing tool to achieve rapid growth on small budget. </a:t>
            </a:r>
          </a:p>
          <a:p>
            <a:r>
              <a:rPr lang="en-US" b="1" dirty="0">
                <a:solidFill>
                  <a:srgbClr val="002060"/>
                </a:solidFill>
              </a:rPr>
              <a:t>Growth hacking helps to acquire many users at a nominal cost. </a:t>
            </a:r>
          </a:p>
          <a:p>
            <a:r>
              <a:rPr lang="en-US" b="1" dirty="0">
                <a:solidFill>
                  <a:srgbClr val="002060"/>
                </a:solidFill>
              </a:rPr>
              <a:t>A team usually involve marketers, developers, engineers and product managers.</a:t>
            </a:r>
          </a:p>
          <a:p>
            <a:r>
              <a:rPr lang="en-US" b="1" dirty="0">
                <a:solidFill>
                  <a:srgbClr val="002060"/>
                </a:solidFill>
              </a:rPr>
              <a:t>The growth hacker often use </a:t>
            </a:r>
            <a:r>
              <a:rPr lang="en-US" b="1" dirty="0">
                <a:solidFill>
                  <a:srgbClr val="0070C0"/>
                </a:solidFill>
              </a:rPr>
              <a:t>social media</a:t>
            </a:r>
            <a:r>
              <a:rPr lang="en-US" b="1" dirty="0">
                <a:solidFill>
                  <a:srgbClr val="002060"/>
                </a:solidFill>
              </a:rPr>
              <a:t>, </a:t>
            </a:r>
            <a:r>
              <a:rPr lang="en-US" b="1" dirty="0">
                <a:solidFill>
                  <a:srgbClr val="0070C0"/>
                </a:solidFill>
              </a:rPr>
              <a:t>viral contents</a:t>
            </a:r>
            <a:r>
              <a:rPr lang="en-US" b="1" dirty="0">
                <a:solidFill>
                  <a:srgbClr val="002060"/>
                </a:solidFill>
              </a:rPr>
              <a:t>, </a:t>
            </a:r>
            <a:r>
              <a:rPr lang="en-US" b="1" dirty="0">
                <a:solidFill>
                  <a:srgbClr val="0070C0"/>
                </a:solidFill>
              </a:rPr>
              <a:t>content marketing</a:t>
            </a:r>
            <a:r>
              <a:rPr lang="en-US" b="1" dirty="0">
                <a:solidFill>
                  <a:srgbClr val="002060"/>
                </a:solidFill>
              </a:rPr>
              <a:t>, </a:t>
            </a:r>
            <a:r>
              <a:rPr lang="en-US" b="1" dirty="0">
                <a:solidFill>
                  <a:srgbClr val="0070C0"/>
                </a:solidFill>
              </a:rPr>
              <a:t>influencers</a:t>
            </a:r>
            <a:r>
              <a:rPr lang="en-US" b="1" dirty="0">
                <a:solidFill>
                  <a:srgbClr val="002060"/>
                </a:solidFill>
              </a:rPr>
              <a:t>. </a:t>
            </a:r>
          </a:p>
          <a:p>
            <a:r>
              <a:rPr lang="en-US" b="1" dirty="0">
                <a:solidFill>
                  <a:srgbClr val="002060"/>
                </a:solidFill>
              </a:rPr>
              <a:t>They build a </a:t>
            </a:r>
            <a:r>
              <a:rPr lang="en-US" b="1" dirty="0">
                <a:solidFill>
                  <a:srgbClr val="0070C0"/>
                </a:solidFill>
              </a:rPr>
              <a:t>story</a:t>
            </a:r>
            <a:r>
              <a:rPr lang="en-US" b="1" dirty="0">
                <a:solidFill>
                  <a:srgbClr val="002060"/>
                </a:solidFill>
              </a:rPr>
              <a:t> that </a:t>
            </a:r>
            <a:r>
              <a:rPr lang="en-US" b="1" dirty="0">
                <a:solidFill>
                  <a:srgbClr val="0070C0"/>
                </a:solidFill>
              </a:rPr>
              <a:t>resonates</a:t>
            </a:r>
            <a:r>
              <a:rPr lang="en-US" b="1" dirty="0">
                <a:solidFill>
                  <a:srgbClr val="002060"/>
                </a:solidFill>
              </a:rPr>
              <a:t> with customer’s </a:t>
            </a:r>
            <a:r>
              <a:rPr lang="en-US" b="1" dirty="0">
                <a:solidFill>
                  <a:srgbClr val="0070C0"/>
                </a:solidFill>
              </a:rPr>
              <a:t>emotion</a:t>
            </a:r>
            <a:r>
              <a:rPr lang="en-US" b="1" dirty="0">
                <a:solidFill>
                  <a:srgbClr val="002060"/>
                </a:solidFill>
              </a:rPr>
              <a:t>. </a:t>
            </a:r>
          </a:p>
          <a:p>
            <a:r>
              <a:rPr lang="en-US" b="1" dirty="0">
                <a:solidFill>
                  <a:srgbClr val="002060"/>
                </a:solidFill>
              </a:rPr>
              <a:t>It must be supported by a compelling </a:t>
            </a:r>
            <a:r>
              <a:rPr lang="en-US" b="1" dirty="0">
                <a:solidFill>
                  <a:srgbClr val="0070C0"/>
                </a:solidFill>
              </a:rPr>
              <a:t>product-market-fit</a:t>
            </a:r>
            <a:r>
              <a:rPr lang="en-US" b="1" dirty="0">
                <a:solidFill>
                  <a:srgbClr val="002060"/>
                </a:solidFill>
              </a:rPr>
              <a:t> in order for retaining the satisfying customers once acquired leading to a viral loop of evangelists – a self-promotional model.</a:t>
            </a:r>
          </a:p>
        </p:txBody>
      </p:sp>
      <p:cxnSp>
        <p:nvCxnSpPr>
          <p:cNvPr id="4" name="Straight Connector 3">
            <a:extLst>
              <a:ext uri="{FF2B5EF4-FFF2-40B4-BE49-F238E27FC236}">
                <a16:creationId xmlns:a16="http://schemas.microsoft.com/office/drawing/2014/main" id="{252AD644-76D6-16BA-2F76-74368D50C67F}"/>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B4CD68E0-9F31-A8C0-8369-EECF2C8F6485}"/>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8249860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446" y="433754"/>
            <a:ext cx="10515600" cy="891809"/>
          </a:xfrm>
        </p:spPr>
        <p:txBody>
          <a:bodyPr/>
          <a:lstStyle/>
          <a:p>
            <a:r>
              <a:rPr lang="en-US" sz="3200" b="1" dirty="0">
                <a:solidFill>
                  <a:schemeClr val="accent5">
                    <a:lumMod val="75000"/>
                  </a:schemeClr>
                </a:solidFill>
                <a:latin typeface="Georgia" panose="02040502050405020303" pitchFamily="18" charset="0"/>
              </a:rPr>
              <a:t>Growth Hacking</a:t>
            </a:r>
            <a:endParaRPr lang="en-IN" sz="3200" b="1" dirty="0">
              <a:solidFill>
                <a:schemeClr val="accent5">
                  <a:lumMod val="75000"/>
                </a:schemeClr>
              </a:solidFill>
              <a:latin typeface="Georgia" panose="02040502050405020303" pitchFamily="18" charset="0"/>
            </a:endParaRPr>
          </a:p>
        </p:txBody>
      </p:sp>
      <p:sp>
        <p:nvSpPr>
          <p:cNvPr id="3" name="Text Placeholder 2"/>
          <p:cNvSpPr>
            <a:spLocks noGrp="1"/>
          </p:cNvSpPr>
          <p:nvPr>
            <p:ph type="body" idx="1"/>
          </p:nvPr>
        </p:nvSpPr>
        <p:spPr>
          <a:xfrm>
            <a:off x="743707" y="1325563"/>
            <a:ext cx="9837077" cy="4233555"/>
          </a:xfrm>
        </p:spPr>
        <p:txBody>
          <a:bodyPr/>
          <a:lstStyle/>
          <a:p>
            <a:r>
              <a:rPr lang="en-US" sz="2600" b="1" dirty="0">
                <a:solidFill>
                  <a:schemeClr val="accent5">
                    <a:lumMod val="50000"/>
                  </a:schemeClr>
                </a:solidFill>
              </a:rPr>
              <a:t>It reduces customer acquisition cost, help increasing margins, ease of product extension, and promote long term sustainable growth. Else, you will pour water in a leaky bucket.</a:t>
            </a:r>
          </a:p>
          <a:p>
            <a:r>
              <a:rPr lang="en-US" sz="2600" b="1" dirty="0">
                <a:solidFill>
                  <a:schemeClr val="accent5">
                    <a:lumMod val="50000"/>
                  </a:schemeClr>
                </a:solidFill>
              </a:rPr>
              <a:t>growth hacking uses iterations to rapidly test persuasive copy, email marketing, SEO and viral strategies, to increase conversion rates and achieving rapid growth of the user base. </a:t>
            </a:r>
          </a:p>
          <a:p>
            <a:r>
              <a:rPr lang="en-US" sz="2600" b="1" dirty="0">
                <a:solidFill>
                  <a:schemeClr val="accent5">
                    <a:lumMod val="50000"/>
                  </a:schemeClr>
                </a:solidFill>
              </a:rPr>
              <a:t>Techniques such as </a:t>
            </a:r>
            <a:r>
              <a:rPr lang="en-US" sz="2600" b="1" dirty="0">
                <a:solidFill>
                  <a:schemeClr val="accent5">
                    <a:lumMod val="50000"/>
                  </a:schemeClr>
                </a:solidFill>
                <a:hlinkClick r:id="rId2" tooltip="Search engine optimization"/>
              </a:rPr>
              <a:t>search engine optimization</a:t>
            </a:r>
            <a:r>
              <a:rPr lang="en-US" sz="2600" b="1" dirty="0">
                <a:solidFill>
                  <a:schemeClr val="accent5">
                    <a:lumMod val="50000"/>
                  </a:schemeClr>
                </a:solidFill>
              </a:rPr>
              <a:t>, website analytics, </a:t>
            </a:r>
            <a:r>
              <a:rPr lang="en-US" sz="2600" b="1" dirty="0">
                <a:solidFill>
                  <a:schemeClr val="accent5">
                    <a:lumMod val="50000"/>
                  </a:schemeClr>
                </a:solidFill>
                <a:hlinkClick r:id="rId3" tooltip="Content marketing"/>
              </a:rPr>
              <a:t>content marketing</a:t>
            </a:r>
            <a:r>
              <a:rPr lang="en-US" sz="2600" b="1" dirty="0">
                <a:solidFill>
                  <a:schemeClr val="accent5">
                    <a:lumMod val="50000"/>
                  </a:schemeClr>
                </a:solidFill>
              </a:rPr>
              <a:t> and </a:t>
            </a:r>
            <a:r>
              <a:rPr lang="en-US" sz="2600" b="1" dirty="0">
                <a:solidFill>
                  <a:schemeClr val="accent5">
                    <a:lumMod val="50000"/>
                  </a:schemeClr>
                </a:solidFill>
                <a:hlinkClick r:id="rId4" tooltip="A/B testing"/>
              </a:rPr>
              <a:t>A/B testing</a:t>
            </a:r>
            <a:r>
              <a:rPr lang="en-US" sz="2600" b="1" dirty="0">
                <a:solidFill>
                  <a:schemeClr val="accent5">
                    <a:lumMod val="50000"/>
                  </a:schemeClr>
                </a:solidFill>
              </a:rPr>
              <a:t> are used. </a:t>
            </a:r>
          </a:p>
          <a:p>
            <a:r>
              <a:rPr lang="en-US" sz="2600" b="1" dirty="0">
                <a:solidFill>
                  <a:schemeClr val="accent5">
                    <a:lumMod val="50000"/>
                  </a:schemeClr>
                </a:solidFill>
              </a:rPr>
              <a:t>Growth hacker use validated learning with the help of </a:t>
            </a:r>
            <a:r>
              <a:rPr lang="en-US" sz="2600" b="1" dirty="0">
                <a:solidFill>
                  <a:srgbClr val="0070C0"/>
                </a:solidFill>
              </a:rPr>
              <a:t>minimum viable product</a:t>
            </a:r>
            <a:r>
              <a:rPr lang="en-US" sz="2600" b="1" dirty="0">
                <a:solidFill>
                  <a:schemeClr val="accent5">
                    <a:lumMod val="50000"/>
                  </a:schemeClr>
                </a:solidFill>
              </a:rPr>
              <a:t>.  </a:t>
            </a:r>
            <a:endParaRPr lang="en-IN" sz="2600" b="1" dirty="0">
              <a:solidFill>
                <a:schemeClr val="accent5">
                  <a:lumMod val="50000"/>
                </a:schemeClr>
              </a:solidFill>
            </a:endParaRPr>
          </a:p>
          <a:p>
            <a:endParaRPr lang="en-IN" sz="2600" b="1" dirty="0">
              <a:solidFill>
                <a:schemeClr val="accent5">
                  <a:lumMod val="50000"/>
                </a:schemeClr>
              </a:solidFill>
            </a:endParaRPr>
          </a:p>
        </p:txBody>
      </p:sp>
      <p:cxnSp>
        <p:nvCxnSpPr>
          <p:cNvPr id="4" name="Straight Connector 3">
            <a:extLst>
              <a:ext uri="{FF2B5EF4-FFF2-40B4-BE49-F238E27FC236}">
                <a16:creationId xmlns:a16="http://schemas.microsoft.com/office/drawing/2014/main" id="{20D0AA96-5889-A7E7-B63A-B73A05E3E207}"/>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8B10E2DF-9491-832C-6CB1-81CFF0BAF45C}"/>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2941441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45700" rIns="91425" bIns="45700" anchor="ctr" anchorCtr="0">
            <a:noAutofit/>
          </a:bodyPr>
          <a:lstStyle/>
          <a:p>
            <a:r>
              <a:rPr lang="en-IN" sz="3200" b="1" dirty="0">
                <a:solidFill>
                  <a:schemeClr val="accent5">
                    <a:lumMod val="75000"/>
                  </a:schemeClr>
                </a:solidFill>
                <a:latin typeface="Georgia" panose="02040502050405020303" pitchFamily="18" charset="0"/>
              </a:rPr>
              <a:t>Growth Hacking</a:t>
            </a:r>
            <a:endParaRPr lang="en-US" sz="3200" b="1" dirty="0">
              <a:solidFill>
                <a:schemeClr val="accent5">
                  <a:lumMod val="75000"/>
                </a:schemeClr>
              </a:solidFill>
              <a:latin typeface="Georgia" panose="02040502050405020303" pitchFamily="18" charset="0"/>
            </a:endParaRPr>
          </a:p>
        </p:txBody>
      </p:sp>
      <p:sp>
        <p:nvSpPr>
          <p:cNvPr id="5" name="Freeform 4"/>
          <p:cNvSpPr/>
          <p:nvPr/>
        </p:nvSpPr>
        <p:spPr>
          <a:xfrm>
            <a:off x="412957" y="342034"/>
            <a:ext cx="10130073" cy="3710787"/>
          </a:xfrm>
          <a:custGeom>
            <a:avLst/>
            <a:gdLst>
              <a:gd name="connsiteX0" fmla="*/ 0 w 6904653"/>
              <a:gd name="connsiteY0" fmla="*/ 2154677 h 3367657"/>
              <a:gd name="connsiteX1" fmla="*/ 5197151 w 6904653"/>
              <a:gd name="connsiteY1" fmla="*/ 213910 h 3367657"/>
              <a:gd name="connsiteX2" fmla="*/ 6232849 w 6904653"/>
              <a:gd name="connsiteY2" fmla="*/ 297886 h 3367657"/>
              <a:gd name="connsiteX3" fmla="*/ 6774025 w 6904653"/>
              <a:gd name="connsiteY3" fmla="*/ 2425265 h 3367657"/>
              <a:gd name="connsiteX4" fmla="*/ 6904653 w 6904653"/>
              <a:gd name="connsiteY4" fmla="*/ 3367657 h 3367657"/>
              <a:gd name="connsiteX0" fmla="*/ 0 w 6800805"/>
              <a:gd name="connsiteY0" fmla="*/ 2154677 h 3632833"/>
              <a:gd name="connsiteX1" fmla="*/ 5197151 w 6800805"/>
              <a:gd name="connsiteY1" fmla="*/ 213910 h 3632833"/>
              <a:gd name="connsiteX2" fmla="*/ 6232849 w 6800805"/>
              <a:gd name="connsiteY2" fmla="*/ 297886 h 3632833"/>
              <a:gd name="connsiteX3" fmla="*/ 6774025 w 6800805"/>
              <a:gd name="connsiteY3" fmla="*/ 2425265 h 3632833"/>
              <a:gd name="connsiteX4" fmla="*/ 6619395 w 6800805"/>
              <a:gd name="connsiteY4" fmla="*/ 3632833 h 3632833"/>
              <a:gd name="connsiteX0" fmla="*/ 0 w 6619395"/>
              <a:gd name="connsiteY0" fmla="*/ 2163136 h 3641292"/>
              <a:gd name="connsiteX1" fmla="*/ 5197151 w 6619395"/>
              <a:gd name="connsiteY1" fmla="*/ 222369 h 3641292"/>
              <a:gd name="connsiteX2" fmla="*/ 6232849 w 6619395"/>
              <a:gd name="connsiteY2" fmla="*/ 306345 h 3641292"/>
              <a:gd name="connsiteX3" fmla="*/ 6524425 w 6619395"/>
              <a:gd name="connsiteY3" fmla="*/ 2580028 h 3641292"/>
              <a:gd name="connsiteX4" fmla="*/ 6619395 w 6619395"/>
              <a:gd name="connsiteY4" fmla="*/ 3641292 h 3641292"/>
              <a:gd name="connsiteX0" fmla="*/ 0 w 6619395"/>
              <a:gd name="connsiteY0" fmla="*/ 2163136 h 3641292"/>
              <a:gd name="connsiteX1" fmla="*/ 5197151 w 6619395"/>
              <a:gd name="connsiteY1" fmla="*/ 222369 h 3641292"/>
              <a:gd name="connsiteX2" fmla="*/ 6232849 w 6619395"/>
              <a:gd name="connsiteY2" fmla="*/ 306345 h 3641292"/>
              <a:gd name="connsiteX3" fmla="*/ 6524425 w 6619395"/>
              <a:gd name="connsiteY3" fmla="*/ 2580028 h 3641292"/>
              <a:gd name="connsiteX4" fmla="*/ 6619395 w 6619395"/>
              <a:gd name="connsiteY4" fmla="*/ 3641292 h 3641292"/>
              <a:gd name="connsiteX0" fmla="*/ 0 w 6619395"/>
              <a:gd name="connsiteY0" fmla="*/ 2163136 h 3641292"/>
              <a:gd name="connsiteX1" fmla="*/ 5197151 w 6619395"/>
              <a:gd name="connsiteY1" fmla="*/ 222369 h 3641292"/>
              <a:gd name="connsiteX2" fmla="*/ 6232849 w 6619395"/>
              <a:gd name="connsiteY2" fmla="*/ 306345 h 3641292"/>
              <a:gd name="connsiteX3" fmla="*/ 6524425 w 6619395"/>
              <a:gd name="connsiteY3" fmla="*/ 2580028 h 3641292"/>
              <a:gd name="connsiteX4" fmla="*/ 6619395 w 6619395"/>
              <a:gd name="connsiteY4" fmla="*/ 3641292 h 3641292"/>
              <a:gd name="connsiteX0" fmla="*/ 0 w 6583738"/>
              <a:gd name="connsiteY0" fmla="*/ 2163136 h 3696156"/>
              <a:gd name="connsiteX1" fmla="*/ 5197151 w 6583738"/>
              <a:gd name="connsiteY1" fmla="*/ 222369 h 3696156"/>
              <a:gd name="connsiteX2" fmla="*/ 6232849 w 6583738"/>
              <a:gd name="connsiteY2" fmla="*/ 306345 h 3696156"/>
              <a:gd name="connsiteX3" fmla="*/ 6524425 w 6583738"/>
              <a:gd name="connsiteY3" fmla="*/ 2580028 h 3696156"/>
              <a:gd name="connsiteX4" fmla="*/ 6583738 w 6583738"/>
              <a:gd name="connsiteY4" fmla="*/ 3696156 h 3696156"/>
              <a:gd name="connsiteX0" fmla="*/ 0 w 6583738"/>
              <a:gd name="connsiteY0" fmla="*/ 2177767 h 3710787"/>
              <a:gd name="connsiteX1" fmla="*/ 5197151 w 6583738"/>
              <a:gd name="connsiteY1" fmla="*/ 237000 h 3710787"/>
              <a:gd name="connsiteX2" fmla="*/ 6393306 w 6583738"/>
              <a:gd name="connsiteY2" fmla="*/ 293544 h 3710787"/>
              <a:gd name="connsiteX3" fmla="*/ 6524425 w 6583738"/>
              <a:gd name="connsiteY3" fmla="*/ 2594659 h 3710787"/>
              <a:gd name="connsiteX4" fmla="*/ 6583738 w 6583738"/>
              <a:gd name="connsiteY4" fmla="*/ 3710787 h 3710787"/>
              <a:gd name="connsiteX0" fmla="*/ 0 w 6583738"/>
              <a:gd name="connsiteY0" fmla="*/ 2177767 h 3710787"/>
              <a:gd name="connsiteX1" fmla="*/ 5197151 w 6583738"/>
              <a:gd name="connsiteY1" fmla="*/ 237000 h 3710787"/>
              <a:gd name="connsiteX2" fmla="*/ 6393306 w 6583738"/>
              <a:gd name="connsiteY2" fmla="*/ 293544 h 3710787"/>
              <a:gd name="connsiteX3" fmla="*/ 6554139 w 6583738"/>
              <a:gd name="connsiteY3" fmla="*/ 2594659 h 3710787"/>
              <a:gd name="connsiteX4" fmla="*/ 6583738 w 6583738"/>
              <a:gd name="connsiteY4" fmla="*/ 3710787 h 3710787"/>
              <a:gd name="connsiteX0" fmla="*/ 0 w 6595420"/>
              <a:gd name="connsiteY0" fmla="*/ 2177767 h 3710787"/>
              <a:gd name="connsiteX1" fmla="*/ 5197151 w 6595420"/>
              <a:gd name="connsiteY1" fmla="*/ 237000 h 3710787"/>
              <a:gd name="connsiteX2" fmla="*/ 6393306 w 6595420"/>
              <a:gd name="connsiteY2" fmla="*/ 293544 h 3710787"/>
              <a:gd name="connsiteX3" fmla="*/ 6577910 w 6595420"/>
              <a:gd name="connsiteY3" fmla="*/ 2594659 h 3710787"/>
              <a:gd name="connsiteX4" fmla="*/ 6583738 w 6595420"/>
              <a:gd name="connsiteY4" fmla="*/ 3710787 h 3710787"/>
              <a:gd name="connsiteX0" fmla="*/ 0 w 6583738"/>
              <a:gd name="connsiteY0" fmla="*/ 2177767 h 3710787"/>
              <a:gd name="connsiteX1" fmla="*/ 5197151 w 6583738"/>
              <a:gd name="connsiteY1" fmla="*/ 237000 h 3710787"/>
              <a:gd name="connsiteX2" fmla="*/ 6393306 w 6583738"/>
              <a:gd name="connsiteY2" fmla="*/ 293544 h 3710787"/>
              <a:gd name="connsiteX3" fmla="*/ 6577910 w 6583738"/>
              <a:gd name="connsiteY3" fmla="*/ 2594659 h 3710787"/>
              <a:gd name="connsiteX4" fmla="*/ 6583738 w 6583738"/>
              <a:gd name="connsiteY4" fmla="*/ 3710787 h 3710787"/>
              <a:gd name="connsiteX0" fmla="*/ 0 w 6583738"/>
              <a:gd name="connsiteY0" fmla="*/ 2177767 h 3710787"/>
              <a:gd name="connsiteX1" fmla="*/ 5197151 w 6583738"/>
              <a:gd name="connsiteY1" fmla="*/ 237000 h 3710787"/>
              <a:gd name="connsiteX2" fmla="*/ 6393306 w 6583738"/>
              <a:gd name="connsiteY2" fmla="*/ 293544 h 3710787"/>
              <a:gd name="connsiteX3" fmla="*/ 6577910 w 6583738"/>
              <a:gd name="connsiteY3" fmla="*/ 2594659 h 3710787"/>
              <a:gd name="connsiteX4" fmla="*/ 6583738 w 6583738"/>
              <a:gd name="connsiteY4" fmla="*/ 3710787 h 3710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3738" h="3710787">
                <a:moveTo>
                  <a:pt x="0" y="2177767"/>
                </a:moveTo>
                <a:cubicBezTo>
                  <a:pt x="2079171" y="1362116"/>
                  <a:pt x="4131600" y="551037"/>
                  <a:pt x="5197151" y="237000"/>
                </a:cubicBezTo>
                <a:cubicBezTo>
                  <a:pt x="6262702" y="-77037"/>
                  <a:pt x="6163180" y="-99399"/>
                  <a:pt x="6393306" y="293544"/>
                </a:cubicBezTo>
                <a:cubicBezTo>
                  <a:pt x="6623432" y="686487"/>
                  <a:pt x="6561029" y="1991590"/>
                  <a:pt x="6577910" y="2594659"/>
                </a:cubicBezTo>
                <a:cubicBezTo>
                  <a:pt x="6582904" y="3197728"/>
                  <a:pt x="6574407" y="3495405"/>
                  <a:pt x="6583738" y="3710787"/>
                </a:cubicBezTo>
              </a:path>
            </a:pathLst>
          </a:custGeom>
          <a:noFill/>
          <a:ln w="34925">
            <a:solidFill>
              <a:srgbClr val="C00000"/>
            </a:solidFill>
            <a:prstDash val="dash"/>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2543" y="3132447"/>
            <a:ext cx="2992341" cy="2992341"/>
          </a:xfrm>
          <a:prstGeom prst="rect">
            <a:avLst/>
          </a:prstGeom>
        </p:spPr>
      </p:pic>
      <p:sp>
        <p:nvSpPr>
          <p:cNvPr id="3" name="Content Placeholder 2"/>
          <p:cNvSpPr>
            <a:spLocks noGrp="1"/>
          </p:cNvSpPr>
          <p:nvPr>
            <p:ph idx="1"/>
          </p:nvPr>
        </p:nvSpPr>
        <p:spPr>
          <a:xfrm>
            <a:off x="703357" y="1597025"/>
            <a:ext cx="10515600" cy="4351338"/>
          </a:xfrm>
        </p:spPr>
        <p:txBody>
          <a:bodyPr>
            <a:normAutofit/>
          </a:bodyPr>
          <a:lstStyle/>
          <a:p>
            <a:r>
              <a:rPr lang="en-IN" b="1" dirty="0">
                <a:solidFill>
                  <a:schemeClr val="accent5">
                    <a:lumMod val="50000"/>
                  </a:schemeClr>
                </a:solidFill>
              </a:rPr>
              <a:t>Growth appears like a magic wand: as if growth is the end (success).</a:t>
            </a:r>
          </a:p>
          <a:p>
            <a:r>
              <a:rPr lang="en-IN" b="1" dirty="0">
                <a:solidFill>
                  <a:schemeClr val="accent5">
                    <a:lumMod val="50000"/>
                  </a:schemeClr>
                </a:solidFill>
              </a:rPr>
              <a:t>This can be one of the greatest of mistakes in startup marketing.</a:t>
            </a:r>
          </a:p>
          <a:p>
            <a:r>
              <a:rPr lang="en-IN" b="1" dirty="0">
                <a:solidFill>
                  <a:schemeClr val="accent5">
                    <a:lumMod val="50000"/>
                  </a:schemeClr>
                </a:solidFill>
              </a:rPr>
              <a:t>The product-market-fit, positioning the product to the target customers and meeting their exact needs better than competitors, vibrant sales funnel are indispensable. </a:t>
            </a:r>
          </a:p>
          <a:p>
            <a:r>
              <a:rPr lang="en-IN" b="1" dirty="0">
                <a:solidFill>
                  <a:schemeClr val="accent5">
                    <a:lumMod val="50000"/>
                  </a:schemeClr>
                </a:solidFill>
              </a:rPr>
              <a:t>Premature growth may ruin your business and waste </a:t>
            </a:r>
            <a:r>
              <a:rPr lang="en-IN" b="1" dirty="0"/>
              <a:t>you</a:t>
            </a:r>
            <a:r>
              <a:rPr lang="en-IN" b="1" dirty="0">
                <a:solidFill>
                  <a:schemeClr val="accent5">
                    <a:lumMod val="50000"/>
                  </a:schemeClr>
                </a:solidFill>
              </a:rPr>
              <a:t>r resources.</a:t>
            </a:r>
          </a:p>
          <a:p>
            <a:r>
              <a:rPr lang="en-US" b="1" dirty="0">
                <a:solidFill>
                  <a:schemeClr val="accent5">
                    <a:lumMod val="50000"/>
                  </a:schemeClr>
                </a:solidFill>
              </a:rPr>
              <a:t>While you celebrate the growth, you may </a:t>
            </a:r>
            <a:br>
              <a:rPr lang="en-US" b="1" dirty="0">
                <a:solidFill>
                  <a:schemeClr val="accent5">
                    <a:lumMod val="50000"/>
                  </a:schemeClr>
                </a:solidFill>
              </a:rPr>
            </a:br>
            <a:r>
              <a:rPr lang="en-US" b="1" dirty="0">
                <a:solidFill>
                  <a:schemeClr val="accent5">
                    <a:lumMod val="50000"/>
                  </a:schemeClr>
                </a:solidFill>
              </a:rPr>
              <a:t>suddenly fall over the precipice.  </a:t>
            </a:r>
            <a:endParaRPr lang="en-IN" b="1" dirty="0">
              <a:solidFill>
                <a:schemeClr val="accent5">
                  <a:lumMod val="50000"/>
                </a:schemeClr>
              </a:solidFill>
            </a:endParaRPr>
          </a:p>
        </p:txBody>
      </p:sp>
      <p:cxnSp>
        <p:nvCxnSpPr>
          <p:cNvPr id="4" name="Straight Connector 3">
            <a:extLst>
              <a:ext uri="{FF2B5EF4-FFF2-40B4-BE49-F238E27FC236}">
                <a16:creationId xmlns:a16="http://schemas.microsoft.com/office/drawing/2014/main" id="{F9B0CBE7-9CD4-55F3-AE03-760DAB533766}"/>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24DF13A9-98FA-5761-B1E5-468532A228EA}"/>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069259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45700" rIns="91425" bIns="45700" anchor="ctr" anchorCtr="0">
            <a:noAutofit/>
          </a:bodyPr>
          <a:lstStyle/>
          <a:p>
            <a:r>
              <a:rPr lang="en-IN" sz="3200" b="1" dirty="0">
                <a:solidFill>
                  <a:schemeClr val="accent5">
                    <a:lumMod val="75000"/>
                  </a:schemeClr>
                </a:solidFill>
                <a:latin typeface="Georgia" panose="02040502050405020303" pitchFamily="18" charset="0"/>
              </a:rPr>
              <a:t>How fast to grow?</a:t>
            </a:r>
            <a:endParaRPr lang="en-US" sz="3200" b="1" dirty="0">
              <a:solidFill>
                <a:schemeClr val="accent5">
                  <a:lumMod val="75000"/>
                </a:schemeClr>
              </a:solidFill>
              <a:latin typeface="Georgia" panose="02040502050405020303" pitchFamily="18" charset="0"/>
            </a:endParaRPr>
          </a:p>
        </p:txBody>
      </p:sp>
      <p:sp>
        <p:nvSpPr>
          <p:cNvPr id="3" name="Content Placeholder 2"/>
          <p:cNvSpPr>
            <a:spLocks noGrp="1"/>
          </p:cNvSpPr>
          <p:nvPr>
            <p:ph idx="1"/>
          </p:nvPr>
        </p:nvSpPr>
        <p:spPr>
          <a:xfrm>
            <a:off x="838200" y="1545336"/>
            <a:ext cx="10515600" cy="4631627"/>
          </a:xfrm>
        </p:spPr>
        <p:txBody>
          <a:bodyPr/>
          <a:lstStyle/>
          <a:p>
            <a:pPr marL="0" indent="0">
              <a:buNone/>
            </a:pPr>
            <a:r>
              <a:rPr lang="en-IN" b="1" dirty="0">
                <a:solidFill>
                  <a:schemeClr val="accent5">
                    <a:lumMod val="50000"/>
                  </a:schemeClr>
                </a:solidFill>
              </a:rPr>
              <a:t>Every decision that a growth hacker makes is driven by seeking measurable growth. </a:t>
            </a:r>
          </a:p>
          <a:p>
            <a:pPr marL="0" indent="0">
              <a:buNone/>
            </a:pPr>
            <a:r>
              <a:rPr lang="en-IN" b="1" dirty="0">
                <a:solidFill>
                  <a:schemeClr val="accent5">
                    <a:lumMod val="50000"/>
                  </a:schemeClr>
                </a:solidFill>
              </a:rPr>
              <a:t>Vanity metrics do not indicate anything (!!!) towards a profitable and scalable business.</a:t>
            </a:r>
          </a:p>
          <a:p>
            <a:r>
              <a:rPr lang="en-IN" b="1" dirty="0">
                <a:solidFill>
                  <a:schemeClr val="accent5">
                    <a:lumMod val="50000"/>
                  </a:schemeClr>
                </a:solidFill>
              </a:rPr>
              <a:t>Create a viral loop</a:t>
            </a:r>
          </a:p>
          <a:p>
            <a:r>
              <a:rPr lang="en-IN" b="1" dirty="0">
                <a:solidFill>
                  <a:schemeClr val="accent5">
                    <a:lumMod val="50000"/>
                  </a:schemeClr>
                </a:solidFill>
              </a:rPr>
              <a:t>Choose the right growth engine</a:t>
            </a:r>
          </a:p>
          <a:p>
            <a:r>
              <a:rPr lang="en-IN" b="1" dirty="0">
                <a:solidFill>
                  <a:schemeClr val="accent5">
                    <a:lumMod val="50000"/>
                  </a:schemeClr>
                </a:solidFill>
              </a:rPr>
              <a:t>Leverage everywhere including marketing, business process management, customer service, hire people wherever necessary.</a:t>
            </a:r>
          </a:p>
        </p:txBody>
      </p:sp>
      <p:cxnSp>
        <p:nvCxnSpPr>
          <p:cNvPr id="4" name="Straight Connector 3">
            <a:extLst>
              <a:ext uri="{FF2B5EF4-FFF2-40B4-BE49-F238E27FC236}">
                <a16:creationId xmlns:a16="http://schemas.microsoft.com/office/drawing/2014/main" id="{0896FA25-AD5B-5950-2E78-DC65602310C7}"/>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CD5BD049-64E4-948E-52BA-B50056C99147}"/>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387582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45700" rIns="91425" bIns="45700" anchor="ctr" anchorCtr="0">
            <a:noAutofit/>
          </a:bodyPr>
          <a:lstStyle/>
          <a:p>
            <a:r>
              <a:rPr lang="en-IN" sz="3200" b="1" dirty="0">
                <a:solidFill>
                  <a:schemeClr val="accent5">
                    <a:lumMod val="75000"/>
                  </a:schemeClr>
                </a:solidFill>
                <a:latin typeface="Georgia" panose="02040502050405020303" pitchFamily="18" charset="0"/>
              </a:rPr>
              <a:t>Viral Loop</a:t>
            </a:r>
            <a:endParaRPr lang="en-US" sz="3200" b="1" dirty="0">
              <a:solidFill>
                <a:schemeClr val="accent5">
                  <a:lumMod val="75000"/>
                </a:schemeClr>
              </a:solidFill>
              <a:latin typeface="Georgia" panose="02040502050405020303" pitchFamily="18" charset="0"/>
            </a:endParaRPr>
          </a:p>
        </p:txBody>
      </p:sp>
      <p:sp>
        <p:nvSpPr>
          <p:cNvPr id="3" name="Content Placeholder 2"/>
          <p:cNvSpPr>
            <a:spLocks noGrp="1"/>
          </p:cNvSpPr>
          <p:nvPr>
            <p:ph idx="1"/>
          </p:nvPr>
        </p:nvSpPr>
        <p:spPr>
          <a:xfrm>
            <a:off x="1100433" y="1928941"/>
            <a:ext cx="9372600" cy="2494127"/>
          </a:xfrm>
        </p:spPr>
        <p:txBody>
          <a:bodyPr/>
          <a:lstStyle/>
          <a:p>
            <a:r>
              <a:rPr lang="en-IN" b="1" dirty="0">
                <a:solidFill>
                  <a:schemeClr val="accent5">
                    <a:lumMod val="50000"/>
                  </a:schemeClr>
                </a:solidFill>
              </a:rPr>
              <a:t>You must be able to make your customers do the advertisement of your products to their friends (word-of-mouth advertisement or referral).</a:t>
            </a:r>
          </a:p>
          <a:p>
            <a:r>
              <a:rPr lang="en-IN" b="1" dirty="0">
                <a:solidFill>
                  <a:schemeClr val="accent5">
                    <a:lumMod val="50000"/>
                  </a:schemeClr>
                </a:solidFill>
              </a:rPr>
              <a:t>Your customer acquisition cost will be minimized and you will soon move towards profitable business.  </a:t>
            </a:r>
            <a:endParaRPr lang="en-US" b="1" dirty="0">
              <a:solidFill>
                <a:schemeClr val="accent5">
                  <a:lumMod val="50000"/>
                </a:schemeClr>
              </a:solidFill>
            </a:endParaRPr>
          </a:p>
        </p:txBody>
      </p:sp>
      <p:cxnSp>
        <p:nvCxnSpPr>
          <p:cNvPr id="4" name="Straight Connector 3">
            <a:extLst>
              <a:ext uri="{FF2B5EF4-FFF2-40B4-BE49-F238E27FC236}">
                <a16:creationId xmlns:a16="http://schemas.microsoft.com/office/drawing/2014/main" id="{20CF74A7-BCE9-8E79-4513-BF8A81A389FE}"/>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83612B10-8E7C-EAF2-65FC-B8FC4F380FE8}"/>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633112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713" y="194437"/>
            <a:ext cx="10765536" cy="1325563"/>
          </a:xfrm>
          <a:noFill/>
          <a:ln>
            <a:noFill/>
          </a:ln>
        </p:spPr>
        <p:txBody>
          <a:bodyPr spcFirstLastPara="1" wrap="square" lIns="91425" tIns="45700" rIns="91425" bIns="45700" anchor="ctr" anchorCtr="0">
            <a:noAutofit/>
          </a:bodyPr>
          <a:lstStyle/>
          <a:p>
            <a:r>
              <a:rPr lang="en-US" sz="3200" b="1" dirty="0">
                <a:solidFill>
                  <a:schemeClr val="accent5">
                    <a:lumMod val="75000"/>
                  </a:schemeClr>
                </a:solidFill>
                <a:latin typeface="Georgia" panose="02040502050405020303" pitchFamily="18" charset="0"/>
              </a:rPr>
              <a:t>Growth Hack, Vanity Metrics, and Strategies</a:t>
            </a:r>
          </a:p>
        </p:txBody>
      </p:sp>
      <p:sp>
        <p:nvSpPr>
          <p:cNvPr id="4" name="Freeform 3"/>
          <p:cNvSpPr/>
          <p:nvPr/>
        </p:nvSpPr>
        <p:spPr>
          <a:xfrm>
            <a:off x="755435" y="1346638"/>
            <a:ext cx="675223" cy="964604"/>
          </a:xfrm>
          <a:custGeom>
            <a:avLst/>
            <a:gdLst>
              <a:gd name="connsiteX0" fmla="*/ 0 w 964603"/>
              <a:gd name="connsiteY0" fmla="*/ 0 h 675222"/>
              <a:gd name="connsiteX1" fmla="*/ 626992 w 964603"/>
              <a:gd name="connsiteY1" fmla="*/ 0 h 675222"/>
              <a:gd name="connsiteX2" fmla="*/ 964603 w 964603"/>
              <a:gd name="connsiteY2" fmla="*/ 337611 h 675222"/>
              <a:gd name="connsiteX3" fmla="*/ 626992 w 964603"/>
              <a:gd name="connsiteY3" fmla="*/ 675222 h 675222"/>
              <a:gd name="connsiteX4" fmla="*/ 0 w 964603"/>
              <a:gd name="connsiteY4" fmla="*/ 675222 h 675222"/>
              <a:gd name="connsiteX5" fmla="*/ 337611 w 964603"/>
              <a:gd name="connsiteY5" fmla="*/ 337611 h 675222"/>
              <a:gd name="connsiteX6" fmla="*/ 0 w 964603"/>
              <a:gd name="connsiteY6" fmla="*/ 0 h 675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4603" h="675222">
                <a:moveTo>
                  <a:pt x="964602" y="0"/>
                </a:moveTo>
                <a:lnTo>
                  <a:pt x="964602" y="438894"/>
                </a:lnTo>
                <a:lnTo>
                  <a:pt x="482302" y="675222"/>
                </a:lnTo>
                <a:lnTo>
                  <a:pt x="1" y="438894"/>
                </a:lnTo>
                <a:lnTo>
                  <a:pt x="1" y="0"/>
                </a:lnTo>
                <a:lnTo>
                  <a:pt x="482302" y="236328"/>
                </a:lnTo>
                <a:lnTo>
                  <a:pt x="964602"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01" tIns="350311" rIns="12700" bIns="350312" numCol="1" spcCol="1270" anchor="ctr" anchorCtr="0">
            <a:noAutofit/>
          </a:bodyPr>
          <a:lstStyle/>
          <a:p>
            <a:pPr lvl="0" algn="ctr" defTabSz="889000">
              <a:lnSpc>
                <a:spcPct val="90000"/>
              </a:lnSpc>
              <a:spcBef>
                <a:spcPct val="0"/>
              </a:spcBef>
              <a:spcAft>
                <a:spcPct val="35000"/>
              </a:spcAft>
            </a:pPr>
            <a:r>
              <a:rPr lang="en-US" sz="2000" kern="1200" dirty="0"/>
              <a:t>01</a:t>
            </a:r>
            <a:endParaRPr lang="en-IN" sz="2000" kern="1200" dirty="0"/>
          </a:p>
        </p:txBody>
      </p:sp>
      <p:sp>
        <p:nvSpPr>
          <p:cNvPr id="6" name="Freeform 5"/>
          <p:cNvSpPr/>
          <p:nvPr/>
        </p:nvSpPr>
        <p:spPr>
          <a:xfrm>
            <a:off x="1430656" y="1346638"/>
            <a:ext cx="10395583" cy="781308"/>
          </a:xfrm>
          <a:custGeom>
            <a:avLst/>
            <a:gdLst>
              <a:gd name="connsiteX0" fmla="*/ 104501 w 626992"/>
              <a:gd name="connsiteY0" fmla="*/ 0 h 9840377"/>
              <a:gd name="connsiteX1" fmla="*/ 522491 w 626992"/>
              <a:gd name="connsiteY1" fmla="*/ 0 h 9840377"/>
              <a:gd name="connsiteX2" fmla="*/ 626992 w 626992"/>
              <a:gd name="connsiteY2" fmla="*/ 104501 h 9840377"/>
              <a:gd name="connsiteX3" fmla="*/ 626992 w 626992"/>
              <a:gd name="connsiteY3" fmla="*/ 9840377 h 9840377"/>
              <a:gd name="connsiteX4" fmla="*/ 626992 w 626992"/>
              <a:gd name="connsiteY4" fmla="*/ 9840377 h 9840377"/>
              <a:gd name="connsiteX5" fmla="*/ 0 w 626992"/>
              <a:gd name="connsiteY5" fmla="*/ 9840377 h 9840377"/>
              <a:gd name="connsiteX6" fmla="*/ 0 w 626992"/>
              <a:gd name="connsiteY6" fmla="*/ 9840377 h 9840377"/>
              <a:gd name="connsiteX7" fmla="*/ 0 w 626992"/>
              <a:gd name="connsiteY7" fmla="*/ 104501 h 9840377"/>
              <a:gd name="connsiteX8" fmla="*/ 104501 w 626992"/>
              <a:gd name="connsiteY8" fmla="*/ 0 h 984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992" h="9840377">
                <a:moveTo>
                  <a:pt x="626992" y="1640105"/>
                </a:moveTo>
                <a:lnTo>
                  <a:pt x="626992" y="8200272"/>
                </a:lnTo>
                <a:cubicBezTo>
                  <a:pt x="626992" y="9106068"/>
                  <a:pt x="624011" y="9840369"/>
                  <a:pt x="620334" y="9840369"/>
                </a:cubicBezTo>
                <a:lnTo>
                  <a:pt x="0" y="9840369"/>
                </a:lnTo>
                <a:lnTo>
                  <a:pt x="0" y="9840369"/>
                </a:lnTo>
                <a:lnTo>
                  <a:pt x="0" y="8"/>
                </a:lnTo>
                <a:lnTo>
                  <a:pt x="0" y="8"/>
                </a:lnTo>
                <a:lnTo>
                  <a:pt x="620334" y="8"/>
                </a:lnTo>
                <a:cubicBezTo>
                  <a:pt x="624011" y="8"/>
                  <a:pt x="626992" y="734309"/>
                  <a:pt x="626992" y="1640105"/>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35129" tIns="42672" rIns="42672" bIns="42673" numCol="1" spcCol="1270" anchor="ctr" anchorCtr="0">
            <a:noAutofit/>
          </a:bodyPr>
          <a:lstStyle/>
          <a:p>
            <a:pPr marL="171450" lvl="1" indent="-171450" algn="l" defTabSz="844550">
              <a:lnSpc>
                <a:spcPct val="90000"/>
              </a:lnSpc>
              <a:spcBef>
                <a:spcPct val="0"/>
              </a:spcBef>
              <a:spcAft>
                <a:spcPct val="15000"/>
              </a:spcAft>
              <a:buChar char="••"/>
            </a:pPr>
            <a:r>
              <a:rPr lang="en-US" sz="2200" b="1" kern="1200" dirty="0"/>
              <a:t>Constantly review your sales funnel</a:t>
            </a:r>
            <a:endParaRPr lang="en-IN" sz="2200" b="1" kern="1200" dirty="0"/>
          </a:p>
          <a:p>
            <a:pPr marL="171450" lvl="1" indent="-171450" algn="l" defTabSz="844550">
              <a:lnSpc>
                <a:spcPct val="90000"/>
              </a:lnSpc>
              <a:spcBef>
                <a:spcPct val="0"/>
              </a:spcBef>
              <a:spcAft>
                <a:spcPct val="15000"/>
              </a:spcAft>
              <a:buChar char="••"/>
            </a:pPr>
            <a:r>
              <a:rPr lang="en-US" sz="2200" b="1" kern="1200" dirty="0"/>
              <a:t>Upgrade the sales funnel to create a viral loop so customers spread your message</a:t>
            </a:r>
            <a:endParaRPr lang="en-IN" sz="2200" b="1" kern="1200" dirty="0"/>
          </a:p>
        </p:txBody>
      </p:sp>
      <p:sp>
        <p:nvSpPr>
          <p:cNvPr id="7" name="Freeform 6"/>
          <p:cNvSpPr/>
          <p:nvPr/>
        </p:nvSpPr>
        <p:spPr>
          <a:xfrm>
            <a:off x="755435" y="2192491"/>
            <a:ext cx="675223" cy="964604"/>
          </a:xfrm>
          <a:custGeom>
            <a:avLst/>
            <a:gdLst>
              <a:gd name="connsiteX0" fmla="*/ 0 w 964603"/>
              <a:gd name="connsiteY0" fmla="*/ 0 h 675222"/>
              <a:gd name="connsiteX1" fmla="*/ 626992 w 964603"/>
              <a:gd name="connsiteY1" fmla="*/ 0 h 675222"/>
              <a:gd name="connsiteX2" fmla="*/ 964603 w 964603"/>
              <a:gd name="connsiteY2" fmla="*/ 337611 h 675222"/>
              <a:gd name="connsiteX3" fmla="*/ 626992 w 964603"/>
              <a:gd name="connsiteY3" fmla="*/ 675222 h 675222"/>
              <a:gd name="connsiteX4" fmla="*/ 0 w 964603"/>
              <a:gd name="connsiteY4" fmla="*/ 675222 h 675222"/>
              <a:gd name="connsiteX5" fmla="*/ 337611 w 964603"/>
              <a:gd name="connsiteY5" fmla="*/ 337611 h 675222"/>
              <a:gd name="connsiteX6" fmla="*/ 0 w 964603"/>
              <a:gd name="connsiteY6" fmla="*/ 0 h 675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4603" h="675222">
                <a:moveTo>
                  <a:pt x="964602" y="0"/>
                </a:moveTo>
                <a:lnTo>
                  <a:pt x="964602" y="438894"/>
                </a:lnTo>
                <a:lnTo>
                  <a:pt x="482302" y="675222"/>
                </a:lnTo>
                <a:lnTo>
                  <a:pt x="1" y="438894"/>
                </a:lnTo>
                <a:lnTo>
                  <a:pt x="1" y="0"/>
                </a:lnTo>
                <a:lnTo>
                  <a:pt x="482302" y="236328"/>
                </a:lnTo>
                <a:lnTo>
                  <a:pt x="964602"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01" tIns="350311" rIns="12700" bIns="350312" numCol="1" spcCol="1270" anchor="ctr" anchorCtr="0">
            <a:noAutofit/>
          </a:bodyPr>
          <a:lstStyle/>
          <a:p>
            <a:pPr lvl="0" algn="ctr" defTabSz="889000">
              <a:lnSpc>
                <a:spcPct val="90000"/>
              </a:lnSpc>
              <a:spcBef>
                <a:spcPct val="0"/>
              </a:spcBef>
              <a:spcAft>
                <a:spcPct val="35000"/>
              </a:spcAft>
            </a:pPr>
            <a:r>
              <a:rPr lang="en-US" sz="2000" kern="1200" dirty="0"/>
              <a:t>02</a:t>
            </a:r>
            <a:endParaRPr lang="en-IN" sz="2000" kern="1200" dirty="0"/>
          </a:p>
        </p:txBody>
      </p:sp>
      <p:sp>
        <p:nvSpPr>
          <p:cNvPr id="8" name="Freeform 7"/>
          <p:cNvSpPr/>
          <p:nvPr/>
        </p:nvSpPr>
        <p:spPr>
          <a:xfrm>
            <a:off x="1430656" y="2192492"/>
            <a:ext cx="10395583" cy="781308"/>
          </a:xfrm>
          <a:custGeom>
            <a:avLst/>
            <a:gdLst>
              <a:gd name="connsiteX0" fmla="*/ 104501 w 626992"/>
              <a:gd name="connsiteY0" fmla="*/ 0 h 9840377"/>
              <a:gd name="connsiteX1" fmla="*/ 522491 w 626992"/>
              <a:gd name="connsiteY1" fmla="*/ 0 h 9840377"/>
              <a:gd name="connsiteX2" fmla="*/ 626992 w 626992"/>
              <a:gd name="connsiteY2" fmla="*/ 104501 h 9840377"/>
              <a:gd name="connsiteX3" fmla="*/ 626992 w 626992"/>
              <a:gd name="connsiteY3" fmla="*/ 9840377 h 9840377"/>
              <a:gd name="connsiteX4" fmla="*/ 626992 w 626992"/>
              <a:gd name="connsiteY4" fmla="*/ 9840377 h 9840377"/>
              <a:gd name="connsiteX5" fmla="*/ 0 w 626992"/>
              <a:gd name="connsiteY5" fmla="*/ 9840377 h 9840377"/>
              <a:gd name="connsiteX6" fmla="*/ 0 w 626992"/>
              <a:gd name="connsiteY6" fmla="*/ 9840377 h 9840377"/>
              <a:gd name="connsiteX7" fmla="*/ 0 w 626992"/>
              <a:gd name="connsiteY7" fmla="*/ 104501 h 9840377"/>
              <a:gd name="connsiteX8" fmla="*/ 104501 w 626992"/>
              <a:gd name="connsiteY8" fmla="*/ 0 h 984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992" h="9840377">
                <a:moveTo>
                  <a:pt x="626992" y="1640105"/>
                </a:moveTo>
                <a:lnTo>
                  <a:pt x="626992" y="8200272"/>
                </a:lnTo>
                <a:cubicBezTo>
                  <a:pt x="626992" y="9106068"/>
                  <a:pt x="624011" y="9840369"/>
                  <a:pt x="620334" y="9840369"/>
                </a:cubicBezTo>
                <a:lnTo>
                  <a:pt x="0" y="9840369"/>
                </a:lnTo>
                <a:lnTo>
                  <a:pt x="0" y="9840369"/>
                </a:lnTo>
                <a:lnTo>
                  <a:pt x="0" y="8"/>
                </a:lnTo>
                <a:lnTo>
                  <a:pt x="0" y="8"/>
                </a:lnTo>
                <a:lnTo>
                  <a:pt x="620334" y="8"/>
                </a:lnTo>
                <a:cubicBezTo>
                  <a:pt x="624011" y="8"/>
                  <a:pt x="626992" y="734309"/>
                  <a:pt x="626992" y="1640105"/>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35129" tIns="42672" rIns="42672" bIns="42673" numCol="1" spcCol="1270" anchor="ctr" anchorCtr="0">
            <a:noAutofit/>
          </a:bodyPr>
          <a:lstStyle/>
          <a:p>
            <a:pPr marL="171450" lvl="1" indent="-171450" algn="l" defTabSz="844550">
              <a:lnSpc>
                <a:spcPct val="90000"/>
              </a:lnSpc>
              <a:spcBef>
                <a:spcPct val="0"/>
              </a:spcBef>
              <a:spcAft>
                <a:spcPct val="15000"/>
              </a:spcAft>
              <a:buChar char="••"/>
            </a:pPr>
            <a:r>
              <a:rPr lang="en-US" sz="2200" b="1" kern="1200" dirty="0"/>
              <a:t>Be cautious and do not follow vanity metrics. Check if it is leading to long-term value.</a:t>
            </a:r>
            <a:endParaRPr lang="en-IN" sz="2200" b="1" kern="1200" dirty="0"/>
          </a:p>
          <a:p>
            <a:pPr marL="171450" lvl="1" indent="-171450" algn="l" defTabSz="844550">
              <a:lnSpc>
                <a:spcPct val="90000"/>
              </a:lnSpc>
              <a:spcBef>
                <a:spcPct val="0"/>
              </a:spcBef>
              <a:spcAft>
                <a:spcPct val="15000"/>
              </a:spcAft>
              <a:buChar char="••"/>
            </a:pPr>
            <a:r>
              <a:rPr lang="en-US" sz="2200" b="1" kern="1200" dirty="0"/>
              <a:t>Check the customer acquisition cost and how quickly the cost is recoverable.</a:t>
            </a:r>
            <a:endParaRPr lang="en-IN" sz="2200" b="1" kern="1200" dirty="0"/>
          </a:p>
        </p:txBody>
      </p:sp>
      <p:sp>
        <p:nvSpPr>
          <p:cNvPr id="9" name="Freeform 8"/>
          <p:cNvSpPr/>
          <p:nvPr/>
        </p:nvSpPr>
        <p:spPr>
          <a:xfrm>
            <a:off x="755435" y="3038345"/>
            <a:ext cx="675223" cy="964604"/>
          </a:xfrm>
          <a:custGeom>
            <a:avLst/>
            <a:gdLst>
              <a:gd name="connsiteX0" fmla="*/ 0 w 964603"/>
              <a:gd name="connsiteY0" fmla="*/ 0 h 675222"/>
              <a:gd name="connsiteX1" fmla="*/ 626992 w 964603"/>
              <a:gd name="connsiteY1" fmla="*/ 0 h 675222"/>
              <a:gd name="connsiteX2" fmla="*/ 964603 w 964603"/>
              <a:gd name="connsiteY2" fmla="*/ 337611 h 675222"/>
              <a:gd name="connsiteX3" fmla="*/ 626992 w 964603"/>
              <a:gd name="connsiteY3" fmla="*/ 675222 h 675222"/>
              <a:gd name="connsiteX4" fmla="*/ 0 w 964603"/>
              <a:gd name="connsiteY4" fmla="*/ 675222 h 675222"/>
              <a:gd name="connsiteX5" fmla="*/ 337611 w 964603"/>
              <a:gd name="connsiteY5" fmla="*/ 337611 h 675222"/>
              <a:gd name="connsiteX6" fmla="*/ 0 w 964603"/>
              <a:gd name="connsiteY6" fmla="*/ 0 h 675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4603" h="675222">
                <a:moveTo>
                  <a:pt x="964602" y="0"/>
                </a:moveTo>
                <a:lnTo>
                  <a:pt x="964602" y="438894"/>
                </a:lnTo>
                <a:lnTo>
                  <a:pt x="482302" y="675222"/>
                </a:lnTo>
                <a:lnTo>
                  <a:pt x="1" y="438894"/>
                </a:lnTo>
                <a:lnTo>
                  <a:pt x="1" y="0"/>
                </a:lnTo>
                <a:lnTo>
                  <a:pt x="482302" y="236328"/>
                </a:lnTo>
                <a:lnTo>
                  <a:pt x="964602"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01" tIns="350311" rIns="12700" bIns="350312" numCol="1" spcCol="1270" anchor="ctr" anchorCtr="0">
            <a:noAutofit/>
          </a:bodyPr>
          <a:lstStyle/>
          <a:p>
            <a:pPr lvl="0" algn="ctr" defTabSz="889000">
              <a:lnSpc>
                <a:spcPct val="90000"/>
              </a:lnSpc>
              <a:spcBef>
                <a:spcPct val="0"/>
              </a:spcBef>
              <a:spcAft>
                <a:spcPct val="35000"/>
              </a:spcAft>
            </a:pPr>
            <a:r>
              <a:rPr lang="en-US" sz="2000" kern="1200" dirty="0"/>
              <a:t>03</a:t>
            </a:r>
            <a:endParaRPr lang="en-IN" sz="2000" kern="1200" dirty="0"/>
          </a:p>
        </p:txBody>
      </p:sp>
      <p:sp>
        <p:nvSpPr>
          <p:cNvPr id="10" name="Freeform 9"/>
          <p:cNvSpPr/>
          <p:nvPr/>
        </p:nvSpPr>
        <p:spPr>
          <a:xfrm>
            <a:off x="1430656" y="3038346"/>
            <a:ext cx="10395583" cy="781308"/>
          </a:xfrm>
          <a:custGeom>
            <a:avLst/>
            <a:gdLst>
              <a:gd name="connsiteX0" fmla="*/ 104501 w 626992"/>
              <a:gd name="connsiteY0" fmla="*/ 0 h 9840377"/>
              <a:gd name="connsiteX1" fmla="*/ 522491 w 626992"/>
              <a:gd name="connsiteY1" fmla="*/ 0 h 9840377"/>
              <a:gd name="connsiteX2" fmla="*/ 626992 w 626992"/>
              <a:gd name="connsiteY2" fmla="*/ 104501 h 9840377"/>
              <a:gd name="connsiteX3" fmla="*/ 626992 w 626992"/>
              <a:gd name="connsiteY3" fmla="*/ 9840377 h 9840377"/>
              <a:gd name="connsiteX4" fmla="*/ 626992 w 626992"/>
              <a:gd name="connsiteY4" fmla="*/ 9840377 h 9840377"/>
              <a:gd name="connsiteX5" fmla="*/ 0 w 626992"/>
              <a:gd name="connsiteY5" fmla="*/ 9840377 h 9840377"/>
              <a:gd name="connsiteX6" fmla="*/ 0 w 626992"/>
              <a:gd name="connsiteY6" fmla="*/ 9840377 h 9840377"/>
              <a:gd name="connsiteX7" fmla="*/ 0 w 626992"/>
              <a:gd name="connsiteY7" fmla="*/ 104501 h 9840377"/>
              <a:gd name="connsiteX8" fmla="*/ 104501 w 626992"/>
              <a:gd name="connsiteY8" fmla="*/ 0 h 984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992" h="9840377">
                <a:moveTo>
                  <a:pt x="626992" y="1640105"/>
                </a:moveTo>
                <a:lnTo>
                  <a:pt x="626992" y="8200272"/>
                </a:lnTo>
                <a:cubicBezTo>
                  <a:pt x="626992" y="9106068"/>
                  <a:pt x="624011" y="9840369"/>
                  <a:pt x="620334" y="9840369"/>
                </a:cubicBezTo>
                <a:lnTo>
                  <a:pt x="0" y="9840369"/>
                </a:lnTo>
                <a:lnTo>
                  <a:pt x="0" y="9840369"/>
                </a:lnTo>
                <a:lnTo>
                  <a:pt x="0" y="8"/>
                </a:lnTo>
                <a:lnTo>
                  <a:pt x="0" y="8"/>
                </a:lnTo>
                <a:lnTo>
                  <a:pt x="620334" y="8"/>
                </a:lnTo>
                <a:cubicBezTo>
                  <a:pt x="624011" y="8"/>
                  <a:pt x="626992" y="734309"/>
                  <a:pt x="626992" y="1640105"/>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35129" tIns="42672" rIns="42672" bIns="42673" numCol="1" spcCol="1270" anchor="ctr" anchorCtr="0">
            <a:noAutofit/>
          </a:bodyPr>
          <a:lstStyle/>
          <a:p>
            <a:pPr marL="171450" lvl="1" indent="-171450" algn="l" defTabSz="844550">
              <a:lnSpc>
                <a:spcPct val="90000"/>
              </a:lnSpc>
              <a:spcBef>
                <a:spcPct val="0"/>
              </a:spcBef>
              <a:spcAft>
                <a:spcPct val="15000"/>
              </a:spcAft>
              <a:buChar char="••"/>
            </a:pPr>
            <a:r>
              <a:rPr lang="en-US" sz="2200" b="1" kern="1200" dirty="0"/>
              <a:t>Define sales funnel metrics.</a:t>
            </a:r>
            <a:endParaRPr lang="en-IN" sz="2200" b="1" kern="1200" dirty="0"/>
          </a:p>
          <a:p>
            <a:pPr marL="171450" lvl="1" indent="-171450" algn="l" defTabSz="844550">
              <a:lnSpc>
                <a:spcPct val="90000"/>
              </a:lnSpc>
              <a:spcBef>
                <a:spcPct val="0"/>
              </a:spcBef>
              <a:spcAft>
                <a:spcPct val="15000"/>
              </a:spcAft>
              <a:buChar char="••"/>
            </a:pPr>
            <a:r>
              <a:rPr lang="en-US" sz="2200" b="1" kern="1200" dirty="0"/>
              <a:t>Are the increasing number of foot-fall getting translated into profitable sales?</a:t>
            </a:r>
            <a:endParaRPr lang="en-IN" sz="2200" b="1" kern="1200" dirty="0"/>
          </a:p>
        </p:txBody>
      </p:sp>
      <p:sp>
        <p:nvSpPr>
          <p:cNvPr id="11" name="Freeform 10"/>
          <p:cNvSpPr/>
          <p:nvPr/>
        </p:nvSpPr>
        <p:spPr>
          <a:xfrm>
            <a:off x="755435" y="3884199"/>
            <a:ext cx="675223" cy="964604"/>
          </a:xfrm>
          <a:custGeom>
            <a:avLst/>
            <a:gdLst>
              <a:gd name="connsiteX0" fmla="*/ 0 w 964603"/>
              <a:gd name="connsiteY0" fmla="*/ 0 h 675222"/>
              <a:gd name="connsiteX1" fmla="*/ 626992 w 964603"/>
              <a:gd name="connsiteY1" fmla="*/ 0 h 675222"/>
              <a:gd name="connsiteX2" fmla="*/ 964603 w 964603"/>
              <a:gd name="connsiteY2" fmla="*/ 337611 h 675222"/>
              <a:gd name="connsiteX3" fmla="*/ 626992 w 964603"/>
              <a:gd name="connsiteY3" fmla="*/ 675222 h 675222"/>
              <a:gd name="connsiteX4" fmla="*/ 0 w 964603"/>
              <a:gd name="connsiteY4" fmla="*/ 675222 h 675222"/>
              <a:gd name="connsiteX5" fmla="*/ 337611 w 964603"/>
              <a:gd name="connsiteY5" fmla="*/ 337611 h 675222"/>
              <a:gd name="connsiteX6" fmla="*/ 0 w 964603"/>
              <a:gd name="connsiteY6" fmla="*/ 0 h 675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4603" h="675222">
                <a:moveTo>
                  <a:pt x="964602" y="0"/>
                </a:moveTo>
                <a:lnTo>
                  <a:pt x="964602" y="438894"/>
                </a:lnTo>
                <a:lnTo>
                  <a:pt x="482302" y="675222"/>
                </a:lnTo>
                <a:lnTo>
                  <a:pt x="1" y="438894"/>
                </a:lnTo>
                <a:lnTo>
                  <a:pt x="1" y="0"/>
                </a:lnTo>
                <a:lnTo>
                  <a:pt x="482302" y="236328"/>
                </a:lnTo>
                <a:lnTo>
                  <a:pt x="964602"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01" tIns="350311" rIns="12700" bIns="350312" numCol="1" spcCol="1270" anchor="ctr" anchorCtr="0">
            <a:noAutofit/>
          </a:bodyPr>
          <a:lstStyle/>
          <a:p>
            <a:pPr lvl="0" algn="ctr" defTabSz="889000">
              <a:lnSpc>
                <a:spcPct val="90000"/>
              </a:lnSpc>
              <a:spcBef>
                <a:spcPct val="0"/>
              </a:spcBef>
              <a:spcAft>
                <a:spcPct val="35000"/>
              </a:spcAft>
            </a:pPr>
            <a:r>
              <a:rPr lang="en-US" sz="2000" kern="1200" dirty="0"/>
              <a:t>04 </a:t>
            </a:r>
            <a:endParaRPr lang="en-IN" sz="2000" kern="1200" dirty="0"/>
          </a:p>
        </p:txBody>
      </p:sp>
      <p:sp>
        <p:nvSpPr>
          <p:cNvPr id="12" name="Freeform 11"/>
          <p:cNvSpPr/>
          <p:nvPr/>
        </p:nvSpPr>
        <p:spPr>
          <a:xfrm>
            <a:off x="1430656" y="3884200"/>
            <a:ext cx="10395583" cy="781308"/>
          </a:xfrm>
          <a:custGeom>
            <a:avLst/>
            <a:gdLst>
              <a:gd name="connsiteX0" fmla="*/ 104501 w 626992"/>
              <a:gd name="connsiteY0" fmla="*/ 0 h 9840377"/>
              <a:gd name="connsiteX1" fmla="*/ 522491 w 626992"/>
              <a:gd name="connsiteY1" fmla="*/ 0 h 9840377"/>
              <a:gd name="connsiteX2" fmla="*/ 626992 w 626992"/>
              <a:gd name="connsiteY2" fmla="*/ 104501 h 9840377"/>
              <a:gd name="connsiteX3" fmla="*/ 626992 w 626992"/>
              <a:gd name="connsiteY3" fmla="*/ 9840377 h 9840377"/>
              <a:gd name="connsiteX4" fmla="*/ 626992 w 626992"/>
              <a:gd name="connsiteY4" fmla="*/ 9840377 h 9840377"/>
              <a:gd name="connsiteX5" fmla="*/ 0 w 626992"/>
              <a:gd name="connsiteY5" fmla="*/ 9840377 h 9840377"/>
              <a:gd name="connsiteX6" fmla="*/ 0 w 626992"/>
              <a:gd name="connsiteY6" fmla="*/ 9840377 h 9840377"/>
              <a:gd name="connsiteX7" fmla="*/ 0 w 626992"/>
              <a:gd name="connsiteY7" fmla="*/ 104501 h 9840377"/>
              <a:gd name="connsiteX8" fmla="*/ 104501 w 626992"/>
              <a:gd name="connsiteY8" fmla="*/ 0 h 984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992" h="9840377">
                <a:moveTo>
                  <a:pt x="626992" y="1640105"/>
                </a:moveTo>
                <a:lnTo>
                  <a:pt x="626992" y="8200272"/>
                </a:lnTo>
                <a:cubicBezTo>
                  <a:pt x="626992" y="9106068"/>
                  <a:pt x="624011" y="9840369"/>
                  <a:pt x="620334" y="9840369"/>
                </a:cubicBezTo>
                <a:lnTo>
                  <a:pt x="0" y="9840369"/>
                </a:lnTo>
                <a:lnTo>
                  <a:pt x="0" y="9840369"/>
                </a:lnTo>
                <a:lnTo>
                  <a:pt x="0" y="8"/>
                </a:lnTo>
                <a:lnTo>
                  <a:pt x="0" y="8"/>
                </a:lnTo>
                <a:lnTo>
                  <a:pt x="620334" y="8"/>
                </a:lnTo>
                <a:cubicBezTo>
                  <a:pt x="624011" y="8"/>
                  <a:pt x="626992" y="734309"/>
                  <a:pt x="626992" y="1640105"/>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35129" tIns="42672" rIns="42672" bIns="42673" numCol="1" spcCol="1270" anchor="ctr" anchorCtr="0">
            <a:noAutofit/>
          </a:bodyPr>
          <a:lstStyle/>
          <a:p>
            <a:pPr marL="171450" lvl="1" indent="-171450" algn="l" defTabSz="844550">
              <a:lnSpc>
                <a:spcPct val="90000"/>
              </a:lnSpc>
              <a:spcBef>
                <a:spcPct val="0"/>
              </a:spcBef>
              <a:spcAft>
                <a:spcPct val="15000"/>
              </a:spcAft>
              <a:buChar char="••"/>
            </a:pPr>
            <a:r>
              <a:rPr lang="en-US" sz="2200" b="1" kern="1200" dirty="0"/>
              <a:t>Estimate possible </a:t>
            </a:r>
            <a:r>
              <a:rPr lang="en-US" sz="2200" b="1" kern="1200" dirty="0" err="1"/>
              <a:t>virality</a:t>
            </a:r>
            <a:r>
              <a:rPr lang="en-US" sz="2200" b="1" kern="1200" dirty="0"/>
              <a:t> effect</a:t>
            </a:r>
            <a:endParaRPr lang="en-IN" sz="2200" b="1" kern="1200" dirty="0"/>
          </a:p>
          <a:p>
            <a:pPr marL="171450" lvl="1" indent="-171450" algn="l" defTabSz="844550">
              <a:lnSpc>
                <a:spcPct val="90000"/>
              </a:lnSpc>
              <a:spcBef>
                <a:spcPct val="0"/>
              </a:spcBef>
              <a:spcAft>
                <a:spcPct val="15000"/>
              </a:spcAft>
              <a:buChar char="••"/>
            </a:pPr>
            <a:r>
              <a:rPr lang="en-US" sz="2200" b="1" kern="1200" dirty="0"/>
              <a:t>Plan, execute and measure </a:t>
            </a:r>
            <a:r>
              <a:rPr lang="en-US" sz="2200" b="1" kern="1200" dirty="0" err="1"/>
              <a:t>virality</a:t>
            </a:r>
            <a:r>
              <a:rPr lang="en-US" sz="2200" b="1" kern="1200" dirty="0"/>
              <a:t> to achieve real growth. </a:t>
            </a:r>
            <a:endParaRPr lang="en-IN" sz="2200" b="1" kern="1200" dirty="0"/>
          </a:p>
        </p:txBody>
      </p:sp>
      <p:sp>
        <p:nvSpPr>
          <p:cNvPr id="13" name="Freeform 12"/>
          <p:cNvSpPr/>
          <p:nvPr/>
        </p:nvSpPr>
        <p:spPr>
          <a:xfrm>
            <a:off x="755435" y="4730053"/>
            <a:ext cx="675223" cy="964604"/>
          </a:xfrm>
          <a:custGeom>
            <a:avLst/>
            <a:gdLst>
              <a:gd name="connsiteX0" fmla="*/ 0 w 964603"/>
              <a:gd name="connsiteY0" fmla="*/ 0 h 675222"/>
              <a:gd name="connsiteX1" fmla="*/ 626992 w 964603"/>
              <a:gd name="connsiteY1" fmla="*/ 0 h 675222"/>
              <a:gd name="connsiteX2" fmla="*/ 964603 w 964603"/>
              <a:gd name="connsiteY2" fmla="*/ 337611 h 675222"/>
              <a:gd name="connsiteX3" fmla="*/ 626992 w 964603"/>
              <a:gd name="connsiteY3" fmla="*/ 675222 h 675222"/>
              <a:gd name="connsiteX4" fmla="*/ 0 w 964603"/>
              <a:gd name="connsiteY4" fmla="*/ 675222 h 675222"/>
              <a:gd name="connsiteX5" fmla="*/ 337611 w 964603"/>
              <a:gd name="connsiteY5" fmla="*/ 337611 h 675222"/>
              <a:gd name="connsiteX6" fmla="*/ 0 w 964603"/>
              <a:gd name="connsiteY6" fmla="*/ 0 h 675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4603" h="675222">
                <a:moveTo>
                  <a:pt x="964602" y="0"/>
                </a:moveTo>
                <a:lnTo>
                  <a:pt x="964602" y="438894"/>
                </a:lnTo>
                <a:lnTo>
                  <a:pt x="482302" y="675222"/>
                </a:lnTo>
                <a:lnTo>
                  <a:pt x="1" y="438894"/>
                </a:lnTo>
                <a:lnTo>
                  <a:pt x="1" y="0"/>
                </a:lnTo>
                <a:lnTo>
                  <a:pt x="482302" y="236328"/>
                </a:lnTo>
                <a:lnTo>
                  <a:pt x="964602"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01" tIns="350311" rIns="12700" bIns="350312" numCol="1" spcCol="1270" anchor="ctr" anchorCtr="0">
            <a:noAutofit/>
          </a:bodyPr>
          <a:lstStyle/>
          <a:p>
            <a:pPr lvl="0" algn="ctr" defTabSz="889000">
              <a:lnSpc>
                <a:spcPct val="90000"/>
              </a:lnSpc>
              <a:spcBef>
                <a:spcPct val="0"/>
              </a:spcBef>
              <a:spcAft>
                <a:spcPct val="35000"/>
              </a:spcAft>
            </a:pPr>
            <a:r>
              <a:rPr lang="en-US" sz="2000" kern="1200" dirty="0"/>
              <a:t>05</a:t>
            </a:r>
            <a:endParaRPr lang="en-IN" sz="2000" kern="1200" dirty="0"/>
          </a:p>
        </p:txBody>
      </p:sp>
      <p:sp>
        <p:nvSpPr>
          <p:cNvPr id="14" name="Freeform 13"/>
          <p:cNvSpPr/>
          <p:nvPr/>
        </p:nvSpPr>
        <p:spPr>
          <a:xfrm>
            <a:off x="1430656" y="4730054"/>
            <a:ext cx="10395583" cy="781308"/>
          </a:xfrm>
          <a:custGeom>
            <a:avLst/>
            <a:gdLst>
              <a:gd name="connsiteX0" fmla="*/ 104501 w 626992"/>
              <a:gd name="connsiteY0" fmla="*/ 0 h 9840377"/>
              <a:gd name="connsiteX1" fmla="*/ 522491 w 626992"/>
              <a:gd name="connsiteY1" fmla="*/ 0 h 9840377"/>
              <a:gd name="connsiteX2" fmla="*/ 626992 w 626992"/>
              <a:gd name="connsiteY2" fmla="*/ 104501 h 9840377"/>
              <a:gd name="connsiteX3" fmla="*/ 626992 w 626992"/>
              <a:gd name="connsiteY3" fmla="*/ 9840377 h 9840377"/>
              <a:gd name="connsiteX4" fmla="*/ 626992 w 626992"/>
              <a:gd name="connsiteY4" fmla="*/ 9840377 h 9840377"/>
              <a:gd name="connsiteX5" fmla="*/ 0 w 626992"/>
              <a:gd name="connsiteY5" fmla="*/ 9840377 h 9840377"/>
              <a:gd name="connsiteX6" fmla="*/ 0 w 626992"/>
              <a:gd name="connsiteY6" fmla="*/ 9840377 h 9840377"/>
              <a:gd name="connsiteX7" fmla="*/ 0 w 626992"/>
              <a:gd name="connsiteY7" fmla="*/ 104501 h 9840377"/>
              <a:gd name="connsiteX8" fmla="*/ 104501 w 626992"/>
              <a:gd name="connsiteY8" fmla="*/ 0 h 984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992" h="9840377">
                <a:moveTo>
                  <a:pt x="626992" y="1640105"/>
                </a:moveTo>
                <a:lnTo>
                  <a:pt x="626992" y="8200272"/>
                </a:lnTo>
                <a:cubicBezTo>
                  <a:pt x="626992" y="9106068"/>
                  <a:pt x="624011" y="9840369"/>
                  <a:pt x="620334" y="9840369"/>
                </a:cubicBezTo>
                <a:lnTo>
                  <a:pt x="0" y="9840369"/>
                </a:lnTo>
                <a:lnTo>
                  <a:pt x="0" y="9840369"/>
                </a:lnTo>
                <a:lnTo>
                  <a:pt x="0" y="8"/>
                </a:lnTo>
                <a:lnTo>
                  <a:pt x="0" y="8"/>
                </a:lnTo>
                <a:lnTo>
                  <a:pt x="620334" y="8"/>
                </a:lnTo>
                <a:cubicBezTo>
                  <a:pt x="624011" y="8"/>
                  <a:pt x="626992" y="734309"/>
                  <a:pt x="626992" y="1640105"/>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35129" tIns="42672" rIns="42672" bIns="42673" numCol="1" spcCol="1270" anchor="ctr" anchorCtr="0">
            <a:noAutofit/>
          </a:bodyPr>
          <a:lstStyle/>
          <a:p>
            <a:pPr marL="171450" lvl="1" indent="-171450" algn="l" defTabSz="844550">
              <a:lnSpc>
                <a:spcPct val="90000"/>
              </a:lnSpc>
              <a:spcBef>
                <a:spcPct val="0"/>
              </a:spcBef>
              <a:spcAft>
                <a:spcPct val="15000"/>
              </a:spcAft>
              <a:buChar char="••"/>
            </a:pPr>
            <a:r>
              <a:rPr lang="en-US" sz="2200" b="1" kern="1200" dirty="0"/>
              <a:t>Update marketing plan</a:t>
            </a:r>
            <a:endParaRPr lang="en-IN" sz="2200" b="1" kern="1200" dirty="0"/>
          </a:p>
          <a:p>
            <a:pPr marL="171450" lvl="1" indent="-171450" algn="l" defTabSz="844550">
              <a:lnSpc>
                <a:spcPct val="90000"/>
              </a:lnSpc>
              <a:spcBef>
                <a:spcPct val="0"/>
              </a:spcBef>
              <a:spcAft>
                <a:spcPct val="15000"/>
              </a:spcAft>
              <a:buChar char="••"/>
            </a:pPr>
            <a:r>
              <a:rPr lang="en-US" sz="2200" b="1" kern="1200" dirty="0"/>
              <a:t>Put appropriate information system to collect and process data to monitor the metrics</a:t>
            </a:r>
            <a:endParaRPr lang="en-IN" sz="2200" b="1" kern="1200" dirty="0"/>
          </a:p>
        </p:txBody>
      </p:sp>
      <p:cxnSp>
        <p:nvCxnSpPr>
          <p:cNvPr id="3" name="Straight Connector 2">
            <a:extLst>
              <a:ext uri="{FF2B5EF4-FFF2-40B4-BE49-F238E27FC236}">
                <a16:creationId xmlns:a16="http://schemas.microsoft.com/office/drawing/2014/main" id="{7A9E10C5-EF90-1579-6B64-2E9167B2A61F}"/>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4997BD45-0BAA-CE67-45ED-0CB9092E7BAC}"/>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65510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1+#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1+#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1+#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1+#ppt_w/2"/>
                                          </p:val>
                                        </p:tav>
                                        <p:tav tm="100000">
                                          <p:val>
                                            <p:strVal val="#ppt_x"/>
                                          </p:val>
                                        </p:tav>
                                      </p:tavLst>
                                    </p:anim>
                                    <p:anim calcmode="lin" valueType="num">
                                      <p:cBhvr additive="base">
                                        <p:cTn id="38" dur="500" fill="hold"/>
                                        <p:tgtEl>
                                          <p:spTgt spid="11"/>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1+#ppt_w/2"/>
                                          </p:val>
                                        </p:tav>
                                        <p:tav tm="100000">
                                          <p:val>
                                            <p:strVal val="#ppt_x"/>
                                          </p:val>
                                        </p:tav>
                                      </p:tavLst>
                                    </p:anim>
                                    <p:anim calcmode="lin" valueType="num">
                                      <p:cBhvr additive="base">
                                        <p:cTn id="4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Influencer Marketing</a:t>
            </a:r>
            <a:endParaRPr lang="en-IN" dirty="0"/>
          </a:p>
        </p:txBody>
      </p:sp>
      <p:sp>
        <p:nvSpPr>
          <p:cNvPr id="3" name="Content Placeholder 2"/>
          <p:cNvSpPr>
            <a:spLocks noGrp="1"/>
          </p:cNvSpPr>
          <p:nvPr>
            <p:ph idx="1"/>
          </p:nvPr>
        </p:nvSpPr>
        <p:spPr/>
        <p:txBody>
          <a:bodyPr>
            <a:normAutofit fontScale="92500" lnSpcReduction="10000"/>
          </a:bodyPr>
          <a:lstStyle/>
          <a:p>
            <a:r>
              <a:rPr lang="en-US" dirty="0"/>
              <a:t>The process of creating awareness and trust on your brand through endorsement by internet celebrity or other persona. </a:t>
            </a:r>
          </a:p>
          <a:p>
            <a:r>
              <a:rPr lang="en-US" dirty="0"/>
              <a:t>It involves unique contents and paid media. Thus, it is a hybrid of traditional advertisements and content marketing using the internet.</a:t>
            </a:r>
          </a:p>
          <a:p>
            <a:r>
              <a:rPr lang="en-US" dirty="0"/>
              <a:t>Influencer are usually anybody with a large fan-following and need not be an entertainment celebrity. It can be an ordinary person with YouTube channel showing particular popular knowledge. The person can endorse a particular product just by using it in his/her content. So, it becomes natural choice for the viewers to trust that brand. Thus, influencers may be product-specific.</a:t>
            </a:r>
          </a:p>
          <a:p>
            <a:r>
              <a:rPr lang="en-US" dirty="0">
                <a:hlinkClick r:id="rId3"/>
              </a:rPr>
              <a:t>https://www.nytimes.com/2019/03/01/business/media/social-media-influencers-kids.html</a:t>
            </a:r>
            <a:endParaRPr lang="en-US" dirty="0"/>
          </a:p>
          <a:p>
            <a:endParaRPr lang="en-IN"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BEFB9A-75BE-4736-83D6-6A44720B10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6C7E9853-9924-E534-993E-BE8940765DE3}"/>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159DEF37-D89E-5ABB-2410-2A6A94ABB598}"/>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416887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Engagement</a:t>
            </a:r>
            <a:endParaRPr lang="en-IN" dirty="0"/>
          </a:p>
        </p:txBody>
      </p:sp>
      <p:sp>
        <p:nvSpPr>
          <p:cNvPr id="3" name="Content Placeholder 2"/>
          <p:cNvSpPr>
            <a:spLocks noGrp="1"/>
          </p:cNvSpPr>
          <p:nvPr>
            <p:ph idx="1"/>
          </p:nvPr>
        </p:nvSpPr>
        <p:spPr/>
        <p:txBody>
          <a:bodyPr>
            <a:normAutofit fontScale="92500" lnSpcReduction="10000"/>
          </a:bodyPr>
          <a:lstStyle/>
          <a:p>
            <a:r>
              <a:rPr lang="en-US" b="1" dirty="0">
                <a:solidFill>
                  <a:srgbClr val="FF0000"/>
                </a:solidFill>
              </a:rPr>
              <a:t>Customer Engagement</a:t>
            </a:r>
            <a:r>
              <a:rPr lang="en-US" dirty="0">
                <a:solidFill>
                  <a:srgbClr val="FF0000"/>
                </a:solidFill>
              </a:rPr>
              <a:t> is the emotional connection between a </a:t>
            </a:r>
            <a:r>
              <a:rPr lang="en-US" b="1" dirty="0">
                <a:solidFill>
                  <a:srgbClr val="FF0000"/>
                </a:solidFill>
              </a:rPr>
              <a:t>customer</a:t>
            </a:r>
            <a:r>
              <a:rPr lang="en-US" dirty="0">
                <a:solidFill>
                  <a:srgbClr val="FF0000"/>
                </a:solidFill>
              </a:rPr>
              <a:t> and a brand. Highly engaged </a:t>
            </a:r>
            <a:r>
              <a:rPr lang="en-US" b="1" dirty="0">
                <a:solidFill>
                  <a:srgbClr val="FF0000"/>
                </a:solidFill>
              </a:rPr>
              <a:t>customers</a:t>
            </a:r>
            <a:r>
              <a:rPr lang="en-US" dirty="0">
                <a:solidFill>
                  <a:srgbClr val="FF0000"/>
                </a:solidFill>
              </a:rPr>
              <a:t> buy more, promote more, and demonstrate more loyalty. Providing a high-quality </a:t>
            </a:r>
            <a:r>
              <a:rPr lang="en-US" b="1" dirty="0">
                <a:solidFill>
                  <a:srgbClr val="FF0000"/>
                </a:solidFill>
              </a:rPr>
              <a:t>customer</a:t>
            </a:r>
            <a:r>
              <a:rPr lang="en-US" dirty="0">
                <a:solidFill>
                  <a:srgbClr val="FF0000"/>
                </a:solidFill>
              </a:rPr>
              <a:t> experience is an important component in your </a:t>
            </a:r>
            <a:r>
              <a:rPr lang="en-US" b="1" dirty="0">
                <a:solidFill>
                  <a:srgbClr val="FF0000"/>
                </a:solidFill>
              </a:rPr>
              <a:t>customer engagement</a:t>
            </a:r>
            <a:r>
              <a:rPr lang="en-US" dirty="0">
                <a:solidFill>
                  <a:srgbClr val="FF0000"/>
                </a:solidFill>
              </a:rPr>
              <a:t> strategy.</a:t>
            </a:r>
          </a:p>
          <a:p>
            <a:r>
              <a:rPr lang="en-US" dirty="0">
                <a:solidFill>
                  <a:srgbClr val="FF0000"/>
                </a:solidFill>
              </a:rPr>
              <a:t>Customer engagement is an interaction between an external consumer/customer (either B2C or B2B) and an organization (company or brand) through various online or offline channels</a:t>
            </a:r>
          </a:p>
          <a:p>
            <a:endParaRPr lang="en-US" dirty="0"/>
          </a:p>
          <a:p>
            <a:r>
              <a:rPr lang="en-US" dirty="0"/>
              <a:t>AI-powered recommendation systems are boosting engagement for Pinterest.</a:t>
            </a:r>
            <a:endParaRPr lang="en-IN"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BEFB9A-75BE-4736-83D6-6A44720B10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F7FBB44-8AEA-8347-5872-5A4F85D6FC68}"/>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F23BB601-EBF7-4BC7-FC4D-AD3AA4A76818}"/>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5696378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7-year-old boy is making $22 million a year on YouTube reviewing toys</a:t>
            </a:r>
            <a:endParaRPr lang="en-IN" dirty="0"/>
          </a:p>
        </p:txBody>
      </p:sp>
      <p:sp>
        <p:nvSpPr>
          <p:cNvPr id="3" name="Content Placeholder 2"/>
          <p:cNvSpPr>
            <a:spLocks noGrp="1"/>
          </p:cNvSpPr>
          <p:nvPr>
            <p:ph idx="1"/>
          </p:nvPr>
        </p:nvSpPr>
        <p:spPr>
          <a:xfrm>
            <a:off x="4961106" y="1605403"/>
            <a:ext cx="7110920" cy="2531609"/>
          </a:xfrm>
        </p:spPr>
        <p:txBody>
          <a:bodyPr>
            <a:normAutofit fontScale="92500" lnSpcReduction="10000"/>
          </a:bodyPr>
          <a:lstStyle/>
          <a:p>
            <a:r>
              <a:rPr lang="en-US" b="1" dirty="0"/>
              <a:t>Surely the envy of elementary-school kids worldwide, the YouTube star reviews new toys in videos that his family produces.</a:t>
            </a:r>
            <a:br>
              <a:rPr lang="en-US" b="1" dirty="0"/>
            </a:br>
            <a:r>
              <a:rPr lang="en-US" b="1" dirty="0"/>
              <a:t/>
            </a:r>
            <a:br>
              <a:rPr lang="en-US" b="1" dirty="0"/>
            </a:br>
            <a:r>
              <a:rPr lang="en-US" b="1" dirty="0"/>
              <a:t>Ryan </a:t>
            </a:r>
            <a:r>
              <a:rPr lang="en-US" b="1" dirty="0" err="1"/>
              <a:t>ToysReview</a:t>
            </a:r>
            <a:r>
              <a:rPr lang="en-US" b="1" dirty="0"/>
              <a:t> took the No. 1 spot this year (2018) on Forbes' annual list of the highest-earning YouTube accounts, up from 8 last year.</a:t>
            </a:r>
          </a:p>
          <a:p>
            <a:endParaRPr lang="en-IN"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BEFB9A-75BE-4736-83D6-6A44720B10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050" name="Picture 2" descr="youtube millionaires ryan toysreview"/>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1" y="1605403"/>
            <a:ext cx="4122905" cy="25316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3194319" y="4001639"/>
            <a:ext cx="4963133" cy="2751302"/>
          </a:xfrm>
          <a:prstGeom prst="rect">
            <a:avLst/>
          </a:prstGeom>
        </p:spPr>
      </p:pic>
      <p:cxnSp>
        <p:nvCxnSpPr>
          <p:cNvPr id="6" name="Straight Connector 5">
            <a:extLst>
              <a:ext uri="{FF2B5EF4-FFF2-40B4-BE49-F238E27FC236}">
                <a16:creationId xmlns:a16="http://schemas.microsoft.com/office/drawing/2014/main" id="{E77ECC40-72A4-BBFC-C7A5-D23C754CB979}"/>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9A93398D-CA3F-7EC9-67D9-108FF99EDE30}"/>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575503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Hype before launch so that your customer start buzzing on social media</a:t>
            </a:r>
            <a:endParaRPr lang="en-IN" dirty="0"/>
          </a:p>
        </p:txBody>
      </p:sp>
      <p:sp>
        <p:nvSpPr>
          <p:cNvPr id="3" name="Content Placeholder 2"/>
          <p:cNvSpPr>
            <a:spLocks noGrp="1"/>
          </p:cNvSpPr>
          <p:nvPr>
            <p:ph idx="1"/>
          </p:nvPr>
        </p:nvSpPr>
        <p:spPr>
          <a:xfrm>
            <a:off x="534838" y="1765240"/>
            <a:ext cx="10886536" cy="4351338"/>
          </a:xfrm>
        </p:spPr>
        <p:txBody>
          <a:bodyPr numCol="2">
            <a:normAutofit lnSpcReduction="10000"/>
          </a:bodyPr>
          <a:lstStyle/>
          <a:p>
            <a:r>
              <a:rPr lang="en-US" b="1" dirty="0"/>
              <a:t>A video teaser</a:t>
            </a:r>
          </a:p>
          <a:p>
            <a:r>
              <a:rPr lang="en-US" b="1" dirty="0"/>
              <a:t>Give a sneak-peak</a:t>
            </a:r>
          </a:p>
          <a:p>
            <a:r>
              <a:rPr lang="en-US" b="1" dirty="0"/>
              <a:t>Tell a captivating story – say you start a chain of coffee shops</a:t>
            </a:r>
          </a:p>
          <a:p>
            <a:r>
              <a:rPr lang="en-US" b="1" dirty="0"/>
              <a:t>Create a hashtag (catchy) for interested people to follow the developments and invite them to retweet the hashtag.</a:t>
            </a:r>
          </a:p>
          <a:p>
            <a:r>
              <a:rPr lang="en-US" b="1" dirty="0"/>
              <a:t>Be creative on a promotional schemes. </a:t>
            </a:r>
          </a:p>
          <a:p>
            <a:r>
              <a:rPr lang="en-US" b="1" dirty="0"/>
              <a:t>Start a Blog</a:t>
            </a:r>
          </a:p>
          <a:p>
            <a:r>
              <a:rPr lang="en-US" b="1" dirty="0"/>
              <a:t>A short video in the </a:t>
            </a:r>
            <a:r>
              <a:rPr lang="en-US" b="1" dirty="0" err="1"/>
              <a:t>youtube</a:t>
            </a:r>
            <a:r>
              <a:rPr lang="en-US" b="1" dirty="0"/>
              <a:t>: Video shows visuals and is effective [</a:t>
            </a:r>
            <a:r>
              <a:rPr lang="en-US" b="1" dirty="0" err="1"/>
              <a:t>dollarshavingclub</a:t>
            </a:r>
            <a:r>
              <a:rPr lang="en-US" b="1" dirty="0"/>
              <a:t>, </a:t>
            </a:r>
            <a:r>
              <a:rPr lang="en-US" b="1" dirty="0" err="1"/>
              <a:t>dropbox</a:t>
            </a:r>
            <a:r>
              <a:rPr lang="en-US" b="1" dirty="0"/>
              <a:t>)</a:t>
            </a:r>
          </a:p>
          <a:p>
            <a:r>
              <a:rPr lang="en-US" b="1" dirty="0"/>
              <a:t>Influencer : Reebok with </a:t>
            </a:r>
            <a:r>
              <a:rPr lang="en-US" b="1" dirty="0" err="1"/>
              <a:t>Chetan</a:t>
            </a:r>
            <a:r>
              <a:rPr lang="en-US" b="1" dirty="0"/>
              <a:t> </a:t>
            </a:r>
            <a:r>
              <a:rPr lang="en-US" b="1" dirty="0" err="1"/>
              <a:t>Bhagat</a:t>
            </a:r>
            <a:endParaRPr lang="en-US" b="1" dirty="0"/>
          </a:p>
          <a:p>
            <a:r>
              <a:rPr lang="en-US" b="1" dirty="0" err="1"/>
              <a:t>Yezdi</a:t>
            </a:r>
            <a:r>
              <a:rPr lang="en-US" b="1" dirty="0"/>
              <a:t> bike</a:t>
            </a:r>
          </a:p>
          <a:p>
            <a:r>
              <a:rPr lang="en-US" b="1" dirty="0"/>
              <a:t>Mahindra Thar</a:t>
            </a:r>
          </a:p>
          <a:p>
            <a:r>
              <a:rPr lang="en-US" b="1" dirty="0"/>
              <a:t>Apple iPhone</a:t>
            </a:r>
            <a:endParaRPr lang="en-IN"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BEFB9A-75BE-4736-83D6-6A44720B10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EFFD357-C78C-682C-5D60-4D88E03004D5}"/>
              </a:ext>
            </a:extLst>
          </p:cNvPr>
          <p:cNvCxnSpPr/>
          <p:nvPr/>
        </p:nvCxnSpPr>
        <p:spPr>
          <a:xfrm flipV="1">
            <a:off x="311085" y="1159728"/>
            <a:ext cx="11042715" cy="5165658"/>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105B6D6D-F675-98FE-5229-FF9CF4B83E09}"/>
              </a:ext>
            </a:extLst>
          </p:cNvPr>
          <p:cNvCxnSpPr>
            <a:cxnSpLocks/>
          </p:cNvCxnSpPr>
          <p:nvPr/>
        </p:nvCxnSpPr>
        <p:spPr>
          <a:xfrm>
            <a:off x="235670" y="631596"/>
            <a:ext cx="11331019" cy="559952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954229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6076" y="718425"/>
            <a:ext cx="10987696" cy="6309676"/>
          </a:xfrm>
          <a:prstGeom prst="rect">
            <a:avLst/>
          </a:prstGeom>
          <a:noFill/>
        </p:spPr>
        <p:txBody>
          <a:bodyPr wrap="square" rtlCol="0">
            <a:spAutoFit/>
          </a:bodyPr>
          <a:lstStyle/>
          <a:p>
            <a:pPr>
              <a:lnSpc>
                <a:spcPct val="150000"/>
              </a:lnSpc>
            </a:pPr>
            <a:r>
              <a:rPr lang="en-US" sz="2667" b="1" dirty="0">
                <a:solidFill>
                  <a:srgbClr val="C00000"/>
                </a:solidFill>
              </a:rPr>
              <a:t>Conclusion</a:t>
            </a:r>
            <a:r>
              <a:rPr lang="en-US" sz="2667" b="1" dirty="0">
                <a:solidFill>
                  <a:srgbClr val="002060"/>
                </a:solidFill>
              </a:rPr>
              <a:t>:</a:t>
            </a:r>
          </a:p>
          <a:p>
            <a:pPr>
              <a:lnSpc>
                <a:spcPct val="150000"/>
              </a:lnSpc>
            </a:pPr>
            <a:r>
              <a:rPr lang="en-US" sz="2400" b="1" dirty="0"/>
              <a:t>Tell readers in a persuasive way everything they need to make a decision.</a:t>
            </a:r>
          </a:p>
          <a:p>
            <a:pPr>
              <a:lnSpc>
                <a:spcPct val="150000"/>
              </a:lnSpc>
            </a:pPr>
            <a:r>
              <a:rPr lang="en-US" sz="2400" b="1" dirty="0"/>
              <a:t>Try writing the plan yourselves involving key team members, and you will have better grip on key issues.</a:t>
            </a:r>
          </a:p>
          <a:p>
            <a:pPr>
              <a:lnSpc>
                <a:spcPct val="150000"/>
              </a:lnSpc>
            </a:pPr>
            <a:r>
              <a:rPr lang="en-US" sz="2400" b="1" dirty="0"/>
              <a:t>Investors are mostly concerned about cashing out. Show them how your business is poised in this regard.</a:t>
            </a:r>
          </a:p>
          <a:p>
            <a:pPr>
              <a:lnSpc>
                <a:spcPct val="150000"/>
              </a:lnSpc>
            </a:pPr>
            <a:r>
              <a:rPr lang="en-US" sz="2400" b="1" dirty="0"/>
              <a:t>Make your document </a:t>
            </a:r>
            <a:r>
              <a:rPr lang="en-US" sz="2400" b="1" dirty="0">
                <a:solidFill>
                  <a:srgbClr val="0070C0"/>
                </a:solidFill>
              </a:rPr>
              <a:t>easy to skim </a:t>
            </a:r>
            <a:r>
              <a:rPr lang="en-US" sz="2400" b="1" dirty="0"/>
              <a:t>by using headings, subheads, graphics and lists. </a:t>
            </a:r>
          </a:p>
          <a:p>
            <a:pPr>
              <a:lnSpc>
                <a:spcPct val="150000"/>
              </a:lnSpc>
            </a:pPr>
            <a:r>
              <a:rPr lang="en-IN" sz="2400" b="1" dirty="0"/>
              <a:t>Do not disparage competition. Deep understanding of competitors is as important as your value proposition. Understanding weaknesses in your business model is equally important.</a:t>
            </a:r>
          </a:p>
          <a:p>
            <a:pPr>
              <a:lnSpc>
                <a:spcPct val="150000"/>
              </a:lnSpc>
            </a:pPr>
            <a:endParaRPr lang="en-US" sz="2667" b="1" dirty="0">
              <a:solidFill>
                <a:srgbClr val="002060"/>
              </a:solidFill>
            </a:endParaRPr>
          </a:p>
        </p:txBody>
      </p:sp>
    </p:spTree>
    <p:extLst>
      <p:ext uri="{BB962C8B-B14F-4D97-AF65-F5344CB8AC3E}">
        <p14:creationId xmlns:p14="http://schemas.microsoft.com/office/powerpoint/2010/main" val="13194887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p:nvPr/>
        </p:nvSpPr>
        <p:spPr>
          <a:xfrm>
            <a:off x="292500" y="846667"/>
            <a:ext cx="10501624" cy="5539038"/>
          </a:xfrm>
          <a:prstGeom prst="rect">
            <a:avLst/>
          </a:prstGeom>
          <a:noFill/>
          <a:ln>
            <a:noFill/>
          </a:ln>
        </p:spPr>
        <p:txBody>
          <a:bodyPr spcFirstLastPara="1" wrap="square" lIns="91425" tIns="45700" rIns="91425" bIns="45700" anchor="t" anchorCtr="0">
            <a:noAutofit/>
          </a:bodyPr>
          <a:lstStyle/>
          <a:p>
            <a:pPr marL="285750" indent="-285750">
              <a:buFont typeface="Wingdings" panose="05000000000000000000" pitchFamily="2" charset="2"/>
              <a:buChar char="q"/>
            </a:pPr>
            <a:r>
              <a:rPr lang="en-IN" dirty="0" err="1"/>
              <a:t>HBR</a:t>
            </a:r>
            <a:r>
              <a:rPr lang="en-IN" dirty="0"/>
              <a:t> book: Entrepreneur’s Handbook – Everything You Need to Know to Launch and Grow Your New Business</a:t>
            </a:r>
          </a:p>
          <a:p>
            <a:pPr marL="285750" indent="-285750">
              <a:buFont typeface="Wingdings" panose="05000000000000000000" pitchFamily="2" charset="2"/>
              <a:buChar char="q"/>
            </a:pPr>
            <a:r>
              <a:rPr lang="en-IN" dirty="0"/>
              <a:t> Robin Bruce  https://</a:t>
            </a:r>
            <a:r>
              <a:rPr lang="en-IN" dirty="0" err="1"/>
              <a:t>www.forbes.com</a:t>
            </a:r>
            <a:r>
              <a:rPr lang="en-IN" dirty="0"/>
              <a:t>/sites/</a:t>
            </a:r>
            <a:r>
              <a:rPr lang="en-IN" dirty="0" err="1"/>
              <a:t>robinbruce</a:t>
            </a:r>
            <a:r>
              <a:rPr lang="en-IN" dirty="0"/>
              <a:t>/2017/03/17/building-your-entrepreneurial-story/#</a:t>
            </a:r>
            <a:r>
              <a:rPr lang="en-IN" dirty="0" err="1"/>
              <a:t>507b2a9211a9</a:t>
            </a:r>
            <a:endParaRPr lang="en-IN" dirty="0"/>
          </a:p>
          <a:p>
            <a:pPr marL="285750" indent="-285750">
              <a:buFont typeface="Wingdings" panose="05000000000000000000" pitchFamily="2" charset="2"/>
              <a:buChar char="q"/>
            </a:pPr>
            <a:r>
              <a:rPr lang="en-IN" dirty="0"/>
              <a:t> Matthew Record (2010). </a:t>
            </a:r>
            <a:r>
              <a:rPr lang="en-US" dirty="0"/>
              <a:t>Writing a Business Plan, </a:t>
            </a:r>
            <a:r>
              <a:rPr lang="en-US" dirty="0" err="1"/>
              <a:t>HowToBooks</a:t>
            </a:r>
            <a:endParaRPr lang="en-IN" dirty="0"/>
          </a:p>
          <a:p>
            <a:pPr marL="285750" indent="-285750">
              <a:buFont typeface="Wingdings" panose="05000000000000000000" pitchFamily="2" charset="2"/>
              <a:buChar char="q"/>
            </a:pPr>
            <a:r>
              <a:rPr lang="en-IN" dirty="0" err="1"/>
              <a:t>Covello</a:t>
            </a:r>
            <a:r>
              <a:rPr lang="en-IN" dirty="0"/>
              <a:t>, J. A., &amp; </a:t>
            </a:r>
            <a:r>
              <a:rPr lang="en-IN" dirty="0" err="1"/>
              <a:t>Hazelgren</a:t>
            </a:r>
            <a:r>
              <a:rPr lang="en-IN" dirty="0"/>
              <a:t>, B. J. (1995). Your first business plan. Sourcebooks Inc.</a:t>
            </a:r>
          </a:p>
          <a:p>
            <a:pPr marL="285750" indent="-285750">
              <a:buFont typeface="Wingdings" panose="05000000000000000000" pitchFamily="2" charset="2"/>
              <a:buChar char="q"/>
            </a:pPr>
            <a:r>
              <a:rPr lang="en-IN" dirty="0"/>
              <a:t> McKeever, M. (2016). How to write a business plan. </a:t>
            </a:r>
            <a:r>
              <a:rPr lang="en-IN" dirty="0" err="1"/>
              <a:t>Nolo</a:t>
            </a:r>
            <a:r>
              <a:rPr lang="en-IN" dirty="0"/>
              <a:t>.</a:t>
            </a:r>
          </a:p>
          <a:p>
            <a:pPr marL="285750" indent="-285750">
              <a:buFont typeface="Wingdings" panose="05000000000000000000" pitchFamily="2" charset="2"/>
              <a:buChar char="q"/>
            </a:pPr>
            <a:r>
              <a:rPr lang="en-IN" dirty="0"/>
              <a:t> Finch, B. (2013). How to write a business plan (Vol. 35). </a:t>
            </a:r>
            <a:r>
              <a:rPr lang="en-IN" dirty="0" err="1"/>
              <a:t>Kogan</a:t>
            </a:r>
            <a:r>
              <a:rPr lang="en-IN" dirty="0"/>
              <a:t> Page Publishers.  </a:t>
            </a:r>
          </a:p>
          <a:p>
            <a:pPr marL="285750" indent="-285750">
              <a:buFont typeface="Wingdings" panose="05000000000000000000" pitchFamily="2" charset="2"/>
              <a:buChar char="q"/>
            </a:pPr>
            <a:r>
              <a:rPr lang="en-IN" dirty="0"/>
              <a:t> Vaughan Evans (2015). Essential Guides – Writing a Business Plan, Financial Times</a:t>
            </a:r>
          </a:p>
          <a:p>
            <a:pPr>
              <a:lnSpc>
                <a:spcPct val="150000"/>
              </a:lnSpc>
              <a:buFont typeface="Wingdings" pitchFamily="2" charset="2"/>
              <a:buChar char="q"/>
            </a:pPr>
            <a:r>
              <a:rPr lang="en-US" b="1" dirty="0"/>
              <a:t>  </a:t>
            </a:r>
            <a:r>
              <a:rPr lang="nl-NL" dirty="0"/>
              <a:t>Praag C. M. Van, and P. H. Versloot (2007). </a:t>
            </a:r>
            <a:r>
              <a:rPr lang="en-IN" b="1" i="1" dirty="0"/>
              <a:t>What is the value of entrepreneurship? A review of recent research, </a:t>
            </a:r>
            <a:r>
              <a:rPr lang="en-US" dirty="0"/>
              <a:t>Small Business Economics, Vol. </a:t>
            </a:r>
            <a:r>
              <a:rPr lang="en-IN" dirty="0"/>
              <a:t>29, pp. 351–382</a:t>
            </a:r>
          </a:p>
          <a:p>
            <a:pPr>
              <a:lnSpc>
                <a:spcPct val="150000"/>
              </a:lnSpc>
              <a:buFont typeface="Wingdings" pitchFamily="2" charset="2"/>
              <a:buChar char="q"/>
            </a:pPr>
            <a:r>
              <a:rPr lang="en-US" dirty="0"/>
              <a:t>   Rajiv Shah, </a:t>
            </a:r>
            <a:r>
              <a:rPr lang="en-US" dirty="0" err="1"/>
              <a:t>Zhijie</a:t>
            </a:r>
            <a:r>
              <a:rPr lang="en-US" dirty="0"/>
              <a:t> Gao, </a:t>
            </a:r>
            <a:r>
              <a:rPr lang="en-US" dirty="0" err="1"/>
              <a:t>Harini</a:t>
            </a:r>
            <a:r>
              <a:rPr lang="en-US" dirty="0"/>
              <a:t> Mittal  </a:t>
            </a:r>
            <a:r>
              <a:rPr lang="en-IN" dirty="0"/>
              <a:t>(2015) </a:t>
            </a:r>
            <a:r>
              <a:rPr lang="en-IN" b="1" dirty="0"/>
              <a:t>Innovation, Entrepreneurship, and the Economy in the US, China, and India</a:t>
            </a:r>
            <a:r>
              <a:rPr lang="en-IN" dirty="0"/>
              <a:t> – Elsevier</a:t>
            </a:r>
          </a:p>
          <a:p>
            <a:pPr marL="285750" indent="-285750">
              <a:buFont typeface="Wingdings" panose="05000000000000000000" pitchFamily="2" charset="2"/>
              <a:buChar char="q"/>
            </a:pPr>
            <a:r>
              <a:rPr lang="en-US" dirty="0"/>
              <a:t>Sean </a:t>
            </a:r>
            <a:r>
              <a:rPr lang="en-US" dirty="0" err="1"/>
              <a:t>Ammirati</a:t>
            </a:r>
            <a:r>
              <a:rPr lang="en-US" dirty="0"/>
              <a:t> (2016) </a:t>
            </a:r>
            <a:r>
              <a:rPr lang="en-US" b="1" dirty="0"/>
              <a:t>The Science of Growth: How Facebook Beat Friendster</a:t>
            </a:r>
            <a:r>
              <a:rPr lang="en-US" b="1" cap="all" dirty="0"/>
              <a:t>—a</a:t>
            </a:r>
            <a:r>
              <a:rPr lang="en-US" b="1" dirty="0"/>
              <a:t>nd</a:t>
            </a:r>
            <a:r>
              <a:rPr lang="en-US" b="1" cap="all" dirty="0"/>
              <a:t> </a:t>
            </a:r>
            <a:r>
              <a:rPr lang="en-US" b="1" dirty="0"/>
              <a:t>How Nine Other Startups Left the Rest in the Dust</a:t>
            </a:r>
            <a:r>
              <a:rPr lang="en-US" dirty="0"/>
              <a:t>, St. Martin’s Press.</a:t>
            </a:r>
            <a:endParaRPr lang="en-US" b="1" dirty="0">
              <a:solidFill>
                <a:srgbClr val="C00000"/>
              </a:solidFill>
            </a:endParaRPr>
          </a:p>
        </p:txBody>
      </p:sp>
    </p:spTree>
    <p:extLst>
      <p:ext uri="{BB962C8B-B14F-4D97-AF65-F5344CB8AC3E}">
        <p14:creationId xmlns:p14="http://schemas.microsoft.com/office/powerpoint/2010/main" val="21590745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12211" y="1802921"/>
            <a:ext cx="7539487" cy="1569660"/>
          </a:xfrm>
          <a:prstGeom prst="rect">
            <a:avLst/>
          </a:prstGeom>
          <a:noFill/>
        </p:spPr>
        <p:txBody>
          <a:bodyPr wrap="square" rtlCol="0">
            <a:spAutoFit/>
          </a:bodyPr>
          <a:lstStyle/>
          <a:p>
            <a:r>
              <a:rPr lang="en-US" sz="9600" dirty="0">
                <a:latin typeface="Brush Script MT" panose="03060802040406070304" pitchFamily="66" charset="0"/>
              </a:rPr>
              <a:t>Thank You</a:t>
            </a:r>
            <a:endParaRPr lang="en-IN" sz="9600" dirty="0">
              <a:latin typeface="Brush Script MT" panose="03060802040406070304" pitchFamily="66" charset="0"/>
            </a:endParaRPr>
          </a:p>
        </p:txBody>
      </p:sp>
      <p:sp>
        <p:nvSpPr>
          <p:cNvPr id="3" name="Slide Number Placeholder 2"/>
          <p:cNvSpPr>
            <a:spLocks noGrp="1"/>
          </p:cNvSpPr>
          <p:nvPr>
            <p:ph type="sldNum" sz="quarter" idx="12"/>
          </p:nvPr>
        </p:nvSpPr>
        <p:spPr/>
        <p:txBody>
          <a:bodyPr/>
          <a:lstStyle/>
          <a:p>
            <a:fld id="{8FD1DB16-3243-4916-96AE-0416B7586CF1}" type="slidenum">
              <a:rPr lang="en-IN" smtClean="0"/>
              <a:t>95</a:t>
            </a:fld>
            <a:endParaRPr lang="en-IN"/>
          </a:p>
        </p:txBody>
      </p:sp>
    </p:spTree>
    <p:extLst>
      <p:ext uri="{BB962C8B-B14F-4D97-AF65-F5344CB8AC3E}">
        <p14:creationId xmlns:p14="http://schemas.microsoft.com/office/powerpoint/2010/main" val="420288733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63133"/>
            <a:ext cx="10515600" cy="4662562"/>
          </a:xfrm>
        </p:spPr>
        <p:txBody>
          <a:bodyPr>
            <a:normAutofit fontScale="92500"/>
          </a:bodyPr>
          <a:lstStyle/>
          <a:p>
            <a:pPr marL="0" indent="0" algn="just">
              <a:buNone/>
            </a:pPr>
            <a:r>
              <a:rPr lang="en-US" dirty="0"/>
              <a:t>Business model is the business that is taken up to solve a problem of a customer segment through superior value proposition and deliver the  value in a competitive way to create wealth for the stakeholders.</a:t>
            </a:r>
          </a:p>
          <a:p>
            <a:pPr marL="0" indent="0" algn="just">
              <a:buNone/>
            </a:pPr>
            <a:r>
              <a:rPr lang="en-US" dirty="0"/>
              <a:t>Suppose you want to start a business to manufacture and sell e-bikes. Your business model is to manufacture and sell e-bikes with a value proposition to maximize customers’ satisfaction and create an increasing and repeatable loyal customer base for sustainable growth and profit.</a:t>
            </a:r>
          </a:p>
          <a:p>
            <a:pPr marL="0" indent="0" algn="just">
              <a:buNone/>
            </a:pPr>
            <a:r>
              <a:rPr lang="en-US" dirty="0"/>
              <a:t>The value proposition includes meeting the needs of your target customers, offering superior value for their money compared to competitors, convenient delivery of the bikes, and ensuring pleasant experience of using the product, offer satisfactory aftersales </a:t>
            </a:r>
            <a:br>
              <a:rPr lang="en-US" dirty="0"/>
            </a:br>
            <a:r>
              <a:rPr lang="en-US" dirty="0"/>
              <a:t>service and such. </a:t>
            </a:r>
          </a:p>
        </p:txBody>
      </p:sp>
      <p:sp>
        <p:nvSpPr>
          <p:cNvPr id="4" name="Title 1"/>
          <p:cNvSpPr>
            <a:spLocks noGrp="1"/>
          </p:cNvSpPr>
          <p:nvPr>
            <p:ph type="title"/>
          </p:nvPr>
        </p:nvSpPr>
        <p:spPr>
          <a:xfrm>
            <a:off x="838200" y="365125"/>
            <a:ext cx="10515600" cy="843565"/>
          </a:xfrm>
        </p:spPr>
        <p:txBody>
          <a:bodyPr>
            <a:normAutofit/>
          </a:bodyPr>
          <a:lstStyle/>
          <a:p>
            <a:r>
              <a:rPr lang="en-US" b="1" dirty="0">
                <a:latin typeface="Calibri" panose="020F0502020204030204" pitchFamily="34" charset="0"/>
                <a:cs typeface="Calibri" panose="020F0502020204030204" pitchFamily="34" charset="0"/>
              </a:rPr>
              <a:t>Distinction Between Business Model and Business Plan</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4499155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1" y="2012421"/>
            <a:ext cx="10964090" cy="4351338"/>
          </a:xfrm>
        </p:spPr>
        <p:txBody>
          <a:bodyPr>
            <a:normAutofit/>
          </a:bodyPr>
          <a:lstStyle/>
          <a:p>
            <a:pPr marL="0" indent="0">
              <a:buNone/>
            </a:pPr>
            <a:r>
              <a:rPr lang="en-US" dirty="0"/>
              <a:t>Business plan on the other hand is a description of the business model.</a:t>
            </a:r>
          </a:p>
          <a:p>
            <a:pPr marL="0" indent="0">
              <a:buNone/>
            </a:pPr>
            <a:r>
              <a:rPr lang="en-US" dirty="0">
                <a:solidFill>
                  <a:srgbClr val="0070C0"/>
                </a:solidFill>
              </a:rPr>
              <a:t>Business plan </a:t>
            </a:r>
            <a:r>
              <a:rPr lang="en-US" dirty="0"/>
              <a:t>is a document that delineates the detailed execution plan of the business model, its SWOT analysis, USP, its team, business process management, what are its strategies to be and remain competitive, how it will acquire and retain increasing number of customers, and what will be its financial performance.</a:t>
            </a:r>
          </a:p>
          <a:p>
            <a:pPr marL="0" indent="0">
              <a:buNone/>
            </a:pPr>
            <a:r>
              <a:rPr lang="en-US" dirty="0"/>
              <a:t>Business plan also states how it plans to create value for its investors.</a:t>
            </a:r>
          </a:p>
          <a:p>
            <a:pPr marL="0" indent="0">
              <a:buNone/>
            </a:pPr>
            <a:endParaRPr lang="en-US" dirty="0"/>
          </a:p>
        </p:txBody>
      </p:sp>
      <p:sp>
        <p:nvSpPr>
          <p:cNvPr id="4" name="Title 1"/>
          <p:cNvSpPr>
            <a:spLocks noGrp="1"/>
          </p:cNvSpPr>
          <p:nvPr>
            <p:ph type="title"/>
          </p:nvPr>
        </p:nvSpPr>
        <p:spPr>
          <a:xfrm>
            <a:off x="838200" y="365125"/>
            <a:ext cx="10515600" cy="1325563"/>
          </a:xfrm>
        </p:spPr>
        <p:txBody>
          <a:bodyPr>
            <a:normAutofit/>
          </a:bodyPr>
          <a:lstStyle/>
          <a:p>
            <a:r>
              <a:rPr lang="en-US" sz="3600" b="1" dirty="0">
                <a:solidFill>
                  <a:srgbClr val="002060"/>
                </a:solidFill>
                <a:latin typeface="Georgia" panose="02040502050405020303" pitchFamily="18" charset="0"/>
              </a:rPr>
              <a:t>Distinction Between Business Model and Business Plan … cont’d.</a:t>
            </a:r>
            <a:endParaRPr lang="en-IN" sz="3600" b="1" dirty="0">
              <a:solidFill>
                <a:srgbClr val="002060"/>
              </a:solidFill>
              <a:latin typeface="Georgia" panose="02040502050405020303" pitchFamily="18" charset="0"/>
            </a:endParaRPr>
          </a:p>
        </p:txBody>
      </p:sp>
    </p:spTree>
    <p:extLst>
      <p:ext uri="{BB962C8B-B14F-4D97-AF65-F5344CB8AC3E}">
        <p14:creationId xmlns:p14="http://schemas.microsoft.com/office/powerpoint/2010/main" val="11864513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TAGS_ICONS" val="gear_POWER_USER_SEPARATOR_ICONS_cogs_POWER_USER_SEPARATOR_ICONS_gears_POWER_USER_SEPARATOR_ICONS_machine_POWER_USER_SEPARATOR_ICONS_mechanic"/>
</p:tagLst>
</file>

<file path=ppt/tags/tag2.xml><?xml version="1.0" encoding="utf-8"?>
<p:tagLst xmlns:a="http://schemas.openxmlformats.org/drawingml/2006/main" xmlns:r="http://schemas.openxmlformats.org/officeDocument/2006/relationships" xmlns:p="http://schemas.openxmlformats.org/presentationml/2006/main">
  <p:tag name="POWER_USER_TAGS_ICONS" val="gear_POWER_USER_SEPARATOR_ICONS_cogs_POWER_USER_SEPARATOR_ICONS_gears_POWER_USER_SEPARATOR_ICONS_machine_POWER_USER_SEPARATOR_ICONS_mechanic"/>
</p:tagLst>
</file>

<file path=ppt/tags/tag3.xml><?xml version="1.0" encoding="utf-8"?>
<p:tagLst xmlns:a="http://schemas.openxmlformats.org/drawingml/2006/main" xmlns:r="http://schemas.openxmlformats.org/officeDocument/2006/relationships" xmlns:p="http://schemas.openxmlformats.org/presentationml/2006/main">
  <p:tag name="POWER_USER_TAGS_ICONS" val="gear_POWER_USER_SEPARATOR_ICONS_cogs_POWER_USER_SEPARATOR_ICONS_gears_POWER_USER_SEPARATOR_ICONS_machine_POWER_USER_SEPARATOR_ICONS_mechanic"/>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40537</TotalTime>
  <Words>7298</Words>
  <Application>Microsoft Office PowerPoint</Application>
  <PresentationFormat>Widescreen</PresentationFormat>
  <Paragraphs>833</Paragraphs>
  <Slides>97</Slides>
  <Notes>16</Notes>
  <HiddenSlides>0</HiddenSlides>
  <MMClips>0</MMClips>
  <ScaleCrop>false</ScaleCrop>
  <HeadingPairs>
    <vt:vector size="8" baseType="variant">
      <vt:variant>
        <vt:lpstr>Fonts Used</vt:lpstr>
      </vt:variant>
      <vt:variant>
        <vt:i4>23</vt:i4>
      </vt:variant>
      <vt:variant>
        <vt:lpstr>Theme</vt:lpstr>
      </vt:variant>
      <vt:variant>
        <vt:i4>1</vt:i4>
      </vt:variant>
      <vt:variant>
        <vt:lpstr>Embedded OLE Servers</vt:lpstr>
      </vt:variant>
      <vt:variant>
        <vt:i4>2</vt:i4>
      </vt:variant>
      <vt:variant>
        <vt:lpstr>Slide Titles</vt:lpstr>
      </vt:variant>
      <vt:variant>
        <vt:i4>97</vt:i4>
      </vt:variant>
    </vt:vector>
  </HeadingPairs>
  <TitlesOfParts>
    <vt:vector size="123" baseType="lpstr">
      <vt:lpstr>Aldhabi</vt:lpstr>
      <vt:lpstr>Algerian</vt:lpstr>
      <vt:lpstr>Arial</vt:lpstr>
      <vt:lpstr>Arial</vt:lpstr>
      <vt:lpstr>Arial Black</vt:lpstr>
      <vt:lpstr>Brush Script MT</vt:lpstr>
      <vt:lpstr>Calibri</vt:lpstr>
      <vt:lpstr>Calibri Light</vt:lpstr>
      <vt:lpstr>Century Gothic</vt:lpstr>
      <vt:lpstr>Economica</vt:lpstr>
      <vt:lpstr>Georgia</vt:lpstr>
      <vt:lpstr>Google Sans</vt:lpstr>
      <vt:lpstr>Gulim</vt:lpstr>
      <vt:lpstr>Lato Black</vt:lpstr>
      <vt:lpstr>Mark Offc For MC</vt:lpstr>
      <vt:lpstr>Mark Offc For MC Medium</vt:lpstr>
      <vt:lpstr>Open Sans</vt:lpstr>
      <vt:lpstr>Rajdhani bold</vt:lpstr>
      <vt:lpstr>Roboto</vt:lpstr>
      <vt:lpstr>Söhne</vt:lpstr>
      <vt:lpstr>Times New Roman</vt:lpstr>
      <vt:lpstr>Twentieth Century</vt:lpstr>
      <vt:lpstr>Wingdings</vt:lpstr>
      <vt:lpstr>Office Theme</vt:lpstr>
      <vt:lpstr>think-cell Slide</vt:lpstr>
      <vt:lpstr>Worksheet</vt:lpstr>
      <vt:lpstr>Entrepreneurship Essentials</vt:lpstr>
      <vt:lpstr>PowerPoint Presentation</vt:lpstr>
      <vt:lpstr>PowerPoint Presentation</vt:lpstr>
      <vt:lpstr>PowerPoint Presentation</vt:lpstr>
      <vt:lpstr>PowerPoint Presentation</vt:lpstr>
      <vt:lpstr>PowerPoint Presentation</vt:lpstr>
      <vt:lpstr>PowerPoint Presentation</vt:lpstr>
      <vt:lpstr>   Steps to Start a Start-up</vt:lpstr>
      <vt:lpstr>Build the Business</vt:lpstr>
      <vt:lpstr>      Growth Strategies</vt:lpstr>
      <vt:lpstr>PowerPoint Presentation</vt:lpstr>
      <vt:lpstr>Jeff Bezos on information economy of decision making</vt:lpstr>
      <vt:lpstr>PowerPoint Presentation</vt:lpstr>
      <vt:lpstr>Persistence and hard work with a never-say-die attitude is essential to achieve success.</vt:lpstr>
      <vt:lpstr>PowerPoint Presentation</vt:lpstr>
      <vt:lpstr>Growth Hacking  How much growth is too much?</vt:lpstr>
      <vt:lpstr>Here is what Mittal rued:</vt:lpstr>
      <vt:lpstr>Business Plan: Definition</vt:lpstr>
      <vt:lpstr>As Dharmesh Shah, Co-Founder and Chief Technology Officer, HubSpot writes at Entrepreneurs.com</vt:lpstr>
      <vt:lpstr>The Purpose of Business Plan The flavour may vary based on context</vt:lpstr>
      <vt:lpstr>The Purpose of Business Plan The flavour may vary based on context</vt:lpstr>
      <vt:lpstr>The Purpose of Business Plan The flavour may vary based on context</vt:lpstr>
      <vt:lpstr>Essence or Consideration for Building a Business Plan</vt:lpstr>
      <vt:lpstr>Demonstration of a Working Model Is Very Convincing</vt:lpstr>
      <vt:lpstr>Four Factors Critical to Every New Ventures and They Should Receive Pride of Place in Your Business Plan</vt:lpstr>
      <vt:lpstr>Highlight Your USP and Your Value Proposition to Customers</vt:lpstr>
      <vt:lpstr>Examples of USP</vt:lpstr>
      <vt:lpstr>Broad Components of Business Plan in Most of the Templates</vt:lpstr>
      <vt:lpstr>Major Components of Business Plan in Most of the Templates</vt:lpstr>
      <vt:lpstr>PowerPoint Presentation</vt:lpstr>
      <vt:lpstr>PowerPoint Presentation</vt:lpstr>
      <vt:lpstr>Many Templates. Fundamentally they are similar. The Template of HBP. </vt:lpstr>
      <vt:lpstr>Template by Sequoia Capital</vt:lpstr>
      <vt:lpstr>Source: Forbes, Created by Dave Lavinsky</vt:lpstr>
      <vt:lpstr>Business Plan Outline - 23 Point Checklist For Success … contd. </vt:lpstr>
      <vt:lpstr>PowerPoint Presentation</vt:lpstr>
      <vt:lpstr>PowerPoint Presentation</vt:lpstr>
      <vt:lpstr>Chapter 1: Executive Summary  Chapter 2: The business  Chapter 3: Market demand  Chapter 4: Competition Chapter 5: Strategy Chapter 6: Resources  Chapter 7: Financial Outlay, Financial Closer, and Projected Financials  Chapter 8: Risks, Opportunities, Rewards and Sensitivities</vt:lpstr>
      <vt:lpstr>Chapter 1: Executive Summary</vt:lpstr>
      <vt:lpstr>Executive Summary</vt:lpstr>
      <vt:lpstr>Summary – Makes the First Impression</vt:lpstr>
      <vt:lpstr>Chapter 2: The business </vt:lpstr>
      <vt:lpstr>Background</vt:lpstr>
      <vt:lpstr>The items in the ‘Background’</vt:lpstr>
      <vt:lpstr>The opener should be just one paragraph containing:</vt:lpstr>
      <vt:lpstr>The Goals and Objectives</vt:lpstr>
      <vt:lpstr>Strategy</vt:lpstr>
      <vt:lpstr>Resources</vt:lpstr>
      <vt:lpstr>PowerPoint Presentation</vt:lpstr>
      <vt:lpstr>Basic financials </vt:lpstr>
      <vt:lpstr>The business mix by segment</vt:lpstr>
      <vt:lpstr>The business: Customer segment</vt:lpstr>
      <vt:lpstr>The business: Customer segment</vt:lpstr>
      <vt:lpstr>Chapter 3: Market demand</vt:lpstr>
      <vt:lpstr>Market demand</vt:lpstr>
      <vt:lpstr>Chapter 4: Competition</vt:lpstr>
      <vt:lpstr>Chapter 5: Strategy</vt:lpstr>
      <vt:lpstr>Strategy</vt:lpstr>
      <vt:lpstr>There are several ways you can try to sustain your competitive advantage</vt:lpstr>
      <vt:lpstr>Chapter 6: Resources</vt:lpstr>
      <vt:lpstr>Resources</vt:lpstr>
      <vt:lpstr>Resources - Personnel</vt:lpstr>
      <vt:lpstr>Chapter 7: Financial Outlay, Financial Closer, and Projected Financials  </vt:lpstr>
      <vt:lpstr>Financial Outlay before commercial operation: to be given in Appendix</vt:lpstr>
      <vt:lpstr>Financial Outlay and Financial Closure</vt:lpstr>
      <vt:lpstr>You should present the following financial projections</vt:lpstr>
      <vt:lpstr>Chapter 8: Risks, Opportunities, Rewards and Sensitivities</vt:lpstr>
      <vt:lpstr>Chapter 8: Risk, Opportunities, Rewards and Sensitivities</vt:lpstr>
      <vt:lpstr>Risk Opportunities Canvas </vt:lpstr>
      <vt:lpstr>Checklist on Risks and Opportunities</vt:lpstr>
      <vt:lpstr>Rewards</vt:lpstr>
      <vt:lpstr>Sensitivities</vt:lpstr>
      <vt:lpstr>‘Conclusion’ section of the business plan</vt:lpstr>
      <vt:lpstr>PowerPoint Presentation</vt:lpstr>
      <vt:lpstr>The length </vt:lpstr>
      <vt:lpstr>Style</vt:lpstr>
      <vt:lpstr>Information in ‘Text’ vis-a-vis ‘Graphics’</vt:lpstr>
      <vt:lpstr>Should Be Able to Grab the Attention and Keep It</vt:lpstr>
      <vt:lpstr>Tell Your Story</vt:lpstr>
      <vt:lpstr>Know Your Audience and Give the Information They Need to Make Decision</vt:lpstr>
      <vt:lpstr>Experts say that your business plan journey should traverse the Seven Cs</vt:lpstr>
      <vt:lpstr>Growth Hacker Marketing</vt:lpstr>
      <vt:lpstr>Growth hacking </vt:lpstr>
      <vt:lpstr>Growth Hacking</vt:lpstr>
      <vt:lpstr>Growth Hacking</vt:lpstr>
      <vt:lpstr>How fast to grow?</vt:lpstr>
      <vt:lpstr>Viral Loop</vt:lpstr>
      <vt:lpstr>Growth Hack, Vanity Metrics, and Strategies</vt:lpstr>
      <vt:lpstr>Influencer Marketing</vt:lpstr>
      <vt:lpstr>Customer Engagement</vt:lpstr>
      <vt:lpstr>A 7-year-old boy is making $22 million a year on YouTube reviewing toys</vt:lpstr>
      <vt:lpstr>Hype before launch so that your customer start buzzing on social media</vt:lpstr>
      <vt:lpstr>PowerPoint Presentation</vt:lpstr>
      <vt:lpstr>PowerPoint Presentation</vt:lpstr>
      <vt:lpstr>PowerPoint Presentation</vt:lpstr>
      <vt:lpstr>Distinction Between Business Model and Business Plan</vt:lpstr>
      <vt:lpstr>Distinction Between Business Model and Business Plan …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Foundations of Entrepreneurship</dc:title>
  <dc:creator>MANOJ MONDAL</dc:creator>
  <cp:lastModifiedBy>user</cp:lastModifiedBy>
  <cp:revision>144</cp:revision>
  <dcterms:created xsi:type="dcterms:W3CDTF">2019-01-28T00:39:09Z</dcterms:created>
  <dcterms:modified xsi:type="dcterms:W3CDTF">2026-03-09T02:50:26Z</dcterms:modified>
</cp:coreProperties>
</file>